
<file path=[Content_Types].xml><?xml version="1.0" encoding="utf-8"?>
<Types xmlns="http://schemas.openxmlformats.org/package/2006/content-types">
  <Default Extension="png" ContentType="image/png"/>
  <Default Extension="svg" ContentType="image/svg+xml"/>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 id="2147483722" r:id="rId2"/>
    <p:sldMasterId id="2147483734" r:id="rId3"/>
    <p:sldMasterId id="2147483660" r:id="rId4"/>
  </p:sldMasterIdLst>
  <p:notesMasterIdLst>
    <p:notesMasterId r:id="rId34"/>
  </p:notesMasterIdLst>
  <p:handoutMasterIdLst>
    <p:handoutMasterId r:id="rId35"/>
  </p:handoutMasterIdLst>
  <p:sldIdLst>
    <p:sldId id="361" r:id="rId5"/>
    <p:sldId id="289" r:id="rId6"/>
    <p:sldId id="329" r:id="rId7"/>
    <p:sldId id="387" r:id="rId8"/>
    <p:sldId id="388" r:id="rId9"/>
    <p:sldId id="392" r:id="rId10"/>
    <p:sldId id="408" r:id="rId11"/>
    <p:sldId id="397" r:id="rId12"/>
    <p:sldId id="409" r:id="rId13"/>
    <p:sldId id="396" r:id="rId14"/>
    <p:sldId id="395" r:id="rId15"/>
    <p:sldId id="394" r:id="rId16"/>
    <p:sldId id="400" r:id="rId17"/>
    <p:sldId id="399" r:id="rId18"/>
    <p:sldId id="398" r:id="rId19"/>
    <p:sldId id="389" r:id="rId20"/>
    <p:sldId id="393" r:id="rId21"/>
    <p:sldId id="371" r:id="rId22"/>
    <p:sldId id="357" r:id="rId23"/>
    <p:sldId id="401" r:id="rId24"/>
    <p:sldId id="402" r:id="rId25"/>
    <p:sldId id="403" r:id="rId26"/>
    <p:sldId id="404" r:id="rId27"/>
    <p:sldId id="405" r:id="rId28"/>
    <p:sldId id="406" r:id="rId29"/>
    <p:sldId id="407" r:id="rId30"/>
    <p:sldId id="386" r:id="rId31"/>
    <p:sldId id="390" r:id="rId32"/>
    <p:sldId id="391" r:id="rId33"/>
  </p:sldIdLst>
  <p:sldSz cx="11520488" cy="64801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55" userDrawn="1">
          <p15:clr>
            <a:srgbClr val="A4A3A4"/>
          </p15:clr>
        </p15:guide>
        <p15:guide id="5" pos="3629" userDrawn="1">
          <p15:clr>
            <a:srgbClr val="A4A3A4"/>
          </p15:clr>
        </p15:guide>
        <p15:guide id="6" pos="227" userDrawn="1">
          <p15:clr>
            <a:srgbClr val="A4A3A4"/>
          </p15:clr>
        </p15:guide>
        <p15:guide id="7" pos="3402" userDrawn="1">
          <p15:clr>
            <a:srgbClr val="A4A3A4"/>
          </p15:clr>
        </p15:guide>
        <p15:guide id="8" orient="horz" pos="204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FAFAF"/>
    <a:srgbClr val="F2F2F2"/>
    <a:srgbClr val="0077C8"/>
    <a:srgbClr val="00889B"/>
    <a:srgbClr val="FFC000"/>
    <a:srgbClr val="82C1CC"/>
    <a:srgbClr val="57983D"/>
    <a:srgbClr val="E1EFDD"/>
    <a:srgbClr val="C9E1C1"/>
    <a:srgbClr val="654E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55205" autoAdjust="0"/>
  </p:normalViewPr>
  <p:slideViewPr>
    <p:cSldViewPr snapToGrid="0">
      <p:cViewPr varScale="1">
        <p:scale>
          <a:sx n="73" d="100"/>
          <a:sy n="73" d="100"/>
        </p:scale>
        <p:origin x="432" y="54"/>
      </p:cViewPr>
      <p:guideLst>
        <p:guide pos="3855"/>
        <p:guide pos="3629"/>
        <p:guide pos="227"/>
        <p:guide pos="3402"/>
        <p:guide orient="horz" pos="2041"/>
      </p:guideLst>
    </p:cSldViewPr>
  </p:slideViewPr>
  <p:notesTextViewPr>
    <p:cViewPr>
      <p:scale>
        <a:sx n="1" d="1"/>
        <a:sy n="1" d="1"/>
      </p:scale>
      <p:origin x="0" y="0"/>
    </p:cViewPr>
  </p:notesTextViewPr>
  <p:sorterViewPr>
    <p:cViewPr>
      <p:scale>
        <a:sx n="100" d="100"/>
        <a:sy n="100" d="100"/>
      </p:scale>
      <p:origin x="0" y="-882"/>
    </p:cViewPr>
  </p:sorterViewPr>
  <p:notesViewPr>
    <p:cSldViewPr snapToGrid="0" showGuides="1">
      <p:cViewPr varScale="1">
        <p:scale>
          <a:sx n="87" d="100"/>
          <a:sy n="87" d="100"/>
        </p:scale>
        <p:origin x="288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047FAB-E11D-496A-A50A-88CE60ACE6AD}" type="doc">
      <dgm:prSet loTypeId="urn:microsoft.com/office/officeart/2018/layout/CircleProcess" loCatId="simpleprocesssa" qsTypeId="urn:microsoft.com/office/officeart/2005/8/quickstyle/simple1" qsCatId="simple" csTypeId="urn:microsoft.com/office/officeart/2005/8/colors/accent1_2" csCatId="accent1" phldr="1"/>
      <dgm:spPr/>
      <dgm:t>
        <a:bodyPr/>
        <a:lstStyle/>
        <a:p>
          <a:endParaRPr lang="en-US"/>
        </a:p>
      </dgm:t>
    </dgm:pt>
    <dgm:pt modelId="{6C2869C5-B119-4934-87F9-161D03A5AFF1}">
      <dgm:prSet custT="1"/>
      <dgm:spPr>
        <a:noFill/>
        <a:ln>
          <a:solidFill>
            <a:srgbClr val="89B6C3"/>
          </a:solidFill>
        </a:ln>
      </dgm:spPr>
      <dgm:t>
        <a:bodyPr/>
        <a:lstStyle/>
        <a:p>
          <a:pPr marL="36000" indent="0" algn="ctr">
            <a:spcAft>
              <a:spcPts val="42"/>
            </a:spcAft>
          </a:pPr>
          <a:r>
            <a:rPr lang="ru-RU" sz="1800" dirty="0">
              <a:solidFill>
                <a:schemeClr val="tx2">
                  <a:lumMod val="75000"/>
                </a:schemeClr>
              </a:solidFill>
              <a:latin typeface="Tahoma" panose="020B0604030504040204" pitchFamily="34" charset="0"/>
              <a:cs typeface="Tahoma" panose="020B0604030504040204" pitchFamily="34" charset="0"/>
            </a:rPr>
            <a:t>1</a:t>
          </a:r>
        </a:p>
        <a:p>
          <a:pPr marL="36000" indent="0" algn="ctr">
            <a:spcAft>
              <a:spcPts val="0"/>
            </a:spcAft>
          </a:pPr>
          <a:r>
            <a:rPr lang="ru-RU" sz="1800" dirty="0">
              <a:solidFill>
                <a:schemeClr val="tx2">
                  <a:lumMod val="75000"/>
                </a:schemeClr>
              </a:solidFill>
              <a:latin typeface="Tahoma" panose="020B0604030504040204" pitchFamily="34" charset="0"/>
              <a:cs typeface="Tahoma" panose="020B0604030504040204" pitchFamily="34" charset="0"/>
            </a:rPr>
            <a:t>Запись </a:t>
          </a:r>
          <a:r>
            <a:rPr lang="ru-RU" sz="1800" dirty="0" err="1">
              <a:solidFill>
                <a:schemeClr val="tx2">
                  <a:lumMod val="75000"/>
                </a:schemeClr>
              </a:solidFill>
              <a:latin typeface="Tahoma" panose="020B0604030504040204" pitchFamily="34" charset="0"/>
              <a:cs typeface="Tahoma" panose="020B0604030504040204" pitchFamily="34" charset="0"/>
            </a:rPr>
            <a:t>кинематичес</a:t>
          </a:r>
          <a:r>
            <a:rPr lang="ru-RU" sz="1800" dirty="0">
              <a:solidFill>
                <a:schemeClr val="tx2">
                  <a:lumMod val="75000"/>
                </a:schemeClr>
              </a:solidFill>
              <a:latin typeface="Tahoma" panose="020B0604030504040204" pitchFamily="34" charset="0"/>
              <a:cs typeface="Tahoma" panose="020B0604030504040204" pitchFamily="34" charset="0"/>
            </a:rPr>
            <a:t>-ких воздействий в основаниях сооружений</a:t>
          </a:r>
          <a:endParaRPr lang="en-US" sz="1800" dirty="0">
            <a:solidFill>
              <a:schemeClr val="tx2">
                <a:lumMod val="75000"/>
              </a:schemeClr>
            </a:solidFill>
            <a:latin typeface="Tahoma" panose="020B0604030504040204" pitchFamily="34" charset="0"/>
            <a:cs typeface="Tahoma" panose="020B0604030504040204" pitchFamily="34" charset="0"/>
          </a:endParaRPr>
        </a:p>
      </dgm:t>
    </dgm:pt>
    <dgm:pt modelId="{90D08BBE-52AF-4346-8B9A-59418460570A}" type="parTrans" cxnId="{B9C33826-1579-4139-BC68-B59282DFB13D}">
      <dgm:prSet/>
      <dgm:spPr/>
      <dgm:t>
        <a:bodyPr/>
        <a:lstStyle/>
        <a:p>
          <a:endParaRPr lang="en-US" sz="1800">
            <a:solidFill>
              <a:schemeClr val="tx2">
                <a:lumMod val="75000"/>
              </a:schemeClr>
            </a:solidFill>
            <a:latin typeface="Times New Roman" panose="02020603050405020304" pitchFamily="18" charset="0"/>
            <a:cs typeface="Times New Roman" panose="02020603050405020304" pitchFamily="18" charset="0"/>
          </a:endParaRPr>
        </a:p>
      </dgm:t>
    </dgm:pt>
    <dgm:pt modelId="{6BABF511-37D5-4F86-B5FA-17A313947B7C}" type="sibTrans" cxnId="{B9C33826-1579-4139-BC68-B59282DFB13D}">
      <dgm:prSet/>
      <dgm:spPr/>
      <dgm:t>
        <a:bodyPr/>
        <a:lstStyle/>
        <a:p>
          <a:endParaRPr lang="en-US" sz="1800">
            <a:solidFill>
              <a:schemeClr val="tx2">
                <a:lumMod val="75000"/>
              </a:schemeClr>
            </a:solidFill>
            <a:latin typeface="Times New Roman" panose="02020603050405020304" pitchFamily="18" charset="0"/>
            <a:cs typeface="Times New Roman" panose="02020603050405020304" pitchFamily="18" charset="0"/>
          </a:endParaRPr>
        </a:p>
      </dgm:t>
    </dgm:pt>
    <dgm:pt modelId="{ED07DC9A-528C-4A44-882F-E92BB7BA52D7}">
      <dgm:prSet custT="1"/>
      <dgm:spPr>
        <a:noFill/>
        <a:ln>
          <a:solidFill>
            <a:srgbClr val="89B6C3"/>
          </a:solidFill>
        </a:ln>
      </dgm:spPr>
      <dgm:t>
        <a:bodyPr/>
        <a:lstStyle/>
        <a:p>
          <a:r>
            <a:rPr lang="ru-RU" sz="1800" b="0" dirty="0">
              <a:solidFill>
                <a:schemeClr val="tx2">
                  <a:lumMod val="75000"/>
                </a:schemeClr>
              </a:solidFill>
              <a:latin typeface="Tahoma" panose="020B0604030504040204" pitchFamily="34" charset="0"/>
              <a:cs typeface="Tahoma" panose="020B0604030504040204" pitchFamily="34" charset="0"/>
            </a:rPr>
            <a:t>2</a:t>
          </a:r>
        </a:p>
        <a:p>
          <a:r>
            <a:rPr lang="ru-RU" sz="1800" b="0" dirty="0">
              <a:solidFill>
                <a:schemeClr val="tx2">
                  <a:lumMod val="75000"/>
                </a:schemeClr>
              </a:solidFill>
              <a:latin typeface="Tahoma" panose="020B0604030504040204" pitchFamily="34" charset="0"/>
              <a:cs typeface="Tahoma" panose="020B0604030504040204" pitchFamily="34" charset="0"/>
            </a:rPr>
            <a:t>Обработка записей и построение сейсмограммы </a:t>
          </a:r>
          <a:endParaRPr lang="en-US" sz="1800" b="0" dirty="0">
            <a:solidFill>
              <a:schemeClr val="tx2">
                <a:lumMod val="75000"/>
              </a:schemeClr>
            </a:solidFill>
            <a:latin typeface="Tahoma" panose="020B0604030504040204" pitchFamily="34" charset="0"/>
            <a:cs typeface="Tahoma" panose="020B0604030504040204" pitchFamily="34" charset="0"/>
          </a:endParaRPr>
        </a:p>
      </dgm:t>
    </dgm:pt>
    <dgm:pt modelId="{58626F4A-EE34-48A8-892F-D364ECB4E67E}" type="parTrans" cxnId="{06D5051C-2AF7-4CDD-8F3B-B965B82C4A29}">
      <dgm:prSet/>
      <dgm:spPr/>
      <dgm:t>
        <a:bodyPr/>
        <a:lstStyle/>
        <a:p>
          <a:endParaRPr lang="en-US" sz="1800">
            <a:solidFill>
              <a:schemeClr val="tx2">
                <a:lumMod val="75000"/>
              </a:schemeClr>
            </a:solidFill>
            <a:latin typeface="Times New Roman" panose="02020603050405020304" pitchFamily="18" charset="0"/>
            <a:cs typeface="Times New Roman" panose="02020603050405020304" pitchFamily="18" charset="0"/>
          </a:endParaRPr>
        </a:p>
      </dgm:t>
    </dgm:pt>
    <dgm:pt modelId="{D37A97B6-A235-47E5-B5BD-12BC7992307B}" type="sibTrans" cxnId="{06D5051C-2AF7-4CDD-8F3B-B965B82C4A29}">
      <dgm:prSet/>
      <dgm:spPr/>
      <dgm:t>
        <a:bodyPr/>
        <a:lstStyle/>
        <a:p>
          <a:endParaRPr lang="en-US" sz="1800">
            <a:solidFill>
              <a:schemeClr val="tx2">
                <a:lumMod val="75000"/>
              </a:schemeClr>
            </a:solidFill>
            <a:latin typeface="Times New Roman" panose="02020603050405020304" pitchFamily="18" charset="0"/>
            <a:cs typeface="Times New Roman" panose="02020603050405020304" pitchFamily="18" charset="0"/>
          </a:endParaRPr>
        </a:p>
      </dgm:t>
    </dgm:pt>
    <dgm:pt modelId="{10BC8F6B-F30E-41E2-A2EF-2EEF61A9BEA8}">
      <dgm:prSet custT="1"/>
      <dgm:spPr>
        <a:noFill/>
        <a:ln>
          <a:solidFill>
            <a:srgbClr val="89B6C3"/>
          </a:solidFill>
        </a:ln>
      </dgm:spPr>
      <dgm:t>
        <a:bodyPr/>
        <a:lstStyle/>
        <a:p>
          <a:r>
            <a:rPr lang="ru-RU" sz="1800" dirty="0">
              <a:solidFill>
                <a:schemeClr val="tx2">
                  <a:lumMod val="75000"/>
                </a:schemeClr>
              </a:solidFill>
              <a:latin typeface="Tahoma" panose="020B0604030504040204" pitchFamily="34" charset="0"/>
              <a:cs typeface="Tahoma" panose="020B0604030504040204" pitchFamily="34" charset="0"/>
            </a:rPr>
            <a:t>3</a:t>
          </a:r>
        </a:p>
        <a:p>
          <a:r>
            <a:rPr lang="ru-RU" sz="1800" dirty="0">
              <a:solidFill>
                <a:schemeClr val="tx2">
                  <a:lumMod val="75000"/>
                </a:schemeClr>
              </a:solidFill>
              <a:latin typeface="Tahoma" panose="020B0604030504040204" pitchFamily="34" charset="0"/>
              <a:cs typeface="Tahoma" panose="020B0604030504040204" pitchFamily="34" charset="0"/>
            </a:rPr>
            <a:t>Прямой динамический расчет здания</a:t>
          </a:r>
          <a:endParaRPr lang="en-US" sz="1800" dirty="0">
            <a:solidFill>
              <a:schemeClr val="tx2">
                <a:lumMod val="75000"/>
              </a:schemeClr>
            </a:solidFill>
            <a:latin typeface="Tahoma" panose="020B0604030504040204" pitchFamily="34" charset="0"/>
            <a:cs typeface="Tahoma" panose="020B0604030504040204" pitchFamily="34" charset="0"/>
          </a:endParaRPr>
        </a:p>
      </dgm:t>
    </dgm:pt>
    <dgm:pt modelId="{734DF9AC-91D1-47E8-86A4-EB333C8A6B43}" type="parTrans" cxnId="{6E3F3502-EEF2-4187-8AC8-FB8E6B6828EF}">
      <dgm:prSet/>
      <dgm:spPr/>
      <dgm:t>
        <a:bodyPr/>
        <a:lstStyle/>
        <a:p>
          <a:endParaRPr lang="en-US" sz="1800">
            <a:solidFill>
              <a:schemeClr val="tx2">
                <a:lumMod val="75000"/>
              </a:schemeClr>
            </a:solidFill>
            <a:latin typeface="Times New Roman" panose="02020603050405020304" pitchFamily="18" charset="0"/>
            <a:cs typeface="Times New Roman" panose="02020603050405020304" pitchFamily="18" charset="0"/>
          </a:endParaRPr>
        </a:p>
      </dgm:t>
    </dgm:pt>
    <dgm:pt modelId="{BB912AEC-AE69-4C54-A301-67CC00F8C882}" type="sibTrans" cxnId="{6E3F3502-EEF2-4187-8AC8-FB8E6B6828EF}">
      <dgm:prSet/>
      <dgm:spPr/>
      <dgm:t>
        <a:bodyPr/>
        <a:lstStyle/>
        <a:p>
          <a:endParaRPr lang="en-US" sz="1800">
            <a:solidFill>
              <a:schemeClr val="tx2">
                <a:lumMod val="75000"/>
              </a:schemeClr>
            </a:solidFill>
            <a:latin typeface="Times New Roman" panose="02020603050405020304" pitchFamily="18" charset="0"/>
            <a:cs typeface="Times New Roman" panose="02020603050405020304" pitchFamily="18" charset="0"/>
          </a:endParaRPr>
        </a:p>
      </dgm:t>
    </dgm:pt>
    <dgm:pt modelId="{181EB517-C224-4F40-88B5-1085A864B953}">
      <dgm:prSet custT="1"/>
      <dgm:spPr>
        <a:noFill/>
        <a:ln>
          <a:solidFill>
            <a:srgbClr val="89B6C3"/>
          </a:solidFill>
        </a:ln>
      </dgm:spPr>
      <dgm:t>
        <a:bodyPr/>
        <a:lstStyle/>
        <a:p>
          <a:r>
            <a:rPr lang="ru-RU" sz="1800" dirty="0">
              <a:solidFill>
                <a:schemeClr val="tx2">
                  <a:lumMod val="75000"/>
                </a:schemeClr>
              </a:solidFill>
              <a:latin typeface="Tahoma" panose="020B0604030504040204" pitchFamily="34" charset="0"/>
              <a:cs typeface="Tahoma" panose="020B0604030504040204" pitchFamily="34" charset="0"/>
            </a:rPr>
            <a:t>4</a:t>
          </a:r>
        </a:p>
        <a:p>
          <a:r>
            <a:rPr lang="ru-RU" sz="1800" dirty="0">
              <a:solidFill>
                <a:schemeClr val="tx2">
                  <a:lumMod val="75000"/>
                </a:schemeClr>
              </a:solidFill>
              <a:latin typeface="Tahoma" panose="020B0604030504040204" pitchFamily="34" charset="0"/>
              <a:cs typeface="Tahoma" panose="020B0604030504040204" pitchFamily="34" charset="0"/>
            </a:rPr>
            <a:t>Оценка несущей способности конструкций</a:t>
          </a:r>
          <a:endParaRPr lang="en-US" sz="1800" dirty="0">
            <a:solidFill>
              <a:schemeClr val="tx2">
                <a:lumMod val="75000"/>
              </a:schemeClr>
            </a:solidFill>
            <a:latin typeface="Tahoma" panose="020B0604030504040204" pitchFamily="34" charset="0"/>
            <a:cs typeface="Tahoma" panose="020B0604030504040204" pitchFamily="34" charset="0"/>
          </a:endParaRPr>
        </a:p>
      </dgm:t>
    </dgm:pt>
    <dgm:pt modelId="{3EE4763F-742E-44F4-BA90-F313994E38ED}" type="parTrans" cxnId="{9D111E97-F946-49AF-9C34-9630D0BAC071}">
      <dgm:prSet/>
      <dgm:spPr/>
      <dgm:t>
        <a:bodyPr/>
        <a:lstStyle/>
        <a:p>
          <a:endParaRPr lang="en-US" sz="1800">
            <a:solidFill>
              <a:schemeClr val="tx2">
                <a:lumMod val="75000"/>
              </a:schemeClr>
            </a:solidFill>
            <a:latin typeface="Times New Roman" panose="02020603050405020304" pitchFamily="18" charset="0"/>
            <a:cs typeface="Times New Roman" panose="02020603050405020304" pitchFamily="18" charset="0"/>
          </a:endParaRPr>
        </a:p>
      </dgm:t>
    </dgm:pt>
    <dgm:pt modelId="{0E3ECF24-46DD-4C7B-8B51-BB2B12945343}" type="sibTrans" cxnId="{9D111E97-F946-49AF-9C34-9630D0BAC071}">
      <dgm:prSet/>
      <dgm:spPr/>
      <dgm:t>
        <a:bodyPr/>
        <a:lstStyle/>
        <a:p>
          <a:endParaRPr lang="en-US" sz="1800">
            <a:solidFill>
              <a:schemeClr val="tx2">
                <a:lumMod val="75000"/>
              </a:schemeClr>
            </a:solidFill>
            <a:latin typeface="Times New Roman" panose="02020603050405020304" pitchFamily="18" charset="0"/>
            <a:cs typeface="Times New Roman" panose="02020603050405020304" pitchFamily="18" charset="0"/>
          </a:endParaRPr>
        </a:p>
      </dgm:t>
    </dgm:pt>
    <dgm:pt modelId="{32B2A7FC-E721-46CF-8B45-D1BCE417DD85}" type="pres">
      <dgm:prSet presAssocID="{6C047FAB-E11D-496A-A50A-88CE60ACE6AD}" presName="Name0" presStyleCnt="0">
        <dgm:presLayoutVars>
          <dgm:chMax val="11"/>
          <dgm:chPref val="11"/>
          <dgm:dir/>
          <dgm:resizeHandles/>
        </dgm:presLayoutVars>
      </dgm:prSet>
      <dgm:spPr/>
    </dgm:pt>
    <dgm:pt modelId="{B863D6B5-A44B-4CF6-AEFE-347C51498263}" type="pres">
      <dgm:prSet presAssocID="{181EB517-C224-4F40-88B5-1085A864B953}" presName="Accent4" presStyleCnt="0"/>
      <dgm:spPr/>
    </dgm:pt>
    <dgm:pt modelId="{557F6029-1B0D-4DBD-A52C-B94A9C9701D7}" type="pres">
      <dgm:prSet presAssocID="{181EB517-C224-4F40-88B5-1085A864B953}" presName="Accent" presStyleLbl="node1" presStyleIdx="0" presStyleCnt="8"/>
      <dgm:spPr>
        <a:noFill/>
        <a:ln>
          <a:solidFill>
            <a:srgbClr val="89B6C3"/>
          </a:solidFill>
        </a:ln>
      </dgm:spPr>
    </dgm:pt>
    <dgm:pt modelId="{8F0DB7A7-CE41-4AFB-A747-386BED84004C}" type="pres">
      <dgm:prSet presAssocID="{181EB517-C224-4F40-88B5-1085A864B953}" presName="ParentBackground4" presStyleCnt="0"/>
      <dgm:spPr/>
    </dgm:pt>
    <dgm:pt modelId="{EE474EED-AD54-4F82-BF9B-61FAB3DF37DA}" type="pres">
      <dgm:prSet presAssocID="{181EB517-C224-4F40-88B5-1085A864B953}" presName="ParentBackground" presStyleLbl="node1" presStyleIdx="1" presStyleCnt="8"/>
      <dgm:spPr/>
    </dgm:pt>
    <dgm:pt modelId="{57560D80-E8BC-4A7D-9608-B854CE07AF4C}" type="pres">
      <dgm:prSet presAssocID="{181EB517-C224-4F40-88B5-1085A864B953}" presName="Parent4" presStyleLbl="fgAcc0" presStyleIdx="0" presStyleCnt="0">
        <dgm:presLayoutVars>
          <dgm:chMax val="1"/>
          <dgm:chPref val="1"/>
          <dgm:bulletEnabled val="1"/>
        </dgm:presLayoutVars>
      </dgm:prSet>
      <dgm:spPr/>
    </dgm:pt>
    <dgm:pt modelId="{210AB4A5-ABD4-44AB-8765-65D563365DD0}" type="pres">
      <dgm:prSet presAssocID="{10BC8F6B-F30E-41E2-A2EF-2EEF61A9BEA8}" presName="Accent3" presStyleCnt="0"/>
      <dgm:spPr/>
    </dgm:pt>
    <dgm:pt modelId="{CEBE5DB6-74DD-4ACC-81CA-4B715399FA12}" type="pres">
      <dgm:prSet presAssocID="{10BC8F6B-F30E-41E2-A2EF-2EEF61A9BEA8}" presName="Accent" presStyleLbl="node1" presStyleIdx="2" presStyleCnt="8"/>
      <dgm:spPr>
        <a:noFill/>
        <a:ln>
          <a:solidFill>
            <a:srgbClr val="89B6C3"/>
          </a:solidFill>
        </a:ln>
      </dgm:spPr>
    </dgm:pt>
    <dgm:pt modelId="{72EC2507-C5F6-41CE-89F0-0C795351BFE6}" type="pres">
      <dgm:prSet presAssocID="{10BC8F6B-F30E-41E2-A2EF-2EEF61A9BEA8}" presName="ParentBackground3" presStyleCnt="0"/>
      <dgm:spPr/>
    </dgm:pt>
    <dgm:pt modelId="{60095FD7-E9D7-4E04-B4B8-60176E313532}" type="pres">
      <dgm:prSet presAssocID="{10BC8F6B-F30E-41E2-A2EF-2EEF61A9BEA8}" presName="ParentBackground" presStyleLbl="node1" presStyleIdx="3" presStyleCnt="8"/>
      <dgm:spPr/>
    </dgm:pt>
    <dgm:pt modelId="{1F919116-A9B7-4B3B-9C0A-43A6B4EC8C01}" type="pres">
      <dgm:prSet presAssocID="{10BC8F6B-F30E-41E2-A2EF-2EEF61A9BEA8}" presName="Parent3" presStyleLbl="fgAcc0" presStyleIdx="0" presStyleCnt="0">
        <dgm:presLayoutVars>
          <dgm:chMax val="1"/>
          <dgm:chPref val="1"/>
          <dgm:bulletEnabled val="1"/>
        </dgm:presLayoutVars>
      </dgm:prSet>
      <dgm:spPr/>
    </dgm:pt>
    <dgm:pt modelId="{E16D417B-3DC2-4C59-9BBE-127C46E798A0}" type="pres">
      <dgm:prSet presAssocID="{ED07DC9A-528C-4A44-882F-E92BB7BA52D7}" presName="Accent2" presStyleCnt="0"/>
      <dgm:spPr/>
    </dgm:pt>
    <dgm:pt modelId="{74EC60FC-D0AA-4E7E-AD9F-F464899AC471}" type="pres">
      <dgm:prSet presAssocID="{ED07DC9A-528C-4A44-882F-E92BB7BA52D7}" presName="Accent" presStyleLbl="node1" presStyleIdx="4" presStyleCnt="8"/>
      <dgm:spPr>
        <a:noFill/>
        <a:ln>
          <a:solidFill>
            <a:srgbClr val="89B6C3"/>
          </a:solidFill>
        </a:ln>
      </dgm:spPr>
    </dgm:pt>
    <dgm:pt modelId="{D8F9D1FC-589F-46B0-8408-B32CD47E1AEF}" type="pres">
      <dgm:prSet presAssocID="{ED07DC9A-528C-4A44-882F-E92BB7BA52D7}" presName="ParentBackground2" presStyleCnt="0"/>
      <dgm:spPr/>
    </dgm:pt>
    <dgm:pt modelId="{B79B41E8-6978-4B28-A417-BEC0FFFC0990}" type="pres">
      <dgm:prSet presAssocID="{ED07DC9A-528C-4A44-882F-E92BB7BA52D7}" presName="ParentBackground" presStyleLbl="node1" presStyleIdx="5" presStyleCnt="8"/>
      <dgm:spPr/>
    </dgm:pt>
    <dgm:pt modelId="{BE7E656A-F8F1-48C4-9E30-1160BC50A269}" type="pres">
      <dgm:prSet presAssocID="{ED07DC9A-528C-4A44-882F-E92BB7BA52D7}" presName="Parent2" presStyleLbl="fgAcc0" presStyleIdx="0" presStyleCnt="0">
        <dgm:presLayoutVars>
          <dgm:chMax val="1"/>
          <dgm:chPref val="1"/>
          <dgm:bulletEnabled val="1"/>
        </dgm:presLayoutVars>
      </dgm:prSet>
      <dgm:spPr/>
    </dgm:pt>
    <dgm:pt modelId="{06B7538C-AFA7-42D6-92B8-3161C17C76D6}" type="pres">
      <dgm:prSet presAssocID="{6C2869C5-B119-4934-87F9-161D03A5AFF1}" presName="Accent1" presStyleCnt="0"/>
      <dgm:spPr/>
    </dgm:pt>
    <dgm:pt modelId="{22915624-9E27-4C6C-BB30-665B643A4126}" type="pres">
      <dgm:prSet presAssocID="{6C2869C5-B119-4934-87F9-161D03A5AFF1}" presName="Accent" presStyleLbl="node1" presStyleIdx="6" presStyleCnt="8"/>
      <dgm:spPr>
        <a:noFill/>
        <a:ln>
          <a:solidFill>
            <a:srgbClr val="89B6C3"/>
          </a:solidFill>
        </a:ln>
      </dgm:spPr>
    </dgm:pt>
    <dgm:pt modelId="{6F08DA08-5631-4214-9752-D168B6D94B61}" type="pres">
      <dgm:prSet presAssocID="{6C2869C5-B119-4934-87F9-161D03A5AFF1}" presName="ParentBackground1" presStyleCnt="0"/>
      <dgm:spPr/>
    </dgm:pt>
    <dgm:pt modelId="{3AB8B04B-9A10-48E4-8BDD-624222A4FAD9}" type="pres">
      <dgm:prSet presAssocID="{6C2869C5-B119-4934-87F9-161D03A5AFF1}" presName="ParentBackground" presStyleLbl="node1" presStyleIdx="7" presStyleCnt="8"/>
      <dgm:spPr/>
    </dgm:pt>
    <dgm:pt modelId="{8BD8EE57-2EC2-4110-8C65-859D9D1CC6A4}" type="pres">
      <dgm:prSet presAssocID="{6C2869C5-B119-4934-87F9-161D03A5AFF1}" presName="Parent1" presStyleLbl="fgAcc0" presStyleIdx="0" presStyleCnt="0">
        <dgm:presLayoutVars>
          <dgm:chMax val="1"/>
          <dgm:chPref val="1"/>
          <dgm:bulletEnabled val="1"/>
        </dgm:presLayoutVars>
      </dgm:prSet>
      <dgm:spPr/>
    </dgm:pt>
  </dgm:ptLst>
  <dgm:cxnLst>
    <dgm:cxn modelId="{6E3F3502-EEF2-4187-8AC8-FB8E6B6828EF}" srcId="{6C047FAB-E11D-496A-A50A-88CE60ACE6AD}" destId="{10BC8F6B-F30E-41E2-A2EF-2EEF61A9BEA8}" srcOrd="2" destOrd="0" parTransId="{734DF9AC-91D1-47E8-86A4-EB333C8A6B43}" sibTransId="{BB912AEC-AE69-4C54-A301-67CC00F8C882}"/>
    <dgm:cxn modelId="{28207D0A-1EA6-48A7-9EA7-85329FADA5F2}" type="presOf" srcId="{10BC8F6B-F30E-41E2-A2EF-2EEF61A9BEA8}" destId="{60095FD7-E9D7-4E04-B4B8-60176E313532}" srcOrd="0" destOrd="0" presId="urn:microsoft.com/office/officeart/2018/layout/CircleProcess"/>
    <dgm:cxn modelId="{B4069C14-AD16-4EC7-938C-E7A5972FDED8}" type="presOf" srcId="{181EB517-C224-4F40-88B5-1085A864B953}" destId="{EE474EED-AD54-4F82-BF9B-61FAB3DF37DA}" srcOrd="0" destOrd="0" presId="urn:microsoft.com/office/officeart/2018/layout/CircleProcess"/>
    <dgm:cxn modelId="{87C73017-E23F-4F07-98A3-2127C84AD75C}" type="presOf" srcId="{181EB517-C224-4F40-88B5-1085A864B953}" destId="{57560D80-E8BC-4A7D-9608-B854CE07AF4C}" srcOrd="1" destOrd="0" presId="urn:microsoft.com/office/officeart/2018/layout/CircleProcess"/>
    <dgm:cxn modelId="{06D5051C-2AF7-4CDD-8F3B-B965B82C4A29}" srcId="{6C047FAB-E11D-496A-A50A-88CE60ACE6AD}" destId="{ED07DC9A-528C-4A44-882F-E92BB7BA52D7}" srcOrd="1" destOrd="0" parTransId="{58626F4A-EE34-48A8-892F-D364ECB4E67E}" sibTransId="{D37A97B6-A235-47E5-B5BD-12BC7992307B}"/>
    <dgm:cxn modelId="{B9C33826-1579-4139-BC68-B59282DFB13D}" srcId="{6C047FAB-E11D-496A-A50A-88CE60ACE6AD}" destId="{6C2869C5-B119-4934-87F9-161D03A5AFF1}" srcOrd="0" destOrd="0" parTransId="{90D08BBE-52AF-4346-8B9A-59418460570A}" sibTransId="{6BABF511-37D5-4F86-B5FA-17A313947B7C}"/>
    <dgm:cxn modelId="{74AF0B2D-DC1B-4A8D-985D-D3A5F7A3EE27}" type="presOf" srcId="{ED07DC9A-528C-4A44-882F-E92BB7BA52D7}" destId="{B79B41E8-6978-4B28-A417-BEC0FFFC0990}" srcOrd="0" destOrd="0" presId="urn:microsoft.com/office/officeart/2018/layout/CircleProcess"/>
    <dgm:cxn modelId="{BCF3E779-BA56-444E-AB7C-2CF6D10F6AF9}" type="presOf" srcId="{6C2869C5-B119-4934-87F9-161D03A5AFF1}" destId="{8BD8EE57-2EC2-4110-8C65-859D9D1CC6A4}" srcOrd="1" destOrd="0" presId="urn:microsoft.com/office/officeart/2018/layout/CircleProcess"/>
    <dgm:cxn modelId="{E3FBBB80-B6E0-42FC-A51D-65572CEC657D}" type="presOf" srcId="{6C047FAB-E11D-496A-A50A-88CE60ACE6AD}" destId="{32B2A7FC-E721-46CF-8B45-D1BCE417DD85}" srcOrd="0" destOrd="0" presId="urn:microsoft.com/office/officeart/2018/layout/CircleProcess"/>
    <dgm:cxn modelId="{9D111E97-F946-49AF-9C34-9630D0BAC071}" srcId="{6C047FAB-E11D-496A-A50A-88CE60ACE6AD}" destId="{181EB517-C224-4F40-88B5-1085A864B953}" srcOrd="3" destOrd="0" parTransId="{3EE4763F-742E-44F4-BA90-F313994E38ED}" sibTransId="{0E3ECF24-46DD-4C7B-8B51-BB2B12945343}"/>
    <dgm:cxn modelId="{D19B3B9A-1353-47D3-AC16-02F6B6050EC1}" type="presOf" srcId="{6C2869C5-B119-4934-87F9-161D03A5AFF1}" destId="{3AB8B04B-9A10-48E4-8BDD-624222A4FAD9}" srcOrd="0" destOrd="0" presId="urn:microsoft.com/office/officeart/2018/layout/CircleProcess"/>
    <dgm:cxn modelId="{9AB8D6B6-B067-4A08-84AA-495EBF2F621C}" type="presOf" srcId="{ED07DC9A-528C-4A44-882F-E92BB7BA52D7}" destId="{BE7E656A-F8F1-48C4-9E30-1160BC50A269}" srcOrd="1" destOrd="0" presId="urn:microsoft.com/office/officeart/2018/layout/CircleProcess"/>
    <dgm:cxn modelId="{9740B4BF-CB31-400F-977C-07936AFEF021}" type="presOf" srcId="{10BC8F6B-F30E-41E2-A2EF-2EEF61A9BEA8}" destId="{1F919116-A9B7-4B3B-9C0A-43A6B4EC8C01}" srcOrd="1" destOrd="0" presId="urn:microsoft.com/office/officeart/2018/layout/CircleProcess"/>
    <dgm:cxn modelId="{17A075B3-26CD-4CEA-B13B-4772DB7F573B}" type="presParOf" srcId="{32B2A7FC-E721-46CF-8B45-D1BCE417DD85}" destId="{B863D6B5-A44B-4CF6-AEFE-347C51498263}" srcOrd="0" destOrd="0" presId="urn:microsoft.com/office/officeart/2018/layout/CircleProcess"/>
    <dgm:cxn modelId="{5E2B8279-B7BE-46BC-8A75-D86B0B4A07CE}" type="presParOf" srcId="{B863D6B5-A44B-4CF6-AEFE-347C51498263}" destId="{557F6029-1B0D-4DBD-A52C-B94A9C9701D7}" srcOrd="0" destOrd="0" presId="urn:microsoft.com/office/officeart/2018/layout/CircleProcess"/>
    <dgm:cxn modelId="{14711025-95ED-47EB-94B6-D7FEE2184020}" type="presParOf" srcId="{32B2A7FC-E721-46CF-8B45-D1BCE417DD85}" destId="{8F0DB7A7-CE41-4AFB-A747-386BED84004C}" srcOrd="1" destOrd="0" presId="urn:microsoft.com/office/officeart/2018/layout/CircleProcess"/>
    <dgm:cxn modelId="{17776087-A99D-42BB-B535-A3A907A81536}" type="presParOf" srcId="{8F0DB7A7-CE41-4AFB-A747-386BED84004C}" destId="{EE474EED-AD54-4F82-BF9B-61FAB3DF37DA}" srcOrd="0" destOrd="0" presId="urn:microsoft.com/office/officeart/2018/layout/CircleProcess"/>
    <dgm:cxn modelId="{70B9C6B7-4D0B-4CA9-978D-9B92DC5B1C3E}" type="presParOf" srcId="{32B2A7FC-E721-46CF-8B45-D1BCE417DD85}" destId="{57560D80-E8BC-4A7D-9608-B854CE07AF4C}" srcOrd="2" destOrd="0" presId="urn:microsoft.com/office/officeart/2018/layout/CircleProcess"/>
    <dgm:cxn modelId="{0C42188B-95C1-4549-A405-67833A05A448}" type="presParOf" srcId="{32B2A7FC-E721-46CF-8B45-D1BCE417DD85}" destId="{210AB4A5-ABD4-44AB-8765-65D563365DD0}" srcOrd="3" destOrd="0" presId="urn:microsoft.com/office/officeart/2018/layout/CircleProcess"/>
    <dgm:cxn modelId="{75865BA7-2D7E-406D-8389-2F637E6A6CCE}" type="presParOf" srcId="{210AB4A5-ABD4-44AB-8765-65D563365DD0}" destId="{CEBE5DB6-74DD-4ACC-81CA-4B715399FA12}" srcOrd="0" destOrd="0" presId="urn:microsoft.com/office/officeart/2018/layout/CircleProcess"/>
    <dgm:cxn modelId="{C79A6118-41E9-4FF8-B6E6-5781CF46CC1D}" type="presParOf" srcId="{32B2A7FC-E721-46CF-8B45-D1BCE417DD85}" destId="{72EC2507-C5F6-41CE-89F0-0C795351BFE6}" srcOrd="4" destOrd="0" presId="urn:microsoft.com/office/officeart/2018/layout/CircleProcess"/>
    <dgm:cxn modelId="{1D45A047-742B-406F-BCFD-60EBD7A39E41}" type="presParOf" srcId="{72EC2507-C5F6-41CE-89F0-0C795351BFE6}" destId="{60095FD7-E9D7-4E04-B4B8-60176E313532}" srcOrd="0" destOrd="0" presId="urn:microsoft.com/office/officeart/2018/layout/CircleProcess"/>
    <dgm:cxn modelId="{8AAD0873-A0F3-4A1E-A3D2-1135EFE9C171}" type="presParOf" srcId="{32B2A7FC-E721-46CF-8B45-D1BCE417DD85}" destId="{1F919116-A9B7-4B3B-9C0A-43A6B4EC8C01}" srcOrd="5" destOrd="0" presId="urn:microsoft.com/office/officeart/2018/layout/CircleProcess"/>
    <dgm:cxn modelId="{F1E80A50-0DCF-406E-968E-64B8BEF2C295}" type="presParOf" srcId="{32B2A7FC-E721-46CF-8B45-D1BCE417DD85}" destId="{E16D417B-3DC2-4C59-9BBE-127C46E798A0}" srcOrd="6" destOrd="0" presId="urn:microsoft.com/office/officeart/2018/layout/CircleProcess"/>
    <dgm:cxn modelId="{36E1ED50-7D59-4EB1-817D-27159507515F}" type="presParOf" srcId="{E16D417B-3DC2-4C59-9BBE-127C46E798A0}" destId="{74EC60FC-D0AA-4E7E-AD9F-F464899AC471}" srcOrd="0" destOrd="0" presId="urn:microsoft.com/office/officeart/2018/layout/CircleProcess"/>
    <dgm:cxn modelId="{6315A5EC-2065-412D-8AA3-D384A4B8217F}" type="presParOf" srcId="{32B2A7FC-E721-46CF-8B45-D1BCE417DD85}" destId="{D8F9D1FC-589F-46B0-8408-B32CD47E1AEF}" srcOrd="7" destOrd="0" presId="urn:microsoft.com/office/officeart/2018/layout/CircleProcess"/>
    <dgm:cxn modelId="{5101F09C-5300-4A09-A157-4D0240731F7E}" type="presParOf" srcId="{D8F9D1FC-589F-46B0-8408-B32CD47E1AEF}" destId="{B79B41E8-6978-4B28-A417-BEC0FFFC0990}" srcOrd="0" destOrd="0" presId="urn:microsoft.com/office/officeart/2018/layout/CircleProcess"/>
    <dgm:cxn modelId="{8D0A7EFB-51D2-4C4E-80DD-B1674C0AB76B}" type="presParOf" srcId="{32B2A7FC-E721-46CF-8B45-D1BCE417DD85}" destId="{BE7E656A-F8F1-48C4-9E30-1160BC50A269}" srcOrd="8" destOrd="0" presId="urn:microsoft.com/office/officeart/2018/layout/CircleProcess"/>
    <dgm:cxn modelId="{CFFA078D-4BB0-46A4-9543-EE6EB3072BD6}" type="presParOf" srcId="{32B2A7FC-E721-46CF-8B45-D1BCE417DD85}" destId="{06B7538C-AFA7-42D6-92B8-3161C17C76D6}" srcOrd="9" destOrd="0" presId="urn:microsoft.com/office/officeart/2018/layout/CircleProcess"/>
    <dgm:cxn modelId="{0D286694-2601-49EB-8FDA-C5012A536293}" type="presParOf" srcId="{06B7538C-AFA7-42D6-92B8-3161C17C76D6}" destId="{22915624-9E27-4C6C-BB30-665B643A4126}" srcOrd="0" destOrd="0" presId="urn:microsoft.com/office/officeart/2018/layout/CircleProcess"/>
    <dgm:cxn modelId="{12692922-A119-41ED-A905-4C4067F0B9AF}" type="presParOf" srcId="{32B2A7FC-E721-46CF-8B45-D1BCE417DD85}" destId="{6F08DA08-5631-4214-9752-D168B6D94B61}" srcOrd="10" destOrd="0" presId="urn:microsoft.com/office/officeart/2018/layout/CircleProcess"/>
    <dgm:cxn modelId="{107EA186-CA0C-48D8-A3B8-975A0A6AEB3A}" type="presParOf" srcId="{6F08DA08-5631-4214-9752-D168B6D94B61}" destId="{3AB8B04B-9A10-48E4-8BDD-624222A4FAD9}" srcOrd="0" destOrd="0" presId="urn:microsoft.com/office/officeart/2018/layout/CircleProcess"/>
    <dgm:cxn modelId="{CCBE0074-48AA-473D-BFE9-04E0829C362D}" type="presParOf" srcId="{32B2A7FC-E721-46CF-8B45-D1BCE417DD85}" destId="{8BD8EE57-2EC2-4110-8C65-859D9D1CC6A4}" srcOrd="11" destOrd="0" presId="urn:microsoft.com/office/officeart/2018/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7F6029-1B0D-4DBD-A52C-B94A9C9701D7}">
      <dsp:nvSpPr>
        <dsp:cNvPr id="0" name=""/>
        <dsp:cNvSpPr/>
      </dsp:nvSpPr>
      <dsp:spPr>
        <a:xfrm>
          <a:off x="8450554" y="1436636"/>
          <a:ext cx="2529064" cy="2529193"/>
        </a:xfrm>
        <a:prstGeom prst="ellipse">
          <a:avLst/>
        </a:prstGeom>
        <a:noFill/>
        <a:ln w="12700" cap="flat" cmpd="sng" algn="ctr">
          <a:solidFill>
            <a:srgbClr val="89B6C3"/>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474EED-AD54-4F82-BF9B-61FAB3DF37DA}">
      <dsp:nvSpPr>
        <dsp:cNvPr id="0" name=""/>
        <dsp:cNvSpPr/>
      </dsp:nvSpPr>
      <dsp:spPr>
        <a:xfrm>
          <a:off x="8535145" y="1520957"/>
          <a:ext cx="2360966" cy="2360551"/>
        </a:xfrm>
        <a:prstGeom prst="ellipse">
          <a:avLst/>
        </a:prstGeom>
        <a:noFill/>
        <a:ln w="12700" cap="flat" cmpd="sng" algn="ctr">
          <a:solidFill>
            <a:srgbClr val="89B6C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ru-RU" sz="1800" kern="1200" dirty="0">
              <a:solidFill>
                <a:schemeClr val="tx2">
                  <a:lumMod val="75000"/>
                </a:schemeClr>
              </a:solidFill>
              <a:latin typeface="Tahoma" panose="020B0604030504040204" pitchFamily="34" charset="0"/>
              <a:cs typeface="Tahoma" panose="020B0604030504040204" pitchFamily="34" charset="0"/>
            </a:rPr>
            <a:t>4</a:t>
          </a:r>
        </a:p>
        <a:p>
          <a:pPr marL="0" lvl="0" indent="0" algn="ctr" defTabSz="800100">
            <a:lnSpc>
              <a:spcPct val="90000"/>
            </a:lnSpc>
            <a:spcBef>
              <a:spcPct val="0"/>
            </a:spcBef>
            <a:spcAft>
              <a:spcPct val="35000"/>
            </a:spcAft>
            <a:buNone/>
          </a:pPr>
          <a:r>
            <a:rPr lang="ru-RU" sz="1800" kern="1200" dirty="0">
              <a:solidFill>
                <a:schemeClr val="tx2">
                  <a:lumMod val="75000"/>
                </a:schemeClr>
              </a:solidFill>
              <a:latin typeface="Tahoma" panose="020B0604030504040204" pitchFamily="34" charset="0"/>
              <a:cs typeface="Tahoma" panose="020B0604030504040204" pitchFamily="34" charset="0"/>
            </a:rPr>
            <a:t>Оценка несущей способности конструкций</a:t>
          </a:r>
          <a:endParaRPr lang="en-US" sz="1800" kern="1200" dirty="0">
            <a:solidFill>
              <a:schemeClr val="tx2">
                <a:lumMod val="75000"/>
              </a:schemeClr>
            </a:solidFill>
            <a:latin typeface="Tahoma" panose="020B0604030504040204" pitchFamily="34" charset="0"/>
            <a:cs typeface="Tahoma" panose="020B0604030504040204" pitchFamily="34" charset="0"/>
          </a:endParaRPr>
        </a:p>
      </dsp:txBody>
      <dsp:txXfrm>
        <a:off x="8872426" y="1858242"/>
        <a:ext cx="1686404" cy="1685981"/>
      </dsp:txXfrm>
    </dsp:sp>
    <dsp:sp modelId="{CEBE5DB6-74DD-4ACC-81CA-4B715399FA12}">
      <dsp:nvSpPr>
        <dsp:cNvPr id="0" name=""/>
        <dsp:cNvSpPr/>
      </dsp:nvSpPr>
      <dsp:spPr>
        <a:xfrm rot="2700000">
          <a:off x="5826032" y="1436458"/>
          <a:ext cx="2529105" cy="2529105"/>
        </a:xfrm>
        <a:prstGeom prst="teardrop">
          <a:avLst>
            <a:gd name="adj" fmla="val 100000"/>
          </a:avLst>
        </a:prstGeom>
        <a:noFill/>
        <a:ln w="12700" cap="flat" cmpd="sng" algn="ctr">
          <a:solidFill>
            <a:srgbClr val="89B6C3"/>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095FD7-E9D7-4E04-B4B8-60176E313532}">
      <dsp:nvSpPr>
        <dsp:cNvPr id="0" name=""/>
        <dsp:cNvSpPr/>
      </dsp:nvSpPr>
      <dsp:spPr>
        <a:xfrm>
          <a:off x="5921489" y="1520957"/>
          <a:ext cx="2360966" cy="2360551"/>
        </a:xfrm>
        <a:prstGeom prst="ellipse">
          <a:avLst/>
        </a:prstGeom>
        <a:noFill/>
        <a:ln w="12700" cap="flat" cmpd="sng" algn="ctr">
          <a:solidFill>
            <a:srgbClr val="89B6C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ru-RU" sz="1800" kern="1200" dirty="0">
              <a:solidFill>
                <a:schemeClr val="tx2">
                  <a:lumMod val="75000"/>
                </a:schemeClr>
              </a:solidFill>
              <a:latin typeface="Tahoma" panose="020B0604030504040204" pitchFamily="34" charset="0"/>
              <a:cs typeface="Tahoma" panose="020B0604030504040204" pitchFamily="34" charset="0"/>
            </a:rPr>
            <a:t>3</a:t>
          </a:r>
        </a:p>
        <a:p>
          <a:pPr marL="0" lvl="0" indent="0" algn="ctr" defTabSz="800100">
            <a:lnSpc>
              <a:spcPct val="90000"/>
            </a:lnSpc>
            <a:spcBef>
              <a:spcPct val="0"/>
            </a:spcBef>
            <a:spcAft>
              <a:spcPct val="35000"/>
            </a:spcAft>
            <a:buNone/>
          </a:pPr>
          <a:r>
            <a:rPr lang="ru-RU" sz="1800" kern="1200" dirty="0">
              <a:solidFill>
                <a:schemeClr val="tx2">
                  <a:lumMod val="75000"/>
                </a:schemeClr>
              </a:solidFill>
              <a:latin typeface="Tahoma" panose="020B0604030504040204" pitchFamily="34" charset="0"/>
              <a:cs typeface="Tahoma" panose="020B0604030504040204" pitchFamily="34" charset="0"/>
            </a:rPr>
            <a:t>Прямой динамический расчет здания</a:t>
          </a:r>
          <a:endParaRPr lang="en-US" sz="1800" kern="1200" dirty="0">
            <a:solidFill>
              <a:schemeClr val="tx2">
                <a:lumMod val="75000"/>
              </a:schemeClr>
            </a:solidFill>
            <a:latin typeface="Tahoma" panose="020B0604030504040204" pitchFamily="34" charset="0"/>
            <a:cs typeface="Tahoma" panose="020B0604030504040204" pitchFamily="34" charset="0"/>
          </a:endParaRPr>
        </a:p>
      </dsp:txBody>
      <dsp:txXfrm>
        <a:off x="6258770" y="1858242"/>
        <a:ext cx="1686404" cy="1685981"/>
      </dsp:txXfrm>
    </dsp:sp>
    <dsp:sp modelId="{74EC60FC-D0AA-4E7E-AD9F-F464899AC471}">
      <dsp:nvSpPr>
        <dsp:cNvPr id="0" name=""/>
        <dsp:cNvSpPr/>
      </dsp:nvSpPr>
      <dsp:spPr>
        <a:xfrm rot="2700000">
          <a:off x="3223222" y="1436458"/>
          <a:ext cx="2529105" cy="2529105"/>
        </a:xfrm>
        <a:prstGeom prst="teardrop">
          <a:avLst>
            <a:gd name="adj" fmla="val 100000"/>
          </a:avLst>
        </a:prstGeom>
        <a:noFill/>
        <a:ln w="12700" cap="flat" cmpd="sng" algn="ctr">
          <a:solidFill>
            <a:srgbClr val="89B6C3"/>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9B41E8-6978-4B28-A417-BEC0FFFC0990}">
      <dsp:nvSpPr>
        <dsp:cNvPr id="0" name=""/>
        <dsp:cNvSpPr/>
      </dsp:nvSpPr>
      <dsp:spPr>
        <a:xfrm>
          <a:off x="3307834" y="1520957"/>
          <a:ext cx="2360966" cy="2360551"/>
        </a:xfrm>
        <a:prstGeom prst="ellipse">
          <a:avLst/>
        </a:prstGeom>
        <a:noFill/>
        <a:ln w="12700" cap="flat" cmpd="sng" algn="ctr">
          <a:solidFill>
            <a:srgbClr val="89B6C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ru-RU" sz="1800" b="0" kern="1200" dirty="0">
              <a:solidFill>
                <a:schemeClr val="tx2">
                  <a:lumMod val="75000"/>
                </a:schemeClr>
              </a:solidFill>
              <a:latin typeface="Tahoma" panose="020B0604030504040204" pitchFamily="34" charset="0"/>
              <a:cs typeface="Tahoma" panose="020B0604030504040204" pitchFamily="34" charset="0"/>
            </a:rPr>
            <a:t>2</a:t>
          </a:r>
        </a:p>
        <a:p>
          <a:pPr marL="0" lvl="0" indent="0" algn="ctr" defTabSz="800100">
            <a:lnSpc>
              <a:spcPct val="90000"/>
            </a:lnSpc>
            <a:spcBef>
              <a:spcPct val="0"/>
            </a:spcBef>
            <a:spcAft>
              <a:spcPct val="35000"/>
            </a:spcAft>
            <a:buNone/>
          </a:pPr>
          <a:r>
            <a:rPr lang="ru-RU" sz="1800" b="0" kern="1200" dirty="0">
              <a:solidFill>
                <a:schemeClr val="tx2">
                  <a:lumMod val="75000"/>
                </a:schemeClr>
              </a:solidFill>
              <a:latin typeface="Tahoma" panose="020B0604030504040204" pitchFamily="34" charset="0"/>
              <a:cs typeface="Tahoma" panose="020B0604030504040204" pitchFamily="34" charset="0"/>
            </a:rPr>
            <a:t>Обработка записей и построение сейсмограммы </a:t>
          </a:r>
          <a:endParaRPr lang="en-US" sz="1800" b="0" kern="1200" dirty="0">
            <a:solidFill>
              <a:schemeClr val="tx2">
                <a:lumMod val="75000"/>
              </a:schemeClr>
            </a:solidFill>
            <a:latin typeface="Tahoma" panose="020B0604030504040204" pitchFamily="34" charset="0"/>
            <a:cs typeface="Tahoma" panose="020B0604030504040204" pitchFamily="34" charset="0"/>
          </a:endParaRPr>
        </a:p>
      </dsp:txBody>
      <dsp:txXfrm>
        <a:off x="3645115" y="1858242"/>
        <a:ext cx="1686404" cy="1685981"/>
      </dsp:txXfrm>
    </dsp:sp>
    <dsp:sp modelId="{22915624-9E27-4C6C-BB30-665B643A4126}">
      <dsp:nvSpPr>
        <dsp:cNvPr id="0" name=""/>
        <dsp:cNvSpPr/>
      </dsp:nvSpPr>
      <dsp:spPr>
        <a:xfrm rot="2700000">
          <a:off x="609566" y="1436458"/>
          <a:ext cx="2529105" cy="2529105"/>
        </a:xfrm>
        <a:prstGeom prst="teardrop">
          <a:avLst>
            <a:gd name="adj" fmla="val 100000"/>
          </a:avLst>
        </a:prstGeom>
        <a:noFill/>
        <a:ln w="12700" cap="flat" cmpd="sng" algn="ctr">
          <a:solidFill>
            <a:srgbClr val="89B6C3"/>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B8B04B-9A10-48E4-8BDD-624222A4FAD9}">
      <dsp:nvSpPr>
        <dsp:cNvPr id="0" name=""/>
        <dsp:cNvSpPr/>
      </dsp:nvSpPr>
      <dsp:spPr>
        <a:xfrm>
          <a:off x="694178" y="1520957"/>
          <a:ext cx="2360966" cy="2360551"/>
        </a:xfrm>
        <a:prstGeom prst="ellipse">
          <a:avLst/>
        </a:prstGeom>
        <a:noFill/>
        <a:ln w="12700" cap="flat" cmpd="sng" algn="ctr">
          <a:solidFill>
            <a:srgbClr val="89B6C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36000" lvl="0" indent="0" algn="ctr" defTabSz="800100">
            <a:lnSpc>
              <a:spcPct val="90000"/>
            </a:lnSpc>
            <a:spcBef>
              <a:spcPct val="0"/>
            </a:spcBef>
            <a:spcAft>
              <a:spcPts val="42"/>
            </a:spcAft>
            <a:buNone/>
          </a:pPr>
          <a:r>
            <a:rPr lang="ru-RU" sz="1800" kern="1200" dirty="0">
              <a:solidFill>
                <a:schemeClr val="tx2">
                  <a:lumMod val="75000"/>
                </a:schemeClr>
              </a:solidFill>
              <a:latin typeface="Tahoma" panose="020B0604030504040204" pitchFamily="34" charset="0"/>
              <a:cs typeface="Tahoma" panose="020B0604030504040204" pitchFamily="34" charset="0"/>
            </a:rPr>
            <a:t>1</a:t>
          </a:r>
        </a:p>
        <a:p>
          <a:pPr marL="36000" lvl="0" indent="0" algn="ctr" defTabSz="800100">
            <a:lnSpc>
              <a:spcPct val="90000"/>
            </a:lnSpc>
            <a:spcBef>
              <a:spcPct val="0"/>
            </a:spcBef>
            <a:spcAft>
              <a:spcPts val="0"/>
            </a:spcAft>
            <a:buNone/>
          </a:pPr>
          <a:r>
            <a:rPr lang="ru-RU" sz="1800" kern="1200" dirty="0">
              <a:solidFill>
                <a:schemeClr val="tx2">
                  <a:lumMod val="75000"/>
                </a:schemeClr>
              </a:solidFill>
              <a:latin typeface="Tahoma" panose="020B0604030504040204" pitchFamily="34" charset="0"/>
              <a:cs typeface="Tahoma" panose="020B0604030504040204" pitchFamily="34" charset="0"/>
            </a:rPr>
            <a:t>Запись </a:t>
          </a:r>
          <a:r>
            <a:rPr lang="ru-RU" sz="1800" kern="1200" dirty="0" err="1">
              <a:solidFill>
                <a:schemeClr val="tx2">
                  <a:lumMod val="75000"/>
                </a:schemeClr>
              </a:solidFill>
              <a:latin typeface="Tahoma" panose="020B0604030504040204" pitchFamily="34" charset="0"/>
              <a:cs typeface="Tahoma" panose="020B0604030504040204" pitchFamily="34" charset="0"/>
            </a:rPr>
            <a:t>кинематичес</a:t>
          </a:r>
          <a:r>
            <a:rPr lang="ru-RU" sz="1800" kern="1200" dirty="0">
              <a:solidFill>
                <a:schemeClr val="tx2">
                  <a:lumMod val="75000"/>
                </a:schemeClr>
              </a:solidFill>
              <a:latin typeface="Tahoma" panose="020B0604030504040204" pitchFamily="34" charset="0"/>
              <a:cs typeface="Tahoma" panose="020B0604030504040204" pitchFamily="34" charset="0"/>
            </a:rPr>
            <a:t>-ких воздействий в основаниях сооружений</a:t>
          </a:r>
          <a:endParaRPr lang="en-US" sz="1800" kern="1200" dirty="0">
            <a:solidFill>
              <a:schemeClr val="tx2">
                <a:lumMod val="75000"/>
              </a:schemeClr>
            </a:solidFill>
            <a:latin typeface="Tahoma" panose="020B0604030504040204" pitchFamily="34" charset="0"/>
            <a:cs typeface="Tahoma" panose="020B0604030504040204" pitchFamily="34" charset="0"/>
          </a:endParaRPr>
        </a:p>
      </dsp:txBody>
      <dsp:txXfrm>
        <a:off x="1031459" y="1858242"/>
        <a:ext cx="1686404" cy="1685981"/>
      </dsp:txXfrm>
    </dsp:sp>
  </dsp:spTree>
</dsp:drawing>
</file>

<file path=ppt/diagrams/layout1.xml><?xml version="1.0" encoding="utf-8"?>
<dgm:layoutDef xmlns:dgm="http://schemas.openxmlformats.org/drawingml/2006/diagram" xmlns:a="http://schemas.openxmlformats.org/drawingml/2006/main" uniqueId="urn:microsoft.com/office/officeart/2018/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node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image" Target="../media/image91.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image" Target="../media/image9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2BC2F602-BF07-46E3-9243-26BE76237C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B4D06B8C-06C0-4324-9C23-F1AD8CA21BB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362BD8-A06C-4E0C-91BE-825D2D1AB247}" type="datetimeFigureOut">
              <a:rPr lang="ru-RU" smtClean="0"/>
              <a:t>26.10.2025</a:t>
            </a:fld>
            <a:endParaRPr lang="ru-RU"/>
          </a:p>
        </p:txBody>
      </p:sp>
      <p:sp>
        <p:nvSpPr>
          <p:cNvPr id="4" name="Нижний колонтитул 3">
            <a:extLst>
              <a:ext uri="{FF2B5EF4-FFF2-40B4-BE49-F238E27FC236}">
                <a16:creationId xmlns:a16="http://schemas.microsoft.com/office/drawing/2014/main" id="{6B1859F3-7945-4651-B328-F1C8B730EA9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96EEB18C-25EC-4251-B72E-900AFDE1E26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241DF3-A0BC-42DE-A735-00B5B038C8A6}" type="slidenum">
              <a:rPr lang="ru-RU" smtClean="0"/>
              <a:t>‹#›</a:t>
            </a:fld>
            <a:endParaRPr lang="ru-RU"/>
          </a:p>
        </p:txBody>
      </p:sp>
    </p:spTree>
    <p:extLst>
      <p:ext uri="{BB962C8B-B14F-4D97-AF65-F5344CB8AC3E}">
        <p14:creationId xmlns:p14="http://schemas.microsoft.com/office/powerpoint/2010/main" val="619828430"/>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C5ED5B-7659-4784-8B84-6C33A6A2FEB7}" type="datetimeFigureOut">
              <a:rPr lang="ru-RU" smtClean="0"/>
              <a:t>26.10.2025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B09AE2-2E38-404D-9761-9E0E458F6CE4}" type="slidenum">
              <a:rPr lang="ru-RU" smtClean="0"/>
              <a:t>‹#›</a:t>
            </a:fld>
            <a:endParaRPr lang="ru-RU"/>
          </a:p>
        </p:txBody>
      </p:sp>
    </p:spTree>
    <p:extLst>
      <p:ext uri="{BB962C8B-B14F-4D97-AF65-F5344CB8AC3E}">
        <p14:creationId xmlns:p14="http://schemas.microsoft.com/office/powerpoint/2010/main" val="2458841078"/>
      </p:ext>
    </p:extLst>
  </p:cSld>
  <p:clrMap bg1="lt1" tx1="dk1" bg2="lt2" tx2="dk2" accent1="accent1" accent2="accent2" accent3="accent3" accent4="accent4" accent5="accent5" accent6="accent6" hlink="hlink" folHlink="folHlink"/>
  <p:hf ftr="0" dt="0"/>
  <p:notesStyle>
    <a:lvl1pPr marL="0" algn="l" defTabSz="864017" rtl="0" eaLnBrk="1" latinLnBrk="0" hangingPunct="1">
      <a:defRPr sz="1134" kern="1200">
        <a:solidFill>
          <a:schemeClr val="tx1"/>
        </a:solidFill>
        <a:latin typeface="+mn-lt"/>
        <a:ea typeface="+mn-ea"/>
        <a:cs typeface="+mn-cs"/>
      </a:defRPr>
    </a:lvl1pPr>
    <a:lvl2pPr marL="432008" algn="l" defTabSz="864017" rtl="0" eaLnBrk="1" latinLnBrk="0" hangingPunct="1">
      <a:defRPr sz="1134" kern="1200">
        <a:solidFill>
          <a:schemeClr val="tx1"/>
        </a:solidFill>
        <a:latin typeface="+mn-lt"/>
        <a:ea typeface="+mn-ea"/>
        <a:cs typeface="+mn-cs"/>
      </a:defRPr>
    </a:lvl2pPr>
    <a:lvl3pPr marL="864017" algn="l" defTabSz="864017" rtl="0" eaLnBrk="1" latinLnBrk="0" hangingPunct="1">
      <a:defRPr sz="1134" kern="1200">
        <a:solidFill>
          <a:schemeClr val="tx1"/>
        </a:solidFill>
        <a:latin typeface="+mn-lt"/>
        <a:ea typeface="+mn-ea"/>
        <a:cs typeface="+mn-cs"/>
      </a:defRPr>
    </a:lvl3pPr>
    <a:lvl4pPr marL="1296025" algn="l" defTabSz="864017" rtl="0" eaLnBrk="1" latinLnBrk="0" hangingPunct="1">
      <a:defRPr sz="1134" kern="1200">
        <a:solidFill>
          <a:schemeClr val="tx1"/>
        </a:solidFill>
        <a:latin typeface="+mn-lt"/>
        <a:ea typeface="+mn-ea"/>
        <a:cs typeface="+mn-cs"/>
      </a:defRPr>
    </a:lvl4pPr>
    <a:lvl5pPr marL="1728033" algn="l" defTabSz="864017" rtl="0" eaLnBrk="1" latinLnBrk="0" hangingPunct="1">
      <a:defRPr sz="1134" kern="1200">
        <a:solidFill>
          <a:schemeClr val="tx1"/>
        </a:solidFill>
        <a:latin typeface="+mn-lt"/>
        <a:ea typeface="+mn-ea"/>
        <a:cs typeface="+mn-cs"/>
      </a:defRPr>
    </a:lvl5pPr>
    <a:lvl6pPr marL="2160041" algn="l" defTabSz="864017" rtl="0" eaLnBrk="1" latinLnBrk="0" hangingPunct="1">
      <a:defRPr sz="1134" kern="1200">
        <a:solidFill>
          <a:schemeClr val="tx1"/>
        </a:solidFill>
        <a:latin typeface="+mn-lt"/>
        <a:ea typeface="+mn-ea"/>
        <a:cs typeface="+mn-cs"/>
      </a:defRPr>
    </a:lvl6pPr>
    <a:lvl7pPr marL="2592050" algn="l" defTabSz="864017" rtl="0" eaLnBrk="1" latinLnBrk="0" hangingPunct="1">
      <a:defRPr sz="1134" kern="1200">
        <a:solidFill>
          <a:schemeClr val="tx1"/>
        </a:solidFill>
        <a:latin typeface="+mn-lt"/>
        <a:ea typeface="+mn-ea"/>
        <a:cs typeface="+mn-cs"/>
      </a:defRPr>
    </a:lvl7pPr>
    <a:lvl8pPr marL="3024058" algn="l" defTabSz="864017" rtl="0" eaLnBrk="1" latinLnBrk="0" hangingPunct="1">
      <a:defRPr sz="1134" kern="1200">
        <a:solidFill>
          <a:schemeClr val="tx1"/>
        </a:solidFill>
        <a:latin typeface="+mn-lt"/>
        <a:ea typeface="+mn-ea"/>
        <a:cs typeface="+mn-cs"/>
      </a:defRPr>
    </a:lvl8pPr>
    <a:lvl9pPr marL="3456066" algn="l" defTabSz="864017" rtl="0" eaLnBrk="1" latinLnBrk="0" hangingPunct="1">
      <a:defRPr sz="1134" kern="1200">
        <a:solidFill>
          <a:schemeClr val="tx1"/>
        </a:solidFill>
        <a:latin typeface="+mn-lt"/>
        <a:ea typeface="+mn-ea"/>
        <a:cs typeface="+mn-cs"/>
      </a:defRPr>
    </a:lvl9pPr>
  </p:notesStyle>
  <p:extLst mod="1">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134" b="1" kern="1200" dirty="0">
                <a:solidFill>
                  <a:schemeClr val="tx1"/>
                </a:solidFill>
                <a:effectLst/>
                <a:latin typeface="+mn-lt"/>
                <a:ea typeface="+mn-ea"/>
                <a:cs typeface="+mn-cs"/>
              </a:rPr>
              <a:t>1 СЛАЙД</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Здравствуйте уважаемые коллеги! </a:t>
            </a:r>
          </a:p>
          <a:p>
            <a:r>
              <a:rPr lang="ru-RU" sz="1134" kern="1200" dirty="0">
                <a:solidFill>
                  <a:schemeClr val="tx1"/>
                </a:solidFill>
                <a:effectLst/>
                <a:latin typeface="+mn-lt"/>
                <a:ea typeface="+mn-ea"/>
                <a:cs typeface="+mn-cs"/>
              </a:rPr>
              <a:t>В рамках данной презентации расскажу о опыте нашей лаборатории в измерении сейсмического воздействия взрывных работ на здания и сооружения. </a:t>
            </a:r>
          </a:p>
          <a:p>
            <a:r>
              <a:rPr lang="ru-RU" sz="1134" kern="1200" dirty="0">
                <a:solidFill>
                  <a:schemeClr val="tx1"/>
                </a:solidFill>
                <a:effectLst/>
                <a:latin typeface="+mn-lt"/>
                <a:ea typeface="+mn-ea"/>
                <a:cs typeface="+mn-cs"/>
              </a:rPr>
              <a:t>Как известно в процессе ведения горных работ возникает необходимость оценки и прогнозирования влияния промышленных взрывов на различные производственные объекты предприятия и близлежащую городскую инфраструктуру для обеспечения их сохранности. Этот вопрос является актуальным для многих предприятий. </a:t>
            </a:r>
          </a:p>
          <a:p>
            <a:pPr marL="0" marR="0" lvl="0" indent="0" algn="l" defTabSz="864017" rtl="0" eaLnBrk="1" fontAlgn="auto" latinLnBrk="0" hangingPunct="1">
              <a:lnSpc>
                <a:spcPct val="100000"/>
              </a:lnSpc>
              <a:spcBef>
                <a:spcPts val="0"/>
              </a:spcBef>
              <a:spcAft>
                <a:spcPts val="0"/>
              </a:spcAft>
              <a:buClrTx/>
              <a:buSzTx/>
              <a:buFontTx/>
              <a:buNone/>
              <a:tabLst/>
              <a:defRPr/>
            </a:pPr>
            <a:endParaRPr lang="ru-RU" dirty="0"/>
          </a:p>
        </p:txBody>
      </p:sp>
      <p:sp>
        <p:nvSpPr>
          <p:cNvPr id="4" name="Верхний колонтитул 3"/>
          <p:cNvSpPr>
            <a:spLocks noGrp="1"/>
          </p:cNvSpPr>
          <p:nvPr>
            <p:ph type="hdr" sz="quarter"/>
          </p:nvPr>
        </p:nvSpPr>
        <p:spPr/>
        <p:txBody>
          <a:bodyPr/>
          <a:lstStyle/>
          <a:p>
            <a:endParaRPr lang="ru-RU"/>
          </a:p>
        </p:txBody>
      </p:sp>
      <p:sp>
        <p:nvSpPr>
          <p:cNvPr id="5" name="Номер слайда 4"/>
          <p:cNvSpPr>
            <a:spLocks noGrp="1"/>
          </p:cNvSpPr>
          <p:nvPr>
            <p:ph type="sldNum" sz="quarter" idx="5"/>
          </p:nvPr>
        </p:nvSpPr>
        <p:spPr/>
        <p:txBody>
          <a:bodyPr/>
          <a:lstStyle/>
          <a:p>
            <a:fld id="{8EB09AE2-2E38-404D-9761-9E0E458F6CE4}" type="slidenum">
              <a:rPr lang="ru-RU" smtClean="0"/>
              <a:t>1</a:t>
            </a:fld>
            <a:endParaRPr lang="ru-RU"/>
          </a:p>
        </p:txBody>
      </p:sp>
    </p:spTree>
    <p:extLst>
      <p:ext uri="{BB962C8B-B14F-4D97-AF65-F5344CB8AC3E}">
        <p14:creationId xmlns:p14="http://schemas.microsoft.com/office/powerpoint/2010/main" val="722311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800" b="1" dirty="0">
                <a:effectLst/>
                <a:latin typeface="Tahoma" panose="020B0604030504040204" pitchFamily="34" charset="0"/>
                <a:ea typeface="Calibri" panose="020F0502020204030204" pitchFamily="34" charset="0"/>
                <a:cs typeface="Tahoma" panose="020B0604030504040204" pitchFamily="34" charset="0"/>
              </a:rPr>
              <a:t>2)</a:t>
            </a:r>
            <a:r>
              <a:rPr lang="ru-RU" sz="1800" dirty="0">
                <a:effectLst/>
                <a:latin typeface="Tahoma" panose="020B0604030504040204" pitchFamily="34" charset="0"/>
                <a:ea typeface="Calibri" panose="020F0502020204030204" pitchFamily="34" charset="0"/>
                <a:cs typeface="Tahoma" panose="020B0604030504040204" pitchFamily="34" charset="0"/>
              </a:rPr>
              <a:t> Близость расположения промышленных городов и объектов горного производства к карьерам, в которых ведутся взрывные работы, приводит к попаданию этих объектов в зону влияния взрывов. </a:t>
            </a:r>
            <a:r>
              <a:rPr lang="ru-RU" sz="1800" kern="1200" dirty="0">
                <a:solidFill>
                  <a:schemeClr val="tx1"/>
                </a:solidFill>
                <a:effectLst/>
                <a:latin typeface="+mn-lt"/>
                <a:ea typeface="+mn-ea"/>
                <a:cs typeface="+mn-cs"/>
              </a:rPr>
              <a:t>Одним из факторов, оказывающих негативное воздействие на расположенные вблизи карьера объекты, является вибрация, обусловленная сейсмическим действием взрыва. </a:t>
            </a:r>
          </a:p>
          <a:p>
            <a:r>
              <a:rPr lang="ru-RU" sz="1800" kern="1200" dirty="0">
                <a:solidFill>
                  <a:schemeClr val="tx1"/>
                </a:solidFill>
                <a:effectLst/>
                <a:latin typeface="+mn-lt"/>
                <a:ea typeface="+mn-ea"/>
                <a:cs typeface="+mn-cs"/>
              </a:rPr>
              <a:t>Вибрационным воздействиям взрывов подвержены как поверхностные</a:t>
            </a:r>
            <a:r>
              <a:rPr lang="en-US" sz="1800" kern="1200" dirty="0">
                <a:solidFill>
                  <a:schemeClr val="tx1"/>
                </a:solidFill>
                <a:effectLst/>
                <a:latin typeface="+mn-lt"/>
                <a:ea typeface="+mn-ea"/>
                <a:cs typeface="+mn-cs"/>
              </a:rPr>
              <a:t> </a:t>
            </a:r>
            <a:r>
              <a:rPr lang="ru-RU" sz="1800" kern="1200" dirty="0">
                <a:solidFill>
                  <a:schemeClr val="tx1"/>
                </a:solidFill>
                <a:effectLst/>
                <a:latin typeface="+mn-lt"/>
                <a:ea typeface="+mn-ea"/>
                <a:cs typeface="+mn-cs"/>
              </a:rPr>
              <a:t>объекты</a:t>
            </a:r>
            <a:r>
              <a:rPr lang="ru-RU" sz="1800" kern="1200" baseline="0" dirty="0">
                <a:solidFill>
                  <a:schemeClr val="tx1"/>
                </a:solidFill>
                <a:effectLst/>
                <a:latin typeface="+mn-lt"/>
                <a:ea typeface="+mn-ea"/>
                <a:cs typeface="+mn-cs"/>
              </a:rPr>
              <a:t> такие как</a:t>
            </a:r>
            <a:r>
              <a:rPr lang="ru-RU" sz="1800" kern="1200" dirty="0">
                <a:solidFill>
                  <a:schemeClr val="tx1"/>
                </a:solidFill>
                <a:effectLst/>
                <a:latin typeface="+mn-lt"/>
                <a:ea typeface="+mn-ea"/>
                <a:cs typeface="+mn-cs"/>
              </a:rPr>
              <a:t> жилые и промышленные здания и сооружения так и подземные объекты (трубопроводы, туннели, подземные выработки шахт).</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Tahoma" panose="020B0604030504040204" pitchFamily="34" charset="0"/>
              <a:ea typeface="Calibri" panose="020F0502020204030204" pitchFamily="34" charset="0"/>
              <a:cs typeface="Tahoma" panose="020B0604030504040204" pitchFamily="34" charset="0"/>
            </a:endParaRPr>
          </a:p>
          <a:p>
            <a:endParaRPr lang="en-US" dirty="0"/>
          </a:p>
        </p:txBody>
      </p:sp>
      <p:sp>
        <p:nvSpPr>
          <p:cNvPr id="4" name="Номер слайда 3"/>
          <p:cNvSpPr>
            <a:spLocks noGrp="1"/>
          </p:cNvSpPr>
          <p:nvPr>
            <p:ph type="sldNum" sz="quarter" idx="5"/>
          </p:nvPr>
        </p:nvSpPr>
        <p:spPr/>
        <p:txBody>
          <a:bodyPr/>
          <a:lstStyle/>
          <a:p>
            <a:fld id="{36519071-4742-4F4B-9B74-7EB2AEE867E4}" type="slidenum">
              <a:rPr lang="en-US" smtClean="0"/>
              <a:t>2</a:t>
            </a:fld>
            <a:endParaRPr lang="en-US"/>
          </a:p>
        </p:txBody>
      </p:sp>
    </p:spTree>
    <p:extLst>
      <p:ext uri="{BB962C8B-B14F-4D97-AF65-F5344CB8AC3E}">
        <p14:creationId xmlns:p14="http://schemas.microsoft.com/office/powerpoint/2010/main" val="705828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134" b="1" kern="1200" dirty="0">
                <a:solidFill>
                  <a:schemeClr val="tx1"/>
                </a:solidFill>
                <a:effectLst/>
                <a:latin typeface="+mn-lt"/>
                <a:ea typeface="+mn-ea"/>
                <a:cs typeface="+mn-cs"/>
              </a:rPr>
              <a:t>2 СЛАЙД</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Лабораторией геотехники для прогнозирования сейсмического действия взрывных работ и оценки его негативного влияния на здания и сооружения применяется оборудование, представленное на слайде.</a:t>
            </a:r>
          </a:p>
          <a:p>
            <a:r>
              <a:rPr lang="ru-RU" sz="1134" kern="1200" dirty="0">
                <a:solidFill>
                  <a:schemeClr val="tx1"/>
                </a:solidFill>
                <a:effectLst/>
                <a:latin typeface="+mn-lt"/>
                <a:ea typeface="+mn-ea"/>
                <a:cs typeface="+mn-cs"/>
              </a:rPr>
              <a:t>Для измерений сейсмического действия взрывов в рудниках опасных по газу и пыли применяются трехкомпонентные виброметры (акселерометр и велосиметр) во взрывозащищенном исполнении (приведены в левой верхней части слайда).</a:t>
            </a:r>
          </a:p>
          <a:p>
            <a:r>
              <a:rPr lang="ru-RU" sz="1134" kern="1200" dirty="0">
                <a:solidFill>
                  <a:schemeClr val="tx1"/>
                </a:solidFill>
                <a:effectLst/>
                <a:latin typeface="+mn-lt"/>
                <a:ea typeface="+mn-ea"/>
                <a:cs typeface="+mn-cs"/>
              </a:rPr>
              <a:t>Так же для измерения сейсмического действия взрывов применяется сейсмостанция (в правой части вверху), позволяющая вести синхронную запись на два датчика, что позволяет дополнительно измерить скорость распространения продольной волны в массиве. Результаты таких измерений позволяют оценить опасные значения скоростей для массива.</a:t>
            </a:r>
          </a:p>
          <a:p>
            <a:r>
              <a:rPr lang="ru-RU" sz="1134" kern="1200" dirty="0">
                <a:solidFill>
                  <a:schemeClr val="tx1"/>
                </a:solidFill>
                <a:effectLst/>
                <a:latin typeface="+mn-lt"/>
                <a:ea typeface="+mn-ea"/>
                <a:cs typeface="+mn-cs"/>
              </a:rPr>
              <a:t>Наряду с сейсмическим действием опасным фактором является действие УВВ при взрывных работах. Прибор представленный слева в нижней части слайда позволяет проводить совместную регистрацию сейсмического действия взрыва и действие УВВ. Данная особенность </a:t>
            </a:r>
            <a:r>
              <a:rPr lang="ru-RU" sz="1134" kern="1200" dirty="0" err="1">
                <a:solidFill>
                  <a:schemeClr val="tx1"/>
                </a:solidFill>
                <a:effectLst/>
                <a:latin typeface="+mn-lt"/>
                <a:ea typeface="+mn-ea"/>
                <a:cs typeface="+mn-cs"/>
              </a:rPr>
              <a:t>вибромонитора</a:t>
            </a:r>
            <a:r>
              <a:rPr lang="ru-RU" sz="1134" kern="1200" dirty="0">
                <a:solidFill>
                  <a:schemeClr val="tx1"/>
                </a:solidFill>
                <a:effectLst/>
                <a:latin typeface="+mn-lt"/>
                <a:ea typeface="+mn-ea"/>
                <a:cs typeface="+mn-cs"/>
              </a:rPr>
              <a:t> позволяет оценить раскачку здания от действия УВВ.</a:t>
            </a:r>
          </a:p>
          <a:p>
            <a:r>
              <a:rPr lang="ru-RU" sz="1134" kern="1200" dirty="0">
                <a:solidFill>
                  <a:schemeClr val="tx1"/>
                </a:solidFill>
                <a:effectLst/>
                <a:latin typeface="+mn-lt"/>
                <a:ea typeface="+mn-ea"/>
                <a:cs typeface="+mn-cs"/>
              </a:rPr>
              <a:t>Для оценки деформаций дефектов в конструкциях зданий и сооружений применяется тензометрическая станция (на слайде справа внизу).  Подобные измерения могут проводиться для более обоснованного выбора допустимых скоростей вибрации.</a:t>
            </a:r>
          </a:p>
          <a:p>
            <a:r>
              <a:rPr lang="ru-RU" sz="1134" kern="1200" dirty="0">
                <a:solidFill>
                  <a:schemeClr val="tx1"/>
                </a:solidFill>
                <a:effectLst/>
                <a:latin typeface="+mn-lt"/>
                <a:ea typeface="+mn-ea"/>
                <a:cs typeface="+mn-cs"/>
              </a:rPr>
              <a:t>Скоростная камера (позволяющая вести съемку со скоростью 2000 кадров/секунду), представленная в центре слайда, применятся для анализа работы сети инициирования зарядов. Определения погрешностей и фактической очередности взрывания скважин.</a:t>
            </a:r>
          </a:p>
          <a:p>
            <a:endParaRPr lang="ru-RU" dirty="0"/>
          </a:p>
        </p:txBody>
      </p:sp>
      <p:sp>
        <p:nvSpPr>
          <p:cNvPr id="4" name="Верхний колонтитул 3"/>
          <p:cNvSpPr>
            <a:spLocks noGrp="1"/>
          </p:cNvSpPr>
          <p:nvPr>
            <p:ph type="hdr" sz="quarter"/>
          </p:nvPr>
        </p:nvSpPr>
        <p:spPr/>
        <p:txBody>
          <a:bodyPr/>
          <a:lstStyle/>
          <a:p>
            <a:endParaRPr lang="ru-RU"/>
          </a:p>
        </p:txBody>
      </p:sp>
      <p:sp>
        <p:nvSpPr>
          <p:cNvPr id="5" name="Номер слайда 4"/>
          <p:cNvSpPr>
            <a:spLocks noGrp="1"/>
          </p:cNvSpPr>
          <p:nvPr>
            <p:ph type="sldNum" sz="quarter" idx="5"/>
          </p:nvPr>
        </p:nvSpPr>
        <p:spPr/>
        <p:txBody>
          <a:bodyPr/>
          <a:lstStyle/>
          <a:p>
            <a:fld id="{8EB09AE2-2E38-404D-9761-9E0E458F6CE4}" type="slidenum">
              <a:rPr lang="ru-RU" smtClean="0"/>
              <a:t>3</a:t>
            </a:fld>
            <a:endParaRPr lang="ru-RU"/>
          </a:p>
        </p:txBody>
      </p:sp>
    </p:spTree>
    <p:extLst>
      <p:ext uri="{BB962C8B-B14F-4D97-AF65-F5344CB8AC3E}">
        <p14:creationId xmlns:p14="http://schemas.microsoft.com/office/powerpoint/2010/main" val="2848718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134" b="1" kern="1200" dirty="0">
                <a:solidFill>
                  <a:schemeClr val="tx1"/>
                </a:solidFill>
                <a:effectLst/>
                <a:latin typeface="+mn-lt"/>
                <a:ea typeface="+mn-ea"/>
                <a:cs typeface="+mn-cs"/>
              </a:rPr>
              <a:t>17</a:t>
            </a:r>
            <a:r>
              <a:rPr lang="ru-RU" sz="1134" b="1" kern="1200" dirty="0">
                <a:solidFill>
                  <a:schemeClr val="tx1"/>
                </a:solidFill>
                <a:effectLst/>
                <a:latin typeface="+mn-lt"/>
                <a:ea typeface="+mn-ea"/>
                <a:cs typeface="+mn-cs"/>
              </a:rPr>
              <a:t> СЛАЙД</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На слайде представлены рекомендации по установке датчиков и возможные ошибки при установке. </a:t>
            </a:r>
          </a:p>
          <a:p>
            <a:r>
              <a:rPr lang="ru-RU" sz="1134" kern="1200" dirty="0">
                <a:solidFill>
                  <a:schemeClr val="tx1"/>
                </a:solidFill>
                <a:effectLst/>
                <a:latin typeface="+mn-lt"/>
                <a:ea typeface="+mn-ea"/>
                <a:cs typeface="+mn-cs"/>
              </a:rPr>
              <a:t>Основная идея в том, что следует избегать искажения передаваемых датчику от массива колебаний. Для этого необходимо обеспечить надежный контакт датчика с основанием.</a:t>
            </a:r>
          </a:p>
          <a:p>
            <a:r>
              <a:rPr lang="ru-RU" sz="1134" kern="1200" dirty="0">
                <a:solidFill>
                  <a:schemeClr val="tx1"/>
                </a:solidFill>
                <a:effectLst/>
                <a:latin typeface="+mn-lt"/>
                <a:ea typeface="+mn-ea"/>
                <a:cs typeface="+mn-cs"/>
              </a:rPr>
              <a:t>Описание по слайду. Наиболее практичен пункт 1. Установка по пунктам 2 и 3 обычно затруднительна, так как на карьере часто поверхность массива присыпана утрамбованным щебнем, что затрудняет установку датчиков, приходится искать участки с выходом на поверхность массивных монолитных кусков породы либо выход самого массива. Опыт измерений показал, что наиболее удобна установка датчиков на фундамент или монолитные части массива.</a:t>
            </a:r>
          </a:p>
          <a:p>
            <a:endParaRPr lang="ru-RU" dirty="0"/>
          </a:p>
        </p:txBody>
      </p:sp>
      <p:sp>
        <p:nvSpPr>
          <p:cNvPr id="4" name="Верхний колонтитул 3"/>
          <p:cNvSpPr>
            <a:spLocks noGrp="1"/>
          </p:cNvSpPr>
          <p:nvPr>
            <p:ph type="hdr" sz="quarter"/>
          </p:nvPr>
        </p:nvSpPr>
        <p:spPr/>
        <p:txBody>
          <a:bodyPr/>
          <a:lstStyle/>
          <a:p>
            <a:endParaRPr lang="ru-RU"/>
          </a:p>
        </p:txBody>
      </p:sp>
      <p:sp>
        <p:nvSpPr>
          <p:cNvPr id="5" name="Номер слайда 4"/>
          <p:cNvSpPr>
            <a:spLocks noGrp="1"/>
          </p:cNvSpPr>
          <p:nvPr>
            <p:ph type="sldNum" sz="quarter" idx="5"/>
          </p:nvPr>
        </p:nvSpPr>
        <p:spPr/>
        <p:txBody>
          <a:bodyPr/>
          <a:lstStyle/>
          <a:p>
            <a:fld id="{8EB09AE2-2E38-404D-9761-9E0E458F6CE4}" type="slidenum">
              <a:rPr lang="ru-RU" smtClean="0"/>
              <a:t>4</a:t>
            </a:fld>
            <a:endParaRPr lang="ru-RU"/>
          </a:p>
        </p:txBody>
      </p:sp>
    </p:spTree>
    <p:extLst>
      <p:ext uri="{BB962C8B-B14F-4D97-AF65-F5344CB8AC3E}">
        <p14:creationId xmlns:p14="http://schemas.microsoft.com/office/powerpoint/2010/main" val="2253782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134" b="1" kern="1200" dirty="0">
                <a:solidFill>
                  <a:schemeClr val="tx1"/>
                </a:solidFill>
                <a:effectLst/>
                <a:latin typeface="+mn-lt"/>
                <a:ea typeface="+mn-ea"/>
                <a:cs typeface="+mn-cs"/>
              </a:rPr>
              <a:t>3</a:t>
            </a:r>
            <a:r>
              <a:rPr lang="ru-RU" sz="1134" b="1" kern="1200" dirty="0">
                <a:solidFill>
                  <a:schemeClr val="tx1"/>
                </a:solidFill>
                <a:effectLst/>
                <a:latin typeface="+mn-lt"/>
                <a:ea typeface="+mn-ea"/>
                <a:cs typeface="+mn-cs"/>
              </a:rPr>
              <a:t> СЛАЙД</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На данном слайде показаны примеры установки датчиков в разных производственных условиях. В подземных выработках (на почву,</a:t>
            </a:r>
            <a:r>
              <a:rPr lang="ru-RU" sz="1134" kern="1200" baseline="0" dirty="0">
                <a:solidFill>
                  <a:schemeClr val="tx1"/>
                </a:solidFill>
                <a:effectLst/>
                <a:latin typeface="+mn-lt"/>
                <a:ea typeface="+mn-ea"/>
                <a:cs typeface="+mn-cs"/>
              </a:rPr>
              <a:t> кровлю и бок выработки), при измерении воздействия на оборудование (фундамент шахтного вентилятора) и при измерении на поверхности (в карьере и непосредственно в зданиях)</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Опробованы различные способы установки датчиков (гипс, </a:t>
            </a:r>
            <a:r>
              <a:rPr lang="ru-RU" sz="1134" kern="1200" dirty="0" err="1">
                <a:solidFill>
                  <a:schemeClr val="tx1"/>
                </a:solidFill>
                <a:effectLst/>
                <a:latin typeface="+mn-lt"/>
                <a:ea typeface="+mn-ea"/>
                <a:cs typeface="+mn-cs"/>
              </a:rPr>
              <a:t>пригрузка</a:t>
            </a:r>
            <a:r>
              <a:rPr lang="ru-RU" sz="1134" kern="1200" dirty="0">
                <a:solidFill>
                  <a:schemeClr val="tx1"/>
                </a:solidFill>
                <a:effectLst/>
                <a:latin typeface="+mn-lt"/>
                <a:ea typeface="+mn-ea"/>
                <a:cs typeface="+mn-cs"/>
              </a:rPr>
              <a:t>, анкерные болты). Наиболее надежное крепление обеспечивается анкерными болтами, при это требуется более гладкая поверхность. Установка на гипс позволяет сгладить место установки однако требуется тщательная подготовка поверхности (очистка от пыли, грунтовка). В ряде случаев датчик фиксируется не надежно. При хорошем закреплении для снятия приходится отбивать, что например для пьезокерамических акселерометров может привести к поломке датчика.</a:t>
            </a:r>
          </a:p>
          <a:p>
            <a:r>
              <a:rPr lang="ru-RU" sz="1134" kern="1200" dirty="0">
                <a:solidFill>
                  <a:schemeClr val="tx1"/>
                </a:solidFill>
                <a:effectLst/>
                <a:latin typeface="+mn-lt"/>
                <a:ea typeface="+mn-ea"/>
                <a:cs typeface="+mn-cs"/>
              </a:rPr>
              <a:t>Параллельно</a:t>
            </a:r>
            <a:r>
              <a:rPr lang="ru-RU" sz="1134" kern="1200" baseline="0" dirty="0">
                <a:solidFill>
                  <a:schemeClr val="tx1"/>
                </a:solidFill>
                <a:effectLst/>
                <a:latin typeface="+mn-lt"/>
                <a:ea typeface="+mn-ea"/>
                <a:cs typeface="+mn-cs"/>
              </a:rPr>
              <a:t> с измерением сейсмического действия взрывов проводится ряд дополнительных измерений о которых будет сказано далее.</a:t>
            </a:r>
            <a:endParaRPr lang="ru-RU" sz="1134" kern="1200" dirty="0">
              <a:solidFill>
                <a:schemeClr val="tx1"/>
              </a:solidFill>
              <a:effectLst/>
              <a:latin typeface="+mn-lt"/>
              <a:ea typeface="+mn-ea"/>
              <a:cs typeface="+mn-cs"/>
            </a:endParaRPr>
          </a:p>
          <a:p>
            <a:endParaRPr lang="ru-RU" dirty="0"/>
          </a:p>
        </p:txBody>
      </p:sp>
      <p:sp>
        <p:nvSpPr>
          <p:cNvPr id="4" name="Верхний колонтитул 3"/>
          <p:cNvSpPr>
            <a:spLocks noGrp="1"/>
          </p:cNvSpPr>
          <p:nvPr>
            <p:ph type="hdr" sz="quarter"/>
          </p:nvPr>
        </p:nvSpPr>
        <p:spPr/>
        <p:txBody>
          <a:bodyPr/>
          <a:lstStyle/>
          <a:p>
            <a:endParaRPr lang="ru-RU"/>
          </a:p>
        </p:txBody>
      </p:sp>
      <p:sp>
        <p:nvSpPr>
          <p:cNvPr id="5" name="Номер слайда 4"/>
          <p:cNvSpPr>
            <a:spLocks noGrp="1"/>
          </p:cNvSpPr>
          <p:nvPr>
            <p:ph type="sldNum" sz="quarter" idx="5"/>
          </p:nvPr>
        </p:nvSpPr>
        <p:spPr/>
        <p:txBody>
          <a:bodyPr/>
          <a:lstStyle/>
          <a:p>
            <a:fld id="{8EB09AE2-2E38-404D-9761-9E0E458F6CE4}" type="slidenum">
              <a:rPr lang="ru-RU" smtClean="0"/>
              <a:t>5</a:t>
            </a:fld>
            <a:endParaRPr lang="ru-RU"/>
          </a:p>
        </p:txBody>
      </p:sp>
    </p:spTree>
    <p:extLst>
      <p:ext uri="{BB962C8B-B14F-4D97-AF65-F5344CB8AC3E}">
        <p14:creationId xmlns:p14="http://schemas.microsoft.com/office/powerpoint/2010/main" val="2576094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134" b="1" kern="1200" dirty="0">
                <a:solidFill>
                  <a:schemeClr val="tx1"/>
                </a:solidFill>
                <a:effectLst/>
                <a:latin typeface="+mn-lt"/>
                <a:ea typeface="+mn-ea"/>
                <a:cs typeface="+mn-cs"/>
              </a:rPr>
              <a:t>4</a:t>
            </a:r>
            <a:r>
              <a:rPr lang="ru-RU" sz="1134" b="1" kern="1200" dirty="0">
                <a:solidFill>
                  <a:schemeClr val="tx1"/>
                </a:solidFill>
                <a:effectLst/>
                <a:latin typeface="+mn-lt"/>
                <a:ea typeface="+mn-ea"/>
                <a:cs typeface="+mn-cs"/>
              </a:rPr>
              <a:t> СЛАЙД</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При воздействии на здание сейсмической волны опасны низкочастотные колебания совпадающие с собственной частотой колебаний здания, которые приводят</a:t>
            </a:r>
            <a:r>
              <a:rPr lang="ru-RU" sz="1134" kern="1200" baseline="0" dirty="0">
                <a:solidFill>
                  <a:schemeClr val="tx1"/>
                </a:solidFill>
                <a:effectLst/>
                <a:latin typeface="+mn-lt"/>
                <a:ea typeface="+mn-ea"/>
                <a:cs typeface="+mn-cs"/>
              </a:rPr>
              <a:t> к </a:t>
            </a:r>
            <a:r>
              <a:rPr lang="ru-RU" sz="1134" kern="1200" dirty="0">
                <a:solidFill>
                  <a:schemeClr val="tx1"/>
                </a:solidFill>
                <a:effectLst/>
                <a:latin typeface="+mn-lt"/>
                <a:ea typeface="+mn-ea"/>
                <a:cs typeface="+mn-cs"/>
              </a:rPr>
              <a:t>резонансу. Поэтому в большинстве нормативов, регламентирующих сейсмическое воздействие взрывов на здания, допустимые скорости указываются с привязкой к частотной составляющей сейсмовзрывной волны (как указано внизу слайда).</a:t>
            </a:r>
          </a:p>
          <a:p>
            <a:r>
              <a:rPr lang="ru-RU" sz="1134" kern="1200" dirty="0">
                <a:solidFill>
                  <a:schemeClr val="tx1"/>
                </a:solidFill>
                <a:effectLst/>
                <a:latin typeface="+mn-lt"/>
                <a:ea typeface="+mn-ea"/>
                <a:cs typeface="+mn-cs"/>
              </a:rPr>
              <a:t>Одни</a:t>
            </a:r>
            <a:r>
              <a:rPr lang="ru-RU" sz="1134" kern="1200" baseline="0" dirty="0">
                <a:solidFill>
                  <a:schemeClr val="tx1"/>
                </a:solidFill>
                <a:effectLst/>
                <a:latin typeface="+mn-lt"/>
                <a:ea typeface="+mn-ea"/>
                <a:cs typeface="+mn-cs"/>
              </a:rPr>
              <a:t> из дополнительных измерений связаны с определением собственных частот колебания здания.</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Для оценки собственной частоты проводятся измерения на верхних ярусах здания (рисунок) с последующей обработкой в специализированном ПО «</a:t>
            </a:r>
            <a:r>
              <a:rPr lang="ru-RU" sz="1134" kern="1200" dirty="0" err="1">
                <a:solidFill>
                  <a:schemeClr val="tx1"/>
                </a:solidFill>
                <a:effectLst/>
                <a:latin typeface="+mn-lt"/>
                <a:ea typeface="+mn-ea"/>
                <a:cs typeface="+mn-cs"/>
              </a:rPr>
              <a:t>Fundamental</a:t>
            </a:r>
            <a:r>
              <a:rPr lang="ru-RU" sz="1134" kern="1200" dirty="0">
                <a:solidFill>
                  <a:schemeClr val="tx1"/>
                </a:solidFill>
                <a:effectLst/>
                <a:latin typeface="+mn-lt"/>
                <a:ea typeface="+mn-ea"/>
                <a:cs typeface="+mn-cs"/>
              </a:rPr>
              <a:t> </a:t>
            </a:r>
            <a:r>
              <a:rPr lang="ru-RU" sz="1134" kern="1200" dirty="0" err="1">
                <a:solidFill>
                  <a:schemeClr val="tx1"/>
                </a:solidFill>
                <a:effectLst/>
                <a:latin typeface="+mn-lt"/>
                <a:ea typeface="+mn-ea"/>
                <a:cs typeface="+mn-cs"/>
              </a:rPr>
              <a:t>Tone</a:t>
            </a:r>
            <a:r>
              <a:rPr lang="ru-RU" sz="1134" kern="1200" dirty="0">
                <a:solidFill>
                  <a:schemeClr val="tx1"/>
                </a:solidFill>
                <a:effectLst/>
                <a:latin typeface="+mn-lt"/>
                <a:ea typeface="+mn-ea"/>
                <a:cs typeface="+mn-cs"/>
              </a:rPr>
              <a:t>» (рисунок). </a:t>
            </a:r>
          </a:p>
          <a:p>
            <a:r>
              <a:rPr lang="ru-RU" sz="1134" kern="1200" dirty="0">
                <a:solidFill>
                  <a:schemeClr val="tx1"/>
                </a:solidFill>
                <a:effectLst/>
                <a:latin typeface="+mn-lt"/>
                <a:ea typeface="+mn-ea"/>
                <a:cs typeface="+mn-cs"/>
              </a:rPr>
              <a:t>Определенные собственные частоты здания, по результатам измерений, приведенные в таблице на слайде.</a:t>
            </a:r>
          </a:p>
          <a:p>
            <a:r>
              <a:rPr lang="ru-RU" sz="1134" kern="1200" dirty="0">
                <a:solidFill>
                  <a:schemeClr val="tx1"/>
                </a:solidFill>
                <a:effectLst/>
                <a:latin typeface="+mn-lt"/>
                <a:ea typeface="+mn-ea"/>
                <a:cs typeface="+mn-cs"/>
              </a:rPr>
              <a:t>Частотный состав колебаний от одного из взрывов зарегистрированных на фундаменте этого же</a:t>
            </a:r>
            <a:r>
              <a:rPr lang="ru-RU" sz="1134" kern="1200" baseline="0" dirty="0">
                <a:solidFill>
                  <a:schemeClr val="tx1"/>
                </a:solidFill>
                <a:effectLst/>
                <a:latin typeface="+mn-lt"/>
                <a:ea typeface="+mn-ea"/>
                <a:cs typeface="+mn-cs"/>
              </a:rPr>
              <a:t> здания приведен справа на слайде</a:t>
            </a:r>
            <a:r>
              <a:rPr lang="ru-RU" sz="1134" kern="1200" dirty="0">
                <a:solidFill>
                  <a:schemeClr val="tx1"/>
                </a:solidFill>
                <a:effectLst/>
                <a:latin typeface="+mn-lt"/>
                <a:ea typeface="+mn-ea"/>
                <a:cs typeface="+mn-cs"/>
              </a:rPr>
              <a:t>. Как можно видеть преобладающие частоты несколько выше собственных частот колебаний здания.  Это может использоваться при обосновании некоторого поднятия допустимой скорости колебаний для здания. </a:t>
            </a:r>
          </a:p>
        </p:txBody>
      </p:sp>
      <p:sp>
        <p:nvSpPr>
          <p:cNvPr id="4" name="Верхний колонтитул 3"/>
          <p:cNvSpPr>
            <a:spLocks noGrp="1"/>
          </p:cNvSpPr>
          <p:nvPr>
            <p:ph type="hdr" sz="quarter"/>
          </p:nvPr>
        </p:nvSpPr>
        <p:spPr/>
        <p:txBody>
          <a:bodyPr/>
          <a:lstStyle/>
          <a:p>
            <a:endParaRPr lang="ru-RU"/>
          </a:p>
        </p:txBody>
      </p:sp>
      <p:sp>
        <p:nvSpPr>
          <p:cNvPr id="5" name="Номер слайда 4"/>
          <p:cNvSpPr>
            <a:spLocks noGrp="1"/>
          </p:cNvSpPr>
          <p:nvPr>
            <p:ph type="sldNum" sz="quarter" idx="5"/>
          </p:nvPr>
        </p:nvSpPr>
        <p:spPr/>
        <p:txBody>
          <a:bodyPr/>
          <a:lstStyle/>
          <a:p>
            <a:fld id="{8EB09AE2-2E38-404D-9761-9E0E458F6CE4}" type="slidenum">
              <a:rPr lang="ru-RU" smtClean="0"/>
              <a:t>6</a:t>
            </a:fld>
            <a:endParaRPr lang="ru-RU"/>
          </a:p>
        </p:txBody>
      </p:sp>
    </p:spTree>
    <p:extLst>
      <p:ext uri="{BB962C8B-B14F-4D97-AF65-F5344CB8AC3E}">
        <p14:creationId xmlns:p14="http://schemas.microsoft.com/office/powerpoint/2010/main" val="1724073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134" b="1" kern="1200" dirty="0">
                <a:solidFill>
                  <a:schemeClr val="tx1"/>
                </a:solidFill>
                <a:effectLst/>
                <a:latin typeface="+mn-lt"/>
                <a:ea typeface="+mn-ea"/>
                <a:cs typeface="+mn-cs"/>
              </a:rPr>
              <a:t>4</a:t>
            </a:r>
            <a:r>
              <a:rPr lang="ru-RU" sz="1134" b="1" kern="1200" dirty="0">
                <a:solidFill>
                  <a:schemeClr val="tx1"/>
                </a:solidFill>
                <a:effectLst/>
                <a:latin typeface="+mn-lt"/>
                <a:ea typeface="+mn-ea"/>
                <a:cs typeface="+mn-cs"/>
              </a:rPr>
              <a:t> СЛАЙД</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При воздействии на здание сейсмической волны опасны низкочастотные колебания совпадающие с собственной частотой колебаний здания, которые приводят</a:t>
            </a:r>
            <a:r>
              <a:rPr lang="ru-RU" sz="1134" kern="1200" baseline="0" dirty="0">
                <a:solidFill>
                  <a:schemeClr val="tx1"/>
                </a:solidFill>
                <a:effectLst/>
                <a:latin typeface="+mn-lt"/>
                <a:ea typeface="+mn-ea"/>
                <a:cs typeface="+mn-cs"/>
              </a:rPr>
              <a:t> к </a:t>
            </a:r>
            <a:r>
              <a:rPr lang="ru-RU" sz="1134" kern="1200" dirty="0">
                <a:solidFill>
                  <a:schemeClr val="tx1"/>
                </a:solidFill>
                <a:effectLst/>
                <a:latin typeface="+mn-lt"/>
                <a:ea typeface="+mn-ea"/>
                <a:cs typeface="+mn-cs"/>
              </a:rPr>
              <a:t>резонансу. Поэтому в большинстве нормативов, регламентирующих сейсмического воздействие взрывов на здания, допустимые скорости указываются с привязкой к частотной составляющей сейсмовзрывной волны (как указано внизу слайда).</a:t>
            </a:r>
          </a:p>
          <a:p>
            <a:r>
              <a:rPr lang="ru-RU" sz="1134" kern="1200" dirty="0">
                <a:solidFill>
                  <a:schemeClr val="tx1"/>
                </a:solidFill>
                <a:effectLst/>
                <a:latin typeface="+mn-lt"/>
                <a:ea typeface="+mn-ea"/>
                <a:cs typeface="+mn-cs"/>
              </a:rPr>
              <a:t>Одни</a:t>
            </a:r>
            <a:r>
              <a:rPr lang="ru-RU" sz="1134" kern="1200" baseline="0" dirty="0">
                <a:solidFill>
                  <a:schemeClr val="tx1"/>
                </a:solidFill>
                <a:effectLst/>
                <a:latin typeface="+mn-lt"/>
                <a:ea typeface="+mn-ea"/>
                <a:cs typeface="+mn-cs"/>
              </a:rPr>
              <a:t> из дополнительных измерений связаны с определением собственных частот колебания здания.</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Для оценки собственной частоты проводятся измерения на верхних ярусах здания (рисунок) с последующей обработкой в специализированном ПО «</a:t>
            </a:r>
            <a:r>
              <a:rPr lang="ru-RU" sz="1134" kern="1200" dirty="0" err="1">
                <a:solidFill>
                  <a:schemeClr val="tx1"/>
                </a:solidFill>
                <a:effectLst/>
                <a:latin typeface="+mn-lt"/>
                <a:ea typeface="+mn-ea"/>
                <a:cs typeface="+mn-cs"/>
              </a:rPr>
              <a:t>Fundamental</a:t>
            </a:r>
            <a:r>
              <a:rPr lang="ru-RU" sz="1134" kern="1200" dirty="0">
                <a:solidFill>
                  <a:schemeClr val="tx1"/>
                </a:solidFill>
                <a:effectLst/>
                <a:latin typeface="+mn-lt"/>
                <a:ea typeface="+mn-ea"/>
                <a:cs typeface="+mn-cs"/>
              </a:rPr>
              <a:t> </a:t>
            </a:r>
            <a:r>
              <a:rPr lang="ru-RU" sz="1134" kern="1200" dirty="0" err="1">
                <a:solidFill>
                  <a:schemeClr val="tx1"/>
                </a:solidFill>
                <a:effectLst/>
                <a:latin typeface="+mn-lt"/>
                <a:ea typeface="+mn-ea"/>
                <a:cs typeface="+mn-cs"/>
              </a:rPr>
              <a:t>Tone</a:t>
            </a:r>
            <a:r>
              <a:rPr lang="ru-RU" sz="1134" kern="1200" dirty="0">
                <a:solidFill>
                  <a:schemeClr val="tx1"/>
                </a:solidFill>
                <a:effectLst/>
                <a:latin typeface="+mn-lt"/>
                <a:ea typeface="+mn-ea"/>
                <a:cs typeface="+mn-cs"/>
              </a:rPr>
              <a:t>» (рисунок). </a:t>
            </a:r>
          </a:p>
          <a:p>
            <a:r>
              <a:rPr lang="ru-RU" sz="1134" kern="1200" dirty="0">
                <a:solidFill>
                  <a:schemeClr val="tx1"/>
                </a:solidFill>
                <a:effectLst/>
                <a:latin typeface="+mn-lt"/>
                <a:ea typeface="+mn-ea"/>
                <a:cs typeface="+mn-cs"/>
              </a:rPr>
              <a:t>Определенные собственные частоты здания, по результатам измерений, приведенные в таблице на слайде.</a:t>
            </a:r>
          </a:p>
          <a:p>
            <a:r>
              <a:rPr lang="ru-RU" sz="1134" kern="1200" dirty="0">
                <a:solidFill>
                  <a:schemeClr val="tx1"/>
                </a:solidFill>
                <a:effectLst/>
                <a:latin typeface="+mn-lt"/>
                <a:ea typeface="+mn-ea"/>
                <a:cs typeface="+mn-cs"/>
              </a:rPr>
              <a:t>Частотный состав колебаний от одного из взрывов зарегистрированных на фундаменте этого же</a:t>
            </a:r>
            <a:r>
              <a:rPr lang="ru-RU" sz="1134" kern="1200" baseline="0" dirty="0">
                <a:solidFill>
                  <a:schemeClr val="tx1"/>
                </a:solidFill>
                <a:effectLst/>
                <a:latin typeface="+mn-lt"/>
                <a:ea typeface="+mn-ea"/>
                <a:cs typeface="+mn-cs"/>
              </a:rPr>
              <a:t> здания приведен справа на слайде</a:t>
            </a:r>
            <a:r>
              <a:rPr lang="ru-RU" sz="1134" kern="1200" dirty="0">
                <a:solidFill>
                  <a:schemeClr val="tx1"/>
                </a:solidFill>
                <a:effectLst/>
                <a:latin typeface="+mn-lt"/>
                <a:ea typeface="+mn-ea"/>
                <a:cs typeface="+mn-cs"/>
              </a:rPr>
              <a:t>. Как можно видеть преобладающие частоты несколько выше собственных частот колебаний здания.  Это может использоваться при обосновании некоторого поднятия допустимой скорости колебаний для здания. </a:t>
            </a:r>
          </a:p>
        </p:txBody>
      </p:sp>
      <p:sp>
        <p:nvSpPr>
          <p:cNvPr id="4" name="Верхний колонтитул 3"/>
          <p:cNvSpPr>
            <a:spLocks noGrp="1"/>
          </p:cNvSpPr>
          <p:nvPr>
            <p:ph type="hdr" sz="quarter"/>
          </p:nvPr>
        </p:nvSpPr>
        <p:spPr/>
        <p:txBody>
          <a:bodyPr/>
          <a:lstStyle/>
          <a:p>
            <a:endParaRPr lang="ru-RU"/>
          </a:p>
        </p:txBody>
      </p:sp>
      <p:sp>
        <p:nvSpPr>
          <p:cNvPr id="5" name="Номер слайда 4"/>
          <p:cNvSpPr>
            <a:spLocks noGrp="1"/>
          </p:cNvSpPr>
          <p:nvPr>
            <p:ph type="sldNum" sz="quarter" idx="5"/>
          </p:nvPr>
        </p:nvSpPr>
        <p:spPr/>
        <p:txBody>
          <a:bodyPr/>
          <a:lstStyle/>
          <a:p>
            <a:fld id="{8EB09AE2-2E38-404D-9761-9E0E458F6CE4}" type="slidenum">
              <a:rPr lang="ru-RU" smtClean="0"/>
              <a:t>7</a:t>
            </a:fld>
            <a:endParaRPr lang="ru-RU"/>
          </a:p>
        </p:txBody>
      </p:sp>
    </p:spTree>
    <p:extLst>
      <p:ext uri="{BB962C8B-B14F-4D97-AF65-F5344CB8AC3E}">
        <p14:creationId xmlns:p14="http://schemas.microsoft.com/office/powerpoint/2010/main" val="1724073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134" b="1" kern="1200" dirty="0">
                <a:solidFill>
                  <a:schemeClr val="tx1"/>
                </a:solidFill>
                <a:effectLst/>
                <a:latin typeface="+mn-lt"/>
                <a:ea typeface="+mn-ea"/>
                <a:cs typeface="+mn-cs"/>
              </a:rPr>
              <a:t>5</a:t>
            </a:r>
            <a:r>
              <a:rPr lang="ru-RU" sz="1134" b="1" kern="1200" dirty="0">
                <a:solidFill>
                  <a:schemeClr val="tx1"/>
                </a:solidFill>
                <a:effectLst/>
                <a:latin typeface="+mn-lt"/>
                <a:ea typeface="+mn-ea"/>
                <a:cs typeface="+mn-cs"/>
              </a:rPr>
              <a:t> СЛАЙД</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Датчиками установленными на верхнем ярусе (рисунок) дополнительно к определению</a:t>
            </a:r>
            <a:r>
              <a:rPr lang="ru-RU" sz="1134" kern="1200" baseline="0" dirty="0">
                <a:solidFill>
                  <a:schemeClr val="tx1"/>
                </a:solidFill>
                <a:effectLst/>
                <a:latin typeface="+mn-lt"/>
                <a:ea typeface="+mn-ea"/>
                <a:cs typeface="+mn-cs"/>
              </a:rPr>
              <a:t> собственной частоты колебания здания измеряется его раскачка от действия УВВ, которая также может негативно влиять на здание.</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Отечественный ГОСТР 52892-2007, ссылаясь на зарубежный, предлагает оценивать скорость в горизонтальном направлении для верхнего перекрытия здания дополнительно к смещениям фундамента. Допустимые колебания согласно данному стандарту указаны в таблице на слайде. Совместно с раскачкой может измеряться</a:t>
            </a:r>
            <a:r>
              <a:rPr lang="ru-RU" sz="1134" kern="1200" baseline="0" dirty="0">
                <a:solidFill>
                  <a:schemeClr val="tx1"/>
                </a:solidFill>
                <a:effectLst/>
                <a:latin typeface="+mn-lt"/>
                <a:ea typeface="+mn-ea"/>
                <a:cs typeface="+mn-cs"/>
              </a:rPr>
              <a:t> величина давления в УВВ (рисунок установки на крыше).</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На приведенных в верхней части слайда </a:t>
            </a:r>
            <a:r>
              <a:rPr lang="ru-RU" sz="1134" kern="1200" dirty="0" err="1">
                <a:solidFill>
                  <a:schemeClr val="tx1"/>
                </a:solidFill>
                <a:effectLst/>
                <a:latin typeface="+mn-lt"/>
                <a:ea typeface="+mn-ea"/>
                <a:cs typeface="+mn-cs"/>
              </a:rPr>
              <a:t>велосиграммах</a:t>
            </a:r>
            <a:r>
              <a:rPr lang="ru-RU" sz="1134" kern="1200" dirty="0">
                <a:solidFill>
                  <a:schemeClr val="tx1"/>
                </a:solidFill>
                <a:effectLst/>
                <a:latin typeface="+mn-lt"/>
                <a:ea typeface="+mn-ea"/>
                <a:cs typeface="+mn-cs"/>
              </a:rPr>
              <a:t> показаны соотношения между колебаниями на фундаменте и верхнем ярусе (слева). Вторая половина </a:t>
            </a:r>
            <a:r>
              <a:rPr lang="ru-RU" sz="1134" kern="1200" dirty="0" err="1">
                <a:solidFill>
                  <a:schemeClr val="tx1"/>
                </a:solidFill>
                <a:effectLst/>
                <a:latin typeface="+mn-lt"/>
                <a:ea typeface="+mn-ea"/>
                <a:cs typeface="+mn-cs"/>
              </a:rPr>
              <a:t>велосиграммы</a:t>
            </a:r>
            <a:r>
              <a:rPr lang="ru-RU" sz="1134" kern="1200" dirty="0">
                <a:solidFill>
                  <a:schemeClr val="tx1"/>
                </a:solidFill>
                <a:effectLst/>
                <a:latin typeface="+mn-lt"/>
                <a:ea typeface="+mn-ea"/>
                <a:cs typeface="+mn-cs"/>
              </a:rPr>
              <a:t>, обусловленная действием УВВ, не превышает колебаний от сейсмического действия. Тот случай когда УВВ не оказывает существенного воздействия.</a:t>
            </a:r>
          </a:p>
          <a:p>
            <a:r>
              <a:rPr lang="ru-RU" sz="1134" kern="1200" dirty="0">
                <a:solidFill>
                  <a:schemeClr val="tx1"/>
                </a:solidFill>
                <a:effectLst/>
                <a:latin typeface="+mn-lt"/>
                <a:ea typeface="+mn-ea"/>
                <a:cs typeface="+mn-cs"/>
              </a:rPr>
              <a:t>Напротив, для взрыва, колебания от которого характеризуются </a:t>
            </a:r>
            <a:r>
              <a:rPr lang="ru-RU" sz="1134" kern="1200" dirty="0" err="1">
                <a:solidFill>
                  <a:schemeClr val="tx1"/>
                </a:solidFill>
                <a:effectLst/>
                <a:latin typeface="+mn-lt"/>
                <a:ea typeface="+mn-ea"/>
                <a:cs typeface="+mn-cs"/>
              </a:rPr>
              <a:t>велосиграммой</a:t>
            </a:r>
            <a:r>
              <a:rPr lang="ru-RU" sz="1134" kern="1200" dirty="0">
                <a:solidFill>
                  <a:schemeClr val="tx1"/>
                </a:solidFill>
                <a:effectLst/>
                <a:latin typeface="+mn-lt"/>
                <a:ea typeface="+mn-ea"/>
                <a:cs typeface="+mn-cs"/>
              </a:rPr>
              <a:t> справа, наблюдается усиления колебаний от УВВ. В данном случае датчик измерения сейсмического действия и датчик УВВ установлены на верхнем ярусе здания. Примеры установки на рисунках. </a:t>
            </a:r>
          </a:p>
          <a:p>
            <a:r>
              <a:rPr lang="ru-RU" sz="1134" kern="1200" dirty="0">
                <a:solidFill>
                  <a:schemeClr val="tx1"/>
                </a:solidFill>
                <a:effectLst/>
                <a:latin typeface="+mn-lt"/>
                <a:ea typeface="+mn-ea"/>
                <a:cs typeface="+mn-cs"/>
              </a:rPr>
              <a:t>В таблице в нижней части слайда приведены результаты измерений раскачки здания по скоростям и перемещениям. Как видно для второго измерения наблюдается существенное усиление колебаний, при этом величина скорости не превышает допустимых значений (таблица в средней части слева).</a:t>
            </a:r>
          </a:p>
          <a:p>
            <a:endParaRPr lang="ru-RU" dirty="0"/>
          </a:p>
        </p:txBody>
      </p:sp>
      <p:sp>
        <p:nvSpPr>
          <p:cNvPr id="4" name="Верхний колонтитул 3"/>
          <p:cNvSpPr>
            <a:spLocks noGrp="1"/>
          </p:cNvSpPr>
          <p:nvPr>
            <p:ph type="hdr" sz="quarter"/>
          </p:nvPr>
        </p:nvSpPr>
        <p:spPr/>
        <p:txBody>
          <a:bodyPr/>
          <a:lstStyle/>
          <a:p>
            <a:endParaRPr lang="ru-RU"/>
          </a:p>
        </p:txBody>
      </p:sp>
      <p:sp>
        <p:nvSpPr>
          <p:cNvPr id="5" name="Номер слайда 4"/>
          <p:cNvSpPr>
            <a:spLocks noGrp="1"/>
          </p:cNvSpPr>
          <p:nvPr>
            <p:ph type="sldNum" sz="quarter" idx="5"/>
          </p:nvPr>
        </p:nvSpPr>
        <p:spPr/>
        <p:txBody>
          <a:bodyPr/>
          <a:lstStyle/>
          <a:p>
            <a:fld id="{8EB09AE2-2E38-404D-9761-9E0E458F6CE4}" type="slidenum">
              <a:rPr lang="ru-RU" smtClean="0"/>
              <a:t>8</a:t>
            </a:fld>
            <a:endParaRPr lang="ru-RU"/>
          </a:p>
        </p:txBody>
      </p:sp>
    </p:spTree>
    <p:extLst>
      <p:ext uri="{BB962C8B-B14F-4D97-AF65-F5344CB8AC3E}">
        <p14:creationId xmlns:p14="http://schemas.microsoft.com/office/powerpoint/2010/main" val="37327330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134" b="1" kern="1200" dirty="0">
                <a:solidFill>
                  <a:schemeClr val="tx1"/>
                </a:solidFill>
                <a:effectLst/>
                <a:latin typeface="+mn-lt"/>
                <a:ea typeface="+mn-ea"/>
                <a:cs typeface="+mn-cs"/>
              </a:rPr>
              <a:t>5</a:t>
            </a:r>
            <a:r>
              <a:rPr lang="ru-RU" sz="1134" b="1" kern="1200" dirty="0">
                <a:solidFill>
                  <a:schemeClr val="tx1"/>
                </a:solidFill>
                <a:effectLst/>
                <a:latin typeface="+mn-lt"/>
                <a:ea typeface="+mn-ea"/>
                <a:cs typeface="+mn-cs"/>
              </a:rPr>
              <a:t> СЛАЙД</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Датчиками установленными на верхнем ярусе (рисунок) дополнительно к определению</a:t>
            </a:r>
            <a:r>
              <a:rPr lang="ru-RU" sz="1134" kern="1200" baseline="0" dirty="0">
                <a:solidFill>
                  <a:schemeClr val="tx1"/>
                </a:solidFill>
                <a:effectLst/>
                <a:latin typeface="+mn-lt"/>
                <a:ea typeface="+mn-ea"/>
                <a:cs typeface="+mn-cs"/>
              </a:rPr>
              <a:t> собственной частоты колебания здания измеряется его раскачка от действия УВВ, которая также может негативно влиять на здание.</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Отечественный ГОСТР 52892-2007, ссылаясь на зарубежный, предлагает оценивать скорость в горизонтальном направлении для верхнего перекрытия здания дополнительно к смещениям фундамента. Допустимые колебания согласно данному стандарту указаны в таблице на слайде. Совместно с раскачкой может измеряться</a:t>
            </a:r>
            <a:r>
              <a:rPr lang="ru-RU" sz="1134" kern="1200" baseline="0" dirty="0">
                <a:solidFill>
                  <a:schemeClr val="tx1"/>
                </a:solidFill>
                <a:effectLst/>
                <a:latin typeface="+mn-lt"/>
                <a:ea typeface="+mn-ea"/>
                <a:cs typeface="+mn-cs"/>
              </a:rPr>
              <a:t> величина давления в УВВ (рисунок установки на крыше).</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На приведенных в верхней части слайда </a:t>
            </a:r>
            <a:r>
              <a:rPr lang="ru-RU" sz="1134" kern="1200" dirty="0" err="1">
                <a:solidFill>
                  <a:schemeClr val="tx1"/>
                </a:solidFill>
                <a:effectLst/>
                <a:latin typeface="+mn-lt"/>
                <a:ea typeface="+mn-ea"/>
                <a:cs typeface="+mn-cs"/>
              </a:rPr>
              <a:t>велосиграммах</a:t>
            </a:r>
            <a:r>
              <a:rPr lang="ru-RU" sz="1134" kern="1200" dirty="0">
                <a:solidFill>
                  <a:schemeClr val="tx1"/>
                </a:solidFill>
                <a:effectLst/>
                <a:latin typeface="+mn-lt"/>
                <a:ea typeface="+mn-ea"/>
                <a:cs typeface="+mn-cs"/>
              </a:rPr>
              <a:t> показаны соотношения между колебаниями на фундаменте и верхнем ярусе (слева). Вторая половина </a:t>
            </a:r>
            <a:r>
              <a:rPr lang="ru-RU" sz="1134" kern="1200" dirty="0" err="1">
                <a:solidFill>
                  <a:schemeClr val="tx1"/>
                </a:solidFill>
                <a:effectLst/>
                <a:latin typeface="+mn-lt"/>
                <a:ea typeface="+mn-ea"/>
                <a:cs typeface="+mn-cs"/>
              </a:rPr>
              <a:t>велосиграммы</a:t>
            </a:r>
            <a:r>
              <a:rPr lang="ru-RU" sz="1134" kern="1200" dirty="0">
                <a:solidFill>
                  <a:schemeClr val="tx1"/>
                </a:solidFill>
                <a:effectLst/>
                <a:latin typeface="+mn-lt"/>
                <a:ea typeface="+mn-ea"/>
                <a:cs typeface="+mn-cs"/>
              </a:rPr>
              <a:t>, обусловленная действием УВВ, не превышает колебаний от сейсмического действия. Тот случай когда УВВ не оказывает существенного воздействия.</a:t>
            </a:r>
          </a:p>
          <a:p>
            <a:r>
              <a:rPr lang="ru-RU" sz="1134" kern="1200" dirty="0">
                <a:solidFill>
                  <a:schemeClr val="tx1"/>
                </a:solidFill>
                <a:effectLst/>
                <a:latin typeface="+mn-lt"/>
                <a:ea typeface="+mn-ea"/>
                <a:cs typeface="+mn-cs"/>
              </a:rPr>
              <a:t>Напротив, для взрыва, колебания от которого характеризуются </a:t>
            </a:r>
            <a:r>
              <a:rPr lang="ru-RU" sz="1134" kern="1200" dirty="0" err="1">
                <a:solidFill>
                  <a:schemeClr val="tx1"/>
                </a:solidFill>
                <a:effectLst/>
                <a:latin typeface="+mn-lt"/>
                <a:ea typeface="+mn-ea"/>
                <a:cs typeface="+mn-cs"/>
              </a:rPr>
              <a:t>велосиграммой</a:t>
            </a:r>
            <a:r>
              <a:rPr lang="ru-RU" sz="1134" kern="1200" dirty="0">
                <a:solidFill>
                  <a:schemeClr val="tx1"/>
                </a:solidFill>
                <a:effectLst/>
                <a:latin typeface="+mn-lt"/>
                <a:ea typeface="+mn-ea"/>
                <a:cs typeface="+mn-cs"/>
              </a:rPr>
              <a:t> справа, наблюдается усиления колебаний от УВВ. В данном случае датчик измерения сейсмического действия и датчик УВВ установлены на верхнем ярусе здания. Примеры установки на рисунках. </a:t>
            </a:r>
          </a:p>
          <a:p>
            <a:r>
              <a:rPr lang="ru-RU" sz="1134" kern="1200" dirty="0">
                <a:solidFill>
                  <a:schemeClr val="tx1"/>
                </a:solidFill>
                <a:effectLst/>
                <a:latin typeface="+mn-lt"/>
                <a:ea typeface="+mn-ea"/>
                <a:cs typeface="+mn-cs"/>
              </a:rPr>
              <a:t>В таблице в нижней части слайда приведены результаты измерений раскачки здания по скоростям и перемещениям. Как видно для второго измерения наблюдается существенное усиление колебаний, при этом величина скорости не превышает допустимых значений (таблица в средней части слева).</a:t>
            </a:r>
          </a:p>
          <a:p>
            <a:endParaRPr lang="ru-RU" dirty="0"/>
          </a:p>
        </p:txBody>
      </p:sp>
      <p:sp>
        <p:nvSpPr>
          <p:cNvPr id="4" name="Верхний колонтитул 3"/>
          <p:cNvSpPr>
            <a:spLocks noGrp="1"/>
          </p:cNvSpPr>
          <p:nvPr>
            <p:ph type="hdr" sz="quarter"/>
          </p:nvPr>
        </p:nvSpPr>
        <p:spPr/>
        <p:txBody>
          <a:bodyPr/>
          <a:lstStyle/>
          <a:p>
            <a:endParaRPr lang="ru-RU"/>
          </a:p>
        </p:txBody>
      </p:sp>
      <p:sp>
        <p:nvSpPr>
          <p:cNvPr id="5" name="Номер слайда 4"/>
          <p:cNvSpPr>
            <a:spLocks noGrp="1"/>
          </p:cNvSpPr>
          <p:nvPr>
            <p:ph type="sldNum" sz="quarter" idx="5"/>
          </p:nvPr>
        </p:nvSpPr>
        <p:spPr/>
        <p:txBody>
          <a:bodyPr/>
          <a:lstStyle/>
          <a:p>
            <a:fld id="{8EB09AE2-2E38-404D-9761-9E0E458F6CE4}" type="slidenum">
              <a:rPr lang="ru-RU" smtClean="0"/>
              <a:t>9</a:t>
            </a:fld>
            <a:endParaRPr lang="ru-RU"/>
          </a:p>
        </p:txBody>
      </p:sp>
    </p:spTree>
    <p:extLst>
      <p:ext uri="{BB962C8B-B14F-4D97-AF65-F5344CB8AC3E}">
        <p14:creationId xmlns:p14="http://schemas.microsoft.com/office/powerpoint/2010/main" val="9152591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134" b="1" kern="1200" dirty="0">
                <a:solidFill>
                  <a:schemeClr val="tx1"/>
                </a:solidFill>
                <a:effectLst/>
                <a:latin typeface="+mn-lt"/>
                <a:ea typeface="+mn-ea"/>
                <a:cs typeface="+mn-cs"/>
              </a:rPr>
              <a:t>6</a:t>
            </a:r>
            <a:r>
              <a:rPr lang="ru-RU" sz="1134" b="1" kern="1200" dirty="0">
                <a:solidFill>
                  <a:schemeClr val="tx1"/>
                </a:solidFill>
                <a:effectLst/>
                <a:latin typeface="+mn-lt"/>
                <a:ea typeface="+mn-ea"/>
                <a:cs typeface="+mn-cs"/>
              </a:rPr>
              <a:t> СЛАЙД</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Еще</a:t>
            </a:r>
            <a:r>
              <a:rPr lang="ru-RU" sz="1134" kern="1200" baseline="0" dirty="0">
                <a:solidFill>
                  <a:schemeClr val="tx1"/>
                </a:solidFill>
                <a:effectLst/>
                <a:latin typeface="+mn-lt"/>
                <a:ea typeface="+mn-ea"/>
                <a:cs typeface="+mn-cs"/>
              </a:rPr>
              <a:t> одним из видом дополнительных измерений является деформационный мониторинг.</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Наличие ветхих зданий в непосредственной близости к зоне ведения работ накладывает определенные ограничения на массы взрываемых зарядов и может затруднять развитие фронта работ рудника. При этом, выбор допустимой скорости для того или иного объекта может быть затруднительным, так как в различных стандартах для идентичных объектов приводятся разные значения. Кроме того, часто в стандартах и научной литературе во внимание не принимается состояние здания подверженного воздействию сейсмовзрывных волн, что создает дополнительные неопределенности при выборе допустимой скорости.</a:t>
            </a:r>
          </a:p>
          <a:p>
            <a:r>
              <a:rPr lang="ru-RU" sz="1134" kern="1200" dirty="0">
                <a:solidFill>
                  <a:schemeClr val="tx1"/>
                </a:solidFill>
                <a:effectLst/>
                <a:latin typeface="+mn-lt"/>
                <a:ea typeface="+mn-ea"/>
                <a:cs typeface="+mn-cs"/>
              </a:rPr>
              <a:t>Следует отметить, что кроме воздействия, обусловленного ведением взрывных работ, на здания оказывают влияние и другие факторы, такие как суточные изменения погоды и деятельность людей в здании. Воздействия, производимые изменениями погодных условий в силу их непрерывности и неотвратимости, являются значимым фактором определяющем износ здания. В силу неизбежности износа здания от воздействий погодных условий вероятно будет рациональным интенсивность взрывных воздействий ограничивать скоростями вибраций соразмерными по влиянию погодным факторам. </a:t>
            </a:r>
          </a:p>
          <a:p>
            <a:r>
              <a:rPr lang="ru-RU" sz="1134" kern="1200" dirty="0">
                <a:solidFill>
                  <a:schemeClr val="tx1"/>
                </a:solidFill>
                <a:effectLst/>
                <a:latin typeface="+mn-lt"/>
                <a:ea typeface="+mn-ea"/>
                <a:cs typeface="+mn-cs"/>
              </a:rPr>
              <a:t>Для оценки степени влияния БВР в карьере на рассматриваемое здание и сопоставления его с влиянием иных факторов, таких как погодные условия, был проведен непрерывный деформационный мониторинг дефектов в конструкциях здания в течении 8 дней. Для измерений деформаций в Лаборатории геотехники изготовлены 6 тензометрических датчиков измерительный элемент которых представляет собой консоль с </a:t>
            </a:r>
            <a:r>
              <a:rPr lang="ru-RU" sz="1134" kern="1200" dirty="0" err="1">
                <a:solidFill>
                  <a:schemeClr val="tx1"/>
                </a:solidFill>
                <a:effectLst/>
                <a:latin typeface="+mn-lt"/>
                <a:ea typeface="+mn-ea"/>
                <a:cs typeface="+mn-cs"/>
              </a:rPr>
              <a:t>тензорезисторами</a:t>
            </a:r>
            <a:r>
              <a:rPr lang="ru-RU" sz="1134" kern="1200" dirty="0">
                <a:solidFill>
                  <a:schemeClr val="tx1"/>
                </a:solidFill>
                <a:effectLst/>
                <a:latin typeface="+mn-lt"/>
                <a:ea typeface="+mn-ea"/>
                <a:cs typeface="+mn-cs"/>
              </a:rPr>
              <a:t> (слева вверху на слайде). Перед измерениями проведена калибровка датчиков для определения переходных коэффициентов (зависимость линейная). Результаты тарировки представлены на рисунке справа в верхней части слайда. Расположение и закрепление датчиков непосредственно на трещинах приведено на рисунках в нижней части слайда.</a:t>
            </a:r>
          </a:p>
          <a:p>
            <a:endParaRPr lang="ru-RU" dirty="0"/>
          </a:p>
        </p:txBody>
      </p:sp>
      <p:sp>
        <p:nvSpPr>
          <p:cNvPr id="4" name="Верхний колонтитул 3"/>
          <p:cNvSpPr>
            <a:spLocks noGrp="1"/>
          </p:cNvSpPr>
          <p:nvPr>
            <p:ph type="hdr" sz="quarter"/>
          </p:nvPr>
        </p:nvSpPr>
        <p:spPr/>
        <p:txBody>
          <a:bodyPr/>
          <a:lstStyle/>
          <a:p>
            <a:endParaRPr lang="ru-RU"/>
          </a:p>
        </p:txBody>
      </p:sp>
      <p:sp>
        <p:nvSpPr>
          <p:cNvPr id="5" name="Номер слайда 4"/>
          <p:cNvSpPr>
            <a:spLocks noGrp="1"/>
          </p:cNvSpPr>
          <p:nvPr>
            <p:ph type="sldNum" sz="quarter" idx="5"/>
          </p:nvPr>
        </p:nvSpPr>
        <p:spPr/>
        <p:txBody>
          <a:bodyPr/>
          <a:lstStyle/>
          <a:p>
            <a:fld id="{8EB09AE2-2E38-404D-9761-9E0E458F6CE4}" type="slidenum">
              <a:rPr lang="ru-RU" smtClean="0"/>
              <a:t>10</a:t>
            </a:fld>
            <a:endParaRPr lang="ru-RU"/>
          </a:p>
        </p:txBody>
      </p:sp>
    </p:spTree>
    <p:extLst>
      <p:ext uri="{BB962C8B-B14F-4D97-AF65-F5344CB8AC3E}">
        <p14:creationId xmlns:p14="http://schemas.microsoft.com/office/powerpoint/2010/main" val="35275757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134" b="1" kern="1200" dirty="0">
                <a:solidFill>
                  <a:schemeClr val="tx1"/>
                </a:solidFill>
                <a:effectLst/>
                <a:latin typeface="+mn-lt"/>
                <a:ea typeface="+mn-ea"/>
                <a:cs typeface="+mn-cs"/>
              </a:rPr>
              <a:t>7</a:t>
            </a:r>
            <a:r>
              <a:rPr lang="ru-RU" sz="1134" b="1" kern="1200" dirty="0">
                <a:solidFill>
                  <a:schemeClr val="tx1"/>
                </a:solidFill>
                <a:effectLst/>
                <a:latin typeface="+mn-lt"/>
                <a:ea typeface="+mn-ea"/>
                <a:cs typeface="+mn-cs"/>
              </a:rPr>
              <a:t> СЛАЙД</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Процесс регистрации показателей </a:t>
            </a:r>
            <a:r>
              <a:rPr lang="ru-RU" sz="1134" kern="1200" dirty="0" err="1">
                <a:solidFill>
                  <a:schemeClr val="tx1"/>
                </a:solidFill>
                <a:effectLst/>
                <a:latin typeface="+mn-lt"/>
                <a:ea typeface="+mn-ea"/>
                <a:cs typeface="+mn-cs"/>
              </a:rPr>
              <a:t>тензодатчиков</a:t>
            </a:r>
            <a:r>
              <a:rPr lang="ru-RU" sz="1134" kern="1200" dirty="0">
                <a:solidFill>
                  <a:schemeClr val="tx1"/>
                </a:solidFill>
                <a:effectLst/>
                <a:latin typeface="+mn-lt"/>
                <a:ea typeface="+mn-ea"/>
                <a:cs typeface="+mn-cs"/>
              </a:rPr>
              <a:t>, установленных на трещины в здании, посредством тензометрической станции ZET058. Параллельно измерениям деформаций трещин в здании проводились измерения сейсмического действия взрывов с размещением </a:t>
            </a:r>
            <a:r>
              <a:rPr lang="ru-RU" sz="1134" kern="1200" dirty="0" err="1">
                <a:solidFill>
                  <a:schemeClr val="tx1"/>
                </a:solidFill>
                <a:effectLst/>
                <a:latin typeface="+mn-lt"/>
                <a:ea typeface="+mn-ea"/>
                <a:cs typeface="+mn-cs"/>
              </a:rPr>
              <a:t>вибродатчика</a:t>
            </a:r>
            <a:r>
              <a:rPr lang="ru-RU" sz="1134" kern="1200" dirty="0">
                <a:solidFill>
                  <a:schemeClr val="tx1"/>
                </a:solidFill>
                <a:effectLst/>
                <a:latin typeface="+mn-lt"/>
                <a:ea typeface="+mn-ea"/>
                <a:cs typeface="+mn-cs"/>
              </a:rPr>
              <a:t> на ростверке фундамента.</a:t>
            </a:r>
          </a:p>
          <a:p>
            <a:r>
              <a:rPr lang="ru-RU" sz="1134" kern="1200" dirty="0">
                <a:solidFill>
                  <a:schemeClr val="tx1"/>
                </a:solidFill>
                <a:effectLst/>
                <a:latin typeface="+mn-lt"/>
                <a:ea typeface="+mn-ea"/>
                <a:cs typeface="+mn-cs"/>
              </a:rPr>
              <a:t>Для сопоставления изменения величин раскрытия трещин на рисунке  в верхней части слайда приведены измерения по всем датчикам, установленным на трещинах. Даты ведения БВР отмечены вертикальными штриховыми линиями красного цвета, что позволяет идентифицировать изменения ширины трещины, обусловленные взрывными работами. На рисунке также указаны соответствующие значения максимальных скоростей (PSV), зафиксированных при измерениях сейсмического действия взрывов. Данные значения PSV получены по результатам обработки сейсмограмм, которые приведены в нижней части слайда. </a:t>
            </a:r>
          </a:p>
          <a:p>
            <a:r>
              <a:rPr lang="ru-RU" sz="1134" kern="1200" dirty="0">
                <a:solidFill>
                  <a:schemeClr val="tx1"/>
                </a:solidFill>
                <a:effectLst/>
                <a:latin typeface="+mn-lt"/>
                <a:ea typeface="+mn-ea"/>
                <a:cs typeface="+mn-cs"/>
              </a:rPr>
              <a:t>Как видно из сводного графика (на слайде вверху), колебания ширины раскрытия трещин, обусловленные ведением БВР, при определенном уровне вибрации существенно ниже колебаний, обусловленных иными факторами.</a:t>
            </a:r>
          </a:p>
          <a:p>
            <a:endParaRPr lang="ru-RU" sz="1134" b="1" kern="1200" dirty="0">
              <a:solidFill>
                <a:schemeClr val="tx1"/>
              </a:solidFill>
              <a:effectLst/>
              <a:latin typeface="+mn-lt"/>
              <a:ea typeface="+mn-ea"/>
              <a:cs typeface="+mn-cs"/>
            </a:endParaRPr>
          </a:p>
          <a:p>
            <a:r>
              <a:rPr lang="ru-RU" sz="1134" b="1" kern="1200" dirty="0">
                <a:solidFill>
                  <a:schemeClr val="tx1"/>
                </a:solidFill>
                <a:effectLst/>
                <a:latin typeface="+mn-lt"/>
                <a:ea typeface="+mn-ea"/>
                <a:cs typeface="+mn-cs"/>
              </a:rPr>
              <a:t>Примечание (дополнительная информация):</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Наибольшие значения ширины раскрытия трещин (142-350 мкм), вызванные ведением взрывных работ, зарегистрированы датчиками № 3, № 4 и № 5. При этом максимальная ширина раскрытия в 350 мкм зафиксирована датчиком № 5 и характерна для трещины в балке. Наблюдалось смыкание трещины на 350 мкм и возврат к исходной ширине. Данная деформация зафиксирована при производстве взрывных работ 02.07.2024. </a:t>
            </a:r>
          </a:p>
          <a:p>
            <a:r>
              <a:rPr lang="ru-RU" sz="1134" kern="1200" dirty="0">
                <a:solidFill>
                  <a:schemeClr val="tx1"/>
                </a:solidFill>
                <a:effectLst/>
                <a:latin typeface="+mn-lt"/>
                <a:ea typeface="+mn-ea"/>
                <a:cs typeface="+mn-cs"/>
              </a:rPr>
              <a:t>Практически все датчики показали возврат величины раскрытия трещин после их изменения, обусловленного действием БВР, к исходному состоянию. Исключением оказались БВР от 25.06.2024, так как датчики № 1 и № 2 показали скачкообразное увеличение ширины раскрытия трещин на 40 мкм и 33 мкм соответственно. </a:t>
            </a:r>
          </a:p>
          <a:p>
            <a:r>
              <a:rPr lang="ru-RU" sz="1134" kern="1200" dirty="0">
                <a:solidFill>
                  <a:schemeClr val="tx1"/>
                </a:solidFill>
                <a:effectLst/>
                <a:latin typeface="+mn-lt"/>
                <a:ea typeface="+mn-ea"/>
                <a:cs typeface="+mn-cs"/>
              </a:rPr>
              <a:t>Наибольшие изменения ширины раскрытия трещин от влияния прочих условий (предположительно наибольшее влияние оказывает перепад температур окружающей среды, т. е. погодные условия) зарегистрированы датчиками № 1 и № 2, установленными на колонне, и датчиком № 6, установленном на перекрытии (полу). Изменения ширины раскрытия трещин составили 400 мкм, 1000 мкм и 2100 мкм соответственно. </a:t>
            </a:r>
          </a:p>
          <a:p>
            <a:endParaRPr lang="ru-RU" dirty="0"/>
          </a:p>
        </p:txBody>
      </p:sp>
      <p:sp>
        <p:nvSpPr>
          <p:cNvPr id="4" name="Верхний колонтитул 3"/>
          <p:cNvSpPr>
            <a:spLocks noGrp="1"/>
          </p:cNvSpPr>
          <p:nvPr>
            <p:ph type="hdr" sz="quarter"/>
          </p:nvPr>
        </p:nvSpPr>
        <p:spPr/>
        <p:txBody>
          <a:bodyPr/>
          <a:lstStyle/>
          <a:p>
            <a:endParaRPr lang="ru-RU"/>
          </a:p>
        </p:txBody>
      </p:sp>
      <p:sp>
        <p:nvSpPr>
          <p:cNvPr id="5" name="Номер слайда 4"/>
          <p:cNvSpPr>
            <a:spLocks noGrp="1"/>
          </p:cNvSpPr>
          <p:nvPr>
            <p:ph type="sldNum" sz="quarter" idx="5"/>
          </p:nvPr>
        </p:nvSpPr>
        <p:spPr/>
        <p:txBody>
          <a:bodyPr/>
          <a:lstStyle/>
          <a:p>
            <a:fld id="{8EB09AE2-2E38-404D-9761-9E0E458F6CE4}" type="slidenum">
              <a:rPr lang="ru-RU" smtClean="0"/>
              <a:t>11</a:t>
            </a:fld>
            <a:endParaRPr lang="ru-RU"/>
          </a:p>
        </p:txBody>
      </p:sp>
    </p:spTree>
    <p:extLst>
      <p:ext uri="{BB962C8B-B14F-4D97-AF65-F5344CB8AC3E}">
        <p14:creationId xmlns:p14="http://schemas.microsoft.com/office/powerpoint/2010/main" val="2612212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134" b="1" kern="1200" dirty="0">
                <a:solidFill>
                  <a:schemeClr val="tx1"/>
                </a:solidFill>
                <a:effectLst/>
                <a:latin typeface="+mn-lt"/>
                <a:ea typeface="+mn-ea"/>
                <a:cs typeface="+mn-cs"/>
              </a:rPr>
              <a:t>8</a:t>
            </a:r>
            <a:r>
              <a:rPr lang="ru-RU" sz="1134" b="1" kern="1200" dirty="0">
                <a:solidFill>
                  <a:schemeClr val="tx1"/>
                </a:solidFill>
                <a:effectLst/>
                <a:latin typeface="+mn-lt"/>
                <a:ea typeface="+mn-ea"/>
                <a:cs typeface="+mn-cs"/>
              </a:rPr>
              <a:t> СЛАЙД</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Еще одним важным дополнительным измерением</a:t>
            </a:r>
            <a:r>
              <a:rPr lang="ru-RU" sz="1134" kern="1200" baseline="0" dirty="0">
                <a:solidFill>
                  <a:schemeClr val="tx1"/>
                </a:solidFill>
                <a:effectLst/>
                <a:latin typeface="+mn-lt"/>
                <a:ea typeface="+mn-ea"/>
                <a:cs typeface="+mn-cs"/>
              </a:rPr>
              <a:t> является скоростная видеосъемка взрываемого блока.</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Для прогнозирования сейсмического действия взрыва необходимо знать массу единовременно взрываемого заряда. При неизменных параметрах скважинных зарядов ВВ единовременно взрываемая масса ВВ определяется видом схемы инициирования блока. Ввиду человеческого фактора зачастую фактическая схема монтажа может отличаться от проектной, что влечет не корректное определение единовременно взрываемой массы заряда. Кроме того, из-за погрешностей во времени срабатывания средств инициирования, которые часто могут превышать паспортные значения, возникает нарушение очередности взрывания скважин, что так же ведет к некорректному определению массы единовременно взрываемого заряда.</a:t>
            </a:r>
          </a:p>
          <a:p>
            <a:r>
              <a:rPr lang="ru-RU" sz="1134" kern="1200" dirty="0">
                <a:solidFill>
                  <a:schemeClr val="tx1"/>
                </a:solidFill>
                <a:effectLst/>
                <a:latin typeface="+mn-lt"/>
                <a:ea typeface="+mn-ea"/>
                <a:cs typeface="+mn-cs"/>
              </a:rPr>
              <a:t>Скоростная видеосъемка взрываемого блока помогает понять фактическую очередность взрывания скважин и как следствие правильно определить единовременно взрываемые массы.</a:t>
            </a:r>
          </a:p>
          <a:p>
            <a:r>
              <a:rPr lang="ru-RU" sz="1134" kern="1200" dirty="0">
                <a:solidFill>
                  <a:schemeClr val="tx1"/>
                </a:solidFill>
                <a:effectLst/>
                <a:latin typeface="+mn-lt"/>
                <a:ea typeface="+mn-ea"/>
                <a:cs typeface="+mn-cs"/>
              </a:rPr>
              <a:t>Анализ работы сети инициирования осуществляется по вспышкам УВТ и вылету забойки из скважин. На слайде показан пример размещения камеры на смотровой площадке. Так же показан пример опережающей детонации скважины из-за погрешности и отличие фактической точки начала инициирования блока от проектной (пояснить на слайде). </a:t>
            </a:r>
          </a:p>
          <a:p>
            <a:endParaRPr lang="ru-RU" dirty="0"/>
          </a:p>
        </p:txBody>
      </p:sp>
      <p:sp>
        <p:nvSpPr>
          <p:cNvPr id="4" name="Верхний колонтитул 3"/>
          <p:cNvSpPr>
            <a:spLocks noGrp="1"/>
          </p:cNvSpPr>
          <p:nvPr>
            <p:ph type="hdr" sz="quarter"/>
          </p:nvPr>
        </p:nvSpPr>
        <p:spPr/>
        <p:txBody>
          <a:bodyPr/>
          <a:lstStyle/>
          <a:p>
            <a:endParaRPr lang="ru-RU"/>
          </a:p>
        </p:txBody>
      </p:sp>
      <p:sp>
        <p:nvSpPr>
          <p:cNvPr id="5" name="Номер слайда 4"/>
          <p:cNvSpPr>
            <a:spLocks noGrp="1"/>
          </p:cNvSpPr>
          <p:nvPr>
            <p:ph type="sldNum" sz="quarter" idx="5"/>
          </p:nvPr>
        </p:nvSpPr>
        <p:spPr/>
        <p:txBody>
          <a:bodyPr/>
          <a:lstStyle/>
          <a:p>
            <a:fld id="{8EB09AE2-2E38-404D-9761-9E0E458F6CE4}" type="slidenum">
              <a:rPr lang="ru-RU" smtClean="0"/>
              <a:t>12</a:t>
            </a:fld>
            <a:endParaRPr lang="ru-RU"/>
          </a:p>
        </p:txBody>
      </p:sp>
    </p:spTree>
    <p:extLst>
      <p:ext uri="{BB962C8B-B14F-4D97-AF65-F5344CB8AC3E}">
        <p14:creationId xmlns:p14="http://schemas.microsoft.com/office/powerpoint/2010/main" val="14532391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134" b="1" kern="1200" dirty="0">
                <a:solidFill>
                  <a:schemeClr val="tx1"/>
                </a:solidFill>
                <a:effectLst/>
                <a:latin typeface="+mn-lt"/>
                <a:ea typeface="+mn-ea"/>
                <a:cs typeface="+mn-cs"/>
              </a:rPr>
              <a:t>9</a:t>
            </a:r>
            <a:r>
              <a:rPr lang="ru-RU" sz="1134" b="1" kern="1200" dirty="0">
                <a:solidFill>
                  <a:schemeClr val="tx1"/>
                </a:solidFill>
                <a:effectLst/>
                <a:latin typeface="+mn-lt"/>
                <a:ea typeface="+mn-ea"/>
                <a:cs typeface="+mn-cs"/>
              </a:rPr>
              <a:t> СЛАЙД</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Часто расположение и размеры блока не позволяют провести полноценную съемку и последующий анализ, так как вылет забойки скважин с переднего плана закрывает оставшуюся часть блока.</a:t>
            </a:r>
          </a:p>
          <a:p>
            <a:r>
              <a:rPr lang="ru-RU" sz="1134" kern="1200" dirty="0">
                <a:solidFill>
                  <a:schemeClr val="tx1"/>
                </a:solidFill>
                <a:effectLst/>
                <a:latin typeface="+mn-lt"/>
                <a:ea typeface="+mn-ea"/>
                <a:cs typeface="+mn-cs"/>
              </a:rPr>
              <a:t>На слайде приведен пример анализа съемки малого блока, на котором прослеживается очередность практически всех скважин. В столбцах 2 и 3, приведенной таблицы, показано нарушение очередности взрывания скважин. Красным цветом в таблице выделены наибольшие отклонения время срабатывания, превышающие паспортные в несколько раз (пояснения</a:t>
            </a:r>
            <a:r>
              <a:rPr lang="ru-RU" sz="1134" kern="1200" baseline="0" dirty="0">
                <a:solidFill>
                  <a:schemeClr val="tx1"/>
                </a:solidFill>
                <a:effectLst/>
                <a:latin typeface="+mn-lt"/>
                <a:ea typeface="+mn-ea"/>
                <a:cs typeface="+mn-cs"/>
              </a:rPr>
              <a:t> по слайду)</a:t>
            </a:r>
            <a:r>
              <a:rPr lang="ru-RU" sz="1134" kern="1200" dirty="0">
                <a:solidFill>
                  <a:schemeClr val="tx1"/>
                </a:solidFill>
                <a:effectLst/>
                <a:latin typeface="+mn-lt"/>
                <a:ea typeface="+mn-ea"/>
                <a:cs typeface="+mn-cs"/>
              </a:rPr>
              <a:t>. </a:t>
            </a:r>
          </a:p>
          <a:p>
            <a:endParaRPr lang="ru-RU" dirty="0"/>
          </a:p>
        </p:txBody>
      </p:sp>
      <p:sp>
        <p:nvSpPr>
          <p:cNvPr id="4" name="Верхний колонтитул 3"/>
          <p:cNvSpPr>
            <a:spLocks noGrp="1"/>
          </p:cNvSpPr>
          <p:nvPr>
            <p:ph type="hdr" sz="quarter"/>
          </p:nvPr>
        </p:nvSpPr>
        <p:spPr/>
        <p:txBody>
          <a:bodyPr/>
          <a:lstStyle/>
          <a:p>
            <a:endParaRPr lang="ru-RU"/>
          </a:p>
        </p:txBody>
      </p:sp>
      <p:sp>
        <p:nvSpPr>
          <p:cNvPr id="5" name="Номер слайда 4"/>
          <p:cNvSpPr>
            <a:spLocks noGrp="1"/>
          </p:cNvSpPr>
          <p:nvPr>
            <p:ph type="sldNum" sz="quarter" idx="5"/>
          </p:nvPr>
        </p:nvSpPr>
        <p:spPr/>
        <p:txBody>
          <a:bodyPr/>
          <a:lstStyle/>
          <a:p>
            <a:fld id="{8EB09AE2-2E38-404D-9761-9E0E458F6CE4}" type="slidenum">
              <a:rPr lang="ru-RU" smtClean="0"/>
              <a:t>13</a:t>
            </a:fld>
            <a:endParaRPr lang="ru-RU"/>
          </a:p>
        </p:txBody>
      </p:sp>
    </p:spTree>
    <p:extLst>
      <p:ext uri="{BB962C8B-B14F-4D97-AF65-F5344CB8AC3E}">
        <p14:creationId xmlns:p14="http://schemas.microsoft.com/office/powerpoint/2010/main" val="601606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134" b="1" kern="1200" dirty="0">
                <a:solidFill>
                  <a:schemeClr val="tx1"/>
                </a:solidFill>
                <a:effectLst/>
                <a:latin typeface="+mn-lt"/>
                <a:ea typeface="+mn-ea"/>
                <a:cs typeface="+mn-cs"/>
              </a:rPr>
              <a:t>10</a:t>
            </a:r>
            <a:r>
              <a:rPr lang="ru-RU" sz="1134" b="1" kern="1200" dirty="0">
                <a:solidFill>
                  <a:schemeClr val="tx1"/>
                </a:solidFill>
                <a:effectLst/>
                <a:latin typeface="+mn-lt"/>
                <a:ea typeface="+mn-ea"/>
                <a:cs typeface="+mn-cs"/>
              </a:rPr>
              <a:t> СЛАЙД</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 </a:t>
            </a:r>
          </a:p>
          <a:p>
            <a:r>
              <a:rPr lang="ru-RU" sz="1134" kern="1200" dirty="0">
                <a:solidFill>
                  <a:schemeClr val="tx1"/>
                </a:solidFill>
                <a:effectLst/>
                <a:latin typeface="+mn-lt"/>
                <a:ea typeface="+mn-ea"/>
                <a:cs typeface="+mn-cs"/>
              </a:rPr>
              <a:t>Для оценки уровней воздействия взрыва на близлежащие выработки проводились измерения в ближней зоне взрыва. Размещение датчика осуществлялось на боку выработки параллельной взрываемой </a:t>
            </a:r>
            <a:r>
              <a:rPr lang="ru-RU" sz="1134" kern="1200" dirty="0" err="1">
                <a:solidFill>
                  <a:schemeClr val="tx1"/>
                </a:solidFill>
                <a:effectLst/>
                <a:latin typeface="+mn-lt"/>
                <a:ea typeface="+mn-ea"/>
                <a:cs typeface="+mn-cs"/>
              </a:rPr>
              <a:t>заходке</a:t>
            </a:r>
            <a:r>
              <a:rPr lang="ru-RU" sz="1134" kern="1200" dirty="0">
                <a:solidFill>
                  <a:schemeClr val="tx1"/>
                </a:solidFill>
                <a:effectLst/>
                <a:latin typeface="+mn-lt"/>
                <a:ea typeface="+mn-ea"/>
                <a:cs typeface="+mn-cs"/>
              </a:rPr>
              <a:t> на расстоянии 23м. Масса ВВ на вруб составила 98 кг, что соответствовало максимальному значению скорости 16,8 см/с. При данном измерении разрушений массива при визуальной оценке в области измерений не наблюдалось. В </a:t>
            </a:r>
            <a:r>
              <a:rPr lang="ru-RU" sz="1134" kern="1200" dirty="0" err="1">
                <a:solidFill>
                  <a:schemeClr val="tx1"/>
                </a:solidFill>
                <a:effectLst/>
                <a:latin typeface="+mn-lt"/>
                <a:ea typeface="+mn-ea"/>
                <a:cs typeface="+mn-cs"/>
              </a:rPr>
              <a:t>некотрых</a:t>
            </a:r>
            <a:r>
              <a:rPr lang="ru-RU" sz="1134" kern="1200" dirty="0">
                <a:solidFill>
                  <a:schemeClr val="tx1"/>
                </a:solidFill>
                <a:effectLst/>
                <a:latin typeface="+mn-lt"/>
                <a:ea typeface="+mn-ea"/>
                <a:cs typeface="+mn-cs"/>
              </a:rPr>
              <a:t> источниках отмечается, что для массива опасны скорости от 20 см/с.</a:t>
            </a:r>
          </a:p>
          <a:p>
            <a:r>
              <a:rPr lang="ru-RU" sz="1134" kern="1200" dirty="0">
                <a:solidFill>
                  <a:schemeClr val="tx1"/>
                </a:solidFill>
                <a:effectLst/>
                <a:latin typeface="+mn-lt"/>
                <a:ea typeface="+mn-ea"/>
                <a:cs typeface="+mn-cs"/>
              </a:rPr>
              <a:t>Так же посредством таких измерений возможна оценка корректность работы СИ. При размещении близко к взрыву воздействия от каждой ступени наблюдаются на </a:t>
            </a:r>
            <a:r>
              <a:rPr lang="ru-RU" sz="1134" kern="1200" dirty="0" err="1">
                <a:solidFill>
                  <a:schemeClr val="tx1"/>
                </a:solidFill>
                <a:effectLst/>
                <a:latin typeface="+mn-lt"/>
                <a:ea typeface="+mn-ea"/>
                <a:cs typeface="+mn-cs"/>
              </a:rPr>
              <a:t>велосиграмме</a:t>
            </a:r>
            <a:r>
              <a:rPr lang="ru-RU" sz="1134" kern="1200" dirty="0">
                <a:solidFill>
                  <a:schemeClr val="tx1"/>
                </a:solidFill>
                <a:effectLst/>
                <a:latin typeface="+mn-lt"/>
                <a:ea typeface="+mn-ea"/>
                <a:cs typeface="+mn-cs"/>
              </a:rPr>
              <a:t> раздельно. Однако в таких случаях возникают риски повреждения оборудования, особенно при ведении ВР на поверхности. В шахте условия более благоприятны для подобных измерений, так как датчик можно разместить например в параллельной выработке на малом расстоянии. На </a:t>
            </a:r>
            <a:r>
              <a:rPr lang="ru-RU" sz="1134" kern="1200" dirty="0" err="1">
                <a:solidFill>
                  <a:schemeClr val="tx1"/>
                </a:solidFill>
                <a:effectLst/>
                <a:latin typeface="+mn-lt"/>
                <a:ea typeface="+mn-ea"/>
                <a:cs typeface="+mn-cs"/>
              </a:rPr>
              <a:t>акселерограмме</a:t>
            </a:r>
            <a:r>
              <a:rPr lang="ru-RU" sz="1134" kern="1200" dirty="0">
                <a:solidFill>
                  <a:schemeClr val="tx1"/>
                </a:solidFill>
                <a:effectLst/>
                <a:latin typeface="+mn-lt"/>
                <a:ea typeface="+mn-ea"/>
                <a:cs typeface="+mn-cs"/>
              </a:rPr>
              <a:t> (рисунки внизу) можно проследить начало детонации каждой ступени, тем самым оценить фактическое время срабатывания СИ.</a:t>
            </a:r>
          </a:p>
          <a:p>
            <a:endParaRPr lang="ru-RU" dirty="0"/>
          </a:p>
        </p:txBody>
      </p:sp>
      <p:sp>
        <p:nvSpPr>
          <p:cNvPr id="4" name="Верхний колонтитул 3"/>
          <p:cNvSpPr>
            <a:spLocks noGrp="1"/>
          </p:cNvSpPr>
          <p:nvPr>
            <p:ph type="hdr" sz="quarter"/>
          </p:nvPr>
        </p:nvSpPr>
        <p:spPr/>
        <p:txBody>
          <a:bodyPr/>
          <a:lstStyle/>
          <a:p>
            <a:endParaRPr lang="ru-RU"/>
          </a:p>
        </p:txBody>
      </p:sp>
      <p:sp>
        <p:nvSpPr>
          <p:cNvPr id="5" name="Номер слайда 4"/>
          <p:cNvSpPr>
            <a:spLocks noGrp="1"/>
          </p:cNvSpPr>
          <p:nvPr>
            <p:ph type="sldNum" sz="quarter" idx="5"/>
          </p:nvPr>
        </p:nvSpPr>
        <p:spPr/>
        <p:txBody>
          <a:bodyPr/>
          <a:lstStyle/>
          <a:p>
            <a:fld id="{8EB09AE2-2E38-404D-9761-9E0E458F6CE4}" type="slidenum">
              <a:rPr lang="ru-RU" smtClean="0"/>
              <a:t>14</a:t>
            </a:fld>
            <a:endParaRPr lang="ru-RU"/>
          </a:p>
        </p:txBody>
      </p:sp>
    </p:spTree>
    <p:extLst>
      <p:ext uri="{BB962C8B-B14F-4D97-AF65-F5344CB8AC3E}">
        <p14:creationId xmlns:p14="http://schemas.microsoft.com/office/powerpoint/2010/main" val="39484495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134" b="1" kern="1200" dirty="0">
                <a:solidFill>
                  <a:schemeClr val="tx1"/>
                </a:solidFill>
                <a:effectLst/>
                <a:latin typeface="+mn-lt"/>
                <a:ea typeface="+mn-ea"/>
                <a:cs typeface="+mn-cs"/>
              </a:rPr>
              <a:t>1</a:t>
            </a:r>
            <a:r>
              <a:rPr lang="en-US" sz="1134" b="1" kern="1200" dirty="0">
                <a:solidFill>
                  <a:schemeClr val="tx1"/>
                </a:solidFill>
                <a:effectLst/>
                <a:latin typeface="+mn-lt"/>
                <a:ea typeface="+mn-ea"/>
                <a:cs typeface="+mn-cs"/>
              </a:rPr>
              <a:t>1</a:t>
            </a:r>
            <a:r>
              <a:rPr lang="ru-RU" sz="1134" b="1" kern="1200" dirty="0">
                <a:solidFill>
                  <a:schemeClr val="tx1"/>
                </a:solidFill>
                <a:effectLst/>
                <a:latin typeface="+mn-lt"/>
                <a:ea typeface="+mn-ea"/>
                <a:cs typeface="+mn-cs"/>
              </a:rPr>
              <a:t> СЛАЙД</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Сейсмостанция </a:t>
            </a:r>
            <a:r>
              <a:rPr lang="en-US" sz="1134" kern="1200" dirty="0">
                <a:solidFill>
                  <a:schemeClr val="tx1"/>
                </a:solidFill>
                <a:effectLst/>
                <a:latin typeface="+mn-lt"/>
                <a:ea typeface="+mn-ea"/>
                <a:cs typeface="+mn-cs"/>
              </a:rPr>
              <a:t>ZET</a:t>
            </a:r>
            <a:r>
              <a:rPr lang="ru-RU" sz="1134" kern="1200" dirty="0">
                <a:solidFill>
                  <a:schemeClr val="tx1"/>
                </a:solidFill>
                <a:effectLst/>
                <a:latin typeface="+mn-lt"/>
                <a:ea typeface="+mn-ea"/>
                <a:cs typeface="+mn-cs"/>
              </a:rPr>
              <a:t>048</a:t>
            </a:r>
            <a:r>
              <a:rPr lang="en-US" sz="1134" kern="1200" dirty="0">
                <a:solidFill>
                  <a:schemeClr val="tx1"/>
                </a:solidFill>
                <a:effectLst/>
                <a:latin typeface="+mn-lt"/>
                <a:ea typeface="+mn-ea"/>
                <a:cs typeface="+mn-cs"/>
              </a:rPr>
              <a:t>E </a:t>
            </a:r>
            <a:r>
              <a:rPr lang="ru-RU" sz="1134" kern="1200" dirty="0">
                <a:solidFill>
                  <a:schemeClr val="tx1"/>
                </a:solidFill>
                <a:effectLst/>
                <a:latin typeface="+mn-lt"/>
                <a:ea typeface="+mn-ea"/>
                <a:cs typeface="+mn-cs"/>
              </a:rPr>
              <a:t>имеет возможность вести синхронную запись вибраций с двух датчиков. С помощью кабеля удлинителя датчики разносятся на расстояние 50 м, что позволяет разделить во времени моменты первых вступлений продольных волн. Зная расстояние между датчиками и разность во времени определяем скорость волны (4500 м/с). Используя значения деформации из данной таблицы и величину измеренной скорости продольной волны можно рассчитать величину допустимой скорости для прогноза допустимых масс зарядов на ступень замедления.</a:t>
            </a:r>
          </a:p>
          <a:p>
            <a:endParaRPr lang="ru-RU" dirty="0"/>
          </a:p>
        </p:txBody>
      </p:sp>
      <p:sp>
        <p:nvSpPr>
          <p:cNvPr id="4" name="Верхний колонтитул 3"/>
          <p:cNvSpPr>
            <a:spLocks noGrp="1"/>
          </p:cNvSpPr>
          <p:nvPr>
            <p:ph type="hdr" sz="quarter"/>
          </p:nvPr>
        </p:nvSpPr>
        <p:spPr/>
        <p:txBody>
          <a:bodyPr/>
          <a:lstStyle/>
          <a:p>
            <a:endParaRPr lang="ru-RU"/>
          </a:p>
        </p:txBody>
      </p:sp>
      <p:sp>
        <p:nvSpPr>
          <p:cNvPr id="5" name="Номер слайда 4"/>
          <p:cNvSpPr>
            <a:spLocks noGrp="1"/>
          </p:cNvSpPr>
          <p:nvPr>
            <p:ph type="sldNum" sz="quarter" idx="5"/>
          </p:nvPr>
        </p:nvSpPr>
        <p:spPr/>
        <p:txBody>
          <a:bodyPr/>
          <a:lstStyle/>
          <a:p>
            <a:fld id="{8EB09AE2-2E38-404D-9761-9E0E458F6CE4}" type="slidenum">
              <a:rPr lang="ru-RU" smtClean="0"/>
              <a:t>15</a:t>
            </a:fld>
            <a:endParaRPr lang="ru-RU"/>
          </a:p>
        </p:txBody>
      </p:sp>
    </p:spTree>
    <p:extLst>
      <p:ext uri="{BB962C8B-B14F-4D97-AF65-F5344CB8AC3E}">
        <p14:creationId xmlns:p14="http://schemas.microsoft.com/office/powerpoint/2010/main" val="33333352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134" b="1" kern="1200" dirty="0">
                <a:solidFill>
                  <a:schemeClr val="tx1"/>
                </a:solidFill>
                <a:effectLst/>
                <a:latin typeface="+mn-lt"/>
                <a:ea typeface="+mn-ea"/>
                <a:cs typeface="+mn-cs"/>
              </a:rPr>
              <a:t>13</a:t>
            </a:r>
            <a:r>
              <a:rPr lang="ru-RU" sz="1134" b="1" kern="1200" dirty="0">
                <a:solidFill>
                  <a:schemeClr val="tx1"/>
                </a:solidFill>
                <a:effectLst/>
                <a:latin typeface="+mn-lt"/>
                <a:ea typeface="+mn-ea"/>
                <a:cs typeface="+mn-cs"/>
              </a:rPr>
              <a:t> СЛАЙД</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Общепринятым в международной практике критерием оценки сейсмического действия взрыва является скорость колебания грунта в основании рассматриваемого объекта, либо фундамента объекта.</a:t>
            </a:r>
          </a:p>
          <a:p>
            <a:r>
              <a:rPr lang="ru-RU" sz="1134" kern="1200" dirty="0">
                <a:solidFill>
                  <a:schemeClr val="tx1"/>
                </a:solidFill>
                <a:effectLst/>
                <a:latin typeface="+mn-lt"/>
                <a:ea typeface="+mn-ea"/>
                <a:cs typeface="+mn-cs"/>
              </a:rPr>
              <a:t>На данном слайде представлено толкование используемых при оценке сейсмического действия взрыва скоростей. Для примера приведена типичная запись взрыва трехкомпонентного виброметра.  В разных стандартах оценка действия взрыва осуществляется с применением разных типов скоростей.</a:t>
            </a:r>
          </a:p>
          <a:p>
            <a:r>
              <a:rPr lang="ru-RU" sz="1134" kern="1200" dirty="0">
                <a:solidFill>
                  <a:schemeClr val="tx1"/>
                </a:solidFill>
                <a:effectLst/>
                <a:latin typeface="+mn-lt"/>
                <a:ea typeface="+mn-ea"/>
                <a:cs typeface="+mn-cs"/>
              </a:rPr>
              <a:t>Черными точками на </a:t>
            </a:r>
            <a:r>
              <a:rPr lang="ru-RU" sz="1134" kern="1200" dirty="0" err="1">
                <a:solidFill>
                  <a:schemeClr val="tx1"/>
                </a:solidFill>
                <a:effectLst/>
                <a:latin typeface="+mn-lt"/>
                <a:ea typeface="+mn-ea"/>
                <a:cs typeface="+mn-cs"/>
              </a:rPr>
              <a:t>велосиграммах</a:t>
            </a:r>
            <a:r>
              <a:rPr lang="ru-RU" sz="1134" kern="1200" dirty="0">
                <a:solidFill>
                  <a:schemeClr val="tx1"/>
                </a:solidFill>
                <a:effectLst/>
                <a:latin typeface="+mn-lt"/>
                <a:ea typeface="+mn-ea"/>
                <a:cs typeface="+mn-cs"/>
              </a:rPr>
              <a:t> показаны </a:t>
            </a:r>
            <a:r>
              <a:rPr lang="ru-RU" sz="1134" b="1" kern="1200" dirty="0">
                <a:solidFill>
                  <a:schemeClr val="tx1"/>
                </a:solidFill>
                <a:effectLst/>
                <a:latin typeface="+mn-lt"/>
                <a:ea typeface="+mn-ea"/>
                <a:cs typeface="+mn-cs"/>
              </a:rPr>
              <a:t>максимальные значения скоростей смещения по каждой из компонент</a:t>
            </a:r>
            <a:r>
              <a:rPr lang="ru-RU" sz="1134" kern="1200" dirty="0">
                <a:solidFill>
                  <a:schemeClr val="tx1"/>
                </a:solidFill>
                <a:effectLst/>
                <a:latin typeface="+mn-lt"/>
                <a:ea typeface="+mn-ea"/>
                <a:cs typeface="+mn-cs"/>
              </a:rPr>
              <a:t>. В нижней части приведен график </a:t>
            </a:r>
            <a:r>
              <a:rPr lang="ru-RU" sz="1134" b="1" kern="1200" dirty="0">
                <a:solidFill>
                  <a:schemeClr val="tx1"/>
                </a:solidFill>
                <a:effectLst/>
                <a:latin typeface="+mn-lt"/>
                <a:ea typeface="+mn-ea"/>
                <a:cs typeface="+mn-cs"/>
              </a:rPr>
              <a:t>истинной векторной суммы</a:t>
            </a:r>
            <a:r>
              <a:rPr lang="ru-RU" sz="1134" kern="1200" dirty="0">
                <a:solidFill>
                  <a:schemeClr val="tx1"/>
                </a:solidFill>
                <a:effectLst/>
                <a:latin typeface="+mn-lt"/>
                <a:ea typeface="+mn-ea"/>
                <a:cs typeface="+mn-cs"/>
              </a:rPr>
              <a:t> (Векторная скорость), который представляет собой результирующую величину скорости частицы определяемая как корень квадратный из суммы квадратов трех взаимно перпендикулярных компонентов скорости в один и тот же момент времени (формула 1). Для оценки влияния используется ее максимальное значение (</a:t>
            </a:r>
            <a:r>
              <a:rPr lang="en-US" sz="1134" kern="1200" dirty="0">
                <a:solidFill>
                  <a:schemeClr val="tx1"/>
                </a:solidFill>
                <a:effectLst/>
                <a:latin typeface="+mn-lt"/>
                <a:ea typeface="+mn-ea"/>
                <a:cs typeface="+mn-cs"/>
              </a:rPr>
              <a:t>PVS</a:t>
            </a:r>
            <a:r>
              <a:rPr lang="ru-RU" sz="1134" kern="1200" dirty="0">
                <a:solidFill>
                  <a:schemeClr val="tx1"/>
                </a:solidFill>
                <a:effectLst/>
                <a:latin typeface="+mn-lt"/>
                <a:ea typeface="+mn-ea"/>
                <a:cs typeface="+mn-cs"/>
              </a:rPr>
              <a:t>), которое в данному случае совпадает с пиковым значением вертикальной оси </a:t>
            </a:r>
            <a:r>
              <a:rPr lang="en-US" sz="1134" kern="1200" dirty="0">
                <a:solidFill>
                  <a:schemeClr val="tx1"/>
                </a:solidFill>
                <a:effectLst/>
                <a:latin typeface="+mn-lt"/>
                <a:ea typeface="+mn-ea"/>
                <a:cs typeface="+mn-cs"/>
              </a:rPr>
              <a:t>Z</a:t>
            </a:r>
            <a:r>
              <a:rPr lang="ru-RU" sz="1134" kern="1200" dirty="0">
                <a:solidFill>
                  <a:schemeClr val="tx1"/>
                </a:solidFill>
                <a:effectLst/>
                <a:latin typeface="+mn-lt"/>
                <a:ea typeface="+mn-ea"/>
                <a:cs typeface="+mn-cs"/>
              </a:rPr>
              <a:t> (время и значения скоростей соответствующие </a:t>
            </a:r>
            <a:r>
              <a:rPr lang="en-US" sz="1134" kern="1200" dirty="0">
                <a:solidFill>
                  <a:schemeClr val="tx1"/>
                </a:solidFill>
                <a:effectLst/>
                <a:latin typeface="+mn-lt"/>
                <a:ea typeface="+mn-ea"/>
                <a:cs typeface="+mn-cs"/>
              </a:rPr>
              <a:t>PVS </a:t>
            </a:r>
            <a:r>
              <a:rPr lang="ru-RU" sz="1134" kern="1200" dirty="0">
                <a:solidFill>
                  <a:schemeClr val="tx1"/>
                </a:solidFill>
                <a:effectLst/>
                <a:latin typeface="+mn-lt"/>
                <a:ea typeface="+mn-ea"/>
                <a:cs typeface="+mn-cs"/>
              </a:rPr>
              <a:t>обозначены вертикальной линией). </a:t>
            </a:r>
          </a:p>
          <a:p>
            <a:r>
              <a:rPr lang="ru-RU" sz="1134" kern="1200" dirty="0">
                <a:solidFill>
                  <a:schemeClr val="tx1"/>
                </a:solidFill>
                <a:effectLst/>
                <a:latin typeface="+mn-lt"/>
                <a:ea typeface="+mn-ea"/>
                <a:cs typeface="+mn-cs"/>
              </a:rPr>
              <a:t>Так же для оценки влияния используется значение </a:t>
            </a:r>
            <a:r>
              <a:rPr lang="ru-RU" sz="1134" b="1" kern="1200" dirty="0">
                <a:solidFill>
                  <a:schemeClr val="tx1"/>
                </a:solidFill>
                <a:effectLst/>
                <a:latin typeface="+mn-lt"/>
                <a:ea typeface="+mn-ea"/>
                <a:cs typeface="+mn-cs"/>
              </a:rPr>
              <a:t>псевдо-максимальной векторной суммы (в отечественных источниках подход Садовского), </a:t>
            </a:r>
            <a:r>
              <a:rPr lang="ru-RU" sz="1134" kern="1200" dirty="0">
                <a:solidFill>
                  <a:schemeClr val="tx1"/>
                </a:solidFill>
                <a:effectLst/>
                <a:latin typeface="+mn-lt"/>
                <a:ea typeface="+mn-ea"/>
                <a:cs typeface="+mn-cs"/>
              </a:rPr>
              <a:t>которая</a:t>
            </a:r>
            <a:r>
              <a:rPr lang="ru-RU" sz="1134" b="1" kern="1200" dirty="0">
                <a:solidFill>
                  <a:schemeClr val="tx1"/>
                </a:solidFill>
                <a:effectLst/>
                <a:latin typeface="+mn-lt"/>
                <a:ea typeface="+mn-ea"/>
                <a:cs typeface="+mn-cs"/>
              </a:rPr>
              <a:t> </a:t>
            </a:r>
            <a:r>
              <a:rPr lang="ru-RU" sz="1134" kern="1200" dirty="0">
                <a:solidFill>
                  <a:schemeClr val="tx1"/>
                </a:solidFill>
                <a:effectLst/>
                <a:latin typeface="+mn-lt"/>
                <a:ea typeface="+mn-ea"/>
                <a:cs typeface="+mn-cs"/>
              </a:rPr>
              <a:t>не является мгновенной скоростью в точке, определятся как корень квадратный из суммы квадратов максимальных значений трех взаимно перпендикулярных компонентов скорости (те что отмечены черными точками), которые как правило проявляются в разные моменты времени (формула 2). Данная величина является энергетической скоростью и представляет собой плотность потока энергии. Согласно отечественным исследованиям, из всех элементов сейсмической волны лучше всего коррелирует с повреждениями зданий величина энергетической скорости у грунта основания сооружения.</a:t>
            </a:r>
          </a:p>
          <a:p>
            <a:r>
              <a:rPr lang="ru-RU" sz="1134" b="1" kern="1200" dirty="0">
                <a:solidFill>
                  <a:schemeClr val="tx1"/>
                </a:solidFill>
                <a:effectLst/>
                <a:latin typeface="+mn-lt"/>
                <a:ea typeface="+mn-ea"/>
                <a:cs typeface="+mn-cs"/>
              </a:rPr>
              <a:t>Псевдо-максимальная векторная сумма (подход Садовского) может быть на 40% больше</a:t>
            </a:r>
            <a:r>
              <a:rPr lang="ru-RU" sz="1134" kern="1200" dirty="0">
                <a:solidFill>
                  <a:schemeClr val="tx1"/>
                </a:solidFill>
                <a:effectLst/>
                <a:latin typeface="+mn-lt"/>
                <a:ea typeface="+mn-ea"/>
                <a:cs typeface="+mn-cs"/>
              </a:rPr>
              <a:t>, чем истинная максимальная векторная сумма, которая обычно на 5-10% больше, чем максимальный однокомпонентный пик.</a:t>
            </a:r>
          </a:p>
          <a:p>
            <a:r>
              <a:rPr lang="ru-RU" sz="1134" kern="1200" dirty="0">
                <a:solidFill>
                  <a:schemeClr val="tx1"/>
                </a:solidFill>
                <a:effectLst/>
                <a:latin typeface="+mn-lt"/>
                <a:ea typeface="+mn-ea"/>
                <a:cs typeface="+mn-cs"/>
              </a:rPr>
              <a:t>Согласно стандарту Международного сообщества горной механики </a:t>
            </a:r>
            <a:r>
              <a:rPr lang="en-US" sz="1134" kern="1200" dirty="0">
                <a:solidFill>
                  <a:schemeClr val="tx1"/>
                </a:solidFill>
                <a:effectLst/>
                <a:latin typeface="+mn-lt"/>
                <a:ea typeface="+mn-ea"/>
                <a:cs typeface="+mn-cs"/>
              </a:rPr>
              <a:t>PVS</a:t>
            </a:r>
            <a:r>
              <a:rPr lang="ru-RU" sz="1134" kern="1200" dirty="0">
                <a:solidFill>
                  <a:schemeClr val="tx1"/>
                </a:solidFill>
                <a:effectLst/>
                <a:latin typeface="+mn-lt"/>
                <a:ea typeface="+mn-ea"/>
                <a:cs typeface="+mn-cs"/>
              </a:rPr>
              <a:t> – истинная векторная сумма соответствует  максимальной деформации грунта. В месте с тем, отмечается, что экспериментальные наблюдения по возникновению дефектов, коррелировали с максимальным значением отдельного компонента независимо от направления. Тут же отмечается, что использование </a:t>
            </a:r>
            <a:r>
              <a:rPr lang="ru-RU" sz="1134" kern="1200" dirty="0" err="1">
                <a:solidFill>
                  <a:schemeClr val="tx1"/>
                </a:solidFill>
                <a:effectLst/>
                <a:latin typeface="+mn-lt"/>
                <a:ea typeface="+mn-ea"/>
                <a:cs typeface="+mn-cs"/>
              </a:rPr>
              <a:t>псевдоскорости</a:t>
            </a:r>
            <a:r>
              <a:rPr lang="ru-RU" sz="1134" kern="1200" dirty="0">
                <a:solidFill>
                  <a:schemeClr val="tx1"/>
                </a:solidFill>
                <a:effectLst/>
                <a:latin typeface="+mn-lt"/>
                <a:ea typeface="+mn-ea"/>
                <a:cs typeface="+mn-cs"/>
              </a:rPr>
              <a:t> приводит к введению дополнительного запаса.</a:t>
            </a:r>
          </a:p>
          <a:p>
            <a:endParaRPr lang="ru-RU" dirty="0"/>
          </a:p>
        </p:txBody>
      </p:sp>
      <p:sp>
        <p:nvSpPr>
          <p:cNvPr id="4" name="Верхний колонтитул 3"/>
          <p:cNvSpPr>
            <a:spLocks noGrp="1"/>
          </p:cNvSpPr>
          <p:nvPr>
            <p:ph type="hdr" sz="quarter"/>
          </p:nvPr>
        </p:nvSpPr>
        <p:spPr/>
        <p:txBody>
          <a:bodyPr/>
          <a:lstStyle/>
          <a:p>
            <a:endParaRPr lang="ru-RU"/>
          </a:p>
        </p:txBody>
      </p:sp>
      <p:sp>
        <p:nvSpPr>
          <p:cNvPr id="5" name="Номер слайда 4"/>
          <p:cNvSpPr>
            <a:spLocks noGrp="1"/>
          </p:cNvSpPr>
          <p:nvPr>
            <p:ph type="sldNum" sz="quarter" idx="5"/>
          </p:nvPr>
        </p:nvSpPr>
        <p:spPr/>
        <p:txBody>
          <a:bodyPr/>
          <a:lstStyle/>
          <a:p>
            <a:fld id="{8EB09AE2-2E38-404D-9761-9E0E458F6CE4}" type="slidenum">
              <a:rPr lang="ru-RU" smtClean="0"/>
              <a:t>16</a:t>
            </a:fld>
            <a:endParaRPr lang="ru-RU"/>
          </a:p>
        </p:txBody>
      </p:sp>
    </p:spTree>
    <p:extLst>
      <p:ext uri="{BB962C8B-B14F-4D97-AF65-F5344CB8AC3E}">
        <p14:creationId xmlns:p14="http://schemas.microsoft.com/office/powerpoint/2010/main" val="12193652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134" b="1" kern="1200" dirty="0">
                <a:solidFill>
                  <a:schemeClr val="tx1"/>
                </a:solidFill>
                <a:effectLst/>
                <a:latin typeface="+mn-lt"/>
                <a:ea typeface="+mn-ea"/>
                <a:cs typeface="+mn-cs"/>
              </a:rPr>
              <a:t>16</a:t>
            </a:r>
            <a:r>
              <a:rPr lang="ru-RU" sz="1134" b="1" kern="1200" dirty="0">
                <a:solidFill>
                  <a:schemeClr val="tx1"/>
                </a:solidFill>
                <a:effectLst/>
                <a:latin typeface="+mn-lt"/>
                <a:ea typeface="+mn-ea"/>
                <a:cs typeface="+mn-cs"/>
              </a:rPr>
              <a:t> СЛАЙД</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В большинстве зарубежных нормативных документов, регламентирующих воздействия взрывов, отмечается важность частотного состава действующей на объект сейсмовзрывной волны. Значения допустимых скоростей в них устанавливаются в зависимости от преобладающих частот вибраций, обусловленных действием взрывов.</a:t>
            </a:r>
          </a:p>
          <a:p>
            <a:r>
              <a:rPr lang="ru-RU" sz="1134" kern="1200" dirty="0">
                <a:solidFill>
                  <a:schemeClr val="tx1"/>
                </a:solidFill>
                <a:effectLst/>
                <a:latin typeface="+mn-lt"/>
                <a:ea typeface="+mn-ea"/>
                <a:cs typeface="+mn-cs"/>
              </a:rPr>
              <a:t>Согласно исследованиям проведенным Горным Бюро США для различных типов взрывов получены преобладающие в спектре частоты, представленные на слайде (справа). Наиболее низкие преобладающие частоты (до 30Гц) получены при взрывах на угольных разрезах скважин больших диаметров. Для карьеров строительных материалов наблюдался схожий спектр со смещением преобладающих частот к более высоким значениям (25Гц). Для взрывов на стройплощадках где применялись шпуровые заряды получен более широкий частотный диапазон сейсмовзрывных колебаний с более высокими значениями преобладающих частот (40Гц).</a:t>
            </a:r>
          </a:p>
          <a:p>
            <a:r>
              <a:rPr lang="ru-RU" sz="1134" kern="1200" dirty="0">
                <a:solidFill>
                  <a:schemeClr val="tx1"/>
                </a:solidFill>
                <a:effectLst/>
                <a:latin typeface="+mn-lt"/>
                <a:ea typeface="+mn-ea"/>
                <a:cs typeface="+mn-cs"/>
              </a:rPr>
              <a:t>Подобные данные по частотам приводятся и в Китайском стандарте (в верхней части слайда слева). Пояснить значения в таблице. </a:t>
            </a:r>
            <a:r>
              <a:rPr lang="ru-RU" sz="1134" b="1" kern="1200" dirty="0">
                <a:solidFill>
                  <a:schemeClr val="tx1"/>
                </a:solidFill>
                <a:effectLst/>
                <a:latin typeface="+mn-lt"/>
                <a:ea typeface="+mn-ea"/>
                <a:cs typeface="+mn-cs"/>
              </a:rPr>
              <a:t>В данных материалах приведены диапазоны именно для пиковых значений, энергия может быть распределена (размазана) и по более широкому диапазону частот.</a:t>
            </a:r>
          </a:p>
          <a:p>
            <a:r>
              <a:rPr lang="ru-RU" sz="1134" kern="1200" dirty="0" err="1">
                <a:solidFill>
                  <a:schemeClr val="tx1"/>
                </a:solidFill>
                <a:effectLst/>
                <a:latin typeface="+mn-lt"/>
                <a:ea typeface="+mn-ea"/>
                <a:cs typeface="+mn-cs"/>
              </a:rPr>
              <a:t>храняемого</a:t>
            </a:r>
            <a:r>
              <a:rPr lang="ru-RU" sz="1134" kern="1200" dirty="0">
                <a:solidFill>
                  <a:schemeClr val="tx1"/>
                </a:solidFill>
                <a:effectLst/>
                <a:latin typeface="+mn-lt"/>
                <a:ea typeface="+mn-ea"/>
                <a:cs typeface="+mn-cs"/>
              </a:rPr>
              <a:t> объекта от взрыва и его расположение относительно поверхности Земли (подземный, поверхностный). Упомянутые </a:t>
            </a:r>
            <a:r>
              <a:rPr lang="ru-RU" sz="1134" kern="1200" dirty="0" err="1">
                <a:solidFill>
                  <a:schemeClr val="tx1"/>
                </a:solidFill>
                <a:effectLst/>
                <a:latin typeface="+mn-lt"/>
                <a:ea typeface="+mn-ea"/>
                <a:cs typeface="+mn-cs"/>
              </a:rPr>
              <a:t>фактДиапазон</a:t>
            </a:r>
            <a:r>
              <a:rPr lang="ru-RU" sz="1134" kern="1200" dirty="0">
                <a:solidFill>
                  <a:schemeClr val="tx1"/>
                </a:solidFill>
                <a:effectLst/>
                <a:latin typeface="+mn-lt"/>
                <a:ea typeface="+mn-ea"/>
                <a:cs typeface="+mn-cs"/>
              </a:rPr>
              <a:t> частот вибрации охраняемого объекта, обуславливаемого действием взрыва, зависит от параметров заряда ВВ, свойств грунта, через который воздействие передается на конструкцию, удаленности опоры и их влияние на частоту показаны в виде таблицы на слайде. К факторам </a:t>
            </a:r>
            <a:r>
              <a:rPr lang="ru-RU" sz="1134" b="1" kern="1200" dirty="0">
                <a:solidFill>
                  <a:schemeClr val="tx1"/>
                </a:solidFill>
                <a:effectLst/>
                <a:latin typeface="+mn-lt"/>
                <a:ea typeface="+mn-ea"/>
                <a:cs typeface="+mn-cs"/>
              </a:rPr>
              <a:t>ВЫСОКИХ</a:t>
            </a:r>
            <a:r>
              <a:rPr lang="ru-RU" sz="1134" kern="1200" dirty="0">
                <a:solidFill>
                  <a:schemeClr val="tx1"/>
                </a:solidFill>
                <a:effectLst/>
                <a:latin typeface="+mn-lt"/>
                <a:ea typeface="+mn-ea"/>
                <a:cs typeface="+mn-cs"/>
              </a:rPr>
              <a:t> частот относится близость к месту ведения взрывных работ, малые диаметры заряда, подземные взрывные работы (преобладание объемных волн). К факторам </a:t>
            </a:r>
            <a:r>
              <a:rPr lang="ru-RU" sz="1134" b="1" kern="1200" dirty="0">
                <a:solidFill>
                  <a:schemeClr val="tx1"/>
                </a:solidFill>
                <a:effectLst/>
                <a:latin typeface="+mn-lt"/>
                <a:ea typeface="+mn-ea"/>
                <a:cs typeface="+mn-cs"/>
              </a:rPr>
              <a:t>НИЗКИХ</a:t>
            </a:r>
            <a:r>
              <a:rPr lang="ru-RU" sz="1134" kern="1200" dirty="0">
                <a:solidFill>
                  <a:schemeClr val="tx1"/>
                </a:solidFill>
                <a:effectLst/>
                <a:latin typeface="+mn-lt"/>
                <a:ea typeface="+mn-ea"/>
                <a:cs typeface="+mn-cs"/>
              </a:rPr>
              <a:t> частот относится удаленность от места ведения взрывных работ на поверхности (преобладание поверхностных волн Рэлея), более крупные диаметры зарядов. Для наглядности на слайде приведены </a:t>
            </a:r>
            <a:r>
              <a:rPr lang="ru-RU" sz="1134" kern="1200" dirty="0" err="1">
                <a:solidFill>
                  <a:schemeClr val="tx1"/>
                </a:solidFill>
                <a:effectLst/>
                <a:latin typeface="+mn-lt"/>
                <a:ea typeface="+mn-ea"/>
                <a:cs typeface="+mn-cs"/>
              </a:rPr>
              <a:t>велосиграммы</a:t>
            </a:r>
            <a:r>
              <a:rPr lang="ru-RU" sz="1134" kern="1200" dirty="0">
                <a:solidFill>
                  <a:schemeClr val="tx1"/>
                </a:solidFill>
                <a:effectLst/>
                <a:latin typeface="+mn-lt"/>
                <a:ea typeface="+mn-ea"/>
                <a:cs typeface="+mn-cs"/>
              </a:rPr>
              <a:t> высокочастотной и низкочастотной записи волн (цифра 4).</a:t>
            </a:r>
          </a:p>
          <a:p>
            <a:r>
              <a:rPr lang="ru-RU" sz="1134" kern="1200" dirty="0">
                <a:solidFill>
                  <a:schemeClr val="tx1"/>
                </a:solidFill>
                <a:effectLst/>
                <a:latin typeface="+mn-lt"/>
                <a:ea typeface="+mn-ea"/>
                <a:cs typeface="+mn-cs"/>
              </a:rPr>
              <a:t>Наиболее опасными для объекта воздействия считаются поверхностные волны с низкими преобладающими частотами, которые могут совпадать с собственной частотой колебания объекта. Низкочастотные волны имеют большую длину, которая как правило превышает размеры объекта (более 100м). В случае совпадения частот возникает резонанс, усиление колебаний и увеличение вероятности возникновения дефектов. Собственные колебания зданий обычно не превышают 10 Гц, изменяясь в зависимости от конструктива и высоты здания. С другой стороны в некоторых источниках отмечается, что при длине волны соразмерной рассматриваемому объекту в нем возникают деформации изгиба которые являются причиной возникновения дефектов. Короткие волны характерны для более высокочастотных колебаний. Однако, большинство мировых стандартов устанавливают минимальную допустимую скорость для нижних диапазонов частот. </a:t>
            </a:r>
          </a:p>
          <a:p>
            <a:endParaRPr lang="ru-RU" dirty="0"/>
          </a:p>
        </p:txBody>
      </p:sp>
      <p:sp>
        <p:nvSpPr>
          <p:cNvPr id="4" name="Верхний колонтитул 3"/>
          <p:cNvSpPr>
            <a:spLocks noGrp="1"/>
          </p:cNvSpPr>
          <p:nvPr>
            <p:ph type="hdr" sz="quarter"/>
          </p:nvPr>
        </p:nvSpPr>
        <p:spPr/>
        <p:txBody>
          <a:bodyPr/>
          <a:lstStyle/>
          <a:p>
            <a:endParaRPr lang="ru-RU"/>
          </a:p>
        </p:txBody>
      </p:sp>
      <p:sp>
        <p:nvSpPr>
          <p:cNvPr id="5" name="Номер слайда 4"/>
          <p:cNvSpPr>
            <a:spLocks noGrp="1"/>
          </p:cNvSpPr>
          <p:nvPr>
            <p:ph type="sldNum" sz="quarter" idx="5"/>
          </p:nvPr>
        </p:nvSpPr>
        <p:spPr/>
        <p:txBody>
          <a:bodyPr/>
          <a:lstStyle/>
          <a:p>
            <a:fld id="{8EB09AE2-2E38-404D-9761-9E0E458F6CE4}" type="slidenum">
              <a:rPr lang="ru-RU" smtClean="0"/>
              <a:t>17</a:t>
            </a:fld>
            <a:endParaRPr lang="ru-RU"/>
          </a:p>
        </p:txBody>
      </p:sp>
    </p:spTree>
    <p:extLst>
      <p:ext uri="{BB962C8B-B14F-4D97-AF65-F5344CB8AC3E}">
        <p14:creationId xmlns:p14="http://schemas.microsoft.com/office/powerpoint/2010/main" val="41357335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134" b="1" kern="1200" dirty="0">
                <a:solidFill>
                  <a:schemeClr val="tx1"/>
                </a:solidFill>
                <a:effectLst/>
                <a:latin typeface="+mn-lt"/>
                <a:ea typeface="+mn-ea"/>
                <a:cs typeface="+mn-cs"/>
              </a:rPr>
              <a:t>14</a:t>
            </a:r>
            <a:r>
              <a:rPr lang="ru-RU" sz="1134" b="1" kern="1200" dirty="0">
                <a:solidFill>
                  <a:schemeClr val="tx1"/>
                </a:solidFill>
                <a:effectLst/>
                <a:latin typeface="+mn-lt"/>
                <a:ea typeface="+mn-ea"/>
                <a:cs typeface="+mn-cs"/>
              </a:rPr>
              <a:t> СЛАЙД</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Разовые измерения позволяют оценить уровень воздействия на объект конкретного блока но с практической точки зрения наиболее интересно прогнозирование уровня воздействия при различных вариациях в параметрах БВР. </a:t>
            </a:r>
          </a:p>
          <a:p>
            <a:r>
              <a:rPr lang="ru-RU" sz="1134" kern="1200" dirty="0">
                <a:solidFill>
                  <a:schemeClr val="tx1"/>
                </a:solidFill>
                <a:effectLst/>
                <a:latin typeface="+mn-lt"/>
                <a:ea typeface="+mn-ea"/>
                <a:cs typeface="+mn-cs"/>
              </a:rPr>
              <a:t>Для обеспечения безопасности охраняемых объектов, подверженных действию сейсмовзрывных нагрузок, осуществляется прогнозирование величины скорости колебаний массива в области этих объектов в зависимости от параметров взрыва. В основу прогноза скорости смещения массива, обусловленного действием взрыва, положена формула вида (1). В отечественной практике известен как подход Садовского. Коэффициенты </a:t>
            </a:r>
            <a:r>
              <a:rPr lang="ru-RU" sz="1134" i="1" kern="1200" dirty="0">
                <a:solidFill>
                  <a:schemeClr val="tx1"/>
                </a:solidFill>
                <a:effectLst/>
                <a:latin typeface="+mn-lt"/>
                <a:ea typeface="+mn-ea"/>
                <a:cs typeface="+mn-cs"/>
              </a:rPr>
              <a:t>K</a:t>
            </a:r>
            <a:r>
              <a:rPr lang="ru-RU" sz="1134" kern="1200" dirty="0">
                <a:solidFill>
                  <a:schemeClr val="tx1"/>
                </a:solidFill>
                <a:effectLst/>
                <a:latin typeface="+mn-lt"/>
                <a:ea typeface="+mn-ea"/>
                <a:cs typeface="+mn-cs"/>
              </a:rPr>
              <a:t> и </a:t>
            </a:r>
            <a:r>
              <a:rPr lang="ru-RU" sz="1134" i="1" kern="1200" dirty="0">
                <a:solidFill>
                  <a:schemeClr val="tx1"/>
                </a:solidFill>
                <a:effectLst/>
                <a:latin typeface="+mn-lt"/>
                <a:ea typeface="+mn-ea"/>
                <a:cs typeface="+mn-cs"/>
              </a:rPr>
              <a:t>n</a:t>
            </a:r>
            <a:r>
              <a:rPr lang="ru-RU" sz="1134" kern="1200" dirty="0">
                <a:solidFill>
                  <a:schemeClr val="tx1"/>
                </a:solidFill>
                <a:effectLst/>
                <a:latin typeface="+mn-lt"/>
                <a:ea typeface="+mn-ea"/>
                <a:cs typeface="+mn-cs"/>
              </a:rPr>
              <a:t> определяются для конкретных горно-геологических условий серией инструментальных измерений. Различные нормативные документы и научные исследования принимают в качестве значения пиковой скорости V разные показатели (показаны ранее на слайде 11). Приведенное расстояние рассчитывается по формуле (2) где.</a:t>
            </a:r>
          </a:p>
          <a:p>
            <a:r>
              <a:rPr lang="ru-RU" sz="1134" kern="1200" dirty="0">
                <a:solidFill>
                  <a:schemeClr val="tx1"/>
                </a:solidFill>
                <a:effectLst/>
                <a:latin typeface="+mn-lt"/>
                <a:ea typeface="+mn-ea"/>
                <a:cs typeface="+mn-cs"/>
              </a:rPr>
              <a:t>В отечественной практике и в ряде зарубежных источников литературы показатель степени </a:t>
            </a:r>
            <a:r>
              <a:rPr lang="ru-RU" sz="1134" i="1" kern="1200" dirty="0">
                <a:solidFill>
                  <a:schemeClr val="tx1"/>
                </a:solidFill>
                <a:effectLst/>
                <a:latin typeface="+mn-lt"/>
                <a:ea typeface="+mn-ea"/>
                <a:cs typeface="+mn-cs"/>
              </a:rPr>
              <a:t>a</a:t>
            </a:r>
            <a:r>
              <a:rPr lang="ru-RU" sz="1134" kern="1200" dirty="0">
                <a:solidFill>
                  <a:schemeClr val="tx1"/>
                </a:solidFill>
                <a:effectLst/>
                <a:latin typeface="+mn-lt"/>
                <a:ea typeface="+mn-ea"/>
                <a:cs typeface="+mn-cs"/>
              </a:rPr>
              <a:t> = 1/3. Однако, в большей части зарубежных источников </a:t>
            </a:r>
            <a:r>
              <a:rPr lang="ru-RU" sz="1134" i="1" kern="1200" dirty="0">
                <a:solidFill>
                  <a:schemeClr val="tx1"/>
                </a:solidFill>
                <a:effectLst/>
                <a:latin typeface="+mn-lt"/>
                <a:ea typeface="+mn-ea"/>
                <a:cs typeface="+mn-cs"/>
              </a:rPr>
              <a:t>a</a:t>
            </a:r>
            <a:r>
              <a:rPr lang="ru-RU" sz="1134" kern="1200" dirty="0">
                <a:solidFill>
                  <a:schemeClr val="tx1"/>
                </a:solidFill>
                <a:effectLst/>
                <a:latin typeface="+mn-lt"/>
                <a:ea typeface="+mn-ea"/>
                <a:cs typeface="+mn-cs"/>
              </a:rPr>
              <a:t> = 1/2. </a:t>
            </a:r>
          </a:p>
          <a:p>
            <a:r>
              <a:rPr lang="ru-RU" sz="1134" kern="1200" dirty="0">
                <a:solidFill>
                  <a:schemeClr val="tx1"/>
                </a:solidFill>
                <a:effectLst/>
                <a:latin typeface="+mn-lt"/>
                <a:ea typeface="+mn-ea"/>
                <a:cs typeface="+mn-cs"/>
              </a:rPr>
              <a:t>Встречаются разные обоснования и толкования выбора того или иного значения показателя степени </a:t>
            </a:r>
            <a:r>
              <a:rPr lang="ru-RU" sz="1134" i="1" kern="1200" dirty="0">
                <a:solidFill>
                  <a:schemeClr val="tx1"/>
                </a:solidFill>
                <a:effectLst/>
                <a:latin typeface="+mn-lt"/>
                <a:ea typeface="+mn-ea"/>
                <a:cs typeface="+mn-cs"/>
              </a:rPr>
              <a:t>a:</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1) Исходя из того, что для сферы характерна пропорциональность диаметра кубическому корню то для сосредоточенных зарядов </a:t>
            </a:r>
            <a:r>
              <a:rPr lang="ru-RU" sz="1134" i="1" kern="1200" dirty="0">
                <a:solidFill>
                  <a:schemeClr val="tx1"/>
                </a:solidFill>
                <a:effectLst/>
                <a:latin typeface="+mn-lt"/>
                <a:ea typeface="+mn-ea"/>
                <a:cs typeface="+mn-cs"/>
              </a:rPr>
              <a:t>a</a:t>
            </a:r>
            <a:r>
              <a:rPr lang="ru-RU" sz="1134" kern="1200" dirty="0">
                <a:solidFill>
                  <a:schemeClr val="tx1"/>
                </a:solidFill>
                <a:effectLst/>
                <a:latin typeface="+mn-lt"/>
                <a:ea typeface="+mn-ea"/>
                <a:cs typeface="+mn-cs"/>
              </a:rPr>
              <a:t> = 1/3, для цилиндрического заряда характерна пропорциональность его диаметра квадратному корню из массы и как следствие </a:t>
            </a:r>
            <a:r>
              <a:rPr lang="ru-RU" sz="1134" i="1" kern="1200" dirty="0">
                <a:solidFill>
                  <a:schemeClr val="tx1"/>
                </a:solidFill>
                <a:effectLst/>
                <a:latin typeface="+mn-lt"/>
                <a:ea typeface="+mn-ea"/>
                <a:cs typeface="+mn-cs"/>
              </a:rPr>
              <a:t>a</a:t>
            </a:r>
            <a:r>
              <a:rPr lang="ru-RU" sz="1134" kern="1200" dirty="0">
                <a:solidFill>
                  <a:schemeClr val="tx1"/>
                </a:solidFill>
                <a:effectLst/>
                <a:latin typeface="+mn-lt"/>
                <a:ea typeface="+mn-ea"/>
                <a:cs typeface="+mn-cs"/>
              </a:rPr>
              <a:t> = 1/2 . На больших расстояниях, значительно превышающих длину скважинных зарядов, рассматриваемый взрывной блок может рассматриваться как сосредоточенный заряд. </a:t>
            </a:r>
          </a:p>
          <a:p>
            <a:r>
              <a:rPr lang="ru-RU" sz="1134" kern="1200" dirty="0">
                <a:solidFill>
                  <a:schemeClr val="tx1"/>
                </a:solidFill>
                <a:effectLst/>
                <a:latin typeface="+mn-lt"/>
                <a:ea typeface="+mn-ea"/>
                <a:cs typeface="+mn-cs"/>
              </a:rPr>
              <a:t>2) применение </a:t>
            </a:r>
            <a:r>
              <a:rPr lang="ru-RU" sz="1134" i="1" kern="1200" dirty="0">
                <a:solidFill>
                  <a:schemeClr val="tx1"/>
                </a:solidFill>
                <a:effectLst/>
                <a:latin typeface="+mn-lt"/>
                <a:ea typeface="+mn-ea"/>
                <a:cs typeface="+mn-cs"/>
              </a:rPr>
              <a:t>a</a:t>
            </a:r>
            <a:r>
              <a:rPr lang="ru-RU" sz="1134" kern="1200" dirty="0">
                <a:solidFill>
                  <a:schemeClr val="tx1"/>
                </a:solidFill>
                <a:effectLst/>
                <a:latin typeface="+mn-lt"/>
                <a:ea typeface="+mn-ea"/>
                <a:cs typeface="+mn-cs"/>
              </a:rPr>
              <a:t> = 1/3 удовлетворяет изверженным породам, </a:t>
            </a:r>
            <a:r>
              <a:rPr lang="ru-RU" sz="1134" i="1" kern="1200" dirty="0">
                <a:solidFill>
                  <a:schemeClr val="tx1"/>
                </a:solidFill>
                <a:effectLst/>
                <a:latin typeface="+mn-lt"/>
                <a:ea typeface="+mn-ea"/>
                <a:cs typeface="+mn-cs"/>
              </a:rPr>
              <a:t>a</a:t>
            </a:r>
            <a:r>
              <a:rPr lang="ru-RU" sz="1134" kern="1200" dirty="0">
                <a:solidFill>
                  <a:schemeClr val="tx1"/>
                </a:solidFill>
                <a:effectLst/>
                <a:latin typeface="+mn-lt"/>
                <a:ea typeface="+mn-ea"/>
                <a:cs typeface="+mn-cs"/>
              </a:rPr>
              <a:t> = 1/2 – слоистым (пластовым) породам.</a:t>
            </a:r>
          </a:p>
          <a:p>
            <a:r>
              <a:rPr lang="ru-RU" sz="1134" kern="1200" dirty="0">
                <a:solidFill>
                  <a:schemeClr val="tx1"/>
                </a:solidFill>
                <a:effectLst/>
                <a:latin typeface="+mn-lt"/>
                <a:ea typeface="+mn-ea"/>
                <a:cs typeface="+mn-cs"/>
              </a:rPr>
              <a:t>3) В условиях влияния взрывов в угольном разрезе на проходящие под ним подземные горные выработки. Установлено, что </a:t>
            </a:r>
            <a:r>
              <a:rPr lang="ru-RU" sz="1134" i="1" kern="1200" dirty="0">
                <a:solidFill>
                  <a:schemeClr val="tx1"/>
                </a:solidFill>
                <a:effectLst/>
                <a:latin typeface="+mn-lt"/>
                <a:ea typeface="+mn-ea"/>
                <a:cs typeface="+mn-cs"/>
              </a:rPr>
              <a:t>a</a:t>
            </a:r>
            <a:r>
              <a:rPr lang="ru-RU" sz="1134" kern="1200" dirty="0">
                <a:solidFill>
                  <a:schemeClr val="tx1"/>
                </a:solidFill>
                <a:effectLst/>
                <a:latin typeface="+mn-lt"/>
                <a:ea typeface="+mn-ea"/>
                <a:cs typeface="+mn-cs"/>
              </a:rPr>
              <a:t> = 1/3 применим для обработки измерений на кровле подземных горных выработок, </a:t>
            </a:r>
            <a:r>
              <a:rPr lang="ru-RU" sz="1134" i="1" kern="1200" dirty="0">
                <a:solidFill>
                  <a:schemeClr val="tx1"/>
                </a:solidFill>
                <a:effectLst/>
                <a:latin typeface="+mn-lt"/>
                <a:ea typeface="+mn-ea"/>
                <a:cs typeface="+mn-cs"/>
              </a:rPr>
              <a:t>a</a:t>
            </a:r>
            <a:r>
              <a:rPr lang="ru-RU" sz="1134" kern="1200" dirty="0">
                <a:solidFill>
                  <a:schemeClr val="tx1"/>
                </a:solidFill>
                <a:effectLst/>
                <a:latin typeface="+mn-lt"/>
                <a:ea typeface="+mn-ea"/>
                <a:cs typeface="+mn-cs"/>
              </a:rPr>
              <a:t> = 1/2 – для измерений на почве выработок и на земной поверхности.</a:t>
            </a:r>
          </a:p>
          <a:p>
            <a:endParaRPr lang="ru-RU" dirty="0"/>
          </a:p>
        </p:txBody>
      </p:sp>
      <p:sp>
        <p:nvSpPr>
          <p:cNvPr id="4" name="Верхний колонтитул 3"/>
          <p:cNvSpPr>
            <a:spLocks noGrp="1"/>
          </p:cNvSpPr>
          <p:nvPr>
            <p:ph type="hdr" sz="quarter"/>
          </p:nvPr>
        </p:nvSpPr>
        <p:spPr/>
        <p:txBody>
          <a:bodyPr/>
          <a:lstStyle/>
          <a:p>
            <a:endParaRPr lang="ru-RU"/>
          </a:p>
        </p:txBody>
      </p:sp>
      <p:sp>
        <p:nvSpPr>
          <p:cNvPr id="5" name="Номер слайда 4"/>
          <p:cNvSpPr>
            <a:spLocks noGrp="1"/>
          </p:cNvSpPr>
          <p:nvPr>
            <p:ph type="sldNum" sz="quarter" idx="5"/>
          </p:nvPr>
        </p:nvSpPr>
        <p:spPr/>
        <p:txBody>
          <a:bodyPr/>
          <a:lstStyle/>
          <a:p>
            <a:fld id="{8EB09AE2-2E38-404D-9761-9E0E458F6CE4}" type="slidenum">
              <a:rPr lang="ru-RU" smtClean="0"/>
              <a:t>28</a:t>
            </a:fld>
            <a:endParaRPr lang="ru-RU"/>
          </a:p>
        </p:txBody>
      </p:sp>
    </p:spTree>
    <p:extLst>
      <p:ext uri="{BB962C8B-B14F-4D97-AF65-F5344CB8AC3E}">
        <p14:creationId xmlns:p14="http://schemas.microsoft.com/office/powerpoint/2010/main" val="6864008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134" b="1" kern="1200" dirty="0">
                <a:solidFill>
                  <a:schemeClr val="tx1"/>
                </a:solidFill>
                <a:effectLst/>
                <a:latin typeface="+mn-lt"/>
                <a:ea typeface="+mn-ea"/>
                <a:cs typeface="+mn-cs"/>
              </a:rPr>
              <a:t>15</a:t>
            </a:r>
            <a:r>
              <a:rPr lang="ru-RU" sz="1134" b="1" kern="1200" dirty="0">
                <a:solidFill>
                  <a:schemeClr val="tx1"/>
                </a:solidFill>
                <a:effectLst/>
                <a:latin typeface="+mn-lt"/>
                <a:ea typeface="+mn-ea"/>
                <a:cs typeface="+mn-cs"/>
              </a:rPr>
              <a:t> СЛАЙД</a:t>
            </a:r>
            <a:endParaRPr lang="ru-RU" sz="1134" kern="1200" dirty="0">
              <a:solidFill>
                <a:schemeClr val="tx1"/>
              </a:solidFill>
              <a:effectLst/>
              <a:latin typeface="+mn-lt"/>
              <a:ea typeface="+mn-ea"/>
              <a:cs typeface="+mn-cs"/>
            </a:endParaRPr>
          </a:p>
          <a:p>
            <a:r>
              <a:rPr lang="ru-RU" sz="1134" kern="1200" dirty="0">
                <a:solidFill>
                  <a:schemeClr val="tx1"/>
                </a:solidFill>
                <a:effectLst/>
                <a:latin typeface="+mn-lt"/>
                <a:ea typeface="+mn-ea"/>
                <a:cs typeface="+mn-cs"/>
              </a:rPr>
              <a:t>В РФ действуют два стандарта затрагивающих оценку влияния сейсмического действия взрывов ГОСТ Р 52892-2007 и РБ Г-05-039-96 (на слайде выделены синим).</a:t>
            </a:r>
          </a:p>
          <a:p>
            <a:r>
              <a:rPr lang="ru-RU" sz="1134" kern="1200" dirty="0">
                <a:solidFill>
                  <a:schemeClr val="tx1"/>
                </a:solidFill>
                <a:effectLst/>
                <a:latin typeface="+mn-lt"/>
                <a:ea typeface="+mn-ea"/>
                <a:cs typeface="+mn-cs"/>
              </a:rPr>
              <a:t>ГОСТ Р 52892-2007 основан и обобщает информацию из стандартов Германии, Великобритании, США и Норвегии. При этом, учитывая то, что рекомендации из данных стандартов отличаются ГОСТ Р 52892-2007 не дает конкретных указаний какую допустимую скорость выбрать а лишь приводит данные из этих нормативных документов. Кроме того, стандарт не учитывает накопленный многолетний опыт использования в отечественной практике подхода Садовского М. А. для прогноза скорости колебаний от взрыва.</a:t>
            </a:r>
          </a:p>
          <a:p>
            <a:r>
              <a:rPr lang="ru-RU" sz="1134" kern="1200" dirty="0">
                <a:solidFill>
                  <a:schemeClr val="tx1"/>
                </a:solidFill>
                <a:effectLst/>
                <a:latin typeface="+mn-lt"/>
                <a:ea typeface="+mn-ea"/>
                <a:cs typeface="+mn-cs"/>
              </a:rPr>
              <a:t>Как уже было сказано для оценки уровня воздействий стандарты различных разных стран предлагают использовать разные критерии (разные типы скоростей) и разные показатели степени массы единовременно взрываемого заряда. На слайде показаны некоторые из них и рекомендуемые в них значения. В некоторый стандартах нет однозначного определения какой тип скорости подразумевается и отсутствуют указания по прогнозированию сейсмического действия взрыва. В тех стандартах где есть конкретизация по данным параметрам указаны соответствующими пометками на слайде.</a:t>
            </a:r>
          </a:p>
          <a:p>
            <a:r>
              <a:rPr lang="ru-RU" sz="1134" kern="1200" dirty="0">
                <a:solidFill>
                  <a:schemeClr val="tx1"/>
                </a:solidFill>
                <a:effectLst/>
                <a:latin typeface="+mn-lt"/>
                <a:ea typeface="+mn-ea"/>
                <a:cs typeface="+mn-cs"/>
              </a:rPr>
              <a:t>Так в отчете Горного Бюро США 8507 применяется показатель степени для массы заряда равный 0,5. При этом в других отчетах Горного Бюро применяется и показатель равный 1/3, выбор определяется по качеству построенной зависимости, от условий регистрации (поверхность, подземка) либо от типа пород.</a:t>
            </a:r>
          </a:p>
          <a:p>
            <a:r>
              <a:rPr lang="ru-RU" sz="1134" kern="1200" dirty="0">
                <a:solidFill>
                  <a:schemeClr val="tx1"/>
                </a:solidFill>
                <a:effectLst/>
                <a:latin typeface="+mn-lt"/>
                <a:ea typeface="+mn-ea"/>
                <a:cs typeface="+mn-cs"/>
              </a:rPr>
              <a:t>РБ Г-05-039-96 присутствуют рекомендации по прогнозированию сейсмического действия на основе ФМС грунтов слагающих массив. Выбор допустимой скорости предписывается осуществлять на основе </a:t>
            </a:r>
            <a:r>
              <a:rPr lang="ru-RU" sz="1134" kern="1200" dirty="0" err="1">
                <a:solidFill>
                  <a:schemeClr val="tx1"/>
                </a:solidFill>
                <a:effectLst/>
                <a:latin typeface="+mn-lt"/>
                <a:ea typeface="+mn-ea"/>
                <a:cs typeface="+mn-cs"/>
              </a:rPr>
              <a:t>определенния</a:t>
            </a:r>
            <a:r>
              <a:rPr lang="ru-RU" sz="1134" kern="1200" dirty="0">
                <a:solidFill>
                  <a:schemeClr val="tx1"/>
                </a:solidFill>
                <a:effectLst/>
                <a:latin typeface="+mn-lt"/>
                <a:ea typeface="+mn-ea"/>
                <a:cs typeface="+mn-cs"/>
              </a:rPr>
              <a:t> ранга здания, что заимствованно из отечественной научной литературы 80-90 годов.</a:t>
            </a:r>
          </a:p>
          <a:p>
            <a:r>
              <a:rPr lang="ru-RU" sz="1134" kern="1200" dirty="0">
                <a:solidFill>
                  <a:schemeClr val="tx1"/>
                </a:solidFill>
                <a:effectLst/>
                <a:latin typeface="+mn-lt"/>
                <a:ea typeface="+mn-ea"/>
                <a:cs typeface="+mn-cs"/>
              </a:rPr>
              <a:t>ДАЛЕЕ БУДЕТ ПРИВЕДЕНА ИНФОРМАЦИЯ О ДОПОЛНИТЕЛЬНО ПРОВОДИМЫХ ИЗМЕРЕНИЯХ СОВМЕСТНО С ИЗМЕРЕНИЯМИ СЕЙСМИЧЕСКОГО ДЕЙСТВИЯ</a:t>
            </a:r>
          </a:p>
          <a:p>
            <a:endParaRPr lang="ru-RU" dirty="0"/>
          </a:p>
        </p:txBody>
      </p:sp>
      <p:sp>
        <p:nvSpPr>
          <p:cNvPr id="4" name="Верхний колонтитул 3"/>
          <p:cNvSpPr>
            <a:spLocks noGrp="1"/>
          </p:cNvSpPr>
          <p:nvPr>
            <p:ph type="hdr" sz="quarter"/>
          </p:nvPr>
        </p:nvSpPr>
        <p:spPr/>
        <p:txBody>
          <a:bodyPr/>
          <a:lstStyle/>
          <a:p>
            <a:endParaRPr lang="ru-RU"/>
          </a:p>
        </p:txBody>
      </p:sp>
      <p:sp>
        <p:nvSpPr>
          <p:cNvPr id="5" name="Номер слайда 4"/>
          <p:cNvSpPr>
            <a:spLocks noGrp="1"/>
          </p:cNvSpPr>
          <p:nvPr>
            <p:ph type="sldNum" sz="quarter" idx="5"/>
          </p:nvPr>
        </p:nvSpPr>
        <p:spPr/>
        <p:txBody>
          <a:bodyPr/>
          <a:lstStyle/>
          <a:p>
            <a:fld id="{8EB09AE2-2E38-404D-9761-9E0E458F6CE4}" type="slidenum">
              <a:rPr lang="ru-RU" smtClean="0"/>
              <a:t>29</a:t>
            </a:fld>
            <a:endParaRPr lang="ru-RU"/>
          </a:p>
        </p:txBody>
      </p:sp>
    </p:spTree>
    <p:extLst>
      <p:ext uri="{BB962C8B-B14F-4D97-AF65-F5344CB8AC3E}">
        <p14:creationId xmlns:p14="http://schemas.microsoft.com/office/powerpoint/2010/main" val="2150772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Обложка №1">
    <p:spTree>
      <p:nvGrpSpPr>
        <p:cNvPr id="1" name=""/>
        <p:cNvGrpSpPr/>
        <p:nvPr/>
      </p:nvGrpSpPr>
      <p:grpSpPr>
        <a:xfrm>
          <a:off x="0" y="0"/>
          <a:ext cx="0" cy="0"/>
          <a:chOff x="0" y="0"/>
          <a:chExt cx="0" cy="0"/>
        </a:xfrm>
      </p:grpSpPr>
      <p:sp>
        <p:nvSpPr>
          <p:cNvPr id="17" name="Заголовок 16">
            <a:extLst>
              <a:ext uri="{FF2B5EF4-FFF2-40B4-BE49-F238E27FC236}">
                <a16:creationId xmlns:a16="http://schemas.microsoft.com/office/drawing/2014/main" id="{4E8F72DF-5EC7-01CA-63A3-B083BAD48DF3}"/>
              </a:ext>
            </a:extLst>
          </p:cNvPr>
          <p:cNvSpPr>
            <a:spLocks noGrp="1"/>
          </p:cNvSpPr>
          <p:nvPr>
            <p:ph type="title" hasCustomPrompt="1"/>
          </p:nvPr>
        </p:nvSpPr>
        <p:spPr>
          <a:xfrm>
            <a:off x="4140200" y="3965462"/>
            <a:ext cx="6840538" cy="1429871"/>
          </a:xfrm>
          <a:prstGeom prst="rect">
            <a:avLst/>
          </a:prstGeom>
        </p:spPr>
        <p:txBody>
          <a:bodyPr lIns="0" tIns="36000" rIns="0" bIns="36000" anchor="ctr" anchorCtr="0"/>
          <a:lstStyle/>
          <a:p>
            <a:r>
              <a:rPr lang="ru-RU" dirty="0"/>
              <a:t>ОБРАЗЕЦ ЗАГОЛОВКА</a:t>
            </a:r>
          </a:p>
        </p:txBody>
      </p:sp>
    </p:spTree>
    <p:extLst>
      <p:ext uri="{BB962C8B-B14F-4D97-AF65-F5344CB8AC3E}">
        <p14:creationId xmlns:p14="http://schemas.microsoft.com/office/powerpoint/2010/main" val="3586529078"/>
      </p:ext>
    </p:extLst>
  </p:cSld>
  <p:clrMapOvr>
    <a:masterClrMapping/>
  </p:clrMapOvr>
  <p:extLst mod="1">
    <p:ext uri="{DCECCB84-F9BA-43D5-87BE-67443E8EF086}">
      <p15:sldGuideLst xmlns:p15="http://schemas.microsoft.com/office/powerpoint/2012/main">
        <p15:guide id="1" orient="horz" pos="2041">
          <p15:clr>
            <a:srgbClr val="FBAE40"/>
          </p15:clr>
        </p15:guide>
        <p15:guide id="2" pos="36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Обложка №2">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1AAFDD-1A60-CA27-0FA1-9AE69BE19F4E}"/>
              </a:ext>
            </a:extLst>
          </p:cNvPr>
          <p:cNvSpPr>
            <a:spLocks noGrp="1"/>
          </p:cNvSpPr>
          <p:nvPr>
            <p:ph type="ctrTitle" hasCustomPrompt="1"/>
          </p:nvPr>
        </p:nvSpPr>
        <p:spPr>
          <a:xfrm>
            <a:off x="6119813" y="1576076"/>
            <a:ext cx="4860925" cy="868450"/>
          </a:xfrm>
          <a:prstGeom prst="rect">
            <a:avLst/>
          </a:prstGeom>
        </p:spPr>
        <p:txBody>
          <a:bodyPr tIns="0" bIns="0" anchor="b" anchorCtr="0"/>
          <a:lstStyle>
            <a:lvl1pPr algn="l">
              <a:defRPr sz="3200"/>
            </a:lvl1pPr>
          </a:lstStyle>
          <a:p>
            <a:r>
              <a:rPr lang="ru-RU" dirty="0"/>
              <a:t>ОБРАЗЕЦ ЗАГОЛОВКА</a:t>
            </a:r>
          </a:p>
        </p:txBody>
      </p:sp>
      <p:sp>
        <p:nvSpPr>
          <p:cNvPr id="3" name="Подзаголовок 2">
            <a:extLst>
              <a:ext uri="{FF2B5EF4-FFF2-40B4-BE49-F238E27FC236}">
                <a16:creationId xmlns:a16="http://schemas.microsoft.com/office/drawing/2014/main" id="{9EE67F6F-CFE1-8111-E6B2-7777011CF627}"/>
              </a:ext>
            </a:extLst>
          </p:cNvPr>
          <p:cNvSpPr>
            <a:spLocks noGrp="1"/>
          </p:cNvSpPr>
          <p:nvPr>
            <p:ph type="subTitle" idx="1" hasCustomPrompt="1"/>
          </p:nvPr>
        </p:nvSpPr>
        <p:spPr>
          <a:xfrm>
            <a:off x="6119813" y="2444526"/>
            <a:ext cx="4860925" cy="1497963"/>
          </a:xfrm>
          <a:prstGeom prst="rect">
            <a:avLst/>
          </a:prstGeom>
        </p:spPr>
        <p:txBody>
          <a:bodyPr anchor="t" anchorCtr="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a:t>
            </a:r>
          </a:p>
        </p:txBody>
      </p:sp>
      <p:sp>
        <p:nvSpPr>
          <p:cNvPr id="8" name="Текст 7">
            <a:extLst>
              <a:ext uri="{FF2B5EF4-FFF2-40B4-BE49-F238E27FC236}">
                <a16:creationId xmlns:a16="http://schemas.microsoft.com/office/drawing/2014/main" id="{9BF00328-EA0F-A0EE-3C15-7E3AF583886D}"/>
              </a:ext>
            </a:extLst>
          </p:cNvPr>
          <p:cNvSpPr>
            <a:spLocks noGrp="1"/>
          </p:cNvSpPr>
          <p:nvPr>
            <p:ph type="body" sz="quarter" idx="10"/>
          </p:nvPr>
        </p:nvSpPr>
        <p:spPr>
          <a:xfrm>
            <a:off x="6119813" y="5178130"/>
            <a:ext cx="4860925" cy="933450"/>
          </a:xfrm>
        </p:spPr>
        <p:txBody>
          <a:bodyPr anchor="t" anchorCtr="0"/>
          <a:lstStyle>
            <a:lvl1pPr>
              <a:defRPr sz="1400"/>
            </a:lvl1pPr>
          </a:lstStyle>
          <a:p>
            <a:pPr lvl="0"/>
            <a:r>
              <a:rPr lang="ru-RU" dirty="0"/>
              <a:t>Образец текста</a:t>
            </a:r>
          </a:p>
        </p:txBody>
      </p:sp>
      <p:sp>
        <p:nvSpPr>
          <p:cNvPr id="10" name="Текст 9">
            <a:extLst>
              <a:ext uri="{FF2B5EF4-FFF2-40B4-BE49-F238E27FC236}">
                <a16:creationId xmlns:a16="http://schemas.microsoft.com/office/drawing/2014/main" id="{8C7F1E30-BD56-A0C6-37BC-74FF71271B16}"/>
              </a:ext>
            </a:extLst>
          </p:cNvPr>
          <p:cNvSpPr>
            <a:spLocks noGrp="1"/>
          </p:cNvSpPr>
          <p:nvPr>
            <p:ph type="body" sz="quarter" idx="11"/>
          </p:nvPr>
        </p:nvSpPr>
        <p:spPr>
          <a:xfrm>
            <a:off x="6119813" y="4769584"/>
            <a:ext cx="2735262" cy="408546"/>
          </a:xfrm>
        </p:spPr>
        <p:txBody>
          <a:bodyPr tIns="0" bIns="0" anchor="b" anchorCtr="0"/>
          <a:lstStyle>
            <a:lvl1pPr>
              <a:defRPr sz="1600" b="1"/>
            </a:lvl1pPr>
          </a:lstStyle>
          <a:p>
            <a:pPr lvl="0"/>
            <a:r>
              <a:rPr lang="ru-RU" dirty="0"/>
              <a:t>Образец текста</a:t>
            </a:r>
          </a:p>
        </p:txBody>
      </p:sp>
    </p:spTree>
    <p:extLst>
      <p:ext uri="{BB962C8B-B14F-4D97-AF65-F5344CB8AC3E}">
        <p14:creationId xmlns:p14="http://schemas.microsoft.com/office/powerpoint/2010/main" val="838040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Последний слайд обложка">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9620822"/>
      </p:ext>
    </p:extLst>
  </p:cSld>
  <p:clrMapOvr>
    <a:masterClrMapping/>
  </p:clrMapOvr>
  <p:extLst mod="1">
    <p:ext uri="{DCECCB84-F9BA-43D5-87BE-67443E8EF086}">
      <p15:sldGuideLst xmlns:p15="http://schemas.microsoft.com/office/powerpoint/2012/main">
        <p15:guide id="1" orient="horz" pos="2041" userDrawn="1">
          <p15:clr>
            <a:srgbClr val="FBAE40"/>
          </p15:clr>
        </p15:guide>
        <p15:guide id="2" pos="36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Содержание">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59450" y="719138"/>
            <a:ext cx="5221287" cy="864000"/>
          </a:xfrm>
        </p:spPr>
        <p:txBody>
          <a:bodyPr lIns="0" tIns="0" rIns="0" bIns="0">
            <a:noAutofit/>
          </a:bodyPr>
          <a:lstStyle>
            <a:lvl1pPr>
              <a:defRPr sz="2200" b="1">
                <a:solidFill>
                  <a:srgbClr val="0077C8"/>
                </a:solidFill>
              </a:defRPr>
            </a:lvl1pPr>
          </a:lstStyle>
          <a:p>
            <a:r>
              <a:rPr lang="ru-RU" dirty="0"/>
              <a:t>ОБРАЗЕЦ ЗАГОЛОВКА</a:t>
            </a:r>
            <a:endParaRPr lang="en-US" dirty="0"/>
          </a:p>
        </p:txBody>
      </p:sp>
      <p:sp>
        <p:nvSpPr>
          <p:cNvPr id="17" name="Текст 6">
            <a:extLst>
              <a:ext uri="{FF2B5EF4-FFF2-40B4-BE49-F238E27FC236}">
                <a16:creationId xmlns:a16="http://schemas.microsoft.com/office/drawing/2014/main" id="{A71466D8-EE1C-4AF2-96C8-8466F765F29C}"/>
              </a:ext>
            </a:extLst>
          </p:cNvPr>
          <p:cNvSpPr>
            <a:spLocks noGrp="1"/>
          </p:cNvSpPr>
          <p:nvPr>
            <p:ph type="body" sz="quarter" idx="11"/>
          </p:nvPr>
        </p:nvSpPr>
        <p:spPr>
          <a:xfrm>
            <a:off x="539749" y="0"/>
            <a:ext cx="8815619" cy="360363"/>
          </a:xfrm>
        </p:spPr>
        <p:txBody>
          <a:bodyPr lIns="0" tIns="0" rIns="0" bIns="0" anchor="ctr" anchorCtr="0"/>
          <a:lstStyle>
            <a:lvl1pPr algn="l">
              <a:buNone/>
              <a:defRPr sz="1000" b="1">
                <a:solidFill>
                  <a:schemeClr val="bg1">
                    <a:lumMod val="65000"/>
                  </a:schemeClr>
                </a:solidFill>
              </a:defRPr>
            </a:lvl1pPr>
          </a:lstStyle>
          <a:p>
            <a:pPr lvl="0"/>
            <a:r>
              <a:rPr lang="ru-RU" dirty="0"/>
              <a:t>Образец текста</a:t>
            </a:r>
          </a:p>
        </p:txBody>
      </p:sp>
      <p:sp>
        <p:nvSpPr>
          <p:cNvPr id="4" name="Slide Number Placeholder 5">
            <a:extLst>
              <a:ext uri="{FF2B5EF4-FFF2-40B4-BE49-F238E27FC236}">
                <a16:creationId xmlns:a16="http://schemas.microsoft.com/office/drawing/2014/main" id="{D3977900-6DD6-6EC0-8A79-2E2866DD9AF4}"/>
              </a:ext>
            </a:extLst>
          </p:cNvPr>
          <p:cNvSpPr>
            <a:spLocks noGrp="1"/>
          </p:cNvSpPr>
          <p:nvPr>
            <p:ph type="sldNum" sz="quarter" idx="4"/>
          </p:nvPr>
        </p:nvSpPr>
        <p:spPr>
          <a:xfrm>
            <a:off x="10620000" y="0"/>
            <a:ext cx="712221" cy="360363"/>
          </a:xfrm>
          <a:prstGeom prst="rect">
            <a:avLst/>
          </a:prstGeom>
        </p:spPr>
        <p:txBody>
          <a:bodyPr vert="horz" lIns="0" tIns="0" rIns="0" bIns="36000" rtlCol="0" anchor="ctr"/>
          <a:lstStyle>
            <a:lvl1pPr algn="l">
              <a:defRPr sz="1000" b="1">
                <a:solidFill>
                  <a:schemeClr val="bg1">
                    <a:lumMod val="6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US" dirty="0"/>
              <a:t>| </a:t>
            </a:r>
            <a:fld id="{F54BA9F3-CBAA-4DCF-AD2D-5ECAA0BE8875}" type="slidenum">
              <a:rPr lang="ru-RU" smtClean="0"/>
              <a:pPr/>
              <a:t>‹#›</a:t>
            </a:fld>
            <a:endParaRPr lang="ru-RU" dirty="0"/>
          </a:p>
        </p:txBody>
      </p:sp>
      <p:sp>
        <p:nvSpPr>
          <p:cNvPr id="6" name="Текст 5">
            <a:extLst>
              <a:ext uri="{FF2B5EF4-FFF2-40B4-BE49-F238E27FC236}">
                <a16:creationId xmlns:a16="http://schemas.microsoft.com/office/drawing/2014/main" id="{777251C4-29B5-50F3-5D2C-E34B6705B726}"/>
              </a:ext>
            </a:extLst>
          </p:cNvPr>
          <p:cNvSpPr>
            <a:spLocks noGrp="1"/>
          </p:cNvSpPr>
          <p:nvPr>
            <p:ph type="body" sz="quarter" idx="12"/>
          </p:nvPr>
        </p:nvSpPr>
        <p:spPr>
          <a:xfrm>
            <a:off x="6235952" y="1809279"/>
            <a:ext cx="4377758" cy="360000"/>
          </a:xfrm>
        </p:spPr>
        <p:txBody>
          <a:bodyPr bIns="18000" anchor="ctr" anchorCtr="0">
            <a:noAutofit/>
          </a:bodyPr>
          <a:lstStyle>
            <a:lvl1pPr>
              <a:lnSpc>
                <a:spcPct val="100000"/>
              </a:lnSpc>
              <a:defRPr sz="1400">
                <a:solidFill>
                  <a:srgbClr val="0077C8"/>
                </a:solidFill>
              </a:defRPr>
            </a:lvl1pPr>
          </a:lstStyle>
          <a:p>
            <a:pPr lvl="0"/>
            <a:r>
              <a:rPr lang="ru-RU" dirty="0"/>
              <a:t>Образец текста</a:t>
            </a:r>
          </a:p>
        </p:txBody>
      </p:sp>
      <p:sp>
        <p:nvSpPr>
          <p:cNvPr id="7" name="Рисунок 6">
            <a:extLst>
              <a:ext uri="{FF2B5EF4-FFF2-40B4-BE49-F238E27FC236}">
                <a16:creationId xmlns:a16="http://schemas.microsoft.com/office/drawing/2014/main" id="{B2ADAA7A-7478-DF2D-DF22-9D688ADEAE35}"/>
              </a:ext>
            </a:extLst>
          </p:cNvPr>
          <p:cNvSpPr>
            <a:spLocks noGrp="1"/>
          </p:cNvSpPr>
          <p:nvPr>
            <p:ph type="pic" sz="quarter" idx="13"/>
          </p:nvPr>
        </p:nvSpPr>
        <p:spPr>
          <a:xfrm>
            <a:off x="360000" y="356575"/>
            <a:ext cx="5040000" cy="6123600"/>
          </a:xfrm>
        </p:spPr>
        <p:txBody>
          <a:bodyPr/>
          <a:lstStyle/>
          <a:p>
            <a:endParaRPr lang="ru-RU" dirty="0"/>
          </a:p>
        </p:txBody>
      </p:sp>
      <p:sp>
        <p:nvSpPr>
          <p:cNvPr id="10" name="Текст 9">
            <a:extLst>
              <a:ext uri="{FF2B5EF4-FFF2-40B4-BE49-F238E27FC236}">
                <a16:creationId xmlns:a16="http://schemas.microsoft.com/office/drawing/2014/main" id="{285EE37F-CC2B-8915-D73A-DC6EB14FFE85}"/>
              </a:ext>
            </a:extLst>
          </p:cNvPr>
          <p:cNvSpPr>
            <a:spLocks noGrp="1"/>
          </p:cNvSpPr>
          <p:nvPr>
            <p:ph type="body" sz="quarter" idx="14"/>
          </p:nvPr>
        </p:nvSpPr>
        <p:spPr>
          <a:xfrm>
            <a:off x="5759450" y="1809279"/>
            <a:ext cx="360000" cy="360000"/>
          </a:xfrm>
          <a:solidFill>
            <a:srgbClr val="0077C8"/>
          </a:solidFill>
        </p:spPr>
        <p:txBody>
          <a:bodyPr anchor="ctr" anchorCtr="0"/>
          <a:lstStyle>
            <a:lvl1pPr algn="ctr">
              <a:defRPr sz="1800">
                <a:solidFill>
                  <a:schemeClr val="bg1"/>
                </a:solidFill>
              </a:defRPr>
            </a:lvl1pPr>
          </a:lstStyle>
          <a:p>
            <a:pPr lvl="0"/>
            <a:r>
              <a:rPr lang="ru-RU" dirty="0"/>
              <a:t>Образец текста</a:t>
            </a:r>
          </a:p>
        </p:txBody>
      </p:sp>
    </p:spTree>
    <p:extLst>
      <p:ext uri="{BB962C8B-B14F-4D97-AF65-F5344CB8AC3E}">
        <p14:creationId xmlns:p14="http://schemas.microsoft.com/office/powerpoint/2010/main" val="3556749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Простая страница_заголовок 1 строка">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750" y="719138"/>
            <a:ext cx="4860925" cy="1044000"/>
          </a:xfrm>
        </p:spPr>
        <p:txBody>
          <a:bodyPr lIns="0" tIns="0" rIns="0" bIns="0">
            <a:noAutofit/>
          </a:bodyPr>
          <a:lstStyle>
            <a:lvl1pPr>
              <a:defRPr sz="2200" b="1">
                <a:solidFill>
                  <a:srgbClr val="0077C8"/>
                </a:solidFill>
              </a:defRPr>
            </a:lvl1pPr>
          </a:lstStyle>
          <a:p>
            <a:r>
              <a:rPr lang="ru-RU" dirty="0"/>
              <a:t>ОБРАЗЕЦ ЗАГОЛОВКА</a:t>
            </a:r>
            <a:endParaRPr lang="en-US" dirty="0"/>
          </a:p>
        </p:txBody>
      </p:sp>
      <p:sp>
        <p:nvSpPr>
          <p:cNvPr id="17" name="Текст 6">
            <a:extLst>
              <a:ext uri="{FF2B5EF4-FFF2-40B4-BE49-F238E27FC236}">
                <a16:creationId xmlns:a16="http://schemas.microsoft.com/office/drawing/2014/main" id="{A71466D8-EE1C-4AF2-96C8-8466F765F29C}"/>
              </a:ext>
            </a:extLst>
          </p:cNvPr>
          <p:cNvSpPr>
            <a:spLocks noGrp="1"/>
          </p:cNvSpPr>
          <p:nvPr>
            <p:ph type="body" sz="quarter" idx="11"/>
          </p:nvPr>
        </p:nvSpPr>
        <p:spPr>
          <a:xfrm>
            <a:off x="539750" y="0"/>
            <a:ext cx="8820214" cy="360363"/>
          </a:xfrm>
        </p:spPr>
        <p:txBody>
          <a:bodyPr lIns="0" tIns="0" rIns="0" bIns="0" anchor="ctr" anchorCtr="0"/>
          <a:lstStyle>
            <a:lvl1pPr algn="l">
              <a:buNone/>
              <a:defRPr sz="1000" b="1">
                <a:solidFill>
                  <a:schemeClr val="bg1">
                    <a:lumMod val="65000"/>
                  </a:schemeClr>
                </a:solidFill>
              </a:defRPr>
            </a:lvl1pPr>
          </a:lstStyle>
          <a:p>
            <a:pPr lvl="0"/>
            <a:r>
              <a:rPr lang="ru-RU" dirty="0"/>
              <a:t>Образец текста</a:t>
            </a:r>
          </a:p>
        </p:txBody>
      </p:sp>
      <p:sp>
        <p:nvSpPr>
          <p:cNvPr id="4" name="Slide Number Placeholder 5">
            <a:extLst>
              <a:ext uri="{FF2B5EF4-FFF2-40B4-BE49-F238E27FC236}">
                <a16:creationId xmlns:a16="http://schemas.microsoft.com/office/drawing/2014/main" id="{D3977900-6DD6-6EC0-8A79-2E2866DD9AF4}"/>
              </a:ext>
            </a:extLst>
          </p:cNvPr>
          <p:cNvSpPr>
            <a:spLocks noGrp="1"/>
          </p:cNvSpPr>
          <p:nvPr>
            <p:ph type="sldNum" sz="quarter" idx="4"/>
          </p:nvPr>
        </p:nvSpPr>
        <p:spPr>
          <a:xfrm>
            <a:off x="10620000" y="0"/>
            <a:ext cx="712221" cy="360363"/>
          </a:xfrm>
          <a:prstGeom prst="rect">
            <a:avLst/>
          </a:prstGeom>
        </p:spPr>
        <p:txBody>
          <a:bodyPr vert="horz" lIns="0" tIns="0" rIns="0" bIns="36000" rtlCol="0" anchor="ctr"/>
          <a:lstStyle>
            <a:lvl1pPr algn="l">
              <a:defRPr sz="1000" b="1">
                <a:solidFill>
                  <a:schemeClr val="bg1">
                    <a:lumMod val="6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US" dirty="0"/>
              <a:t>| </a:t>
            </a:r>
            <a:fld id="{F54BA9F3-CBAA-4DCF-AD2D-5ECAA0BE8875}" type="slidenum">
              <a:rPr lang="ru-RU" smtClean="0"/>
              <a:pPr/>
              <a:t>‹#›</a:t>
            </a:fld>
            <a:endParaRPr lang="ru-RU" dirty="0"/>
          </a:p>
        </p:txBody>
      </p:sp>
      <p:sp>
        <p:nvSpPr>
          <p:cNvPr id="6" name="Текст 5">
            <a:extLst>
              <a:ext uri="{FF2B5EF4-FFF2-40B4-BE49-F238E27FC236}">
                <a16:creationId xmlns:a16="http://schemas.microsoft.com/office/drawing/2014/main" id="{777251C4-29B5-50F3-5D2C-E34B6705B726}"/>
              </a:ext>
            </a:extLst>
          </p:cNvPr>
          <p:cNvSpPr>
            <a:spLocks noGrp="1"/>
          </p:cNvSpPr>
          <p:nvPr>
            <p:ph type="body" sz="quarter" idx="12"/>
          </p:nvPr>
        </p:nvSpPr>
        <p:spPr>
          <a:xfrm>
            <a:off x="539750" y="2141892"/>
            <a:ext cx="4860925" cy="2358730"/>
          </a:xfrm>
        </p:spPr>
        <p:txBody>
          <a:bodyPr>
            <a:noAutofit/>
          </a:bodyPr>
          <a:lstStyle>
            <a:lvl1pPr>
              <a:defRPr sz="1200"/>
            </a:lvl1pPr>
          </a:lstStyle>
          <a:p>
            <a:pPr lvl="0"/>
            <a:r>
              <a:rPr lang="ru-RU" dirty="0"/>
              <a:t>Образец текста</a:t>
            </a:r>
          </a:p>
        </p:txBody>
      </p:sp>
      <p:sp>
        <p:nvSpPr>
          <p:cNvPr id="5" name="Текст 4">
            <a:extLst>
              <a:ext uri="{FF2B5EF4-FFF2-40B4-BE49-F238E27FC236}">
                <a16:creationId xmlns:a16="http://schemas.microsoft.com/office/drawing/2014/main" id="{5A9F9002-DB54-50AD-C0ED-66E25E52AC10}"/>
              </a:ext>
            </a:extLst>
          </p:cNvPr>
          <p:cNvSpPr>
            <a:spLocks noGrp="1"/>
          </p:cNvSpPr>
          <p:nvPr>
            <p:ph type="body" sz="quarter" idx="13" hasCustomPrompt="1"/>
          </p:nvPr>
        </p:nvSpPr>
        <p:spPr>
          <a:xfrm>
            <a:off x="539751" y="1773181"/>
            <a:ext cx="3240088" cy="360000"/>
          </a:xfrm>
        </p:spPr>
        <p:txBody>
          <a:bodyPr/>
          <a:lstStyle>
            <a:lvl1pPr>
              <a:defRPr sz="1600" b="1">
                <a:solidFill>
                  <a:schemeClr val="tx1">
                    <a:lumMod val="65000"/>
                    <a:lumOff val="35000"/>
                  </a:schemeClr>
                </a:solidFill>
              </a:defRPr>
            </a:lvl1pPr>
          </a:lstStyle>
          <a:p>
            <a:pPr lvl="0"/>
            <a:r>
              <a:rPr lang="ru-RU" dirty="0"/>
              <a:t>ОБРАЗЕЦ ТЕКСТА</a:t>
            </a:r>
          </a:p>
        </p:txBody>
      </p:sp>
    </p:spTree>
    <p:extLst>
      <p:ext uri="{BB962C8B-B14F-4D97-AF65-F5344CB8AC3E}">
        <p14:creationId xmlns:p14="http://schemas.microsoft.com/office/powerpoint/2010/main" val="1088931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Простая страница_заголовок 2 строки">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750" y="719138"/>
            <a:ext cx="10440988" cy="1044000"/>
          </a:xfrm>
        </p:spPr>
        <p:txBody>
          <a:bodyPr lIns="0" tIns="0" rIns="0" bIns="0">
            <a:noAutofit/>
          </a:bodyPr>
          <a:lstStyle>
            <a:lvl1pPr>
              <a:defRPr sz="2200" b="1">
                <a:solidFill>
                  <a:srgbClr val="0077C8"/>
                </a:solidFill>
              </a:defRPr>
            </a:lvl1pPr>
          </a:lstStyle>
          <a:p>
            <a:r>
              <a:rPr lang="ru-RU" dirty="0"/>
              <a:t>ОБРАЗЕЦ ЗАГОЛОВКА</a:t>
            </a:r>
            <a:endParaRPr lang="en-US" dirty="0"/>
          </a:p>
        </p:txBody>
      </p:sp>
      <p:sp>
        <p:nvSpPr>
          <p:cNvPr id="17" name="Текст 6">
            <a:extLst>
              <a:ext uri="{FF2B5EF4-FFF2-40B4-BE49-F238E27FC236}">
                <a16:creationId xmlns:a16="http://schemas.microsoft.com/office/drawing/2014/main" id="{A71466D8-EE1C-4AF2-96C8-8466F765F29C}"/>
              </a:ext>
            </a:extLst>
          </p:cNvPr>
          <p:cNvSpPr>
            <a:spLocks noGrp="1"/>
          </p:cNvSpPr>
          <p:nvPr>
            <p:ph type="body" sz="quarter" idx="11"/>
          </p:nvPr>
        </p:nvSpPr>
        <p:spPr>
          <a:xfrm>
            <a:off x="539750" y="0"/>
            <a:ext cx="8820214" cy="360363"/>
          </a:xfrm>
        </p:spPr>
        <p:txBody>
          <a:bodyPr lIns="0" tIns="0" rIns="0" bIns="0" anchor="ctr" anchorCtr="0"/>
          <a:lstStyle>
            <a:lvl1pPr algn="l">
              <a:buNone/>
              <a:defRPr sz="1000" b="1">
                <a:solidFill>
                  <a:schemeClr val="bg1">
                    <a:lumMod val="65000"/>
                  </a:schemeClr>
                </a:solidFill>
              </a:defRPr>
            </a:lvl1pPr>
          </a:lstStyle>
          <a:p>
            <a:pPr lvl="0"/>
            <a:r>
              <a:rPr lang="ru-RU" dirty="0"/>
              <a:t>Образец текста</a:t>
            </a:r>
          </a:p>
        </p:txBody>
      </p:sp>
      <p:sp>
        <p:nvSpPr>
          <p:cNvPr id="4" name="Slide Number Placeholder 5">
            <a:extLst>
              <a:ext uri="{FF2B5EF4-FFF2-40B4-BE49-F238E27FC236}">
                <a16:creationId xmlns:a16="http://schemas.microsoft.com/office/drawing/2014/main" id="{D3977900-6DD6-6EC0-8A79-2E2866DD9AF4}"/>
              </a:ext>
            </a:extLst>
          </p:cNvPr>
          <p:cNvSpPr>
            <a:spLocks noGrp="1"/>
          </p:cNvSpPr>
          <p:nvPr>
            <p:ph type="sldNum" sz="quarter" idx="4"/>
          </p:nvPr>
        </p:nvSpPr>
        <p:spPr>
          <a:xfrm>
            <a:off x="10620000" y="0"/>
            <a:ext cx="712221" cy="360363"/>
          </a:xfrm>
          <a:prstGeom prst="rect">
            <a:avLst/>
          </a:prstGeom>
        </p:spPr>
        <p:txBody>
          <a:bodyPr vert="horz" lIns="0" tIns="0" rIns="0" bIns="36000" rtlCol="0" anchor="ctr"/>
          <a:lstStyle>
            <a:lvl1pPr algn="l">
              <a:defRPr sz="1000" b="1">
                <a:solidFill>
                  <a:schemeClr val="bg1">
                    <a:lumMod val="6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US" dirty="0"/>
              <a:t>| </a:t>
            </a:r>
            <a:fld id="{F54BA9F3-CBAA-4DCF-AD2D-5ECAA0BE8875}" type="slidenum">
              <a:rPr lang="ru-RU" smtClean="0"/>
              <a:pPr/>
              <a:t>‹#›</a:t>
            </a:fld>
            <a:endParaRPr lang="ru-RU" dirty="0"/>
          </a:p>
        </p:txBody>
      </p:sp>
      <p:sp>
        <p:nvSpPr>
          <p:cNvPr id="6" name="Текст 5">
            <a:extLst>
              <a:ext uri="{FF2B5EF4-FFF2-40B4-BE49-F238E27FC236}">
                <a16:creationId xmlns:a16="http://schemas.microsoft.com/office/drawing/2014/main" id="{777251C4-29B5-50F3-5D2C-E34B6705B726}"/>
              </a:ext>
            </a:extLst>
          </p:cNvPr>
          <p:cNvSpPr>
            <a:spLocks noGrp="1"/>
          </p:cNvSpPr>
          <p:nvPr>
            <p:ph type="body" sz="quarter" idx="12"/>
          </p:nvPr>
        </p:nvSpPr>
        <p:spPr>
          <a:xfrm>
            <a:off x="539750" y="2141892"/>
            <a:ext cx="10440988" cy="2358730"/>
          </a:xfrm>
        </p:spPr>
        <p:txBody>
          <a:bodyPr>
            <a:noAutofit/>
          </a:bodyPr>
          <a:lstStyle>
            <a:lvl1pPr>
              <a:defRPr sz="1200"/>
            </a:lvl1pPr>
          </a:lstStyle>
          <a:p>
            <a:pPr lvl="0"/>
            <a:r>
              <a:rPr lang="ru-RU" dirty="0"/>
              <a:t>Образец текста</a:t>
            </a:r>
          </a:p>
        </p:txBody>
      </p:sp>
      <p:sp>
        <p:nvSpPr>
          <p:cNvPr id="5" name="Текст 4">
            <a:extLst>
              <a:ext uri="{FF2B5EF4-FFF2-40B4-BE49-F238E27FC236}">
                <a16:creationId xmlns:a16="http://schemas.microsoft.com/office/drawing/2014/main" id="{5A9F9002-DB54-50AD-C0ED-66E25E52AC10}"/>
              </a:ext>
            </a:extLst>
          </p:cNvPr>
          <p:cNvSpPr>
            <a:spLocks noGrp="1"/>
          </p:cNvSpPr>
          <p:nvPr>
            <p:ph type="body" sz="quarter" idx="13" hasCustomPrompt="1"/>
          </p:nvPr>
        </p:nvSpPr>
        <p:spPr>
          <a:xfrm>
            <a:off x="539750" y="1773181"/>
            <a:ext cx="3963325" cy="360000"/>
          </a:xfrm>
        </p:spPr>
        <p:txBody>
          <a:bodyPr/>
          <a:lstStyle>
            <a:lvl1pPr>
              <a:defRPr sz="1600" b="1">
                <a:solidFill>
                  <a:schemeClr val="tx1">
                    <a:lumMod val="65000"/>
                    <a:lumOff val="35000"/>
                  </a:schemeClr>
                </a:solidFill>
              </a:defRPr>
            </a:lvl1pPr>
          </a:lstStyle>
          <a:p>
            <a:pPr lvl="0"/>
            <a:r>
              <a:rPr lang="ru-RU" dirty="0"/>
              <a:t>ОБРАЗЕЦ ТЕКСТА</a:t>
            </a:r>
          </a:p>
        </p:txBody>
      </p:sp>
    </p:spTree>
    <p:extLst>
      <p:ext uri="{BB962C8B-B14F-4D97-AF65-F5344CB8AC3E}">
        <p14:creationId xmlns:p14="http://schemas.microsoft.com/office/powerpoint/2010/main" val="2918091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Страница с крупными цифрами">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40200" y="719138"/>
            <a:ext cx="6840538" cy="864000"/>
          </a:xfrm>
        </p:spPr>
        <p:txBody>
          <a:bodyPr lIns="0" tIns="0" rIns="0" bIns="0">
            <a:noAutofit/>
          </a:bodyPr>
          <a:lstStyle>
            <a:lvl1pPr>
              <a:defRPr sz="2200" b="1">
                <a:solidFill>
                  <a:srgbClr val="0077C8"/>
                </a:solidFill>
              </a:defRPr>
            </a:lvl1pPr>
          </a:lstStyle>
          <a:p>
            <a:r>
              <a:rPr lang="ru-RU" dirty="0"/>
              <a:t>ОБРАЗЕЦ ЗАГОЛОВКА</a:t>
            </a:r>
            <a:endParaRPr lang="en-US" dirty="0"/>
          </a:p>
        </p:txBody>
      </p:sp>
      <p:sp>
        <p:nvSpPr>
          <p:cNvPr id="17" name="Текст 6">
            <a:extLst>
              <a:ext uri="{FF2B5EF4-FFF2-40B4-BE49-F238E27FC236}">
                <a16:creationId xmlns:a16="http://schemas.microsoft.com/office/drawing/2014/main" id="{A71466D8-EE1C-4AF2-96C8-8466F765F29C}"/>
              </a:ext>
            </a:extLst>
          </p:cNvPr>
          <p:cNvSpPr>
            <a:spLocks noGrp="1"/>
          </p:cNvSpPr>
          <p:nvPr>
            <p:ph type="body" sz="quarter" idx="11"/>
          </p:nvPr>
        </p:nvSpPr>
        <p:spPr>
          <a:xfrm>
            <a:off x="539750" y="0"/>
            <a:ext cx="8820214" cy="360363"/>
          </a:xfrm>
        </p:spPr>
        <p:txBody>
          <a:bodyPr lIns="0" tIns="0" rIns="0" bIns="0" anchor="ctr" anchorCtr="0"/>
          <a:lstStyle>
            <a:lvl1pPr algn="l">
              <a:buNone/>
              <a:defRPr sz="1000" b="1">
                <a:solidFill>
                  <a:schemeClr val="bg1">
                    <a:lumMod val="65000"/>
                  </a:schemeClr>
                </a:solidFill>
              </a:defRPr>
            </a:lvl1pPr>
          </a:lstStyle>
          <a:p>
            <a:pPr lvl="0"/>
            <a:r>
              <a:rPr lang="ru-RU" dirty="0"/>
              <a:t>Образец текста</a:t>
            </a:r>
          </a:p>
        </p:txBody>
      </p:sp>
      <p:sp>
        <p:nvSpPr>
          <p:cNvPr id="4" name="Slide Number Placeholder 5">
            <a:extLst>
              <a:ext uri="{FF2B5EF4-FFF2-40B4-BE49-F238E27FC236}">
                <a16:creationId xmlns:a16="http://schemas.microsoft.com/office/drawing/2014/main" id="{D3977900-6DD6-6EC0-8A79-2E2866DD9AF4}"/>
              </a:ext>
            </a:extLst>
          </p:cNvPr>
          <p:cNvSpPr>
            <a:spLocks noGrp="1"/>
          </p:cNvSpPr>
          <p:nvPr>
            <p:ph type="sldNum" sz="quarter" idx="4"/>
          </p:nvPr>
        </p:nvSpPr>
        <p:spPr>
          <a:xfrm>
            <a:off x="10620000" y="0"/>
            <a:ext cx="712221" cy="360363"/>
          </a:xfrm>
          <a:prstGeom prst="rect">
            <a:avLst/>
          </a:prstGeom>
        </p:spPr>
        <p:txBody>
          <a:bodyPr vert="horz" lIns="0" tIns="0" rIns="0" bIns="36000" rtlCol="0" anchor="ctr"/>
          <a:lstStyle>
            <a:lvl1pPr algn="l">
              <a:defRPr sz="1000" b="1">
                <a:solidFill>
                  <a:schemeClr val="bg1">
                    <a:lumMod val="6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US" dirty="0"/>
              <a:t>| </a:t>
            </a:r>
            <a:fld id="{F54BA9F3-CBAA-4DCF-AD2D-5ECAA0BE8875}" type="slidenum">
              <a:rPr lang="ru-RU" smtClean="0"/>
              <a:pPr/>
              <a:t>‹#›</a:t>
            </a:fld>
            <a:endParaRPr lang="ru-RU" dirty="0"/>
          </a:p>
        </p:txBody>
      </p:sp>
      <p:sp>
        <p:nvSpPr>
          <p:cNvPr id="6" name="Текст 5">
            <a:extLst>
              <a:ext uri="{FF2B5EF4-FFF2-40B4-BE49-F238E27FC236}">
                <a16:creationId xmlns:a16="http://schemas.microsoft.com/office/drawing/2014/main" id="{777251C4-29B5-50F3-5D2C-E34B6705B726}"/>
              </a:ext>
            </a:extLst>
          </p:cNvPr>
          <p:cNvSpPr>
            <a:spLocks noGrp="1"/>
          </p:cNvSpPr>
          <p:nvPr>
            <p:ph type="body" sz="quarter" idx="12"/>
          </p:nvPr>
        </p:nvSpPr>
        <p:spPr>
          <a:xfrm>
            <a:off x="4140200" y="1592889"/>
            <a:ext cx="6840538" cy="925157"/>
          </a:xfrm>
        </p:spPr>
        <p:txBody>
          <a:bodyPr>
            <a:noAutofit/>
          </a:bodyPr>
          <a:lstStyle>
            <a:lvl1pPr>
              <a:defRPr sz="1200"/>
            </a:lvl1pPr>
          </a:lstStyle>
          <a:p>
            <a:pPr lvl="0"/>
            <a:r>
              <a:rPr lang="ru-RU" dirty="0"/>
              <a:t>Образец текста</a:t>
            </a:r>
          </a:p>
        </p:txBody>
      </p:sp>
      <p:sp>
        <p:nvSpPr>
          <p:cNvPr id="3" name="Прямоугольник 2">
            <a:extLst>
              <a:ext uri="{FF2B5EF4-FFF2-40B4-BE49-F238E27FC236}">
                <a16:creationId xmlns:a16="http://schemas.microsoft.com/office/drawing/2014/main" id="{45A5AB09-194C-B832-90A5-19B3D512EF5E}"/>
              </a:ext>
            </a:extLst>
          </p:cNvPr>
          <p:cNvSpPr/>
          <p:nvPr userDrawn="1"/>
        </p:nvSpPr>
        <p:spPr>
          <a:xfrm>
            <a:off x="540524" y="360361"/>
            <a:ext cx="3240000" cy="61198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Рисунок 7">
            <a:extLst>
              <a:ext uri="{FF2B5EF4-FFF2-40B4-BE49-F238E27FC236}">
                <a16:creationId xmlns:a16="http://schemas.microsoft.com/office/drawing/2014/main" id="{171DEB39-9E03-7AC3-1E9F-B7334033EAFF}"/>
              </a:ext>
            </a:extLst>
          </p:cNvPr>
          <p:cNvSpPr>
            <a:spLocks noGrp="1"/>
          </p:cNvSpPr>
          <p:nvPr>
            <p:ph type="pic" sz="quarter" idx="14"/>
          </p:nvPr>
        </p:nvSpPr>
        <p:spPr>
          <a:xfrm>
            <a:off x="540524" y="356400"/>
            <a:ext cx="3240087" cy="1620000"/>
          </a:xfrm>
        </p:spPr>
        <p:txBody>
          <a:bodyPr/>
          <a:lstStyle/>
          <a:p>
            <a:endParaRPr lang="ru-RU"/>
          </a:p>
        </p:txBody>
      </p:sp>
      <p:sp>
        <p:nvSpPr>
          <p:cNvPr id="10" name="Рисунок 9">
            <a:extLst>
              <a:ext uri="{FF2B5EF4-FFF2-40B4-BE49-F238E27FC236}">
                <a16:creationId xmlns:a16="http://schemas.microsoft.com/office/drawing/2014/main" id="{B10F02CA-02C2-079B-7170-4BE43FB2813B}"/>
              </a:ext>
            </a:extLst>
          </p:cNvPr>
          <p:cNvSpPr>
            <a:spLocks noGrp="1"/>
          </p:cNvSpPr>
          <p:nvPr>
            <p:ph type="pic" sz="quarter" idx="15"/>
          </p:nvPr>
        </p:nvSpPr>
        <p:spPr>
          <a:xfrm>
            <a:off x="540524" y="4860175"/>
            <a:ext cx="3240087" cy="1620000"/>
          </a:xfrm>
        </p:spPr>
        <p:txBody>
          <a:bodyPr/>
          <a:lstStyle/>
          <a:p>
            <a:endParaRPr lang="ru-RU"/>
          </a:p>
        </p:txBody>
      </p:sp>
      <p:sp>
        <p:nvSpPr>
          <p:cNvPr id="12" name="Текст 11">
            <a:extLst>
              <a:ext uri="{FF2B5EF4-FFF2-40B4-BE49-F238E27FC236}">
                <a16:creationId xmlns:a16="http://schemas.microsoft.com/office/drawing/2014/main" id="{4F996AF9-02D0-7035-5BE8-50E4FFD537B5}"/>
              </a:ext>
            </a:extLst>
          </p:cNvPr>
          <p:cNvSpPr>
            <a:spLocks noGrp="1"/>
          </p:cNvSpPr>
          <p:nvPr>
            <p:ph type="body" sz="quarter" idx="16"/>
          </p:nvPr>
        </p:nvSpPr>
        <p:spPr>
          <a:xfrm>
            <a:off x="755651" y="2252121"/>
            <a:ext cx="2844800" cy="376205"/>
          </a:xfrm>
        </p:spPr>
        <p:txBody>
          <a:bodyPr/>
          <a:lstStyle>
            <a:lvl1pPr>
              <a:defRPr sz="2400" b="1">
                <a:solidFill>
                  <a:srgbClr val="0077C8"/>
                </a:solidFill>
              </a:defRPr>
            </a:lvl1pPr>
          </a:lstStyle>
          <a:p>
            <a:pPr lvl="0"/>
            <a:r>
              <a:rPr lang="ru-RU" dirty="0"/>
              <a:t>Образец текста</a:t>
            </a:r>
          </a:p>
        </p:txBody>
      </p:sp>
      <p:sp>
        <p:nvSpPr>
          <p:cNvPr id="14" name="Текст 13">
            <a:extLst>
              <a:ext uri="{FF2B5EF4-FFF2-40B4-BE49-F238E27FC236}">
                <a16:creationId xmlns:a16="http://schemas.microsoft.com/office/drawing/2014/main" id="{59B02844-0D39-1320-FD10-B5BB830FC179}"/>
              </a:ext>
            </a:extLst>
          </p:cNvPr>
          <p:cNvSpPr>
            <a:spLocks noGrp="1"/>
          </p:cNvSpPr>
          <p:nvPr>
            <p:ph type="body" sz="quarter" idx="17"/>
          </p:nvPr>
        </p:nvSpPr>
        <p:spPr>
          <a:xfrm>
            <a:off x="755650" y="2637508"/>
            <a:ext cx="2844800" cy="602579"/>
          </a:xfrm>
        </p:spPr>
        <p:txBody>
          <a:bodyPr/>
          <a:lstStyle>
            <a:lvl1pPr>
              <a:defRPr>
                <a:solidFill>
                  <a:srgbClr val="0077C8"/>
                </a:solidFill>
              </a:defRPr>
            </a:lvl1pPr>
          </a:lstStyle>
          <a:p>
            <a:pPr lvl="0"/>
            <a:r>
              <a:rPr lang="ru-RU" dirty="0"/>
              <a:t>Образец текста</a:t>
            </a:r>
          </a:p>
        </p:txBody>
      </p:sp>
      <p:sp>
        <p:nvSpPr>
          <p:cNvPr id="21" name="Текст 20">
            <a:extLst>
              <a:ext uri="{FF2B5EF4-FFF2-40B4-BE49-F238E27FC236}">
                <a16:creationId xmlns:a16="http://schemas.microsoft.com/office/drawing/2014/main" id="{F817E79D-85CA-C019-B1A9-3D9F2BE60D21}"/>
              </a:ext>
            </a:extLst>
          </p:cNvPr>
          <p:cNvSpPr>
            <a:spLocks noGrp="1"/>
          </p:cNvSpPr>
          <p:nvPr>
            <p:ph type="body" sz="quarter" idx="20"/>
          </p:nvPr>
        </p:nvSpPr>
        <p:spPr>
          <a:xfrm>
            <a:off x="5759450" y="4631701"/>
            <a:ext cx="3600450" cy="925513"/>
          </a:xfrm>
        </p:spPr>
        <p:txBody>
          <a:bodyPr tIns="36000"/>
          <a:lstStyle>
            <a:lvl1pPr algn="ctr">
              <a:defRPr sz="1400">
                <a:solidFill>
                  <a:srgbClr val="0077C8"/>
                </a:solidFill>
              </a:defRPr>
            </a:lvl1pPr>
          </a:lstStyle>
          <a:p>
            <a:pPr lvl="0"/>
            <a:r>
              <a:rPr lang="ru-RU" dirty="0"/>
              <a:t>Образец текста</a:t>
            </a:r>
          </a:p>
        </p:txBody>
      </p:sp>
      <p:sp>
        <p:nvSpPr>
          <p:cNvPr id="23" name="Текст 22">
            <a:extLst>
              <a:ext uri="{FF2B5EF4-FFF2-40B4-BE49-F238E27FC236}">
                <a16:creationId xmlns:a16="http://schemas.microsoft.com/office/drawing/2014/main" id="{29677D96-8DE3-CEB8-F5B2-E7B67F098356}"/>
              </a:ext>
            </a:extLst>
          </p:cNvPr>
          <p:cNvSpPr>
            <a:spLocks noGrp="1"/>
          </p:cNvSpPr>
          <p:nvPr>
            <p:ph type="body" sz="quarter" idx="21"/>
          </p:nvPr>
        </p:nvSpPr>
        <p:spPr>
          <a:xfrm>
            <a:off x="4294204" y="3609350"/>
            <a:ext cx="3446446" cy="1020763"/>
          </a:xfrm>
        </p:spPr>
        <p:txBody>
          <a:bodyPr anchor="b" anchorCtr="0"/>
          <a:lstStyle>
            <a:lvl1pPr algn="r">
              <a:defRPr sz="3600">
                <a:solidFill>
                  <a:srgbClr val="0077C8"/>
                </a:solidFill>
              </a:defRPr>
            </a:lvl1pPr>
          </a:lstStyle>
          <a:p>
            <a:pPr lvl="0"/>
            <a:r>
              <a:rPr lang="ru-RU" dirty="0"/>
              <a:t>Образец текста</a:t>
            </a:r>
          </a:p>
        </p:txBody>
      </p:sp>
      <p:sp>
        <p:nvSpPr>
          <p:cNvPr id="25" name="Текст 24">
            <a:extLst>
              <a:ext uri="{FF2B5EF4-FFF2-40B4-BE49-F238E27FC236}">
                <a16:creationId xmlns:a16="http://schemas.microsoft.com/office/drawing/2014/main" id="{F60C488A-6E36-58D4-EDA4-377AC91CBE37}"/>
              </a:ext>
            </a:extLst>
          </p:cNvPr>
          <p:cNvSpPr>
            <a:spLocks noGrp="1"/>
          </p:cNvSpPr>
          <p:nvPr>
            <p:ph type="body" sz="quarter" idx="22"/>
          </p:nvPr>
        </p:nvSpPr>
        <p:spPr>
          <a:xfrm>
            <a:off x="7870825" y="3795733"/>
            <a:ext cx="2085975" cy="785812"/>
          </a:xfrm>
        </p:spPr>
        <p:txBody>
          <a:bodyPr anchor="b" anchorCtr="0"/>
          <a:lstStyle>
            <a:lvl1pPr>
              <a:defRPr sz="1800">
                <a:solidFill>
                  <a:srgbClr val="0077C8"/>
                </a:solidFill>
              </a:defRPr>
            </a:lvl1pPr>
          </a:lstStyle>
          <a:p>
            <a:pPr lvl="0"/>
            <a:r>
              <a:rPr lang="ru-RU" dirty="0"/>
              <a:t>Образец текста</a:t>
            </a:r>
          </a:p>
        </p:txBody>
      </p:sp>
    </p:spTree>
    <p:extLst>
      <p:ext uri="{BB962C8B-B14F-4D97-AF65-F5344CB8AC3E}">
        <p14:creationId xmlns:p14="http://schemas.microsoft.com/office/powerpoint/2010/main" val="2169230598"/>
      </p:ext>
    </p:extLst>
  </p:cSld>
  <p:clrMapOvr>
    <a:masterClrMapping/>
  </p:clrMapOvr>
  <p:extLst mod="1">
    <p:ext uri="{DCECCB84-F9BA-43D5-87BE-67443E8EF086}">
      <p15:sldGuideLst xmlns:p15="http://schemas.microsoft.com/office/powerpoint/2012/main">
        <p15:guide id="1" pos="476" userDrawn="1">
          <p15:clr>
            <a:srgbClr val="FBAE40"/>
          </p15:clr>
        </p15:guide>
        <p15:guide id="2" pos="226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Обложка раздела">
    <p:spTree>
      <p:nvGrpSpPr>
        <p:cNvPr id="1" name=""/>
        <p:cNvGrpSpPr/>
        <p:nvPr/>
      </p:nvGrpSpPr>
      <p:grpSpPr>
        <a:xfrm>
          <a:off x="0" y="0"/>
          <a:ext cx="0" cy="0"/>
          <a:chOff x="0" y="0"/>
          <a:chExt cx="0" cy="0"/>
        </a:xfrm>
      </p:grpSpPr>
      <p:sp>
        <p:nvSpPr>
          <p:cNvPr id="5" name="Прямоугольник 4">
            <a:extLst>
              <a:ext uri="{FF2B5EF4-FFF2-40B4-BE49-F238E27FC236}">
                <a16:creationId xmlns:a16="http://schemas.microsoft.com/office/drawing/2014/main" id="{949E817B-282D-D66C-36DB-CCB278484DC9}"/>
              </a:ext>
            </a:extLst>
          </p:cNvPr>
          <p:cNvSpPr/>
          <p:nvPr userDrawn="1"/>
        </p:nvSpPr>
        <p:spPr>
          <a:xfrm>
            <a:off x="9000000" y="359138"/>
            <a:ext cx="360000" cy="360000"/>
          </a:xfrm>
          <a:prstGeom prst="rect">
            <a:avLst/>
          </a:prstGeom>
          <a:solidFill>
            <a:srgbClr val="A1D9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5">
            <a:extLst>
              <a:ext uri="{FF2B5EF4-FFF2-40B4-BE49-F238E27FC236}">
                <a16:creationId xmlns:a16="http://schemas.microsoft.com/office/drawing/2014/main" id="{1C76388D-B446-44D2-1E05-B8C20B8DE100}"/>
              </a:ext>
            </a:extLst>
          </p:cNvPr>
          <p:cNvSpPr/>
          <p:nvPr userDrawn="1"/>
        </p:nvSpPr>
        <p:spPr>
          <a:xfrm>
            <a:off x="9360000" y="359138"/>
            <a:ext cx="720000" cy="360000"/>
          </a:xfrm>
          <a:prstGeom prst="rect">
            <a:avLst/>
          </a:prstGeom>
          <a:solidFill>
            <a:srgbClr val="00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6">
            <a:extLst>
              <a:ext uri="{FF2B5EF4-FFF2-40B4-BE49-F238E27FC236}">
                <a16:creationId xmlns:a16="http://schemas.microsoft.com/office/drawing/2014/main" id="{DD65926E-CFBC-F70D-FC72-46CEF62CF6E6}"/>
              </a:ext>
            </a:extLst>
          </p:cNvPr>
          <p:cNvSpPr/>
          <p:nvPr userDrawn="1"/>
        </p:nvSpPr>
        <p:spPr>
          <a:xfrm>
            <a:off x="8640000" y="359138"/>
            <a:ext cx="360000" cy="360000"/>
          </a:xfrm>
          <a:prstGeom prst="rect">
            <a:avLst/>
          </a:prstGeom>
          <a:solidFill>
            <a:srgbClr val="80CB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Прямоугольник 7">
            <a:extLst>
              <a:ext uri="{FF2B5EF4-FFF2-40B4-BE49-F238E27FC236}">
                <a16:creationId xmlns:a16="http://schemas.microsoft.com/office/drawing/2014/main" id="{1CF138A7-E639-2DE9-D396-602A69EA2A57}"/>
              </a:ext>
            </a:extLst>
          </p:cNvPr>
          <p:cNvSpPr/>
          <p:nvPr userDrawn="1"/>
        </p:nvSpPr>
        <p:spPr>
          <a:xfrm>
            <a:off x="8280000" y="359138"/>
            <a:ext cx="360000" cy="360000"/>
          </a:xfrm>
          <a:prstGeom prst="rect">
            <a:avLst/>
          </a:prstGeom>
          <a:solidFill>
            <a:srgbClr val="4CA0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9">
            <a:extLst>
              <a:ext uri="{FF2B5EF4-FFF2-40B4-BE49-F238E27FC236}">
                <a16:creationId xmlns:a16="http://schemas.microsoft.com/office/drawing/2014/main" id="{8CDA0BDC-CD5A-0B55-889E-84C4CFAB6F6E}"/>
              </a:ext>
            </a:extLst>
          </p:cNvPr>
          <p:cNvSpPr/>
          <p:nvPr userDrawn="1"/>
        </p:nvSpPr>
        <p:spPr>
          <a:xfrm>
            <a:off x="11160488" y="4680000"/>
            <a:ext cx="360000" cy="360000"/>
          </a:xfrm>
          <a:prstGeom prst="rect">
            <a:avLst/>
          </a:prstGeom>
          <a:solidFill>
            <a:srgbClr val="00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10">
            <a:extLst>
              <a:ext uri="{FF2B5EF4-FFF2-40B4-BE49-F238E27FC236}">
                <a16:creationId xmlns:a16="http://schemas.microsoft.com/office/drawing/2014/main" id="{6289EF92-3FB1-A573-EC24-DA2A37FDD67B}"/>
              </a:ext>
            </a:extLst>
          </p:cNvPr>
          <p:cNvSpPr/>
          <p:nvPr userDrawn="1"/>
        </p:nvSpPr>
        <p:spPr>
          <a:xfrm>
            <a:off x="11160488" y="5040000"/>
            <a:ext cx="360000" cy="360000"/>
          </a:xfrm>
          <a:prstGeom prst="rect">
            <a:avLst/>
          </a:prstGeom>
          <a:solidFill>
            <a:srgbClr val="80CB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Прямоугольник 11">
            <a:extLst>
              <a:ext uri="{FF2B5EF4-FFF2-40B4-BE49-F238E27FC236}">
                <a16:creationId xmlns:a16="http://schemas.microsoft.com/office/drawing/2014/main" id="{B05C564C-0969-D8FC-93A1-698F6D12B0A9}"/>
              </a:ext>
            </a:extLst>
          </p:cNvPr>
          <p:cNvSpPr/>
          <p:nvPr userDrawn="1"/>
        </p:nvSpPr>
        <p:spPr>
          <a:xfrm>
            <a:off x="11160488" y="359138"/>
            <a:ext cx="360000" cy="360000"/>
          </a:xfrm>
          <a:prstGeom prst="rect">
            <a:avLst/>
          </a:prstGeom>
          <a:solidFill>
            <a:srgbClr val="80CB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12">
            <a:extLst>
              <a:ext uri="{FF2B5EF4-FFF2-40B4-BE49-F238E27FC236}">
                <a16:creationId xmlns:a16="http://schemas.microsoft.com/office/drawing/2014/main" id="{F89E0A0B-0413-4F8E-24BC-2FF43728EEE4}"/>
              </a:ext>
            </a:extLst>
          </p:cNvPr>
          <p:cNvSpPr/>
          <p:nvPr userDrawn="1"/>
        </p:nvSpPr>
        <p:spPr>
          <a:xfrm>
            <a:off x="10800000" y="359138"/>
            <a:ext cx="360000" cy="360000"/>
          </a:xfrm>
          <a:prstGeom prst="rect">
            <a:avLst/>
          </a:prstGeom>
          <a:solidFill>
            <a:srgbClr val="A1D9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a:extLst>
              <a:ext uri="{FF2B5EF4-FFF2-40B4-BE49-F238E27FC236}">
                <a16:creationId xmlns:a16="http://schemas.microsoft.com/office/drawing/2014/main" id="{2ECA3EAB-8C1B-3689-AF43-5A779AE3A4BA}"/>
              </a:ext>
            </a:extLst>
          </p:cNvPr>
          <p:cNvSpPr/>
          <p:nvPr userDrawn="1"/>
        </p:nvSpPr>
        <p:spPr>
          <a:xfrm>
            <a:off x="10440000" y="359138"/>
            <a:ext cx="360000" cy="360000"/>
          </a:xfrm>
          <a:prstGeom prst="rect">
            <a:avLst/>
          </a:prstGeom>
          <a:solidFill>
            <a:srgbClr val="007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Прямоугольник 14">
            <a:extLst>
              <a:ext uri="{FF2B5EF4-FFF2-40B4-BE49-F238E27FC236}">
                <a16:creationId xmlns:a16="http://schemas.microsoft.com/office/drawing/2014/main" id="{D8A15696-BAFE-9125-D7E3-D391BC88DB08}"/>
              </a:ext>
            </a:extLst>
          </p:cNvPr>
          <p:cNvSpPr/>
          <p:nvPr userDrawn="1"/>
        </p:nvSpPr>
        <p:spPr>
          <a:xfrm>
            <a:off x="7200000" y="359138"/>
            <a:ext cx="360000" cy="360000"/>
          </a:xfrm>
          <a:prstGeom prst="rect">
            <a:avLst/>
          </a:prstGeom>
          <a:solidFill>
            <a:srgbClr val="4C81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15">
            <a:extLst>
              <a:ext uri="{FF2B5EF4-FFF2-40B4-BE49-F238E27FC236}">
                <a16:creationId xmlns:a16="http://schemas.microsoft.com/office/drawing/2014/main" id="{95755776-FBC5-A837-21AC-2BE959C38ED9}"/>
              </a:ext>
            </a:extLst>
          </p:cNvPr>
          <p:cNvSpPr/>
          <p:nvPr userDrawn="1"/>
        </p:nvSpPr>
        <p:spPr>
          <a:xfrm>
            <a:off x="7560000" y="359138"/>
            <a:ext cx="360000" cy="360000"/>
          </a:xfrm>
          <a:prstGeom prst="rect">
            <a:avLst/>
          </a:prstGeom>
          <a:solidFill>
            <a:srgbClr val="004B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Прямоугольник 16">
            <a:extLst>
              <a:ext uri="{FF2B5EF4-FFF2-40B4-BE49-F238E27FC236}">
                <a16:creationId xmlns:a16="http://schemas.microsoft.com/office/drawing/2014/main" id="{D2FF2CC7-5710-DC75-B09A-3571321DECA5}"/>
              </a:ext>
            </a:extLst>
          </p:cNvPr>
          <p:cNvSpPr/>
          <p:nvPr userDrawn="1"/>
        </p:nvSpPr>
        <p:spPr>
          <a:xfrm>
            <a:off x="0" y="2159985"/>
            <a:ext cx="360000" cy="360000"/>
          </a:xfrm>
          <a:prstGeom prst="rect">
            <a:avLst/>
          </a:prstGeom>
          <a:solidFill>
            <a:srgbClr val="00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Прямоугольник 17">
            <a:extLst>
              <a:ext uri="{FF2B5EF4-FFF2-40B4-BE49-F238E27FC236}">
                <a16:creationId xmlns:a16="http://schemas.microsoft.com/office/drawing/2014/main" id="{31416FDD-F4A2-5E9B-C0E0-68689B5D8037}"/>
              </a:ext>
            </a:extLst>
          </p:cNvPr>
          <p:cNvSpPr/>
          <p:nvPr userDrawn="1"/>
        </p:nvSpPr>
        <p:spPr>
          <a:xfrm>
            <a:off x="6480000" y="359138"/>
            <a:ext cx="360000" cy="360000"/>
          </a:xfrm>
          <a:prstGeom prst="rect">
            <a:avLst/>
          </a:prstGeom>
          <a:solidFill>
            <a:srgbClr val="4C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Прямоугольник 18">
            <a:extLst>
              <a:ext uri="{FF2B5EF4-FFF2-40B4-BE49-F238E27FC236}">
                <a16:creationId xmlns:a16="http://schemas.microsoft.com/office/drawing/2014/main" id="{EDA277A6-3DA4-FB2E-2204-BD08AF65AF3A}"/>
              </a:ext>
            </a:extLst>
          </p:cNvPr>
          <p:cNvSpPr/>
          <p:nvPr userDrawn="1"/>
        </p:nvSpPr>
        <p:spPr>
          <a:xfrm>
            <a:off x="6120000" y="359138"/>
            <a:ext cx="360000" cy="360000"/>
          </a:xfrm>
          <a:prstGeom prst="rect">
            <a:avLst/>
          </a:prstGeom>
          <a:solidFill>
            <a:srgbClr val="004B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Прямоугольник 19">
            <a:extLst>
              <a:ext uri="{FF2B5EF4-FFF2-40B4-BE49-F238E27FC236}">
                <a16:creationId xmlns:a16="http://schemas.microsoft.com/office/drawing/2014/main" id="{44624C72-AF7E-C8DF-8492-B4C8FAF49A62}"/>
              </a:ext>
            </a:extLst>
          </p:cNvPr>
          <p:cNvSpPr/>
          <p:nvPr userDrawn="1"/>
        </p:nvSpPr>
        <p:spPr>
          <a:xfrm>
            <a:off x="5760000" y="359138"/>
            <a:ext cx="360000" cy="360000"/>
          </a:xfrm>
          <a:prstGeom prst="rect">
            <a:avLst/>
          </a:prstGeom>
          <a:solidFill>
            <a:srgbClr val="4C81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Прямоугольник 20">
            <a:extLst>
              <a:ext uri="{FF2B5EF4-FFF2-40B4-BE49-F238E27FC236}">
                <a16:creationId xmlns:a16="http://schemas.microsoft.com/office/drawing/2014/main" id="{E2C5C61E-84E0-2511-8C13-2134900967C4}"/>
              </a:ext>
            </a:extLst>
          </p:cNvPr>
          <p:cNvSpPr/>
          <p:nvPr userDrawn="1"/>
        </p:nvSpPr>
        <p:spPr>
          <a:xfrm>
            <a:off x="4680000" y="359138"/>
            <a:ext cx="720000" cy="360000"/>
          </a:xfrm>
          <a:prstGeom prst="rect">
            <a:avLst/>
          </a:prstGeom>
          <a:solidFill>
            <a:srgbClr val="004B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Прямоугольник 21">
            <a:extLst>
              <a:ext uri="{FF2B5EF4-FFF2-40B4-BE49-F238E27FC236}">
                <a16:creationId xmlns:a16="http://schemas.microsoft.com/office/drawing/2014/main" id="{449168C7-564F-1DF2-8EE5-17CB40C3B736}"/>
              </a:ext>
            </a:extLst>
          </p:cNvPr>
          <p:cNvSpPr/>
          <p:nvPr userDrawn="1"/>
        </p:nvSpPr>
        <p:spPr>
          <a:xfrm>
            <a:off x="3600000" y="359138"/>
            <a:ext cx="360000" cy="360000"/>
          </a:xfrm>
          <a:prstGeom prst="rect">
            <a:avLst/>
          </a:prstGeom>
          <a:solidFill>
            <a:srgbClr val="007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Прямоугольник 22">
            <a:extLst>
              <a:ext uri="{FF2B5EF4-FFF2-40B4-BE49-F238E27FC236}">
                <a16:creationId xmlns:a16="http://schemas.microsoft.com/office/drawing/2014/main" id="{66F294A0-3685-BEC5-2874-DF6770F09299}"/>
              </a:ext>
            </a:extLst>
          </p:cNvPr>
          <p:cNvSpPr/>
          <p:nvPr userDrawn="1"/>
        </p:nvSpPr>
        <p:spPr>
          <a:xfrm>
            <a:off x="3240000" y="359138"/>
            <a:ext cx="360000" cy="360000"/>
          </a:xfrm>
          <a:prstGeom prst="rect">
            <a:avLst/>
          </a:prstGeom>
          <a:solidFill>
            <a:srgbClr val="80CB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Прямоугольник 23">
            <a:extLst>
              <a:ext uri="{FF2B5EF4-FFF2-40B4-BE49-F238E27FC236}">
                <a16:creationId xmlns:a16="http://schemas.microsoft.com/office/drawing/2014/main" id="{26D9630F-B2FF-5180-E2E1-26A92657039A}"/>
              </a:ext>
            </a:extLst>
          </p:cNvPr>
          <p:cNvSpPr/>
          <p:nvPr userDrawn="1"/>
        </p:nvSpPr>
        <p:spPr>
          <a:xfrm>
            <a:off x="2520000" y="359138"/>
            <a:ext cx="360000" cy="360000"/>
          </a:xfrm>
          <a:prstGeom prst="rect">
            <a:avLst/>
          </a:prstGeom>
          <a:solidFill>
            <a:srgbClr val="4C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Прямоугольник 24">
            <a:extLst>
              <a:ext uri="{FF2B5EF4-FFF2-40B4-BE49-F238E27FC236}">
                <a16:creationId xmlns:a16="http://schemas.microsoft.com/office/drawing/2014/main" id="{DCAF33DF-A988-3AA0-957C-007366E0D345}"/>
              </a:ext>
            </a:extLst>
          </p:cNvPr>
          <p:cNvSpPr/>
          <p:nvPr userDrawn="1"/>
        </p:nvSpPr>
        <p:spPr>
          <a:xfrm>
            <a:off x="2160000" y="359138"/>
            <a:ext cx="360000" cy="360000"/>
          </a:xfrm>
          <a:prstGeom prst="rect">
            <a:avLst/>
          </a:prstGeom>
          <a:solidFill>
            <a:srgbClr val="80CB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Прямоугольник 25">
            <a:extLst>
              <a:ext uri="{FF2B5EF4-FFF2-40B4-BE49-F238E27FC236}">
                <a16:creationId xmlns:a16="http://schemas.microsoft.com/office/drawing/2014/main" id="{FA234160-A70E-262F-2B8A-40B15E2FCE7E}"/>
              </a:ext>
            </a:extLst>
          </p:cNvPr>
          <p:cNvSpPr/>
          <p:nvPr userDrawn="1"/>
        </p:nvSpPr>
        <p:spPr>
          <a:xfrm>
            <a:off x="1440000" y="359138"/>
            <a:ext cx="360000" cy="360000"/>
          </a:xfrm>
          <a:prstGeom prst="rect">
            <a:avLst/>
          </a:prstGeom>
          <a:solidFill>
            <a:srgbClr val="4C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Прямоугольник 26">
            <a:extLst>
              <a:ext uri="{FF2B5EF4-FFF2-40B4-BE49-F238E27FC236}">
                <a16:creationId xmlns:a16="http://schemas.microsoft.com/office/drawing/2014/main" id="{A13BA628-ECE9-776A-C958-08E281CFAEF4}"/>
              </a:ext>
            </a:extLst>
          </p:cNvPr>
          <p:cNvSpPr/>
          <p:nvPr userDrawn="1"/>
        </p:nvSpPr>
        <p:spPr>
          <a:xfrm>
            <a:off x="720000" y="359138"/>
            <a:ext cx="720000" cy="360000"/>
          </a:xfrm>
          <a:prstGeom prst="rect">
            <a:avLst/>
          </a:prstGeom>
          <a:solidFill>
            <a:srgbClr val="80CB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Прямоугольник 27">
            <a:extLst>
              <a:ext uri="{FF2B5EF4-FFF2-40B4-BE49-F238E27FC236}">
                <a16:creationId xmlns:a16="http://schemas.microsoft.com/office/drawing/2014/main" id="{CF021828-D59F-EF59-29A0-79C1A1070F86}"/>
              </a:ext>
            </a:extLst>
          </p:cNvPr>
          <p:cNvSpPr/>
          <p:nvPr userDrawn="1"/>
        </p:nvSpPr>
        <p:spPr>
          <a:xfrm>
            <a:off x="360000" y="359138"/>
            <a:ext cx="360000" cy="360000"/>
          </a:xfrm>
          <a:prstGeom prst="rect">
            <a:avLst/>
          </a:prstGeom>
          <a:solidFill>
            <a:srgbClr val="A1D9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9" name="Прямоугольник 28">
            <a:extLst>
              <a:ext uri="{FF2B5EF4-FFF2-40B4-BE49-F238E27FC236}">
                <a16:creationId xmlns:a16="http://schemas.microsoft.com/office/drawing/2014/main" id="{9BD5FA75-CC93-B6F7-A6D5-8F1B22B9E95C}"/>
              </a:ext>
            </a:extLst>
          </p:cNvPr>
          <p:cNvSpPr/>
          <p:nvPr userDrawn="1"/>
        </p:nvSpPr>
        <p:spPr>
          <a:xfrm>
            <a:off x="0" y="359138"/>
            <a:ext cx="360000" cy="360000"/>
          </a:xfrm>
          <a:prstGeom prst="rect">
            <a:avLst/>
          </a:prstGeom>
          <a:solidFill>
            <a:srgbClr val="4CA0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Прямоугольник 29">
            <a:extLst>
              <a:ext uri="{FF2B5EF4-FFF2-40B4-BE49-F238E27FC236}">
                <a16:creationId xmlns:a16="http://schemas.microsoft.com/office/drawing/2014/main" id="{A8AEC7B7-6B30-0657-D626-0C1099979039}"/>
              </a:ext>
            </a:extLst>
          </p:cNvPr>
          <p:cNvSpPr/>
          <p:nvPr userDrawn="1"/>
        </p:nvSpPr>
        <p:spPr>
          <a:xfrm>
            <a:off x="0" y="-862"/>
            <a:ext cx="360000" cy="360000"/>
          </a:xfrm>
          <a:prstGeom prst="rect">
            <a:avLst/>
          </a:prstGeom>
          <a:solidFill>
            <a:srgbClr val="A1D9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Прямоугольник: один скругленный угол 2">
            <a:extLst>
              <a:ext uri="{FF2B5EF4-FFF2-40B4-BE49-F238E27FC236}">
                <a16:creationId xmlns:a16="http://schemas.microsoft.com/office/drawing/2014/main" id="{064168E6-FA98-F24F-01C2-065034053E4E}"/>
              </a:ext>
            </a:extLst>
          </p:cNvPr>
          <p:cNvSpPr/>
          <p:nvPr userDrawn="1"/>
        </p:nvSpPr>
        <p:spPr>
          <a:xfrm flipH="1" flipV="1">
            <a:off x="6119813" y="711200"/>
            <a:ext cx="5400675" cy="1816100"/>
          </a:xfrm>
          <a:prstGeom prst="round1Rect">
            <a:avLst>
              <a:gd name="adj" fmla="val 11684"/>
            </a:avLst>
          </a:prstGeom>
          <a:solidFill>
            <a:srgbClr val="0077C8">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Заголовок 8">
            <a:extLst>
              <a:ext uri="{FF2B5EF4-FFF2-40B4-BE49-F238E27FC236}">
                <a16:creationId xmlns:a16="http://schemas.microsoft.com/office/drawing/2014/main" id="{A6864DE0-0A6D-5EF0-6A82-C8DC6454808C}"/>
              </a:ext>
            </a:extLst>
          </p:cNvPr>
          <p:cNvSpPr>
            <a:spLocks noGrp="1"/>
          </p:cNvSpPr>
          <p:nvPr>
            <p:ph type="title" hasCustomPrompt="1"/>
          </p:nvPr>
        </p:nvSpPr>
        <p:spPr>
          <a:xfrm>
            <a:off x="6119812" y="719138"/>
            <a:ext cx="4860925" cy="1800847"/>
          </a:xfrm>
        </p:spPr>
        <p:txBody>
          <a:bodyPr lIns="360000"/>
          <a:lstStyle>
            <a:lvl1pPr>
              <a:defRPr>
                <a:solidFill>
                  <a:schemeClr val="bg1"/>
                </a:solidFill>
              </a:defRPr>
            </a:lvl1pPr>
          </a:lstStyle>
          <a:p>
            <a:r>
              <a:rPr lang="ru-RU" dirty="0"/>
              <a:t>ОБРАЗЕЦ ЗАГОЛОВКА</a:t>
            </a:r>
          </a:p>
        </p:txBody>
      </p:sp>
      <p:sp>
        <p:nvSpPr>
          <p:cNvPr id="31" name="Slide Number Placeholder 5">
            <a:extLst>
              <a:ext uri="{FF2B5EF4-FFF2-40B4-BE49-F238E27FC236}">
                <a16:creationId xmlns:a16="http://schemas.microsoft.com/office/drawing/2014/main" id="{0FCA9D47-7BA4-ABE1-1C1D-AA6168812EE9}"/>
              </a:ext>
            </a:extLst>
          </p:cNvPr>
          <p:cNvSpPr>
            <a:spLocks noGrp="1"/>
          </p:cNvSpPr>
          <p:nvPr>
            <p:ph type="sldNum" sz="quarter" idx="4"/>
          </p:nvPr>
        </p:nvSpPr>
        <p:spPr>
          <a:xfrm>
            <a:off x="10620000" y="0"/>
            <a:ext cx="712221" cy="360363"/>
          </a:xfrm>
          <a:prstGeom prst="rect">
            <a:avLst/>
          </a:prstGeom>
        </p:spPr>
        <p:txBody>
          <a:bodyPr vert="horz" lIns="0" tIns="0" rIns="0" bIns="36000" rtlCol="0" anchor="ctr"/>
          <a:lstStyle>
            <a:lvl1pPr algn="l">
              <a:defRPr sz="1000" b="1">
                <a:solidFill>
                  <a:schemeClr val="bg1">
                    <a:lumMod val="6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US" dirty="0"/>
              <a:t>| </a:t>
            </a:r>
            <a:fld id="{F54BA9F3-CBAA-4DCF-AD2D-5ECAA0BE8875}" type="slidenum">
              <a:rPr lang="ru-RU" smtClean="0"/>
              <a:pPr/>
              <a:t>‹#›</a:t>
            </a:fld>
            <a:endParaRPr lang="ru-RU" dirty="0"/>
          </a:p>
        </p:txBody>
      </p:sp>
    </p:spTree>
    <p:extLst>
      <p:ext uri="{BB962C8B-B14F-4D97-AF65-F5344CB8AC3E}">
        <p14:creationId xmlns:p14="http://schemas.microsoft.com/office/powerpoint/2010/main" val="2120963555"/>
      </p:ext>
    </p:extLst>
  </p:cSld>
  <p:clrMapOvr>
    <a:masterClrMapping/>
  </p:clrMapOvr>
  <p:extLst mod="1">
    <p:ext uri="{DCECCB84-F9BA-43D5-87BE-67443E8EF086}">
      <p15:sldGuideLst xmlns:p15="http://schemas.microsoft.com/office/powerpoint/2012/main">
        <p15:guide id="1" orient="horz" pos="2041" userDrawn="1">
          <p15:clr>
            <a:srgbClr val="FBAE40"/>
          </p15:clr>
        </p15:guide>
        <p15:guide id="2" pos="362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Главная страница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DDE7CD-97E1-89DC-7D1D-01815BD95298}"/>
              </a:ext>
            </a:extLst>
          </p:cNvPr>
          <p:cNvSpPr>
            <a:spLocks noGrp="1"/>
          </p:cNvSpPr>
          <p:nvPr>
            <p:ph type="title" hasCustomPrompt="1"/>
          </p:nvPr>
        </p:nvSpPr>
        <p:spPr>
          <a:xfrm>
            <a:off x="5400675" y="719138"/>
            <a:ext cx="5580063" cy="878405"/>
          </a:xfrm>
        </p:spPr>
        <p:txBody>
          <a:bodyPr/>
          <a:lstStyle/>
          <a:p>
            <a:r>
              <a:rPr lang="ru-RU" dirty="0"/>
              <a:t>ОБРАЗЕЦ ЗАГОЛОВКА</a:t>
            </a:r>
          </a:p>
        </p:txBody>
      </p:sp>
      <p:sp>
        <p:nvSpPr>
          <p:cNvPr id="3" name="Номер слайда 2">
            <a:extLst>
              <a:ext uri="{FF2B5EF4-FFF2-40B4-BE49-F238E27FC236}">
                <a16:creationId xmlns:a16="http://schemas.microsoft.com/office/drawing/2014/main" id="{BED94AB1-46BB-99A5-D920-59FFE2CD0398}"/>
              </a:ext>
            </a:extLst>
          </p:cNvPr>
          <p:cNvSpPr>
            <a:spLocks noGrp="1"/>
          </p:cNvSpPr>
          <p:nvPr>
            <p:ph type="sldNum" sz="quarter" idx="10"/>
          </p:nvPr>
        </p:nvSpPr>
        <p:spPr/>
        <p:txBody>
          <a:bodyPr/>
          <a:lstStyle/>
          <a:p>
            <a:r>
              <a:rPr lang="en-US"/>
              <a:t>| </a:t>
            </a:r>
            <a:fld id="{F54BA9F3-CBAA-4DCF-AD2D-5ECAA0BE8875}" type="slidenum">
              <a:rPr lang="ru-RU" smtClean="0"/>
              <a:pPr/>
              <a:t>‹#›</a:t>
            </a:fld>
            <a:endParaRPr lang="ru-RU" dirty="0"/>
          </a:p>
        </p:txBody>
      </p:sp>
      <p:sp>
        <p:nvSpPr>
          <p:cNvPr id="5" name="Рисунок 4">
            <a:extLst>
              <a:ext uri="{FF2B5EF4-FFF2-40B4-BE49-F238E27FC236}">
                <a16:creationId xmlns:a16="http://schemas.microsoft.com/office/drawing/2014/main" id="{748FFE36-0848-13F4-5890-0E1A519A431D}"/>
              </a:ext>
            </a:extLst>
          </p:cNvPr>
          <p:cNvSpPr>
            <a:spLocks noGrp="1"/>
          </p:cNvSpPr>
          <p:nvPr>
            <p:ph type="pic" sz="quarter" idx="11"/>
          </p:nvPr>
        </p:nvSpPr>
        <p:spPr>
          <a:xfrm>
            <a:off x="359999" y="356400"/>
            <a:ext cx="4680000" cy="5763600"/>
          </a:xfrm>
        </p:spPr>
        <p:txBody>
          <a:bodyPr/>
          <a:lstStyle/>
          <a:p>
            <a:endParaRPr lang="ru-RU"/>
          </a:p>
        </p:txBody>
      </p:sp>
      <p:sp>
        <p:nvSpPr>
          <p:cNvPr id="7" name="Текст 6">
            <a:extLst>
              <a:ext uri="{FF2B5EF4-FFF2-40B4-BE49-F238E27FC236}">
                <a16:creationId xmlns:a16="http://schemas.microsoft.com/office/drawing/2014/main" id="{CBE14C24-E673-E693-C4E1-E04CB1BE97C7}"/>
              </a:ext>
            </a:extLst>
          </p:cNvPr>
          <p:cNvSpPr>
            <a:spLocks noGrp="1"/>
          </p:cNvSpPr>
          <p:nvPr>
            <p:ph type="body" sz="quarter" idx="12"/>
          </p:nvPr>
        </p:nvSpPr>
        <p:spPr>
          <a:xfrm>
            <a:off x="5400675" y="1616075"/>
            <a:ext cx="5580063" cy="936625"/>
          </a:xfrm>
        </p:spPr>
        <p:txBody>
          <a:bodyPr/>
          <a:lstStyle>
            <a:lvl1pPr>
              <a:defRPr sz="1400">
                <a:solidFill>
                  <a:srgbClr val="0077C8"/>
                </a:solidFill>
              </a:defRPr>
            </a:lvl1pPr>
          </a:lstStyle>
          <a:p>
            <a:pPr lvl="0"/>
            <a:r>
              <a:rPr lang="ru-RU" dirty="0"/>
              <a:t>Образец текста</a:t>
            </a:r>
          </a:p>
        </p:txBody>
      </p:sp>
      <p:sp>
        <p:nvSpPr>
          <p:cNvPr id="9" name="Текст 8">
            <a:extLst>
              <a:ext uri="{FF2B5EF4-FFF2-40B4-BE49-F238E27FC236}">
                <a16:creationId xmlns:a16="http://schemas.microsoft.com/office/drawing/2014/main" id="{773535D1-86AD-3D4C-90A9-5943021DB84F}"/>
              </a:ext>
            </a:extLst>
          </p:cNvPr>
          <p:cNvSpPr>
            <a:spLocks noGrp="1"/>
          </p:cNvSpPr>
          <p:nvPr>
            <p:ph type="body" sz="quarter" idx="13"/>
          </p:nvPr>
        </p:nvSpPr>
        <p:spPr>
          <a:xfrm>
            <a:off x="5400675" y="2552700"/>
            <a:ext cx="5580063" cy="2838450"/>
          </a:xfrm>
        </p:spPr>
        <p:txBody>
          <a:bodyPr/>
          <a:lstStyle/>
          <a:p>
            <a:pPr lvl="0"/>
            <a:r>
              <a:rPr lang="ru-RU" dirty="0"/>
              <a:t>Образец текста</a:t>
            </a:r>
          </a:p>
        </p:txBody>
      </p:sp>
      <p:sp>
        <p:nvSpPr>
          <p:cNvPr id="10" name="Текст 6">
            <a:extLst>
              <a:ext uri="{FF2B5EF4-FFF2-40B4-BE49-F238E27FC236}">
                <a16:creationId xmlns:a16="http://schemas.microsoft.com/office/drawing/2014/main" id="{A1FB1763-09A4-DE9E-37F9-F70588A8EB91}"/>
              </a:ext>
            </a:extLst>
          </p:cNvPr>
          <p:cNvSpPr>
            <a:spLocks noGrp="1"/>
          </p:cNvSpPr>
          <p:nvPr>
            <p:ph type="body" sz="quarter" idx="14"/>
          </p:nvPr>
        </p:nvSpPr>
        <p:spPr>
          <a:xfrm>
            <a:off x="539750" y="0"/>
            <a:ext cx="8820214" cy="360363"/>
          </a:xfrm>
        </p:spPr>
        <p:txBody>
          <a:bodyPr lIns="0" tIns="0" rIns="0" bIns="0" anchor="ctr" anchorCtr="0"/>
          <a:lstStyle>
            <a:lvl1pPr algn="l">
              <a:buNone/>
              <a:defRPr sz="1000" b="1">
                <a:solidFill>
                  <a:schemeClr val="bg1">
                    <a:lumMod val="65000"/>
                  </a:schemeClr>
                </a:solidFill>
              </a:defRPr>
            </a:lvl1pPr>
          </a:lstStyle>
          <a:p>
            <a:pPr lvl="0"/>
            <a:r>
              <a:rPr lang="ru-RU" dirty="0"/>
              <a:t>Образец текста</a:t>
            </a:r>
          </a:p>
        </p:txBody>
      </p:sp>
    </p:spTree>
    <p:extLst>
      <p:ext uri="{BB962C8B-B14F-4D97-AF65-F5344CB8AC3E}">
        <p14:creationId xmlns:p14="http://schemas.microsoft.com/office/powerpoint/2010/main" val="1955342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Фотоколлаж вариант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40200" y="719138"/>
            <a:ext cx="6840538" cy="864000"/>
          </a:xfrm>
        </p:spPr>
        <p:txBody>
          <a:bodyPr lIns="0" tIns="0" rIns="0" bIns="0">
            <a:noAutofit/>
          </a:bodyPr>
          <a:lstStyle>
            <a:lvl1pPr>
              <a:defRPr sz="2200" b="1">
                <a:solidFill>
                  <a:srgbClr val="0077C8"/>
                </a:solidFill>
              </a:defRPr>
            </a:lvl1pPr>
          </a:lstStyle>
          <a:p>
            <a:r>
              <a:rPr lang="ru-RU" dirty="0"/>
              <a:t>ОБРАЗЕЦ ЗАГОЛОВКА</a:t>
            </a:r>
            <a:endParaRPr lang="en-US" dirty="0"/>
          </a:p>
        </p:txBody>
      </p:sp>
      <p:sp>
        <p:nvSpPr>
          <p:cNvPr id="17" name="Текст 6">
            <a:extLst>
              <a:ext uri="{FF2B5EF4-FFF2-40B4-BE49-F238E27FC236}">
                <a16:creationId xmlns:a16="http://schemas.microsoft.com/office/drawing/2014/main" id="{A71466D8-EE1C-4AF2-96C8-8466F765F29C}"/>
              </a:ext>
            </a:extLst>
          </p:cNvPr>
          <p:cNvSpPr>
            <a:spLocks noGrp="1"/>
          </p:cNvSpPr>
          <p:nvPr>
            <p:ph type="body" sz="quarter" idx="11"/>
          </p:nvPr>
        </p:nvSpPr>
        <p:spPr>
          <a:xfrm>
            <a:off x="539750" y="0"/>
            <a:ext cx="8820214" cy="360363"/>
          </a:xfrm>
        </p:spPr>
        <p:txBody>
          <a:bodyPr lIns="0" tIns="0" rIns="0" bIns="0" anchor="ctr" anchorCtr="0"/>
          <a:lstStyle>
            <a:lvl1pPr algn="l">
              <a:buNone/>
              <a:defRPr sz="1000" b="1">
                <a:solidFill>
                  <a:schemeClr val="bg1">
                    <a:lumMod val="65000"/>
                  </a:schemeClr>
                </a:solidFill>
              </a:defRPr>
            </a:lvl1pPr>
          </a:lstStyle>
          <a:p>
            <a:pPr lvl="0"/>
            <a:r>
              <a:rPr lang="ru-RU" dirty="0"/>
              <a:t>Образец текста</a:t>
            </a:r>
          </a:p>
        </p:txBody>
      </p:sp>
      <p:sp>
        <p:nvSpPr>
          <p:cNvPr id="4" name="Slide Number Placeholder 5">
            <a:extLst>
              <a:ext uri="{FF2B5EF4-FFF2-40B4-BE49-F238E27FC236}">
                <a16:creationId xmlns:a16="http://schemas.microsoft.com/office/drawing/2014/main" id="{D3977900-6DD6-6EC0-8A79-2E2866DD9AF4}"/>
              </a:ext>
            </a:extLst>
          </p:cNvPr>
          <p:cNvSpPr>
            <a:spLocks noGrp="1"/>
          </p:cNvSpPr>
          <p:nvPr>
            <p:ph type="sldNum" sz="quarter" idx="4"/>
          </p:nvPr>
        </p:nvSpPr>
        <p:spPr>
          <a:xfrm>
            <a:off x="10620000" y="0"/>
            <a:ext cx="712221" cy="360363"/>
          </a:xfrm>
          <a:prstGeom prst="rect">
            <a:avLst/>
          </a:prstGeom>
        </p:spPr>
        <p:txBody>
          <a:bodyPr vert="horz" lIns="0" tIns="0" rIns="0" bIns="36000" rtlCol="0" anchor="ctr"/>
          <a:lstStyle>
            <a:lvl1pPr algn="l">
              <a:defRPr sz="1000" b="1">
                <a:solidFill>
                  <a:schemeClr val="bg1">
                    <a:lumMod val="6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US" dirty="0"/>
              <a:t>| </a:t>
            </a:r>
            <a:fld id="{F54BA9F3-CBAA-4DCF-AD2D-5ECAA0BE8875}" type="slidenum">
              <a:rPr lang="ru-RU" smtClean="0"/>
              <a:pPr/>
              <a:t>‹#›</a:t>
            </a:fld>
            <a:endParaRPr lang="ru-RU" dirty="0"/>
          </a:p>
        </p:txBody>
      </p:sp>
      <p:sp>
        <p:nvSpPr>
          <p:cNvPr id="6" name="Текст 5">
            <a:extLst>
              <a:ext uri="{FF2B5EF4-FFF2-40B4-BE49-F238E27FC236}">
                <a16:creationId xmlns:a16="http://schemas.microsoft.com/office/drawing/2014/main" id="{777251C4-29B5-50F3-5D2C-E34B6705B726}"/>
              </a:ext>
            </a:extLst>
          </p:cNvPr>
          <p:cNvSpPr>
            <a:spLocks noGrp="1"/>
          </p:cNvSpPr>
          <p:nvPr>
            <p:ph type="body" sz="quarter" idx="12"/>
          </p:nvPr>
        </p:nvSpPr>
        <p:spPr>
          <a:xfrm>
            <a:off x="4140198" y="1965508"/>
            <a:ext cx="6840539" cy="2358730"/>
          </a:xfrm>
        </p:spPr>
        <p:txBody>
          <a:bodyPr>
            <a:noAutofit/>
          </a:bodyPr>
          <a:lstStyle>
            <a:lvl1pPr>
              <a:defRPr sz="1200"/>
            </a:lvl1pPr>
          </a:lstStyle>
          <a:p>
            <a:pPr lvl="0"/>
            <a:r>
              <a:rPr lang="ru-RU" dirty="0"/>
              <a:t>Образец текста</a:t>
            </a:r>
          </a:p>
        </p:txBody>
      </p:sp>
      <p:sp>
        <p:nvSpPr>
          <p:cNvPr id="5" name="Текст 4">
            <a:extLst>
              <a:ext uri="{FF2B5EF4-FFF2-40B4-BE49-F238E27FC236}">
                <a16:creationId xmlns:a16="http://schemas.microsoft.com/office/drawing/2014/main" id="{65857AED-F111-2A0F-AF6E-1AA9622A7A16}"/>
              </a:ext>
            </a:extLst>
          </p:cNvPr>
          <p:cNvSpPr>
            <a:spLocks noGrp="1"/>
          </p:cNvSpPr>
          <p:nvPr>
            <p:ph type="body" sz="quarter" idx="13" hasCustomPrompt="1"/>
          </p:nvPr>
        </p:nvSpPr>
        <p:spPr>
          <a:xfrm>
            <a:off x="4140200" y="1593801"/>
            <a:ext cx="3711575" cy="360000"/>
          </a:xfrm>
        </p:spPr>
        <p:txBody>
          <a:bodyPr/>
          <a:lstStyle>
            <a:lvl1pPr>
              <a:defRPr sz="1600" b="1">
                <a:solidFill>
                  <a:schemeClr val="tx1">
                    <a:lumMod val="65000"/>
                    <a:lumOff val="35000"/>
                  </a:schemeClr>
                </a:solidFill>
              </a:defRPr>
            </a:lvl1pPr>
          </a:lstStyle>
          <a:p>
            <a:pPr lvl="0"/>
            <a:r>
              <a:rPr lang="ru-RU" dirty="0"/>
              <a:t>ОБРАЗЕЦ ТЕКСТА</a:t>
            </a:r>
          </a:p>
        </p:txBody>
      </p:sp>
      <p:sp>
        <p:nvSpPr>
          <p:cNvPr id="7" name="Рисунок 6">
            <a:extLst>
              <a:ext uri="{FF2B5EF4-FFF2-40B4-BE49-F238E27FC236}">
                <a16:creationId xmlns:a16="http://schemas.microsoft.com/office/drawing/2014/main" id="{E48A111D-234D-779B-0E94-140B61C3E759}"/>
              </a:ext>
            </a:extLst>
          </p:cNvPr>
          <p:cNvSpPr>
            <a:spLocks noGrp="1"/>
          </p:cNvSpPr>
          <p:nvPr>
            <p:ph type="pic" sz="quarter" idx="14"/>
          </p:nvPr>
        </p:nvSpPr>
        <p:spPr>
          <a:xfrm>
            <a:off x="539750" y="719138"/>
            <a:ext cx="3240088" cy="3600000"/>
          </a:xfrm>
        </p:spPr>
        <p:txBody>
          <a:bodyPr/>
          <a:lstStyle/>
          <a:p>
            <a:endParaRPr lang="ru-RU"/>
          </a:p>
        </p:txBody>
      </p:sp>
      <p:sp>
        <p:nvSpPr>
          <p:cNvPr id="9" name="Рисунок 8">
            <a:extLst>
              <a:ext uri="{FF2B5EF4-FFF2-40B4-BE49-F238E27FC236}">
                <a16:creationId xmlns:a16="http://schemas.microsoft.com/office/drawing/2014/main" id="{332C9326-B908-B5FB-17FF-736B0C14F79F}"/>
              </a:ext>
            </a:extLst>
          </p:cNvPr>
          <p:cNvSpPr>
            <a:spLocks noGrp="1"/>
          </p:cNvSpPr>
          <p:nvPr>
            <p:ph type="pic" sz="quarter" idx="15"/>
          </p:nvPr>
        </p:nvSpPr>
        <p:spPr>
          <a:xfrm>
            <a:off x="2231838" y="4428175"/>
            <a:ext cx="1548000" cy="2052000"/>
          </a:xfrm>
        </p:spPr>
        <p:txBody>
          <a:bodyPr/>
          <a:lstStyle/>
          <a:p>
            <a:endParaRPr lang="ru-RU"/>
          </a:p>
        </p:txBody>
      </p:sp>
      <p:sp>
        <p:nvSpPr>
          <p:cNvPr id="11" name="Рисунок 10">
            <a:extLst>
              <a:ext uri="{FF2B5EF4-FFF2-40B4-BE49-F238E27FC236}">
                <a16:creationId xmlns:a16="http://schemas.microsoft.com/office/drawing/2014/main" id="{2B356A03-2070-0811-A0DA-66D1DC8FDE63}"/>
              </a:ext>
            </a:extLst>
          </p:cNvPr>
          <p:cNvSpPr>
            <a:spLocks noGrp="1"/>
          </p:cNvSpPr>
          <p:nvPr>
            <p:ph type="pic" sz="quarter" idx="16"/>
          </p:nvPr>
        </p:nvSpPr>
        <p:spPr>
          <a:xfrm>
            <a:off x="0" y="4428175"/>
            <a:ext cx="2088000" cy="1440000"/>
          </a:xfrm>
        </p:spPr>
        <p:txBody>
          <a:bodyPr/>
          <a:lstStyle/>
          <a:p>
            <a:endParaRPr lang="ru-RU"/>
          </a:p>
        </p:txBody>
      </p:sp>
    </p:spTree>
    <p:extLst>
      <p:ext uri="{BB962C8B-B14F-4D97-AF65-F5344CB8AC3E}">
        <p14:creationId xmlns:p14="http://schemas.microsoft.com/office/powerpoint/2010/main" val="347852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Фотоколлаж вариант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750" y="719138"/>
            <a:ext cx="6840538" cy="864000"/>
          </a:xfrm>
        </p:spPr>
        <p:txBody>
          <a:bodyPr lIns="0" tIns="0" rIns="0" bIns="0">
            <a:noAutofit/>
          </a:bodyPr>
          <a:lstStyle>
            <a:lvl1pPr>
              <a:defRPr sz="2200" b="1">
                <a:solidFill>
                  <a:srgbClr val="0077C8"/>
                </a:solidFill>
              </a:defRPr>
            </a:lvl1pPr>
          </a:lstStyle>
          <a:p>
            <a:r>
              <a:rPr lang="ru-RU" dirty="0"/>
              <a:t>ОБРАЗЕЦ ЗАГОЛОВКА</a:t>
            </a:r>
            <a:endParaRPr lang="en-US" dirty="0"/>
          </a:p>
        </p:txBody>
      </p:sp>
      <p:sp>
        <p:nvSpPr>
          <p:cNvPr id="17" name="Текст 6">
            <a:extLst>
              <a:ext uri="{FF2B5EF4-FFF2-40B4-BE49-F238E27FC236}">
                <a16:creationId xmlns:a16="http://schemas.microsoft.com/office/drawing/2014/main" id="{A71466D8-EE1C-4AF2-96C8-8466F765F29C}"/>
              </a:ext>
            </a:extLst>
          </p:cNvPr>
          <p:cNvSpPr>
            <a:spLocks noGrp="1"/>
          </p:cNvSpPr>
          <p:nvPr>
            <p:ph type="body" sz="quarter" idx="11"/>
          </p:nvPr>
        </p:nvSpPr>
        <p:spPr>
          <a:xfrm>
            <a:off x="539750" y="0"/>
            <a:ext cx="8820214" cy="360363"/>
          </a:xfrm>
        </p:spPr>
        <p:txBody>
          <a:bodyPr lIns="0" tIns="0" rIns="0" bIns="0" anchor="ctr" anchorCtr="0"/>
          <a:lstStyle>
            <a:lvl1pPr algn="l">
              <a:buNone/>
              <a:defRPr sz="1000" b="1">
                <a:solidFill>
                  <a:schemeClr val="bg1">
                    <a:lumMod val="65000"/>
                  </a:schemeClr>
                </a:solidFill>
              </a:defRPr>
            </a:lvl1pPr>
          </a:lstStyle>
          <a:p>
            <a:pPr lvl="0"/>
            <a:r>
              <a:rPr lang="ru-RU" dirty="0"/>
              <a:t>Образец текста</a:t>
            </a:r>
          </a:p>
        </p:txBody>
      </p:sp>
      <p:sp>
        <p:nvSpPr>
          <p:cNvPr id="4" name="Slide Number Placeholder 5">
            <a:extLst>
              <a:ext uri="{FF2B5EF4-FFF2-40B4-BE49-F238E27FC236}">
                <a16:creationId xmlns:a16="http://schemas.microsoft.com/office/drawing/2014/main" id="{D3977900-6DD6-6EC0-8A79-2E2866DD9AF4}"/>
              </a:ext>
            </a:extLst>
          </p:cNvPr>
          <p:cNvSpPr>
            <a:spLocks noGrp="1"/>
          </p:cNvSpPr>
          <p:nvPr>
            <p:ph type="sldNum" sz="quarter" idx="4"/>
          </p:nvPr>
        </p:nvSpPr>
        <p:spPr>
          <a:xfrm>
            <a:off x="10620000" y="0"/>
            <a:ext cx="712221" cy="360363"/>
          </a:xfrm>
          <a:prstGeom prst="rect">
            <a:avLst/>
          </a:prstGeom>
        </p:spPr>
        <p:txBody>
          <a:bodyPr vert="horz" lIns="0" tIns="0" rIns="0" bIns="36000" rtlCol="0" anchor="ctr"/>
          <a:lstStyle>
            <a:lvl1pPr algn="l">
              <a:defRPr sz="1000" b="1">
                <a:solidFill>
                  <a:schemeClr val="bg1">
                    <a:lumMod val="6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US" dirty="0"/>
              <a:t>| </a:t>
            </a:r>
            <a:fld id="{F54BA9F3-CBAA-4DCF-AD2D-5ECAA0BE8875}" type="slidenum">
              <a:rPr lang="ru-RU" smtClean="0"/>
              <a:pPr/>
              <a:t>‹#›</a:t>
            </a:fld>
            <a:endParaRPr lang="ru-RU" dirty="0"/>
          </a:p>
        </p:txBody>
      </p:sp>
      <p:sp>
        <p:nvSpPr>
          <p:cNvPr id="6" name="Текст 5">
            <a:extLst>
              <a:ext uri="{FF2B5EF4-FFF2-40B4-BE49-F238E27FC236}">
                <a16:creationId xmlns:a16="http://schemas.microsoft.com/office/drawing/2014/main" id="{777251C4-29B5-50F3-5D2C-E34B6705B726}"/>
              </a:ext>
            </a:extLst>
          </p:cNvPr>
          <p:cNvSpPr>
            <a:spLocks noGrp="1"/>
          </p:cNvSpPr>
          <p:nvPr>
            <p:ph type="body" sz="quarter" idx="12"/>
          </p:nvPr>
        </p:nvSpPr>
        <p:spPr>
          <a:xfrm>
            <a:off x="539748" y="1965508"/>
            <a:ext cx="6840539" cy="2358730"/>
          </a:xfrm>
        </p:spPr>
        <p:txBody>
          <a:bodyPr>
            <a:noAutofit/>
          </a:bodyPr>
          <a:lstStyle>
            <a:lvl1pPr>
              <a:defRPr sz="1200"/>
            </a:lvl1pPr>
          </a:lstStyle>
          <a:p>
            <a:pPr lvl="0"/>
            <a:r>
              <a:rPr lang="ru-RU" dirty="0"/>
              <a:t>Образец текста</a:t>
            </a:r>
          </a:p>
        </p:txBody>
      </p:sp>
      <p:sp>
        <p:nvSpPr>
          <p:cNvPr id="5" name="Текст 4">
            <a:extLst>
              <a:ext uri="{FF2B5EF4-FFF2-40B4-BE49-F238E27FC236}">
                <a16:creationId xmlns:a16="http://schemas.microsoft.com/office/drawing/2014/main" id="{65857AED-F111-2A0F-AF6E-1AA9622A7A16}"/>
              </a:ext>
            </a:extLst>
          </p:cNvPr>
          <p:cNvSpPr>
            <a:spLocks noGrp="1"/>
          </p:cNvSpPr>
          <p:nvPr>
            <p:ph type="body" sz="quarter" idx="13" hasCustomPrompt="1"/>
          </p:nvPr>
        </p:nvSpPr>
        <p:spPr>
          <a:xfrm>
            <a:off x="539750" y="1593801"/>
            <a:ext cx="3711575" cy="360000"/>
          </a:xfrm>
        </p:spPr>
        <p:txBody>
          <a:bodyPr/>
          <a:lstStyle>
            <a:lvl1pPr>
              <a:defRPr sz="1600" b="1">
                <a:solidFill>
                  <a:schemeClr val="tx1">
                    <a:lumMod val="65000"/>
                    <a:lumOff val="35000"/>
                  </a:schemeClr>
                </a:solidFill>
              </a:defRPr>
            </a:lvl1pPr>
          </a:lstStyle>
          <a:p>
            <a:pPr lvl="0"/>
            <a:r>
              <a:rPr lang="ru-RU" dirty="0"/>
              <a:t>ОБРАЗЕЦ ТЕКСТА</a:t>
            </a:r>
          </a:p>
        </p:txBody>
      </p:sp>
      <p:sp>
        <p:nvSpPr>
          <p:cNvPr id="7" name="Рисунок 6">
            <a:extLst>
              <a:ext uri="{FF2B5EF4-FFF2-40B4-BE49-F238E27FC236}">
                <a16:creationId xmlns:a16="http://schemas.microsoft.com/office/drawing/2014/main" id="{E48A111D-234D-779B-0E94-140B61C3E759}"/>
              </a:ext>
            </a:extLst>
          </p:cNvPr>
          <p:cNvSpPr>
            <a:spLocks noGrp="1"/>
          </p:cNvSpPr>
          <p:nvPr>
            <p:ph type="pic" sz="quarter" idx="14"/>
          </p:nvPr>
        </p:nvSpPr>
        <p:spPr>
          <a:xfrm>
            <a:off x="7740650" y="356400"/>
            <a:ext cx="3240088" cy="1980000"/>
          </a:xfrm>
        </p:spPr>
        <p:txBody>
          <a:bodyPr/>
          <a:lstStyle/>
          <a:p>
            <a:endParaRPr lang="ru-RU"/>
          </a:p>
        </p:txBody>
      </p:sp>
      <p:sp>
        <p:nvSpPr>
          <p:cNvPr id="11" name="Рисунок 10">
            <a:extLst>
              <a:ext uri="{FF2B5EF4-FFF2-40B4-BE49-F238E27FC236}">
                <a16:creationId xmlns:a16="http://schemas.microsoft.com/office/drawing/2014/main" id="{2B356A03-2070-0811-A0DA-66D1DC8FDE63}"/>
              </a:ext>
            </a:extLst>
          </p:cNvPr>
          <p:cNvSpPr>
            <a:spLocks noGrp="1"/>
          </p:cNvSpPr>
          <p:nvPr>
            <p:ph type="pic" sz="quarter" idx="16"/>
          </p:nvPr>
        </p:nvSpPr>
        <p:spPr>
          <a:xfrm>
            <a:off x="7740650" y="2448175"/>
            <a:ext cx="3240088" cy="4032000"/>
          </a:xfrm>
        </p:spPr>
        <p:txBody>
          <a:bodyPr/>
          <a:lstStyle/>
          <a:p>
            <a:endParaRPr lang="ru-RU"/>
          </a:p>
        </p:txBody>
      </p:sp>
    </p:spTree>
    <p:extLst>
      <p:ext uri="{BB962C8B-B14F-4D97-AF65-F5344CB8AC3E}">
        <p14:creationId xmlns:p14="http://schemas.microsoft.com/office/powerpoint/2010/main" val="32154308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Фотоколлаж вариант 3">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119812" y="719138"/>
            <a:ext cx="4860925" cy="864000"/>
          </a:xfrm>
        </p:spPr>
        <p:txBody>
          <a:bodyPr lIns="0" tIns="0" rIns="0" bIns="0">
            <a:noAutofit/>
          </a:bodyPr>
          <a:lstStyle>
            <a:lvl1pPr>
              <a:defRPr sz="2200" b="1">
                <a:solidFill>
                  <a:srgbClr val="0077C8"/>
                </a:solidFill>
              </a:defRPr>
            </a:lvl1pPr>
          </a:lstStyle>
          <a:p>
            <a:r>
              <a:rPr lang="ru-RU" dirty="0"/>
              <a:t>ОБРАЗЕЦ ЗАГОЛОВКА</a:t>
            </a:r>
            <a:endParaRPr lang="en-US" dirty="0"/>
          </a:p>
        </p:txBody>
      </p:sp>
      <p:sp>
        <p:nvSpPr>
          <p:cNvPr id="17" name="Текст 6">
            <a:extLst>
              <a:ext uri="{FF2B5EF4-FFF2-40B4-BE49-F238E27FC236}">
                <a16:creationId xmlns:a16="http://schemas.microsoft.com/office/drawing/2014/main" id="{A71466D8-EE1C-4AF2-96C8-8466F765F29C}"/>
              </a:ext>
            </a:extLst>
          </p:cNvPr>
          <p:cNvSpPr>
            <a:spLocks noGrp="1"/>
          </p:cNvSpPr>
          <p:nvPr>
            <p:ph type="body" sz="quarter" idx="11"/>
          </p:nvPr>
        </p:nvSpPr>
        <p:spPr>
          <a:xfrm>
            <a:off x="539750" y="0"/>
            <a:ext cx="8820214" cy="360363"/>
          </a:xfrm>
        </p:spPr>
        <p:txBody>
          <a:bodyPr lIns="0" tIns="0" rIns="0" bIns="0" anchor="ctr" anchorCtr="0"/>
          <a:lstStyle>
            <a:lvl1pPr algn="l">
              <a:buNone/>
              <a:defRPr sz="1000" b="1">
                <a:solidFill>
                  <a:schemeClr val="bg1">
                    <a:lumMod val="65000"/>
                  </a:schemeClr>
                </a:solidFill>
              </a:defRPr>
            </a:lvl1pPr>
          </a:lstStyle>
          <a:p>
            <a:pPr lvl="0"/>
            <a:r>
              <a:rPr lang="ru-RU" dirty="0"/>
              <a:t>Образец текста</a:t>
            </a:r>
          </a:p>
        </p:txBody>
      </p:sp>
      <p:sp>
        <p:nvSpPr>
          <p:cNvPr id="4" name="Slide Number Placeholder 5">
            <a:extLst>
              <a:ext uri="{FF2B5EF4-FFF2-40B4-BE49-F238E27FC236}">
                <a16:creationId xmlns:a16="http://schemas.microsoft.com/office/drawing/2014/main" id="{D3977900-6DD6-6EC0-8A79-2E2866DD9AF4}"/>
              </a:ext>
            </a:extLst>
          </p:cNvPr>
          <p:cNvSpPr>
            <a:spLocks noGrp="1"/>
          </p:cNvSpPr>
          <p:nvPr>
            <p:ph type="sldNum" sz="quarter" idx="4"/>
          </p:nvPr>
        </p:nvSpPr>
        <p:spPr>
          <a:xfrm>
            <a:off x="10620000" y="0"/>
            <a:ext cx="712221" cy="360363"/>
          </a:xfrm>
          <a:prstGeom prst="rect">
            <a:avLst/>
          </a:prstGeom>
        </p:spPr>
        <p:txBody>
          <a:bodyPr vert="horz" lIns="0" tIns="0" rIns="0" bIns="36000" rtlCol="0" anchor="ctr"/>
          <a:lstStyle>
            <a:lvl1pPr algn="l">
              <a:defRPr sz="1000" b="1">
                <a:solidFill>
                  <a:schemeClr val="bg1">
                    <a:lumMod val="6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US" dirty="0"/>
              <a:t>| </a:t>
            </a:r>
            <a:fld id="{F54BA9F3-CBAA-4DCF-AD2D-5ECAA0BE8875}" type="slidenum">
              <a:rPr lang="ru-RU" smtClean="0"/>
              <a:pPr/>
              <a:t>‹#›</a:t>
            </a:fld>
            <a:endParaRPr lang="ru-RU" dirty="0"/>
          </a:p>
        </p:txBody>
      </p:sp>
      <p:sp>
        <p:nvSpPr>
          <p:cNvPr id="6" name="Текст 5">
            <a:extLst>
              <a:ext uri="{FF2B5EF4-FFF2-40B4-BE49-F238E27FC236}">
                <a16:creationId xmlns:a16="http://schemas.microsoft.com/office/drawing/2014/main" id="{777251C4-29B5-50F3-5D2C-E34B6705B726}"/>
              </a:ext>
            </a:extLst>
          </p:cNvPr>
          <p:cNvSpPr>
            <a:spLocks noGrp="1"/>
          </p:cNvSpPr>
          <p:nvPr>
            <p:ph type="body" sz="quarter" idx="12"/>
          </p:nvPr>
        </p:nvSpPr>
        <p:spPr>
          <a:xfrm>
            <a:off x="6119813" y="1965508"/>
            <a:ext cx="4860924" cy="2358730"/>
          </a:xfrm>
        </p:spPr>
        <p:txBody>
          <a:bodyPr>
            <a:noAutofit/>
          </a:bodyPr>
          <a:lstStyle>
            <a:lvl1pPr>
              <a:defRPr sz="1200"/>
            </a:lvl1pPr>
          </a:lstStyle>
          <a:p>
            <a:pPr lvl="0"/>
            <a:r>
              <a:rPr lang="ru-RU" dirty="0"/>
              <a:t>Образец текста</a:t>
            </a:r>
          </a:p>
        </p:txBody>
      </p:sp>
      <p:sp>
        <p:nvSpPr>
          <p:cNvPr id="5" name="Текст 4">
            <a:extLst>
              <a:ext uri="{FF2B5EF4-FFF2-40B4-BE49-F238E27FC236}">
                <a16:creationId xmlns:a16="http://schemas.microsoft.com/office/drawing/2014/main" id="{65857AED-F111-2A0F-AF6E-1AA9622A7A16}"/>
              </a:ext>
            </a:extLst>
          </p:cNvPr>
          <p:cNvSpPr>
            <a:spLocks noGrp="1"/>
          </p:cNvSpPr>
          <p:nvPr>
            <p:ph type="body" sz="quarter" idx="13" hasCustomPrompt="1"/>
          </p:nvPr>
        </p:nvSpPr>
        <p:spPr>
          <a:xfrm>
            <a:off x="6119812" y="1593801"/>
            <a:ext cx="3711575" cy="360000"/>
          </a:xfrm>
        </p:spPr>
        <p:txBody>
          <a:bodyPr/>
          <a:lstStyle>
            <a:lvl1pPr>
              <a:defRPr sz="1600" b="1">
                <a:solidFill>
                  <a:schemeClr val="tx1">
                    <a:lumMod val="65000"/>
                    <a:lumOff val="35000"/>
                  </a:schemeClr>
                </a:solidFill>
              </a:defRPr>
            </a:lvl1pPr>
          </a:lstStyle>
          <a:p>
            <a:pPr lvl="0"/>
            <a:r>
              <a:rPr lang="ru-RU" dirty="0"/>
              <a:t>ОБРАЗЕЦ ТЕКСТА</a:t>
            </a:r>
          </a:p>
        </p:txBody>
      </p:sp>
      <p:sp>
        <p:nvSpPr>
          <p:cNvPr id="7" name="Рисунок 6">
            <a:extLst>
              <a:ext uri="{FF2B5EF4-FFF2-40B4-BE49-F238E27FC236}">
                <a16:creationId xmlns:a16="http://schemas.microsoft.com/office/drawing/2014/main" id="{E48A111D-234D-779B-0E94-140B61C3E759}"/>
              </a:ext>
            </a:extLst>
          </p:cNvPr>
          <p:cNvSpPr>
            <a:spLocks noGrp="1"/>
          </p:cNvSpPr>
          <p:nvPr>
            <p:ph type="pic" sz="quarter" idx="14"/>
          </p:nvPr>
        </p:nvSpPr>
        <p:spPr>
          <a:xfrm>
            <a:off x="360000" y="356400"/>
            <a:ext cx="5400000" cy="3168000"/>
          </a:xfrm>
        </p:spPr>
        <p:txBody>
          <a:bodyPr/>
          <a:lstStyle/>
          <a:p>
            <a:endParaRPr lang="ru-RU"/>
          </a:p>
        </p:txBody>
      </p:sp>
      <p:sp>
        <p:nvSpPr>
          <p:cNvPr id="9" name="Рисунок 8">
            <a:extLst>
              <a:ext uri="{FF2B5EF4-FFF2-40B4-BE49-F238E27FC236}">
                <a16:creationId xmlns:a16="http://schemas.microsoft.com/office/drawing/2014/main" id="{332C9326-B908-B5FB-17FF-736B0C14F79F}"/>
              </a:ext>
            </a:extLst>
          </p:cNvPr>
          <p:cNvSpPr>
            <a:spLocks noGrp="1"/>
          </p:cNvSpPr>
          <p:nvPr>
            <p:ph type="pic" sz="quarter" idx="15"/>
          </p:nvPr>
        </p:nvSpPr>
        <p:spPr>
          <a:xfrm>
            <a:off x="3312000" y="3672175"/>
            <a:ext cx="2448000" cy="2808000"/>
          </a:xfrm>
        </p:spPr>
        <p:txBody>
          <a:bodyPr/>
          <a:lstStyle/>
          <a:p>
            <a:endParaRPr lang="ru-RU"/>
          </a:p>
        </p:txBody>
      </p:sp>
      <p:sp>
        <p:nvSpPr>
          <p:cNvPr id="11" name="Рисунок 10">
            <a:extLst>
              <a:ext uri="{FF2B5EF4-FFF2-40B4-BE49-F238E27FC236}">
                <a16:creationId xmlns:a16="http://schemas.microsoft.com/office/drawing/2014/main" id="{2B356A03-2070-0811-A0DA-66D1DC8FDE63}"/>
              </a:ext>
            </a:extLst>
          </p:cNvPr>
          <p:cNvSpPr>
            <a:spLocks noGrp="1"/>
          </p:cNvSpPr>
          <p:nvPr>
            <p:ph type="pic" sz="quarter" idx="16"/>
          </p:nvPr>
        </p:nvSpPr>
        <p:spPr>
          <a:xfrm>
            <a:off x="0" y="3672175"/>
            <a:ext cx="3168000" cy="2447638"/>
          </a:xfrm>
        </p:spPr>
        <p:txBody>
          <a:bodyPr/>
          <a:lstStyle/>
          <a:p>
            <a:endParaRPr lang="ru-RU"/>
          </a:p>
        </p:txBody>
      </p:sp>
    </p:spTree>
    <p:extLst>
      <p:ext uri="{BB962C8B-B14F-4D97-AF65-F5344CB8AC3E}">
        <p14:creationId xmlns:p14="http://schemas.microsoft.com/office/powerpoint/2010/main" val="6251074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Цифры и картинки">
    <p:spTree>
      <p:nvGrpSpPr>
        <p:cNvPr id="1" name=""/>
        <p:cNvGrpSpPr/>
        <p:nvPr/>
      </p:nvGrpSpPr>
      <p:grpSpPr>
        <a:xfrm>
          <a:off x="0" y="0"/>
          <a:ext cx="0" cy="0"/>
          <a:chOff x="0" y="0"/>
          <a:chExt cx="0" cy="0"/>
        </a:xfrm>
      </p:grpSpPr>
      <p:sp>
        <p:nvSpPr>
          <p:cNvPr id="17" name="Текст 6">
            <a:extLst>
              <a:ext uri="{FF2B5EF4-FFF2-40B4-BE49-F238E27FC236}">
                <a16:creationId xmlns:a16="http://schemas.microsoft.com/office/drawing/2014/main" id="{A71466D8-EE1C-4AF2-96C8-8466F765F29C}"/>
              </a:ext>
            </a:extLst>
          </p:cNvPr>
          <p:cNvSpPr>
            <a:spLocks noGrp="1"/>
          </p:cNvSpPr>
          <p:nvPr>
            <p:ph type="body" sz="quarter" idx="11"/>
          </p:nvPr>
        </p:nvSpPr>
        <p:spPr>
          <a:xfrm>
            <a:off x="539750" y="0"/>
            <a:ext cx="8820214" cy="360363"/>
          </a:xfrm>
        </p:spPr>
        <p:txBody>
          <a:bodyPr lIns="0" tIns="0" rIns="0" bIns="0" anchor="ctr" anchorCtr="0"/>
          <a:lstStyle>
            <a:lvl1pPr algn="l">
              <a:buNone/>
              <a:defRPr sz="1000" b="1">
                <a:solidFill>
                  <a:schemeClr val="bg1">
                    <a:lumMod val="65000"/>
                  </a:schemeClr>
                </a:solidFill>
              </a:defRPr>
            </a:lvl1pPr>
          </a:lstStyle>
          <a:p>
            <a:pPr lvl="0"/>
            <a:r>
              <a:rPr lang="ru-RU" dirty="0"/>
              <a:t>Образец текста</a:t>
            </a:r>
          </a:p>
        </p:txBody>
      </p:sp>
      <p:sp>
        <p:nvSpPr>
          <p:cNvPr id="4" name="Slide Number Placeholder 5">
            <a:extLst>
              <a:ext uri="{FF2B5EF4-FFF2-40B4-BE49-F238E27FC236}">
                <a16:creationId xmlns:a16="http://schemas.microsoft.com/office/drawing/2014/main" id="{D3977900-6DD6-6EC0-8A79-2E2866DD9AF4}"/>
              </a:ext>
            </a:extLst>
          </p:cNvPr>
          <p:cNvSpPr>
            <a:spLocks noGrp="1"/>
          </p:cNvSpPr>
          <p:nvPr>
            <p:ph type="sldNum" sz="quarter" idx="4"/>
          </p:nvPr>
        </p:nvSpPr>
        <p:spPr>
          <a:xfrm>
            <a:off x="10620000" y="0"/>
            <a:ext cx="712221" cy="360363"/>
          </a:xfrm>
          <a:prstGeom prst="rect">
            <a:avLst/>
          </a:prstGeom>
        </p:spPr>
        <p:txBody>
          <a:bodyPr vert="horz" lIns="0" tIns="0" rIns="0" bIns="36000" rtlCol="0" anchor="ctr"/>
          <a:lstStyle>
            <a:lvl1pPr algn="l">
              <a:defRPr sz="1000" b="1">
                <a:solidFill>
                  <a:schemeClr val="bg1">
                    <a:lumMod val="6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US" dirty="0"/>
              <a:t>| </a:t>
            </a:r>
            <a:fld id="{F54BA9F3-CBAA-4DCF-AD2D-5ECAA0BE8875}" type="slidenum">
              <a:rPr lang="ru-RU" smtClean="0"/>
              <a:pPr/>
              <a:t>‹#›</a:t>
            </a:fld>
            <a:endParaRPr lang="ru-RU" dirty="0"/>
          </a:p>
        </p:txBody>
      </p:sp>
      <p:sp>
        <p:nvSpPr>
          <p:cNvPr id="6" name="Текст 5">
            <a:extLst>
              <a:ext uri="{FF2B5EF4-FFF2-40B4-BE49-F238E27FC236}">
                <a16:creationId xmlns:a16="http://schemas.microsoft.com/office/drawing/2014/main" id="{777251C4-29B5-50F3-5D2C-E34B6705B726}"/>
              </a:ext>
            </a:extLst>
          </p:cNvPr>
          <p:cNvSpPr>
            <a:spLocks noGrp="1"/>
          </p:cNvSpPr>
          <p:nvPr>
            <p:ph type="body" sz="quarter" idx="12"/>
          </p:nvPr>
        </p:nvSpPr>
        <p:spPr>
          <a:xfrm>
            <a:off x="3960813" y="1889331"/>
            <a:ext cx="2143075" cy="894137"/>
          </a:xfrm>
        </p:spPr>
        <p:txBody>
          <a:bodyPr>
            <a:noAutofit/>
          </a:bodyPr>
          <a:lstStyle>
            <a:lvl1pPr>
              <a:defRPr sz="1200">
                <a:solidFill>
                  <a:srgbClr val="0077C8"/>
                </a:solidFill>
              </a:defRPr>
            </a:lvl1pPr>
          </a:lstStyle>
          <a:p>
            <a:pPr lvl="0"/>
            <a:r>
              <a:rPr lang="ru-RU" dirty="0"/>
              <a:t>Образец текста</a:t>
            </a:r>
          </a:p>
        </p:txBody>
      </p:sp>
      <p:sp>
        <p:nvSpPr>
          <p:cNvPr id="5" name="Текст 4">
            <a:extLst>
              <a:ext uri="{FF2B5EF4-FFF2-40B4-BE49-F238E27FC236}">
                <a16:creationId xmlns:a16="http://schemas.microsoft.com/office/drawing/2014/main" id="{65857AED-F111-2A0F-AF6E-1AA9622A7A16}"/>
              </a:ext>
            </a:extLst>
          </p:cNvPr>
          <p:cNvSpPr>
            <a:spLocks noGrp="1"/>
          </p:cNvSpPr>
          <p:nvPr>
            <p:ph type="body" sz="quarter" idx="13" hasCustomPrompt="1"/>
          </p:nvPr>
        </p:nvSpPr>
        <p:spPr>
          <a:xfrm>
            <a:off x="3960813" y="1082262"/>
            <a:ext cx="2439987" cy="765587"/>
          </a:xfrm>
        </p:spPr>
        <p:txBody>
          <a:bodyPr/>
          <a:lstStyle>
            <a:lvl1pPr>
              <a:defRPr sz="2400" b="1">
                <a:solidFill>
                  <a:srgbClr val="0077C8"/>
                </a:solidFill>
              </a:defRPr>
            </a:lvl1pPr>
          </a:lstStyle>
          <a:p>
            <a:pPr lvl="0"/>
            <a:r>
              <a:rPr lang="ru-RU" dirty="0"/>
              <a:t>ОБРАЗЕЦ ТЕКСТА</a:t>
            </a:r>
          </a:p>
        </p:txBody>
      </p:sp>
      <p:sp>
        <p:nvSpPr>
          <p:cNvPr id="3" name="Прямоугольник 2">
            <a:extLst>
              <a:ext uri="{FF2B5EF4-FFF2-40B4-BE49-F238E27FC236}">
                <a16:creationId xmlns:a16="http://schemas.microsoft.com/office/drawing/2014/main" id="{AD490BD8-92A7-9FA6-C15A-BDBBDD47D3FB}"/>
              </a:ext>
            </a:extLst>
          </p:cNvPr>
          <p:cNvSpPr/>
          <p:nvPr userDrawn="1"/>
        </p:nvSpPr>
        <p:spPr>
          <a:xfrm>
            <a:off x="0" y="5397499"/>
            <a:ext cx="11520488" cy="10826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p:cNvSpPr>
            <a:spLocks noGrp="1"/>
          </p:cNvSpPr>
          <p:nvPr>
            <p:ph type="title" hasCustomPrompt="1"/>
          </p:nvPr>
        </p:nvSpPr>
        <p:spPr>
          <a:xfrm>
            <a:off x="711200" y="5397498"/>
            <a:ext cx="10440988" cy="1082675"/>
          </a:xfrm>
        </p:spPr>
        <p:txBody>
          <a:bodyPr lIns="0" tIns="0" rIns="0" bIns="0">
            <a:noAutofit/>
          </a:bodyPr>
          <a:lstStyle>
            <a:lvl1pPr algn="r">
              <a:defRPr sz="2200" b="1">
                <a:solidFill>
                  <a:srgbClr val="0077C8"/>
                </a:solidFill>
              </a:defRPr>
            </a:lvl1pPr>
          </a:lstStyle>
          <a:p>
            <a:r>
              <a:rPr lang="ru-RU" dirty="0"/>
              <a:t>ОБРАЗЕЦ ЗАГОЛОВКА</a:t>
            </a:r>
            <a:endParaRPr lang="en-US" dirty="0"/>
          </a:p>
        </p:txBody>
      </p:sp>
      <p:sp>
        <p:nvSpPr>
          <p:cNvPr id="8" name="Рисунок 7">
            <a:extLst>
              <a:ext uri="{FF2B5EF4-FFF2-40B4-BE49-F238E27FC236}">
                <a16:creationId xmlns:a16="http://schemas.microsoft.com/office/drawing/2014/main" id="{F3090451-89A0-F6C0-BE47-29AE1573B6FF}"/>
              </a:ext>
            </a:extLst>
          </p:cNvPr>
          <p:cNvSpPr>
            <a:spLocks noGrp="1"/>
          </p:cNvSpPr>
          <p:nvPr>
            <p:ph type="pic" sz="quarter" idx="14"/>
          </p:nvPr>
        </p:nvSpPr>
        <p:spPr>
          <a:xfrm>
            <a:off x="6472188" y="719138"/>
            <a:ext cx="4680000" cy="4678362"/>
          </a:xfrm>
        </p:spPr>
        <p:txBody>
          <a:bodyPr/>
          <a:lstStyle/>
          <a:p>
            <a:endParaRPr lang="ru-RU" dirty="0"/>
          </a:p>
        </p:txBody>
      </p:sp>
      <p:sp>
        <p:nvSpPr>
          <p:cNvPr id="10" name="Рисунок 9">
            <a:extLst>
              <a:ext uri="{FF2B5EF4-FFF2-40B4-BE49-F238E27FC236}">
                <a16:creationId xmlns:a16="http://schemas.microsoft.com/office/drawing/2014/main" id="{56FB9B93-56E0-BFC6-466E-96BD78BA2553}"/>
              </a:ext>
            </a:extLst>
          </p:cNvPr>
          <p:cNvSpPr>
            <a:spLocks noGrp="1"/>
          </p:cNvSpPr>
          <p:nvPr>
            <p:ph type="pic" sz="quarter" idx="15"/>
          </p:nvPr>
        </p:nvSpPr>
        <p:spPr>
          <a:xfrm>
            <a:off x="539750" y="356400"/>
            <a:ext cx="3240000" cy="1980000"/>
          </a:xfrm>
        </p:spPr>
        <p:txBody>
          <a:bodyPr/>
          <a:lstStyle/>
          <a:p>
            <a:endParaRPr lang="ru-RU"/>
          </a:p>
        </p:txBody>
      </p:sp>
      <p:sp>
        <p:nvSpPr>
          <p:cNvPr id="12" name="Рисунок 11">
            <a:extLst>
              <a:ext uri="{FF2B5EF4-FFF2-40B4-BE49-F238E27FC236}">
                <a16:creationId xmlns:a16="http://schemas.microsoft.com/office/drawing/2014/main" id="{FECEE8A9-E3CF-C0B6-073D-97B1324E97C2}"/>
              </a:ext>
            </a:extLst>
          </p:cNvPr>
          <p:cNvSpPr>
            <a:spLocks noGrp="1"/>
          </p:cNvSpPr>
          <p:nvPr>
            <p:ph type="pic" sz="quarter" idx="16"/>
          </p:nvPr>
        </p:nvSpPr>
        <p:spPr>
          <a:xfrm>
            <a:off x="539750" y="2428288"/>
            <a:ext cx="3240000" cy="1980000"/>
          </a:xfrm>
        </p:spPr>
        <p:txBody>
          <a:bodyPr/>
          <a:lstStyle/>
          <a:p>
            <a:endParaRPr lang="ru-RU"/>
          </a:p>
        </p:txBody>
      </p:sp>
      <p:sp>
        <p:nvSpPr>
          <p:cNvPr id="14" name="Рисунок 13">
            <a:extLst>
              <a:ext uri="{FF2B5EF4-FFF2-40B4-BE49-F238E27FC236}">
                <a16:creationId xmlns:a16="http://schemas.microsoft.com/office/drawing/2014/main" id="{B0E8F77A-B150-A5A2-1994-D3DC1298B3B8}"/>
              </a:ext>
            </a:extLst>
          </p:cNvPr>
          <p:cNvSpPr>
            <a:spLocks noGrp="1"/>
          </p:cNvSpPr>
          <p:nvPr>
            <p:ph type="pic" sz="quarter" idx="17"/>
          </p:nvPr>
        </p:nvSpPr>
        <p:spPr>
          <a:xfrm>
            <a:off x="539750" y="4500175"/>
            <a:ext cx="3240000" cy="1980000"/>
          </a:xfrm>
        </p:spPr>
        <p:txBody>
          <a:bodyPr/>
          <a:lstStyle/>
          <a:p>
            <a:endParaRPr lang="ru-RU"/>
          </a:p>
        </p:txBody>
      </p:sp>
    </p:spTree>
    <p:extLst>
      <p:ext uri="{BB962C8B-B14F-4D97-AF65-F5344CB8AC3E}">
        <p14:creationId xmlns:p14="http://schemas.microsoft.com/office/powerpoint/2010/main" val="2456974085"/>
      </p:ext>
    </p:extLst>
  </p:cSld>
  <p:clrMapOvr>
    <a:masterClrMapping/>
  </p:clrMapOvr>
  <p:extLst mod="1">
    <p:ext uri="{DCECCB84-F9BA-43D5-87BE-67443E8EF086}">
      <p15:sldGuideLst xmlns:p15="http://schemas.microsoft.com/office/powerpoint/2012/main">
        <p15:guide id="1" pos="2495"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Таблица">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750" y="719138"/>
            <a:ext cx="4860925" cy="1044000"/>
          </a:xfrm>
        </p:spPr>
        <p:txBody>
          <a:bodyPr lIns="0" tIns="0" rIns="0" bIns="0">
            <a:noAutofit/>
          </a:bodyPr>
          <a:lstStyle>
            <a:lvl1pPr>
              <a:defRPr sz="2200" b="1">
                <a:solidFill>
                  <a:srgbClr val="0077C8"/>
                </a:solidFill>
              </a:defRPr>
            </a:lvl1pPr>
          </a:lstStyle>
          <a:p>
            <a:r>
              <a:rPr lang="ru-RU" dirty="0"/>
              <a:t>ОБРАЗЕЦ ЗАГОЛОВКА</a:t>
            </a:r>
            <a:endParaRPr lang="en-US" dirty="0"/>
          </a:p>
        </p:txBody>
      </p:sp>
      <p:sp>
        <p:nvSpPr>
          <p:cNvPr id="17" name="Текст 6">
            <a:extLst>
              <a:ext uri="{FF2B5EF4-FFF2-40B4-BE49-F238E27FC236}">
                <a16:creationId xmlns:a16="http://schemas.microsoft.com/office/drawing/2014/main" id="{A71466D8-EE1C-4AF2-96C8-8466F765F29C}"/>
              </a:ext>
            </a:extLst>
          </p:cNvPr>
          <p:cNvSpPr>
            <a:spLocks noGrp="1"/>
          </p:cNvSpPr>
          <p:nvPr>
            <p:ph type="body" sz="quarter" idx="11"/>
          </p:nvPr>
        </p:nvSpPr>
        <p:spPr>
          <a:xfrm>
            <a:off x="539750" y="0"/>
            <a:ext cx="8820214" cy="360363"/>
          </a:xfrm>
        </p:spPr>
        <p:txBody>
          <a:bodyPr lIns="0" tIns="0" rIns="0" bIns="0" anchor="ctr" anchorCtr="0"/>
          <a:lstStyle>
            <a:lvl1pPr algn="l">
              <a:buNone/>
              <a:defRPr sz="1000" b="1">
                <a:solidFill>
                  <a:schemeClr val="bg1">
                    <a:lumMod val="65000"/>
                  </a:schemeClr>
                </a:solidFill>
              </a:defRPr>
            </a:lvl1pPr>
          </a:lstStyle>
          <a:p>
            <a:pPr lvl="0"/>
            <a:r>
              <a:rPr lang="ru-RU" dirty="0"/>
              <a:t>Образец текста</a:t>
            </a:r>
          </a:p>
        </p:txBody>
      </p:sp>
      <p:sp>
        <p:nvSpPr>
          <p:cNvPr id="4" name="Slide Number Placeholder 5">
            <a:extLst>
              <a:ext uri="{FF2B5EF4-FFF2-40B4-BE49-F238E27FC236}">
                <a16:creationId xmlns:a16="http://schemas.microsoft.com/office/drawing/2014/main" id="{D3977900-6DD6-6EC0-8A79-2E2866DD9AF4}"/>
              </a:ext>
            </a:extLst>
          </p:cNvPr>
          <p:cNvSpPr>
            <a:spLocks noGrp="1"/>
          </p:cNvSpPr>
          <p:nvPr>
            <p:ph type="sldNum" sz="quarter" idx="4"/>
          </p:nvPr>
        </p:nvSpPr>
        <p:spPr>
          <a:xfrm>
            <a:off x="10620000" y="0"/>
            <a:ext cx="712221" cy="360363"/>
          </a:xfrm>
          <a:prstGeom prst="rect">
            <a:avLst/>
          </a:prstGeom>
        </p:spPr>
        <p:txBody>
          <a:bodyPr vert="horz" lIns="0" tIns="0" rIns="0" bIns="36000" rtlCol="0" anchor="ctr"/>
          <a:lstStyle>
            <a:lvl1pPr algn="l">
              <a:defRPr sz="1000" b="1">
                <a:solidFill>
                  <a:schemeClr val="bg1">
                    <a:lumMod val="6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US" dirty="0"/>
              <a:t>| </a:t>
            </a:r>
            <a:fld id="{F54BA9F3-CBAA-4DCF-AD2D-5ECAA0BE8875}" type="slidenum">
              <a:rPr lang="ru-RU" smtClean="0"/>
              <a:pPr/>
              <a:t>‹#›</a:t>
            </a:fld>
            <a:endParaRPr lang="ru-RU" dirty="0"/>
          </a:p>
        </p:txBody>
      </p:sp>
      <p:sp>
        <p:nvSpPr>
          <p:cNvPr id="7" name="Таблица 6">
            <a:extLst>
              <a:ext uri="{FF2B5EF4-FFF2-40B4-BE49-F238E27FC236}">
                <a16:creationId xmlns:a16="http://schemas.microsoft.com/office/drawing/2014/main" id="{BBC31910-1D20-B4CE-A4CB-F875CFCBD50B}"/>
              </a:ext>
            </a:extLst>
          </p:cNvPr>
          <p:cNvSpPr>
            <a:spLocks noGrp="1"/>
          </p:cNvSpPr>
          <p:nvPr>
            <p:ph type="tbl" sz="quarter" idx="12"/>
          </p:nvPr>
        </p:nvSpPr>
        <p:spPr>
          <a:xfrm>
            <a:off x="539750" y="1763713"/>
            <a:ext cx="10440988" cy="4452937"/>
          </a:xfrm>
        </p:spPr>
        <p:txBody>
          <a:bodyPr/>
          <a:lstStyle/>
          <a:p>
            <a:endParaRPr lang="ru-RU" dirty="0"/>
          </a:p>
        </p:txBody>
      </p:sp>
    </p:spTree>
    <p:extLst>
      <p:ext uri="{BB962C8B-B14F-4D97-AF65-F5344CB8AC3E}">
        <p14:creationId xmlns:p14="http://schemas.microsoft.com/office/powerpoint/2010/main" val="17025000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График, диаграмма">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id="{45A5AB09-194C-B832-90A5-19B3D512EF5E}"/>
              </a:ext>
            </a:extLst>
          </p:cNvPr>
          <p:cNvSpPr/>
          <p:nvPr userDrawn="1"/>
        </p:nvSpPr>
        <p:spPr>
          <a:xfrm>
            <a:off x="540524" y="719138"/>
            <a:ext cx="3240000" cy="57610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p:cNvSpPr>
            <a:spLocks noGrp="1"/>
          </p:cNvSpPr>
          <p:nvPr>
            <p:ph type="title" hasCustomPrompt="1"/>
          </p:nvPr>
        </p:nvSpPr>
        <p:spPr>
          <a:xfrm>
            <a:off x="4140200" y="719138"/>
            <a:ext cx="6840538" cy="864000"/>
          </a:xfrm>
        </p:spPr>
        <p:txBody>
          <a:bodyPr lIns="0" tIns="0" rIns="0" bIns="0">
            <a:noAutofit/>
          </a:bodyPr>
          <a:lstStyle>
            <a:lvl1pPr>
              <a:defRPr sz="2200" b="1">
                <a:solidFill>
                  <a:srgbClr val="0077C8"/>
                </a:solidFill>
              </a:defRPr>
            </a:lvl1pPr>
          </a:lstStyle>
          <a:p>
            <a:r>
              <a:rPr lang="ru-RU" dirty="0"/>
              <a:t>ОБРАЗЕЦ ЗАГОЛОВКА</a:t>
            </a:r>
            <a:endParaRPr lang="en-US" dirty="0"/>
          </a:p>
        </p:txBody>
      </p:sp>
      <p:sp>
        <p:nvSpPr>
          <p:cNvPr id="17" name="Текст 6">
            <a:extLst>
              <a:ext uri="{FF2B5EF4-FFF2-40B4-BE49-F238E27FC236}">
                <a16:creationId xmlns:a16="http://schemas.microsoft.com/office/drawing/2014/main" id="{A71466D8-EE1C-4AF2-96C8-8466F765F29C}"/>
              </a:ext>
            </a:extLst>
          </p:cNvPr>
          <p:cNvSpPr>
            <a:spLocks noGrp="1"/>
          </p:cNvSpPr>
          <p:nvPr>
            <p:ph type="body" sz="quarter" idx="11"/>
          </p:nvPr>
        </p:nvSpPr>
        <p:spPr>
          <a:xfrm>
            <a:off x="539750" y="0"/>
            <a:ext cx="8820214" cy="360363"/>
          </a:xfrm>
        </p:spPr>
        <p:txBody>
          <a:bodyPr lIns="0" tIns="0" rIns="0" bIns="0" anchor="ctr" anchorCtr="0"/>
          <a:lstStyle>
            <a:lvl1pPr algn="l">
              <a:buNone/>
              <a:defRPr sz="1000" b="1">
                <a:solidFill>
                  <a:schemeClr val="bg1">
                    <a:lumMod val="65000"/>
                  </a:schemeClr>
                </a:solidFill>
              </a:defRPr>
            </a:lvl1pPr>
          </a:lstStyle>
          <a:p>
            <a:pPr lvl="0"/>
            <a:r>
              <a:rPr lang="ru-RU" dirty="0"/>
              <a:t>Образец текста</a:t>
            </a:r>
          </a:p>
        </p:txBody>
      </p:sp>
      <p:sp>
        <p:nvSpPr>
          <p:cNvPr id="4" name="Slide Number Placeholder 5">
            <a:extLst>
              <a:ext uri="{FF2B5EF4-FFF2-40B4-BE49-F238E27FC236}">
                <a16:creationId xmlns:a16="http://schemas.microsoft.com/office/drawing/2014/main" id="{D3977900-6DD6-6EC0-8A79-2E2866DD9AF4}"/>
              </a:ext>
            </a:extLst>
          </p:cNvPr>
          <p:cNvSpPr>
            <a:spLocks noGrp="1"/>
          </p:cNvSpPr>
          <p:nvPr>
            <p:ph type="sldNum" sz="quarter" idx="4"/>
          </p:nvPr>
        </p:nvSpPr>
        <p:spPr>
          <a:xfrm>
            <a:off x="10620000" y="0"/>
            <a:ext cx="712221" cy="360363"/>
          </a:xfrm>
          <a:prstGeom prst="rect">
            <a:avLst/>
          </a:prstGeom>
        </p:spPr>
        <p:txBody>
          <a:bodyPr vert="horz" lIns="0" tIns="0" rIns="0" bIns="36000" rtlCol="0" anchor="ctr"/>
          <a:lstStyle>
            <a:lvl1pPr algn="l">
              <a:defRPr sz="1000" b="1">
                <a:solidFill>
                  <a:schemeClr val="bg1">
                    <a:lumMod val="6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US" dirty="0"/>
              <a:t>| </a:t>
            </a:r>
            <a:fld id="{F54BA9F3-CBAA-4DCF-AD2D-5ECAA0BE8875}" type="slidenum">
              <a:rPr lang="ru-RU" smtClean="0"/>
              <a:pPr/>
              <a:t>‹#›</a:t>
            </a:fld>
            <a:endParaRPr lang="ru-RU" dirty="0"/>
          </a:p>
        </p:txBody>
      </p:sp>
      <p:sp>
        <p:nvSpPr>
          <p:cNvPr id="12" name="Текст 11">
            <a:extLst>
              <a:ext uri="{FF2B5EF4-FFF2-40B4-BE49-F238E27FC236}">
                <a16:creationId xmlns:a16="http://schemas.microsoft.com/office/drawing/2014/main" id="{4F996AF9-02D0-7035-5BE8-50E4FFD537B5}"/>
              </a:ext>
            </a:extLst>
          </p:cNvPr>
          <p:cNvSpPr>
            <a:spLocks noGrp="1"/>
          </p:cNvSpPr>
          <p:nvPr>
            <p:ph type="body" sz="quarter" idx="16" hasCustomPrompt="1"/>
          </p:nvPr>
        </p:nvSpPr>
        <p:spPr>
          <a:xfrm>
            <a:off x="755650" y="1005981"/>
            <a:ext cx="2844801" cy="326562"/>
          </a:xfrm>
        </p:spPr>
        <p:txBody>
          <a:bodyPr/>
          <a:lstStyle>
            <a:lvl1pPr>
              <a:defRPr sz="1400" b="1">
                <a:solidFill>
                  <a:srgbClr val="0077C8"/>
                </a:solidFill>
              </a:defRPr>
            </a:lvl1pPr>
          </a:lstStyle>
          <a:p>
            <a:pPr lvl="0"/>
            <a:r>
              <a:rPr lang="ru-RU" dirty="0"/>
              <a:t>ОБРАЗЕЦ ТЕКСТА</a:t>
            </a:r>
          </a:p>
        </p:txBody>
      </p:sp>
      <p:sp>
        <p:nvSpPr>
          <p:cNvPr id="14" name="Текст 13">
            <a:extLst>
              <a:ext uri="{FF2B5EF4-FFF2-40B4-BE49-F238E27FC236}">
                <a16:creationId xmlns:a16="http://schemas.microsoft.com/office/drawing/2014/main" id="{59B02844-0D39-1320-FD10-B5BB830FC179}"/>
              </a:ext>
            </a:extLst>
          </p:cNvPr>
          <p:cNvSpPr>
            <a:spLocks noGrp="1"/>
          </p:cNvSpPr>
          <p:nvPr>
            <p:ph type="body" sz="quarter" idx="17"/>
          </p:nvPr>
        </p:nvSpPr>
        <p:spPr>
          <a:xfrm>
            <a:off x="755650" y="1332543"/>
            <a:ext cx="2844800" cy="602579"/>
          </a:xfrm>
        </p:spPr>
        <p:txBody>
          <a:bodyPr/>
          <a:lstStyle>
            <a:lvl1pPr>
              <a:defRPr>
                <a:solidFill>
                  <a:schemeClr val="tx1"/>
                </a:solidFill>
              </a:defRPr>
            </a:lvl1pPr>
          </a:lstStyle>
          <a:p>
            <a:pPr lvl="0"/>
            <a:r>
              <a:rPr lang="ru-RU" dirty="0"/>
              <a:t>Образец текста</a:t>
            </a:r>
          </a:p>
        </p:txBody>
      </p:sp>
      <p:sp>
        <p:nvSpPr>
          <p:cNvPr id="7" name="Диаграмма 6">
            <a:extLst>
              <a:ext uri="{FF2B5EF4-FFF2-40B4-BE49-F238E27FC236}">
                <a16:creationId xmlns:a16="http://schemas.microsoft.com/office/drawing/2014/main" id="{FA4FB90C-042E-BB24-4D27-EBDF3012FFED}"/>
              </a:ext>
            </a:extLst>
          </p:cNvPr>
          <p:cNvSpPr>
            <a:spLocks noGrp="1"/>
          </p:cNvSpPr>
          <p:nvPr>
            <p:ph type="chart" sz="quarter" idx="18"/>
          </p:nvPr>
        </p:nvSpPr>
        <p:spPr>
          <a:xfrm>
            <a:off x="4140200" y="1787525"/>
            <a:ext cx="6840538" cy="4332288"/>
          </a:xfrm>
        </p:spPr>
        <p:txBody>
          <a:bodyPr/>
          <a:lstStyle/>
          <a:p>
            <a:endParaRPr lang="ru-RU"/>
          </a:p>
        </p:txBody>
      </p:sp>
    </p:spTree>
    <p:extLst>
      <p:ext uri="{BB962C8B-B14F-4D97-AF65-F5344CB8AC3E}">
        <p14:creationId xmlns:p14="http://schemas.microsoft.com/office/powerpoint/2010/main" val="1610504452"/>
      </p:ext>
    </p:extLst>
  </p:cSld>
  <p:clrMapOvr>
    <a:masterClrMapping/>
  </p:clrMapOvr>
  <p:extLst mod="1">
    <p:ext uri="{DCECCB84-F9BA-43D5-87BE-67443E8EF086}">
      <p15:sldGuideLst xmlns:p15="http://schemas.microsoft.com/office/powerpoint/2012/main">
        <p15:guide id="1" pos="476" userDrawn="1">
          <p15:clr>
            <a:srgbClr val="FBAE40"/>
          </p15:clr>
        </p15:guide>
        <p15:guide id="2" pos="226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2E4E1839-2D67-49CB-8343-1A86C8948B48}" type="datetimeFigureOut">
              <a:rPr lang="ru-RU" smtClean="0"/>
              <a:t>26.10.2025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8801F7E-534E-4A7F-BF93-72B189D53743}" type="slidenum">
              <a:rPr lang="ru-RU" smtClean="0"/>
              <a:t>‹#›</a:t>
            </a:fld>
            <a:endParaRPr lang="ru-RU"/>
          </a:p>
        </p:txBody>
      </p:sp>
    </p:spTree>
    <p:extLst>
      <p:ext uri="{BB962C8B-B14F-4D97-AF65-F5344CB8AC3E}">
        <p14:creationId xmlns:p14="http://schemas.microsoft.com/office/powerpoint/2010/main" val="9205742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2.sv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6" Type="http://schemas.microsoft.com/office/2007/relationships/hdphoto" Target="../media/hdphoto1.wdp"/><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image" Target="../media/image4.png"/><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CE57FC59-9282-BB9D-2AAF-1BC519CDA56C}"/>
              </a:ext>
            </a:extLst>
          </p:cNvPr>
          <p:cNvSpPr/>
          <p:nvPr userDrawn="1"/>
        </p:nvSpPr>
        <p:spPr>
          <a:xfrm>
            <a:off x="0" y="3960000"/>
            <a:ext cx="11520000" cy="1440000"/>
          </a:xfrm>
          <a:prstGeom prst="rect">
            <a:avLst/>
          </a:prstGeom>
          <a:solidFill>
            <a:srgbClr val="0077C8">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7" name="Группа 16">
            <a:extLst>
              <a:ext uri="{FF2B5EF4-FFF2-40B4-BE49-F238E27FC236}">
                <a16:creationId xmlns:a16="http://schemas.microsoft.com/office/drawing/2014/main" id="{5F0923A2-F284-F8D5-FD21-1D7F4D3B3B7F}"/>
              </a:ext>
            </a:extLst>
          </p:cNvPr>
          <p:cNvGrpSpPr/>
          <p:nvPr userDrawn="1"/>
        </p:nvGrpSpPr>
        <p:grpSpPr>
          <a:xfrm>
            <a:off x="4140200" y="3600000"/>
            <a:ext cx="1800892" cy="360000"/>
            <a:chOff x="6435164" y="2737184"/>
            <a:chExt cx="1800892" cy="360000"/>
          </a:xfrm>
        </p:grpSpPr>
        <p:sp>
          <p:nvSpPr>
            <p:cNvPr id="18" name="Прямоугольник 17">
              <a:extLst>
                <a:ext uri="{FF2B5EF4-FFF2-40B4-BE49-F238E27FC236}">
                  <a16:creationId xmlns:a16="http://schemas.microsoft.com/office/drawing/2014/main" id="{FB8E46F4-6132-6CA1-D1A8-9FE61F8D908E}"/>
                </a:ext>
              </a:extLst>
            </p:cNvPr>
            <p:cNvSpPr/>
            <p:nvPr/>
          </p:nvSpPr>
          <p:spPr>
            <a:xfrm>
              <a:off x="7155850" y="2737184"/>
              <a:ext cx="360000" cy="360000"/>
            </a:xfrm>
            <a:prstGeom prst="rect">
              <a:avLst/>
            </a:prstGeom>
            <a:solidFill>
              <a:srgbClr val="A1D9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Прямоугольник 18">
              <a:extLst>
                <a:ext uri="{FF2B5EF4-FFF2-40B4-BE49-F238E27FC236}">
                  <a16:creationId xmlns:a16="http://schemas.microsoft.com/office/drawing/2014/main" id="{4491490C-DCA0-5CFC-646C-6B28E4768CF5}"/>
                </a:ext>
              </a:extLst>
            </p:cNvPr>
            <p:cNvSpPr/>
            <p:nvPr/>
          </p:nvSpPr>
          <p:spPr>
            <a:xfrm>
              <a:off x="6435164" y="2737184"/>
              <a:ext cx="720000" cy="360000"/>
            </a:xfrm>
            <a:prstGeom prst="rect">
              <a:avLst/>
            </a:prstGeom>
            <a:solidFill>
              <a:srgbClr val="00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Прямоугольник 19">
              <a:extLst>
                <a:ext uri="{FF2B5EF4-FFF2-40B4-BE49-F238E27FC236}">
                  <a16:creationId xmlns:a16="http://schemas.microsoft.com/office/drawing/2014/main" id="{5D2F684F-8CC2-6AB2-61E1-983BFFC9DA1E}"/>
                </a:ext>
              </a:extLst>
            </p:cNvPr>
            <p:cNvSpPr/>
            <p:nvPr/>
          </p:nvSpPr>
          <p:spPr>
            <a:xfrm>
              <a:off x="7876056" y="2737184"/>
              <a:ext cx="360000" cy="360000"/>
            </a:xfrm>
            <a:prstGeom prst="rect">
              <a:avLst/>
            </a:prstGeom>
            <a:solidFill>
              <a:srgbClr val="80CB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21" name="Группа 20">
            <a:extLst>
              <a:ext uri="{FF2B5EF4-FFF2-40B4-BE49-F238E27FC236}">
                <a16:creationId xmlns:a16="http://schemas.microsoft.com/office/drawing/2014/main" id="{CC6572EE-B4FF-B0EC-0F04-C71D195BE775}"/>
              </a:ext>
            </a:extLst>
          </p:cNvPr>
          <p:cNvGrpSpPr/>
          <p:nvPr userDrawn="1"/>
        </p:nvGrpSpPr>
        <p:grpSpPr>
          <a:xfrm>
            <a:off x="9360000" y="5400000"/>
            <a:ext cx="1800892" cy="360000"/>
            <a:chOff x="8926406" y="5241061"/>
            <a:chExt cx="1800892" cy="360000"/>
          </a:xfrm>
        </p:grpSpPr>
        <p:sp>
          <p:nvSpPr>
            <p:cNvPr id="22" name="Прямоугольник 21">
              <a:extLst>
                <a:ext uri="{FF2B5EF4-FFF2-40B4-BE49-F238E27FC236}">
                  <a16:creationId xmlns:a16="http://schemas.microsoft.com/office/drawing/2014/main" id="{DF55FC92-193F-24DC-3144-9A511397226A}"/>
                </a:ext>
              </a:extLst>
            </p:cNvPr>
            <p:cNvSpPr/>
            <p:nvPr/>
          </p:nvSpPr>
          <p:spPr>
            <a:xfrm>
              <a:off x="9647092" y="5241061"/>
              <a:ext cx="360000" cy="360000"/>
            </a:xfrm>
            <a:prstGeom prst="rect">
              <a:avLst/>
            </a:prstGeom>
            <a:solidFill>
              <a:srgbClr val="A1D9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Прямоугольник 22">
              <a:extLst>
                <a:ext uri="{FF2B5EF4-FFF2-40B4-BE49-F238E27FC236}">
                  <a16:creationId xmlns:a16="http://schemas.microsoft.com/office/drawing/2014/main" id="{0BB5B44C-5FE3-122D-9FF7-A3BB0EAA0FAA}"/>
                </a:ext>
              </a:extLst>
            </p:cNvPr>
            <p:cNvSpPr/>
            <p:nvPr/>
          </p:nvSpPr>
          <p:spPr>
            <a:xfrm>
              <a:off x="8926406" y="5241061"/>
              <a:ext cx="720000" cy="360000"/>
            </a:xfrm>
            <a:prstGeom prst="rect">
              <a:avLst/>
            </a:prstGeom>
            <a:solidFill>
              <a:srgbClr val="00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Прямоугольник 23">
              <a:extLst>
                <a:ext uri="{FF2B5EF4-FFF2-40B4-BE49-F238E27FC236}">
                  <a16:creationId xmlns:a16="http://schemas.microsoft.com/office/drawing/2014/main" id="{8321EF7C-6D2F-6FE8-E3D9-36465A762F5E}"/>
                </a:ext>
              </a:extLst>
            </p:cNvPr>
            <p:cNvSpPr/>
            <p:nvPr/>
          </p:nvSpPr>
          <p:spPr>
            <a:xfrm>
              <a:off x="10367298" y="5241061"/>
              <a:ext cx="360000" cy="360000"/>
            </a:xfrm>
            <a:prstGeom prst="rect">
              <a:avLst/>
            </a:prstGeom>
            <a:solidFill>
              <a:srgbClr val="80CB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cxnSp>
        <p:nvCxnSpPr>
          <p:cNvPr id="31" name="Прямая соединительная линия 30">
            <a:extLst>
              <a:ext uri="{FF2B5EF4-FFF2-40B4-BE49-F238E27FC236}">
                <a16:creationId xmlns:a16="http://schemas.microsoft.com/office/drawing/2014/main" id="{67F30F36-FF0D-B40D-888C-29C6B564327A}"/>
              </a:ext>
            </a:extLst>
          </p:cNvPr>
          <p:cNvCxnSpPr/>
          <p:nvPr userDrawn="1"/>
        </p:nvCxnSpPr>
        <p:spPr>
          <a:xfrm>
            <a:off x="3779838" y="4075743"/>
            <a:ext cx="0" cy="117631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Рисунок 12">
            <a:extLst>
              <a:ext uri="{FF2B5EF4-FFF2-40B4-BE49-F238E27FC236}">
                <a16:creationId xmlns:a16="http://schemas.microsoft.com/office/drawing/2014/main" id="{7FFB9DBD-BEB2-4FF4-8C4D-FC6CCB441DAB}"/>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294736" y="4115553"/>
            <a:ext cx="1190366" cy="1136503"/>
          </a:xfrm>
          <a:prstGeom prst="rect">
            <a:avLst/>
          </a:prstGeom>
        </p:spPr>
      </p:pic>
    </p:spTree>
    <p:extLst>
      <p:ext uri="{BB962C8B-B14F-4D97-AF65-F5344CB8AC3E}">
        <p14:creationId xmlns:p14="http://schemas.microsoft.com/office/powerpoint/2010/main" val="2713849604"/>
      </p:ext>
    </p:extLst>
  </p:cSld>
  <p:clrMap bg1="lt1" tx1="dk1" bg2="lt2" tx2="dk2" accent1="accent1" accent2="accent2" accent3="accent3" accent4="accent4" accent5="accent5" accent6="accent6" hlink="hlink" folHlink="folHlink"/>
  <p:sldLayoutIdLst>
    <p:sldLayoutId id="2147483672" r:id="rId1"/>
  </p:sldLayoutIdLst>
  <p:hf hdr="0" ftr="0" dt="0"/>
  <p:txStyles>
    <p:titleStyle>
      <a:lvl1pPr algn="l" defTabSz="914400" rtl="0" eaLnBrk="1" latinLnBrk="0" hangingPunct="1">
        <a:lnSpc>
          <a:spcPct val="90000"/>
        </a:lnSpc>
        <a:spcBef>
          <a:spcPct val="0"/>
        </a:spcBef>
        <a:buNone/>
        <a:defRPr sz="2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041">
          <p15:clr>
            <a:srgbClr val="F26B43"/>
          </p15:clr>
        </p15:guide>
        <p15:guide id="2" pos="3628">
          <p15:clr>
            <a:srgbClr val="F26B43"/>
          </p15:clr>
        </p15:guide>
        <p15:guide id="3" pos="6917">
          <p15:clr>
            <a:srgbClr val="F26B43"/>
          </p15:clr>
        </p15:guide>
        <p15:guide id="4" pos="340">
          <p15:clr>
            <a:srgbClr val="F26B43"/>
          </p15:clr>
        </p15:guide>
        <p15:guide id="5" pos="2608">
          <p15:clr>
            <a:srgbClr val="F26B43"/>
          </p15:clr>
        </p15:guide>
        <p15:guide id="6" pos="4649">
          <p15:clr>
            <a:srgbClr val="F26B43"/>
          </p15:clr>
        </p15:guide>
        <p15:guide id="7" pos="2381">
          <p15:clr>
            <a:srgbClr val="F26B43"/>
          </p15:clr>
        </p15:guide>
        <p15:guide id="8" pos="487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Прямоугольник 16">
            <a:extLst>
              <a:ext uri="{FF2B5EF4-FFF2-40B4-BE49-F238E27FC236}">
                <a16:creationId xmlns:a16="http://schemas.microsoft.com/office/drawing/2014/main" id="{A32CD15B-FD45-FD4E-03DF-D6A532B591F1}"/>
              </a:ext>
            </a:extLst>
          </p:cNvPr>
          <p:cNvSpPr/>
          <p:nvPr userDrawn="1"/>
        </p:nvSpPr>
        <p:spPr>
          <a:xfrm>
            <a:off x="5759450" y="360000"/>
            <a:ext cx="5760550" cy="5760000"/>
          </a:xfrm>
          <a:prstGeom prst="rect">
            <a:avLst/>
          </a:prstGeom>
          <a:solidFill>
            <a:srgbClr val="0077C8">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7" name="Группа 6">
            <a:extLst>
              <a:ext uri="{FF2B5EF4-FFF2-40B4-BE49-F238E27FC236}">
                <a16:creationId xmlns:a16="http://schemas.microsoft.com/office/drawing/2014/main" id="{B4F561F3-A844-053E-B6F5-CD8951A501EE}"/>
              </a:ext>
            </a:extLst>
          </p:cNvPr>
          <p:cNvGrpSpPr/>
          <p:nvPr userDrawn="1"/>
        </p:nvGrpSpPr>
        <p:grpSpPr>
          <a:xfrm>
            <a:off x="5760000" y="0"/>
            <a:ext cx="1800892" cy="360000"/>
            <a:chOff x="6435164" y="2737184"/>
            <a:chExt cx="1800892" cy="360000"/>
          </a:xfrm>
        </p:grpSpPr>
        <p:sp>
          <p:nvSpPr>
            <p:cNvPr id="8" name="Прямоугольник 7">
              <a:extLst>
                <a:ext uri="{FF2B5EF4-FFF2-40B4-BE49-F238E27FC236}">
                  <a16:creationId xmlns:a16="http://schemas.microsoft.com/office/drawing/2014/main" id="{1639E789-B7FB-7EFB-ED41-3BEEC10C59A0}"/>
                </a:ext>
              </a:extLst>
            </p:cNvPr>
            <p:cNvSpPr/>
            <p:nvPr/>
          </p:nvSpPr>
          <p:spPr>
            <a:xfrm>
              <a:off x="7155850" y="2737184"/>
              <a:ext cx="360000" cy="360000"/>
            </a:xfrm>
            <a:prstGeom prst="rect">
              <a:avLst/>
            </a:prstGeom>
            <a:solidFill>
              <a:srgbClr val="A1D9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Прямоугольник 8">
              <a:extLst>
                <a:ext uri="{FF2B5EF4-FFF2-40B4-BE49-F238E27FC236}">
                  <a16:creationId xmlns:a16="http://schemas.microsoft.com/office/drawing/2014/main" id="{562A92A2-44B7-D260-C921-63AD32901628}"/>
                </a:ext>
              </a:extLst>
            </p:cNvPr>
            <p:cNvSpPr/>
            <p:nvPr/>
          </p:nvSpPr>
          <p:spPr>
            <a:xfrm>
              <a:off x="6435164" y="2737184"/>
              <a:ext cx="720000" cy="360000"/>
            </a:xfrm>
            <a:prstGeom prst="rect">
              <a:avLst/>
            </a:prstGeom>
            <a:solidFill>
              <a:srgbClr val="00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9">
              <a:extLst>
                <a:ext uri="{FF2B5EF4-FFF2-40B4-BE49-F238E27FC236}">
                  <a16:creationId xmlns:a16="http://schemas.microsoft.com/office/drawing/2014/main" id="{B2CA4C3F-3C57-B997-DB10-7C1F30F046F8}"/>
                </a:ext>
              </a:extLst>
            </p:cNvPr>
            <p:cNvSpPr/>
            <p:nvPr/>
          </p:nvSpPr>
          <p:spPr>
            <a:xfrm>
              <a:off x="7876056" y="2737184"/>
              <a:ext cx="360000" cy="360000"/>
            </a:xfrm>
            <a:prstGeom prst="rect">
              <a:avLst/>
            </a:prstGeom>
            <a:solidFill>
              <a:srgbClr val="80CB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11" name="Группа 10">
            <a:extLst>
              <a:ext uri="{FF2B5EF4-FFF2-40B4-BE49-F238E27FC236}">
                <a16:creationId xmlns:a16="http://schemas.microsoft.com/office/drawing/2014/main" id="{74C669E1-8C52-784E-1C66-30DCFAD8B2E5}"/>
              </a:ext>
            </a:extLst>
          </p:cNvPr>
          <p:cNvGrpSpPr/>
          <p:nvPr userDrawn="1"/>
        </p:nvGrpSpPr>
        <p:grpSpPr>
          <a:xfrm>
            <a:off x="9719596" y="6120175"/>
            <a:ext cx="1800892" cy="360000"/>
            <a:chOff x="8926406" y="5241061"/>
            <a:chExt cx="1800892" cy="360000"/>
          </a:xfrm>
        </p:grpSpPr>
        <p:sp>
          <p:nvSpPr>
            <p:cNvPr id="12" name="Прямоугольник 11">
              <a:extLst>
                <a:ext uri="{FF2B5EF4-FFF2-40B4-BE49-F238E27FC236}">
                  <a16:creationId xmlns:a16="http://schemas.microsoft.com/office/drawing/2014/main" id="{02785FA0-06C0-5ED3-D484-192B249C12B2}"/>
                </a:ext>
              </a:extLst>
            </p:cNvPr>
            <p:cNvSpPr/>
            <p:nvPr/>
          </p:nvSpPr>
          <p:spPr>
            <a:xfrm>
              <a:off x="9647092" y="5241061"/>
              <a:ext cx="360000" cy="360000"/>
            </a:xfrm>
            <a:prstGeom prst="rect">
              <a:avLst/>
            </a:prstGeom>
            <a:solidFill>
              <a:srgbClr val="A1D9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12">
              <a:extLst>
                <a:ext uri="{FF2B5EF4-FFF2-40B4-BE49-F238E27FC236}">
                  <a16:creationId xmlns:a16="http://schemas.microsoft.com/office/drawing/2014/main" id="{8011A2B4-50D3-F0A3-DE21-7990E398419E}"/>
                </a:ext>
              </a:extLst>
            </p:cNvPr>
            <p:cNvSpPr/>
            <p:nvPr/>
          </p:nvSpPr>
          <p:spPr>
            <a:xfrm>
              <a:off x="8926406" y="5241061"/>
              <a:ext cx="720000" cy="360000"/>
            </a:xfrm>
            <a:prstGeom prst="rect">
              <a:avLst/>
            </a:prstGeom>
            <a:solidFill>
              <a:srgbClr val="00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a:extLst>
                <a:ext uri="{FF2B5EF4-FFF2-40B4-BE49-F238E27FC236}">
                  <a16:creationId xmlns:a16="http://schemas.microsoft.com/office/drawing/2014/main" id="{37075A88-47D6-5877-6DA2-AA089D4B31AB}"/>
                </a:ext>
              </a:extLst>
            </p:cNvPr>
            <p:cNvSpPr/>
            <p:nvPr/>
          </p:nvSpPr>
          <p:spPr>
            <a:xfrm>
              <a:off x="10367298" y="5241061"/>
              <a:ext cx="360000" cy="360000"/>
            </a:xfrm>
            <a:prstGeom prst="rect">
              <a:avLst/>
            </a:prstGeom>
            <a:solidFill>
              <a:srgbClr val="80CB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18" name="Заголовок 17">
            <a:extLst>
              <a:ext uri="{FF2B5EF4-FFF2-40B4-BE49-F238E27FC236}">
                <a16:creationId xmlns:a16="http://schemas.microsoft.com/office/drawing/2014/main" id="{E14483AB-4AD5-81F5-20A4-8D5EBD46118D}"/>
              </a:ext>
            </a:extLst>
          </p:cNvPr>
          <p:cNvSpPr>
            <a:spLocks noGrp="1"/>
          </p:cNvSpPr>
          <p:nvPr>
            <p:ph type="title"/>
          </p:nvPr>
        </p:nvSpPr>
        <p:spPr>
          <a:xfrm>
            <a:off x="539750" y="356848"/>
            <a:ext cx="4859494" cy="1252537"/>
          </a:xfrm>
          <a:prstGeom prst="rect">
            <a:avLst/>
          </a:prstGeom>
        </p:spPr>
        <p:txBody>
          <a:bodyPr vert="horz" lIns="0" tIns="36000" rIns="0" bIns="36000" rtlCol="0" anchor="ctr">
            <a:noAutofit/>
          </a:bodyPr>
          <a:lstStyle/>
          <a:p>
            <a:r>
              <a:rPr lang="ru-RU" dirty="0"/>
              <a:t>ОБРАЗЕЦ ЗАГОЛОВКА</a:t>
            </a:r>
          </a:p>
        </p:txBody>
      </p:sp>
      <p:sp>
        <p:nvSpPr>
          <p:cNvPr id="19" name="Текст 18">
            <a:extLst>
              <a:ext uri="{FF2B5EF4-FFF2-40B4-BE49-F238E27FC236}">
                <a16:creationId xmlns:a16="http://schemas.microsoft.com/office/drawing/2014/main" id="{44074D3E-9A3E-6625-D1CB-CC157E1B19B9}"/>
              </a:ext>
            </a:extLst>
          </p:cNvPr>
          <p:cNvSpPr>
            <a:spLocks noGrp="1"/>
          </p:cNvSpPr>
          <p:nvPr>
            <p:ph type="body" idx="1"/>
          </p:nvPr>
        </p:nvSpPr>
        <p:spPr>
          <a:xfrm>
            <a:off x="539750" y="1818772"/>
            <a:ext cx="4859492" cy="585659"/>
          </a:xfrm>
          <a:prstGeom prst="rect">
            <a:avLst/>
          </a:prstGeom>
        </p:spPr>
        <p:txBody>
          <a:bodyPr vert="horz" lIns="0" tIns="36000" rIns="0" bIns="36000" rtlCol="0" anchor="ctr" anchorCtr="0">
            <a:noAutofit/>
          </a:bodyPr>
          <a:lstStyle/>
          <a:p>
            <a:pPr lvl="0"/>
            <a:r>
              <a:rPr lang="ru-RU" dirty="0"/>
              <a:t>Образец текста</a:t>
            </a:r>
          </a:p>
        </p:txBody>
      </p:sp>
      <p:pic>
        <p:nvPicPr>
          <p:cNvPr id="5" name="Рисунок 4">
            <a:extLst>
              <a:ext uri="{FF2B5EF4-FFF2-40B4-BE49-F238E27FC236}">
                <a16:creationId xmlns:a16="http://schemas.microsoft.com/office/drawing/2014/main" id="{2ED6CC9A-C90F-457A-A569-E2332950AA1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6120000" y="720000"/>
            <a:ext cx="1706400" cy="632138"/>
          </a:xfrm>
          <a:prstGeom prst="rect">
            <a:avLst/>
          </a:prstGeom>
        </p:spPr>
      </p:pic>
    </p:spTree>
    <p:extLst>
      <p:ext uri="{BB962C8B-B14F-4D97-AF65-F5344CB8AC3E}">
        <p14:creationId xmlns:p14="http://schemas.microsoft.com/office/powerpoint/2010/main" val="4085765011"/>
      </p:ext>
    </p:extLst>
  </p:cSld>
  <p:clrMap bg1="lt1" tx1="dk1" bg2="lt2" tx2="dk2" accent1="accent1" accent2="accent2" accent3="accent3" accent4="accent4" accent5="accent5" accent6="accent6" hlink="hlink" folHlink="folHlink"/>
  <p:sldLayoutIdLst>
    <p:sldLayoutId id="2147483723" r:id="rId1"/>
  </p:sldLayoutIdLst>
  <p:txStyles>
    <p:titleStyle>
      <a:lvl1pPr algn="l" defTabSz="914400" rtl="0" eaLnBrk="1" latinLnBrk="0" hangingPunct="1">
        <a:lnSpc>
          <a:spcPct val="90000"/>
        </a:lnSpc>
        <a:spcBef>
          <a:spcPct val="0"/>
        </a:spcBef>
        <a:buNone/>
        <a:defRPr sz="2400" b="1" kern="1200">
          <a:solidFill>
            <a:schemeClr val="bg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041" userDrawn="1">
          <p15:clr>
            <a:srgbClr val="F26B43"/>
          </p15:clr>
        </p15:guide>
        <p15:guide id="2" pos="3628" userDrawn="1">
          <p15:clr>
            <a:srgbClr val="F26B43"/>
          </p15:clr>
        </p15:guide>
        <p15:guide id="3" pos="340" userDrawn="1">
          <p15:clr>
            <a:srgbClr val="F26B43"/>
          </p15:clr>
        </p15:guide>
        <p15:guide id="4" pos="6917" userDrawn="1">
          <p15:clr>
            <a:srgbClr val="F26B43"/>
          </p15:clr>
        </p15:guide>
        <p15:guide id="5" pos="2608" userDrawn="1">
          <p15:clr>
            <a:srgbClr val="F26B43"/>
          </p15:clr>
        </p15:guide>
        <p15:guide id="6" pos="2381" userDrawn="1">
          <p15:clr>
            <a:srgbClr val="F26B43"/>
          </p15:clr>
        </p15:guide>
        <p15:guide id="7" pos="4649" userDrawn="1">
          <p15:clr>
            <a:srgbClr val="F26B43"/>
          </p15:clr>
        </p15:guide>
        <p15:guide id="8" pos="4876" userDrawn="1">
          <p15:clr>
            <a:srgbClr val="F26B43"/>
          </p15:clr>
        </p15:guide>
        <p15:guide id="9" pos="3855"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Группа 6">
            <a:extLst>
              <a:ext uri="{FF2B5EF4-FFF2-40B4-BE49-F238E27FC236}">
                <a16:creationId xmlns:a16="http://schemas.microsoft.com/office/drawing/2014/main" id="{BA9B08BC-F90D-5279-382E-82555C9D0EE8}"/>
              </a:ext>
            </a:extLst>
          </p:cNvPr>
          <p:cNvGrpSpPr/>
          <p:nvPr userDrawn="1"/>
        </p:nvGrpSpPr>
        <p:grpSpPr>
          <a:xfrm>
            <a:off x="360363" y="5760000"/>
            <a:ext cx="1800892" cy="360000"/>
            <a:chOff x="6435164" y="2737184"/>
            <a:chExt cx="1800892" cy="360000"/>
          </a:xfrm>
        </p:grpSpPr>
        <p:sp>
          <p:nvSpPr>
            <p:cNvPr id="8" name="Прямоугольник 7">
              <a:extLst>
                <a:ext uri="{FF2B5EF4-FFF2-40B4-BE49-F238E27FC236}">
                  <a16:creationId xmlns:a16="http://schemas.microsoft.com/office/drawing/2014/main" id="{2DD96234-C6E3-A4AB-E40F-B17DA323DB14}"/>
                </a:ext>
              </a:extLst>
            </p:cNvPr>
            <p:cNvSpPr/>
            <p:nvPr/>
          </p:nvSpPr>
          <p:spPr>
            <a:xfrm>
              <a:off x="7155850" y="2737184"/>
              <a:ext cx="360000" cy="360000"/>
            </a:xfrm>
            <a:prstGeom prst="rect">
              <a:avLst/>
            </a:prstGeom>
            <a:solidFill>
              <a:srgbClr val="A1D9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Прямоугольник 8">
              <a:extLst>
                <a:ext uri="{FF2B5EF4-FFF2-40B4-BE49-F238E27FC236}">
                  <a16:creationId xmlns:a16="http://schemas.microsoft.com/office/drawing/2014/main" id="{590A3D1E-3ABF-F59B-B9C0-DCAF3851E657}"/>
                </a:ext>
              </a:extLst>
            </p:cNvPr>
            <p:cNvSpPr/>
            <p:nvPr/>
          </p:nvSpPr>
          <p:spPr>
            <a:xfrm>
              <a:off x="6435164" y="2737184"/>
              <a:ext cx="720000" cy="360000"/>
            </a:xfrm>
            <a:prstGeom prst="rect">
              <a:avLst/>
            </a:prstGeom>
            <a:solidFill>
              <a:srgbClr val="00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9">
              <a:extLst>
                <a:ext uri="{FF2B5EF4-FFF2-40B4-BE49-F238E27FC236}">
                  <a16:creationId xmlns:a16="http://schemas.microsoft.com/office/drawing/2014/main" id="{9F5101C7-BEB8-AE79-3A9D-6485BAD70F02}"/>
                </a:ext>
              </a:extLst>
            </p:cNvPr>
            <p:cNvSpPr/>
            <p:nvPr/>
          </p:nvSpPr>
          <p:spPr>
            <a:xfrm>
              <a:off x="7876056" y="2737184"/>
              <a:ext cx="360000" cy="360000"/>
            </a:xfrm>
            <a:prstGeom prst="rect">
              <a:avLst/>
            </a:prstGeom>
            <a:solidFill>
              <a:srgbClr val="80CB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11" name="Группа 10">
            <a:extLst>
              <a:ext uri="{FF2B5EF4-FFF2-40B4-BE49-F238E27FC236}">
                <a16:creationId xmlns:a16="http://schemas.microsoft.com/office/drawing/2014/main" id="{416C5F33-DE6B-DD41-8253-FE4F32BD4217}"/>
              </a:ext>
            </a:extLst>
          </p:cNvPr>
          <p:cNvGrpSpPr/>
          <p:nvPr userDrawn="1"/>
        </p:nvGrpSpPr>
        <p:grpSpPr>
          <a:xfrm flipH="1">
            <a:off x="2520000" y="5760000"/>
            <a:ext cx="1800892" cy="360000"/>
            <a:chOff x="6435164" y="2737184"/>
            <a:chExt cx="1800892" cy="360000"/>
          </a:xfrm>
        </p:grpSpPr>
        <p:sp>
          <p:nvSpPr>
            <p:cNvPr id="12" name="Прямоугольник 11">
              <a:extLst>
                <a:ext uri="{FF2B5EF4-FFF2-40B4-BE49-F238E27FC236}">
                  <a16:creationId xmlns:a16="http://schemas.microsoft.com/office/drawing/2014/main" id="{E767344C-F32E-2963-AA67-6022D58A7A65}"/>
                </a:ext>
              </a:extLst>
            </p:cNvPr>
            <p:cNvSpPr/>
            <p:nvPr/>
          </p:nvSpPr>
          <p:spPr>
            <a:xfrm>
              <a:off x="7155850" y="2737184"/>
              <a:ext cx="360000" cy="360000"/>
            </a:xfrm>
            <a:prstGeom prst="rect">
              <a:avLst/>
            </a:prstGeom>
            <a:solidFill>
              <a:srgbClr val="A1D9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12">
              <a:extLst>
                <a:ext uri="{FF2B5EF4-FFF2-40B4-BE49-F238E27FC236}">
                  <a16:creationId xmlns:a16="http://schemas.microsoft.com/office/drawing/2014/main" id="{4F8C4954-7F8C-409C-2E20-9EDF9519DF88}"/>
                </a:ext>
              </a:extLst>
            </p:cNvPr>
            <p:cNvSpPr/>
            <p:nvPr/>
          </p:nvSpPr>
          <p:spPr>
            <a:xfrm>
              <a:off x="6435164" y="2737184"/>
              <a:ext cx="720000" cy="360000"/>
            </a:xfrm>
            <a:prstGeom prst="rect">
              <a:avLst/>
            </a:prstGeom>
            <a:solidFill>
              <a:srgbClr val="00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a:extLst>
                <a:ext uri="{FF2B5EF4-FFF2-40B4-BE49-F238E27FC236}">
                  <a16:creationId xmlns:a16="http://schemas.microsoft.com/office/drawing/2014/main" id="{F1FC1538-2073-96DF-BF82-65B536C397B4}"/>
                </a:ext>
              </a:extLst>
            </p:cNvPr>
            <p:cNvSpPr/>
            <p:nvPr/>
          </p:nvSpPr>
          <p:spPr>
            <a:xfrm>
              <a:off x="7876056" y="2737184"/>
              <a:ext cx="360000" cy="360000"/>
            </a:xfrm>
            <a:prstGeom prst="rect">
              <a:avLst/>
            </a:prstGeom>
            <a:solidFill>
              <a:srgbClr val="80CB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pic>
        <p:nvPicPr>
          <p:cNvPr id="15" name="Рисунок 14">
            <a:extLst>
              <a:ext uri="{FF2B5EF4-FFF2-40B4-BE49-F238E27FC236}">
                <a16:creationId xmlns:a16="http://schemas.microsoft.com/office/drawing/2014/main" id="{CAE4E079-C1CB-4087-8EBE-B8AFEC04D436}"/>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85180" y="360175"/>
            <a:ext cx="1190366" cy="1136503"/>
          </a:xfrm>
          <a:prstGeom prst="rect">
            <a:avLst/>
          </a:prstGeom>
        </p:spPr>
      </p:pic>
    </p:spTree>
    <p:extLst>
      <p:ext uri="{BB962C8B-B14F-4D97-AF65-F5344CB8AC3E}">
        <p14:creationId xmlns:p14="http://schemas.microsoft.com/office/powerpoint/2010/main" val="525152308"/>
      </p:ext>
    </p:extLst>
  </p:cSld>
  <p:clrMap bg1="lt1" tx1="dk1" bg2="lt2" tx2="dk2" accent1="accent1" accent2="accent2" accent3="accent3" accent4="accent4" accent5="accent5" accent6="accent6" hlink="hlink" folHlink="folHlink"/>
  <p:sldLayoutIdLst>
    <p:sldLayoutId id="214748364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0000" y="719138"/>
            <a:ext cx="10188456" cy="878405"/>
          </a:xfrm>
          <a:prstGeom prst="rect">
            <a:avLst/>
          </a:prstGeom>
        </p:spPr>
        <p:txBody>
          <a:bodyPr vert="horz" lIns="0" tIns="0" rIns="0" bIns="0" rtlCol="0" anchor="ctr">
            <a:noAutofit/>
          </a:bodyPr>
          <a:lstStyle/>
          <a:p>
            <a:r>
              <a:rPr lang="ru-RU" dirty="0"/>
              <a:t>ОБРАЗЕЦ ЗАГОЛОВКА</a:t>
            </a:r>
            <a:endParaRPr lang="en-US" dirty="0"/>
          </a:p>
        </p:txBody>
      </p:sp>
      <p:sp>
        <p:nvSpPr>
          <p:cNvPr id="3" name="Text Placeholder 2"/>
          <p:cNvSpPr>
            <a:spLocks noGrp="1"/>
          </p:cNvSpPr>
          <p:nvPr>
            <p:ph type="body" idx="1"/>
          </p:nvPr>
        </p:nvSpPr>
        <p:spPr>
          <a:xfrm>
            <a:off x="540000" y="1720451"/>
            <a:ext cx="5949269" cy="4111612"/>
          </a:xfrm>
          <a:prstGeom prst="rect">
            <a:avLst/>
          </a:prstGeom>
        </p:spPr>
        <p:txBody>
          <a:bodyPr vert="horz" lIns="0" tIns="0" rIns="0" bIns="0" rtlCol="0">
            <a:noAutofit/>
          </a:bodyPr>
          <a:lstStyle/>
          <a:p>
            <a:pPr lvl="0"/>
            <a:r>
              <a:rPr lang="ru-RU" dirty="0"/>
              <a:t>Образец текста</a:t>
            </a:r>
          </a:p>
        </p:txBody>
      </p:sp>
      <p:sp>
        <p:nvSpPr>
          <p:cNvPr id="6" name="Slide Number Placeholder 5"/>
          <p:cNvSpPr>
            <a:spLocks noGrp="1"/>
          </p:cNvSpPr>
          <p:nvPr>
            <p:ph type="sldNum" sz="quarter" idx="4"/>
          </p:nvPr>
        </p:nvSpPr>
        <p:spPr>
          <a:xfrm>
            <a:off x="10620000" y="0"/>
            <a:ext cx="545551" cy="360363"/>
          </a:xfrm>
          <a:prstGeom prst="rect">
            <a:avLst/>
          </a:prstGeom>
        </p:spPr>
        <p:txBody>
          <a:bodyPr vert="horz" lIns="0" tIns="0" rIns="0" bIns="36000" rtlCol="0" anchor="ctr"/>
          <a:lstStyle>
            <a:lvl1pPr algn="l">
              <a:defRPr sz="1000" b="1">
                <a:solidFill>
                  <a:schemeClr val="bg1">
                    <a:lumMod val="6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US" dirty="0"/>
              <a:t>| </a:t>
            </a:r>
            <a:fld id="{F54BA9F3-CBAA-4DCF-AD2D-5ECAA0BE8875}" type="slidenum">
              <a:rPr lang="ru-RU" smtClean="0"/>
              <a:pPr/>
              <a:t>‹#›</a:t>
            </a:fld>
            <a:endParaRPr lang="ru-RU" dirty="0"/>
          </a:p>
        </p:txBody>
      </p:sp>
      <p:sp>
        <p:nvSpPr>
          <p:cNvPr id="7" name="Прямоугольник 6">
            <a:extLst>
              <a:ext uri="{FF2B5EF4-FFF2-40B4-BE49-F238E27FC236}">
                <a16:creationId xmlns:a16="http://schemas.microsoft.com/office/drawing/2014/main" id="{DE9DA882-7DE1-35B4-B3F5-0ADCE26A0A92}"/>
              </a:ext>
            </a:extLst>
          </p:cNvPr>
          <p:cNvSpPr/>
          <p:nvPr/>
        </p:nvSpPr>
        <p:spPr>
          <a:xfrm>
            <a:off x="9000000" y="359138"/>
            <a:ext cx="360000" cy="360000"/>
          </a:xfrm>
          <a:prstGeom prst="rect">
            <a:avLst/>
          </a:prstGeom>
          <a:solidFill>
            <a:srgbClr val="A1D9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Прямоугольник 7">
            <a:extLst>
              <a:ext uri="{FF2B5EF4-FFF2-40B4-BE49-F238E27FC236}">
                <a16:creationId xmlns:a16="http://schemas.microsoft.com/office/drawing/2014/main" id="{F39D1060-18EB-8D54-9C11-500EBA2E516B}"/>
              </a:ext>
            </a:extLst>
          </p:cNvPr>
          <p:cNvSpPr/>
          <p:nvPr/>
        </p:nvSpPr>
        <p:spPr>
          <a:xfrm>
            <a:off x="9360000" y="359138"/>
            <a:ext cx="720000" cy="360000"/>
          </a:xfrm>
          <a:prstGeom prst="rect">
            <a:avLst/>
          </a:prstGeom>
          <a:solidFill>
            <a:srgbClr val="00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Прямоугольник 8">
            <a:extLst>
              <a:ext uri="{FF2B5EF4-FFF2-40B4-BE49-F238E27FC236}">
                <a16:creationId xmlns:a16="http://schemas.microsoft.com/office/drawing/2014/main" id="{7574D53E-3C8F-04BC-2B10-27DCF7B6F38F}"/>
              </a:ext>
            </a:extLst>
          </p:cNvPr>
          <p:cNvSpPr/>
          <p:nvPr/>
        </p:nvSpPr>
        <p:spPr>
          <a:xfrm>
            <a:off x="8640000" y="359138"/>
            <a:ext cx="360000" cy="360000"/>
          </a:xfrm>
          <a:prstGeom prst="rect">
            <a:avLst/>
          </a:prstGeom>
          <a:solidFill>
            <a:srgbClr val="80CB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9">
            <a:extLst>
              <a:ext uri="{FF2B5EF4-FFF2-40B4-BE49-F238E27FC236}">
                <a16:creationId xmlns:a16="http://schemas.microsoft.com/office/drawing/2014/main" id="{FCF3E8F4-19E6-F135-D007-461EF15C4635}"/>
              </a:ext>
            </a:extLst>
          </p:cNvPr>
          <p:cNvSpPr/>
          <p:nvPr userDrawn="1"/>
        </p:nvSpPr>
        <p:spPr>
          <a:xfrm>
            <a:off x="8280000" y="359138"/>
            <a:ext cx="360000" cy="36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10">
            <a:extLst>
              <a:ext uri="{FF2B5EF4-FFF2-40B4-BE49-F238E27FC236}">
                <a16:creationId xmlns:a16="http://schemas.microsoft.com/office/drawing/2014/main" id="{C875A02B-E47F-271B-05E6-999C4391F0FA}"/>
              </a:ext>
            </a:extLst>
          </p:cNvPr>
          <p:cNvSpPr/>
          <p:nvPr userDrawn="1"/>
        </p:nvSpPr>
        <p:spPr>
          <a:xfrm>
            <a:off x="11160488" y="4680000"/>
            <a:ext cx="360000" cy="360000"/>
          </a:xfrm>
          <a:prstGeom prst="rect">
            <a:avLst/>
          </a:prstGeom>
          <a:solidFill>
            <a:srgbClr val="00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Прямоугольник 11">
            <a:extLst>
              <a:ext uri="{FF2B5EF4-FFF2-40B4-BE49-F238E27FC236}">
                <a16:creationId xmlns:a16="http://schemas.microsoft.com/office/drawing/2014/main" id="{BC77B464-0C8C-4C40-B3E3-B63A6695C17E}"/>
              </a:ext>
            </a:extLst>
          </p:cNvPr>
          <p:cNvSpPr/>
          <p:nvPr userDrawn="1"/>
        </p:nvSpPr>
        <p:spPr>
          <a:xfrm>
            <a:off x="11160488" y="5040000"/>
            <a:ext cx="360000" cy="360000"/>
          </a:xfrm>
          <a:prstGeom prst="rect">
            <a:avLst/>
          </a:prstGeom>
          <a:solidFill>
            <a:srgbClr val="80CB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12">
            <a:extLst>
              <a:ext uri="{FF2B5EF4-FFF2-40B4-BE49-F238E27FC236}">
                <a16:creationId xmlns:a16="http://schemas.microsoft.com/office/drawing/2014/main" id="{355784B4-1293-A68A-2863-7E49B9A880E3}"/>
              </a:ext>
            </a:extLst>
          </p:cNvPr>
          <p:cNvSpPr/>
          <p:nvPr userDrawn="1"/>
        </p:nvSpPr>
        <p:spPr>
          <a:xfrm>
            <a:off x="11160488" y="359138"/>
            <a:ext cx="360000" cy="360000"/>
          </a:xfrm>
          <a:prstGeom prst="rect">
            <a:avLst/>
          </a:prstGeom>
          <a:solidFill>
            <a:srgbClr val="80CB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a:extLst>
              <a:ext uri="{FF2B5EF4-FFF2-40B4-BE49-F238E27FC236}">
                <a16:creationId xmlns:a16="http://schemas.microsoft.com/office/drawing/2014/main" id="{84A7AABB-1C1F-C5EE-9EA8-41645BDE82B2}"/>
              </a:ext>
            </a:extLst>
          </p:cNvPr>
          <p:cNvSpPr/>
          <p:nvPr userDrawn="1"/>
        </p:nvSpPr>
        <p:spPr>
          <a:xfrm>
            <a:off x="10800000" y="359138"/>
            <a:ext cx="360000" cy="360000"/>
          </a:xfrm>
          <a:prstGeom prst="rect">
            <a:avLst/>
          </a:prstGeom>
          <a:solidFill>
            <a:srgbClr val="A1D9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Прямоугольник 14">
            <a:extLst>
              <a:ext uri="{FF2B5EF4-FFF2-40B4-BE49-F238E27FC236}">
                <a16:creationId xmlns:a16="http://schemas.microsoft.com/office/drawing/2014/main" id="{25176493-5BE2-74D3-985F-50EB8086A408}"/>
              </a:ext>
            </a:extLst>
          </p:cNvPr>
          <p:cNvSpPr/>
          <p:nvPr userDrawn="1"/>
        </p:nvSpPr>
        <p:spPr>
          <a:xfrm>
            <a:off x="10440000" y="359138"/>
            <a:ext cx="360000" cy="360000"/>
          </a:xfrm>
          <a:prstGeom prst="rect">
            <a:avLst/>
          </a:prstGeom>
          <a:solidFill>
            <a:srgbClr val="004B97">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15">
            <a:extLst>
              <a:ext uri="{FF2B5EF4-FFF2-40B4-BE49-F238E27FC236}">
                <a16:creationId xmlns:a16="http://schemas.microsoft.com/office/drawing/2014/main" id="{9C80F156-0E17-F807-4B67-63E891FA5D83}"/>
              </a:ext>
            </a:extLst>
          </p:cNvPr>
          <p:cNvSpPr/>
          <p:nvPr userDrawn="1"/>
        </p:nvSpPr>
        <p:spPr>
          <a:xfrm>
            <a:off x="7557329" y="359751"/>
            <a:ext cx="360000" cy="360000"/>
          </a:xfrm>
          <a:prstGeom prst="rect">
            <a:avLst/>
          </a:prstGeom>
          <a:solidFill>
            <a:srgbClr val="004B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Прямоугольник 16">
            <a:extLst>
              <a:ext uri="{FF2B5EF4-FFF2-40B4-BE49-F238E27FC236}">
                <a16:creationId xmlns:a16="http://schemas.microsoft.com/office/drawing/2014/main" id="{AA809D23-6752-A17D-9C50-2CA81E627CF9}"/>
              </a:ext>
            </a:extLst>
          </p:cNvPr>
          <p:cNvSpPr/>
          <p:nvPr userDrawn="1"/>
        </p:nvSpPr>
        <p:spPr>
          <a:xfrm>
            <a:off x="7200000" y="359138"/>
            <a:ext cx="360000" cy="36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Прямоугольник 17">
            <a:extLst>
              <a:ext uri="{FF2B5EF4-FFF2-40B4-BE49-F238E27FC236}">
                <a16:creationId xmlns:a16="http://schemas.microsoft.com/office/drawing/2014/main" id="{24141A3E-687B-C7B9-CB56-5E28B9195E76}"/>
              </a:ext>
            </a:extLst>
          </p:cNvPr>
          <p:cNvSpPr/>
          <p:nvPr userDrawn="1"/>
        </p:nvSpPr>
        <p:spPr>
          <a:xfrm>
            <a:off x="7560000" y="359138"/>
            <a:ext cx="360000" cy="360000"/>
          </a:xfrm>
          <a:prstGeom prst="rect">
            <a:avLst/>
          </a:prstGeom>
          <a:solidFill>
            <a:srgbClr val="004B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Прямоугольник 18">
            <a:extLst>
              <a:ext uri="{FF2B5EF4-FFF2-40B4-BE49-F238E27FC236}">
                <a16:creationId xmlns:a16="http://schemas.microsoft.com/office/drawing/2014/main" id="{46E3E6F2-E0D5-B321-AAA2-44BEC00E6AC0}"/>
              </a:ext>
            </a:extLst>
          </p:cNvPr>
          <p:cNvSpPr/>
          <p:nvPr userDrawn="1"/>
        </p:nvSpPr>
        <p:spPr>
          <a:xfrm>
            <a:off x="0" y="2159985"/>
            <a:ext cx="360000" cy="360000"/>
          </a:xfrm>
          <a:prstGeom prst="rect">
            <a:avLst/>
          </a:prstGeom>
          <a:solidFill>
            <a:srgbClr val="00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Прямоугольник 19">
            <a:extLst>
              <a:ext uri="{FF2B5EF4-FFF2-40B4-BE49-F238E27FC236}">
                <a16:creationId xmlns:a16="http://schemas.microsoft.com/office/drawing/2014/main" id="{8D23B18A-D207-BEFD-CAF2-220204EFDAC1}"/>
              </a:ext>
            </a:extLst>
          </p:cNvPr>
          <p:cNvSpPr/>
          <p:nvPr userDrawn="1"/>
        </p:nvSpPr>
        <p:spPr>
          <a:xfrm>
            <a:off x="6480000" y="359138"/>
            <a:ext cx="360000" cy="36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Прямоугольник 20">
            <a:extLst>
              <a:ext uri="{FF2B5EF4-FFF2-40B4-BE49-F238E27FC236}">
                <a16:creationId xmlns:a16="http://schemas.microsoft.com/office/drawing/2014/main" id="{DD2F8A4A-2108-E071-A328-554E04551F56}"/>
              </a:ext>
            </a:extLst>
          </p:cNvPr>
          <p:cNvSpPr/>
          <p:nvPr userDrawn="1"/>
        </p:nvSpPr>
        <p:spPr>
          <a:xfrm>
            <a:off x="6120000" y="359138"/>
            <a:ext cx="360000" cy="360000"/>
          </a:xfrm>
          <a:prstGeom prst="rect">
            <a:avLst/>
          </a:prstGeom>
          <a:solidFill>
            <a:srgbClr val="004B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Прямоугольник 21">
            <a:extLst>
              <a:ext uri="{FF2B5EF4-FFF2-40B4-BE49-F238E27FC236}">
                <a16:creationId xmlns:a16="http://schemas.microsoft.com/office/drawing/2014/main" id="{29DE8706-753A-86D2-085D-106668FD7CD7}"/>
              </a:ext>
            </a:extLst>
          </p:cNvPr>
          <p:cNvSpPr/>
          <p:nvPr userDrawn="1"/>
        </p:nvSpPr>
        <p:spPr>
          <a:xfrm>
            <a:off x="5760000" y="359138"/>
            <a:ext cx="360000" cy="36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Прямоугольник 22">
            <a:extLst>
              <a:ext uri="{FF2B5EF4-FFF2-40B4-BE49-F238E27FC236}">
                <a16:creationId xmlns:a16="http://schemas.microsoft.com/office/drawing/2014/main" id="{C32FF667-B8A7-F961-8B2D-41FF97E90809}"/>
              </a:ext>
            </a:extLst>
          </p:cNvPr>
          <p:cNvSpPr/>
          <p:nvPr userDrawn="1"/>
        </p:nvSpPr>
        <p:spPr>
          <a:xfrm>
            <a:off x="4680000" y="359138"/>
            <a:ext cx="720000" cy="360000"/>
          </a:xfrm>
          <a:prstGeom prst="rect">
            <a:avLst/>
          </a:prstGeom>
          <a:solidFill>
            <a:srgbClr val="004B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Прямоугольник 23">
            <a:extLst>
              <a:ext uri="{FF2B5EF4-FFF2-40B4-BE49-F238E27FC236}">
                <a16:creationId xmlns:a16="http://schemas.microsoft.com/office/drawing/2014/main" id="{7E852E24-DAD5-12C9-D881-4C43632C7216}"/>
              </a:ext>
            </a:extLst>
          </p:cNvPr>
          <p:cNvSpPr/>
          <p:nvPr userDrawn="1"/>
        </p:nvSpPr>
        <p:spPr>
          <a:xfrm>
            <a:off x="3600000" y="359138"/>
            <a:ext cx="360000" cy="360000"/>
          </a:xfrm>
          <a:prstGeom prst="rect">
            <a:avLst/>
          </a:prstGeom>
          <a:solidFill>
            <a:srgbClr val="007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Прямоугольник 24">
            <a:extLst>
              <a:ext uri="{FF2B5EF4-FFF2-40B4-BE49-F238E27FC236}">
                <a16:creationId xmlns:a16="http://schemas.microsoft.com/office/drawing/2014/main" id="{A736FBB7-272C-036B-387E-FB2C061CFDD1}"/>
              </a:ext>
            </a:extLst>
          </p:cNvPr>
          <p:cNvSpPr/>
          <p:nvPr userDrawn="1"/>
        </p:nvSpPr>
        <p:spPr>
          <a:xfrm>
            <a:off x="3240000" y="359138"/>
            <a:ext cx="360000" cy="360000"/>
          </a:xfrm>
          <a:prstGeom prst="rect">
            <a:avLst/>
          </a:prstGeom>
          <a:solidFill>
            <a:srgbClr val="80CB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Прямоугольник 25">
            <a:extLst>
              <a:ext uri="{FF2B5EF4-FFF2-40B4-BE49-F238E27FC236}">
                <a16:creationId xmlns:a16="http://schemas.microsoft.com/office/drawing/2014/main" id="{A4E3826F-BC6C-F5C7-B7E6-499785088FB7}"/>
              </a:ext>
            </a:extLst>
          </p:cNvPr>
          <p:cNvSpPr/>
          <p:nvPr userDrawn="1"/>
        </p:nvSpPr>
        <p:spPr>
          <a:xfrm>
            <a:off x="2520000" y="359138"/>
            <a:ext cx="360000" cy="360000"/>
          </a:xfrm>
          <a:prstGeom prst="rect">
            <a:avLst/>
          </a:prstGeom>
          <a:solidFill>
            <a:srgbClr val="00B8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Прямоугольник 26">
            <a:extLst>
              <a:ext uri="{FF2B5EF4-FFF2-40B4-BE49-F238E27FC236}">
                <a16:creationId xmlns:a16="http://schemas.microsoft.com/office/drawing/2014/main" id="{CF96C10D-5F80-01B9-DA30-91DD48675059}"/>
              </a:ext>
            </a:extLst>
          </p:cNvPr>
          <p:cNvSpPr/>
          <p:nvPr userDrawn="1"/>
        </p:nvSpPr>
        <p:spPr>
          <a:xfrm>
            <a:off x="2160000" y="359138"/>
            <a:ext cx="360000" cy="360000"/>
          </a:xfrm>
          <a:prstGeom prst="rect">
            <a:avLst/>
          </a:prstGeom>
          <a:solidFill>
            <a:srgbClr val="80CB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9" name="Прямоугольник 28">
            <a:extLst>
              <a:ext uri="{FF2B5EF4-FFF2-40B4-BE49-F238E27FC236}">
                <a16:creationId xmlns:a16="http://schemas.microsoft.com/office/drawing/2014/main" id="{BF439709-345C-5F39-601B-690E80F662B5}"/>
              </a:ext>
            </a:extLst>
          </p:cNvPr>
          <p:cNvSpPr/>
          <p:nvPr userDrawn="1"/>
        </p:nvSpPr>
        <p:spPr>
          <a:xfrm>
            <a:off x="1440000" y="359138"/>
            <a:ext cx="360000" cy="360000"/>
          </a:xfrm>
          <a:prstGeom prst="rect">
            <a:avLst/>
          </a:prstGeom>
          <a:solidFill>
            <a:srgbClr val="00B8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Прямоугольник 29">
            <a:extLst>
              <a:ext uri="{FF2B5EF4-FFF2-40B4-BE49-F238E27FC236}">
                <a16:creationId xmlns:a16="http://schemas.microsoft.com/office/drawing/2014/main" id="{CBDA7E1B-92C1-06B1-1559-03EE27CE60F1}"/>
              </a:ext>
            </a:extLst>
          </p:cNvPr>
          <p:cNvSpPr/>
          <p:nvPr userDrawn="1"/>
        </p:nvSpPr>
        <p:spPr>
          <a:xfrm>
            <a:off x="720000" y="359138"/>
            <a:ext cx="720000" cy="360000"/>
          </a:xfrm>
          <a:prstGeom prst="rect">
            <a:avLst/>
          </a:prstGeom>
          <a:solidFill>
            <a:srgbClr val="80CB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Прямоугольник 30">
            <a:extLst>
              <a:ext uri="{FF2B5EF4-FFF2-40B4-BE49-F238E27FC236}">
                <a16:creationId xmlns:a16="http://schemas.microsoft.com/office/drawing/2014/main" id="{B8A59491-BADC-FC49-9190-AD504530FC18}"/>
              </a:ext>
            </a:extLst>
          </p:cNvPr>
          <p:cNvSpPr/>
          <p:nvPr userDrawn="1"/>
        </p:nvSpPr>
        <p:spPr>
          <a:xfrm>
            <a:off x="360000" y="359138"/>
            <a:ext cx="360000" cy="360000"/>
          </a:xfrm>
          <a:prstGeom prst="rect">
            <a:avLst/>
          </a:prstGeom>
          <a:solidFill>
            <a:srgbClr val="A1D9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Прямоугольник 31">
            <a:extLst>
              <a:ext uri="{FF2B5EF4-FFF2-40B4-BE49-F238E27FC236}">
                <a16:creationId xmlns:a16="http://schemas.microsoft.com/office/drawing/2014/main" id="{812F9EB1-6147-F1B8-0CA4-EA3D6B1A21AF}"/>
              </a:ext>
            </a:extLst>
          </p:cNvPr>
          <p:cNvSpPr/>
          <p:nvPr userDrawn="1"/>
        </p:nvSpPr>
        <p:spPr>
          <a:xfrm>
            <a:off x="0" y="359138"/>
            <a:ext cx="360000" cy="36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Прямоугольник 32">
            <a:extLst>
              <a:ext uri="{FF2B5EF4-FFF2-40B4-BE49-F238E27FC236}">
                <a16:creationId xmlns:a16="http://schemas.microsoft.com/office/drawing/2014/main" id="{289841E3-6E0C-C245-0489-D4F683C4E658}"/>
              </a:ext>
            </a:extLst>
          </p:cNvPr>
          <p:cNvSpPr/>
          <p:nvPr userDrawn="1"/>
        </p:nvSpPr>
        <p:spPr>
          <a:xfrm>
            <a:off x="0" y="-862"/>
            <a:ext cx="360000" cy="360000"/>
          </a:xfrm>
          <a:prstGeom prst="rect">
            <a:avLst/>
          </a:prstGeom>
          <a:solidFill>
            <a:srgbClr val="A1D9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42" name="Рисунок 41">
            <a:extLst>
              <a:ext uri="{FF2B5EF4-FFF2-40B4-BE49-F238E27FC236}">
                <a16:creationId xmlns:a16="http://schemas.microsoft.com/office/drawing/2014/main" id="{F4026473-A084-4310-9BE5-D18CDBC8D730}"/>
              </a:ext>
            </a:extLst>
          </p:cNvPr>
          <p:cNvPicPr>
            <a:picLocks noChangeAspect="1"/>
          </p:cNvPicPr>
          <p:nvPr userDrawn="1"/>
        </p:nvPicPr>
        <p:blipFill>
          <a:blip r:embed="rId15" cstate="screen">
            <a:extLst>
              <a:ext uri="{BEBA8EAE-BF5A-486C-A8C5-ECC9F3942E4B}">
                <a14:imgProps xmlns:a14="http://schemas.microsoft.com/office/drawing/2010/main">
                  <a14:imgLayer r:embed="rId16">
                    <a14:imgEffect>
                      <a14:saturation sat="0"/>
                    </a14:imgEffect>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9595600" y="47062"/>
            <a:ext cx="844400" cy="264152"/>
          </a:xfrm>
          <a:prstGeom prst="rect">
            <a:avLst/>
          </a:prstGeom>
          <a:noFill/>
        </p:spPr>
      </p:pic>
    </p:spTree>
    <p:extLst>
      <p:ext uri="{BB962C8B-B14F-4D97-AF65-F5344CB8AC3E}">
        <p14:creationId xmlns:p14="http://schemas.microsoft.com/office/powerpoint/2010/main" val="194718355"/>
      </p:ext>
    </p:extLst>
  </p:cSld>
  <p:clrMap bg1="lt1" tx1="dk1" bg2="lt2" tx2="dk2" accent1="accent1" accent2="accent2" accent3="accent3" accent4="accent4" accent5="accent5" accent6="accent6" hlink="hlink" folHlink="folHlink"/>
  <p:sldLayoutIdLst>
    <p:sldLayoutId id="2147483725" r:id="rId1"/>
    <p:sldLayoutId id="2147483730" r:id="rId2"/>
    <p:sldLayoutId id="2147483724" r:id="rId3"/>
    <p:sldLayoutId id="2147483726" r:id="rId4"/>
    <p:sldLayoutId id="2147483721" r:id="rId5"/>
    <p:sldLayoutId id="2147483727" r:id="rId6"/>
    <p:sldLayoutId id="2147483728" r:id="rId7"/>
    <p:sldLayoutId id="2147483729" r:id="rId8"/>
    <p:sldLayoutId id="2147483731" r:id="rId9"/>
    <p:sldLayoutId id="2147483662" r:id="rId10"/>
    <p:sldLayoutId id="2147483732" r:id="rId11"/>
    <p:sldLayoutId id="2147483733" r:id="rId12"/>
    <p:sldLayoutId id="2147483735" r:id="rId13"/>
  </p:sldLayoutIdLst>
  <p:hf hdr="0" ftr="0" dt="0"/>
  <p:txStyles>
    <p:titleStyle>
      <a:lvl1pPr algn="l" defTabSz="864017" rtl="0" eaLnBrk="1" latinLnBrk="0" hangingPunct="1">
        <a:lnSpc>
          <a:spcPct val="90000"/>
        </a:lnSpc>
        <a:spcBef>
          <a:spcPct val="0"/>
        </a:spcBef>
        <a:buNone/>
        <a:defRPr sz="2200" b="1" kern="1200">
          <a:solidFill>
            <a:srgbClr val="0077C8"/>
          </a:solidFill>
          <a:latin typeface="Tahoma" panose="020B0604030504040204" pitchFamily="34" charset="0"/>
          <a:ea typeface="Tahoma" panose="020B0604030504040204" pitchFamily="34" charset="0"/>
          <a:cs typeface="Tahoma" panose="020B0604030504040204" pitchFamily="34" charset="0"/>
        </a:defRPr>
      </a:lvl1pPr>
    </p:titleStyle>
    <p:bodyStyle>
      <a:lvl1pPr marL="0" indent="0" algn="l" defTabSz="864017" rtl="0" eaLnBrk="1" latinLnBrk="0" hangingPunct="1">
        <a:lnSpc>
          <a:spcPct val="110000"/>
        </a:lnSpc>
        <a:spcBef>
          <a:spcPts val="600"/>
        </a:spcBef>
        <a:buFont typeface="Arial" panose="020B0604020202020204" pitchFamily="34" charset="0"/>
        <a:buNone/>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p:bodyStyle>
    <p:otherStyle>
      <a:defPPr>
        <a:defRPr lang="en-US"/>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0" userDrawn="1">
          <p15:clr>
            <a:srgbClr val="F26B43"/>
          </p15:clr>
        </p15:guide>
        <p15:guide id="2" pos="6917" userDrawn="1">
          <p15:clr>
            <a:srgbClr val="F26B43"/>
          </p15:clr>
        </p15:guide>
        <p15:guide id="3" orient="horz" pos="227" userDrawn="1">
          <p15:clr>
            <a:srgbClr val="F26B43"/>
          </p15:clr>
        </p15:guide>
        <p15:guide id="4" orient="horz" pos="3855" userDrawn="1">
          <p15:clr>
            <a:srgbClr val="F26B43"/>
          </p15:clr>
        </p15:guide>
        <p15:guide id="5" pos="2381" userDrawn="1">
          <p15:clr>
            <a:srgbClr val="F26B43"/>
          </p15:clr>
        </p15:guide>
        <p15:guide id="8" pos="2608" userDrawn="1">
          <p15:clr>
            <a:srgbClr val="F26B43"/>
          </p15:clr>
        </p15:guide>
        <p15:guide id="9" pos="4649" userDrawn="1">
          <p15:clr>
            <a:srgbClr val="F26B43"/>
          </p15:clr>
        </p15:guide>
        <p15:guide id="10" pos="4876" userDrawn="1">
          <p15:clr>
            <a:srgbClr val="F26B43"/>
          </p15:clr>
        </p15:guide>
        <p15:guide id="11" orient="horz" pos="453" userDrawn="1">
          <p15:clr>
            <a:srgbClr val="F26B43"/>
          </p15:clr>
        </p15:guide>
        <p15:guide id="12" orient="horz" pos="680" userDrawn="1">
          <p15:clr>
            <a:srgbClr val="F26B43"/>
          </p15:clr>
        </p15:guide>
        <p15:guide id="13" pos="3628" userDrawn="1">
          <p15:clr>
            <a:srgbClr val="F26B43"/>
          </p15:clr>
        </p15:guide>
        <p15:guide id="14" pos="3402" userDrawn="1">
          <p15:clr>
            <a:srgbClr val="F26B43"/>
          </p15:clr>
        </p15:guide>
        <p15:guide id="15" pos="385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microsoft.com/office/2007/relationships/media" Target="../media/media1.mp4"/><Relationship Id="rId1" Type="http://schemas.openxmlformats.org/officeDocument/2006/relationships/video" Target="NULL" TargetMode="External"/><Relationship Id="rId5" Type="http://schemas.openxmlformats.org/officeDocument/2006/relationships/image" Target="../media/image6.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png"/><Relationship Id="rId2" Type="http://schemas.openxmlformats.org/officeDocument/2006/relationships/notesSlide" Target="../notesSlides/notesSlide5.xml"/><Relationship Id="rId16" Type="http://schemas.openxmlformats.org/officeDocument/2006/relationships/image" Target="../media/image37.png"/><Relationship Id="rId1" Type="http://schemas.openxmlformats.org/officeDocument/2006/relationships/slideLayout" Target="../slideLayouts/slideLayout4.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s>
</file>

<file path=ppt/slides/_rels/slide6.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45.png"/><Relationship Id="rId4" Type="http://schemas.openxmlformats.org/officeDocument/2006/relationships/image" Target="../media/image44.png"/></Relationships>
</file>

<file path=ppt/slides/_rels/slide8.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jpeg"/></Relationships>
</file>

<file path=ppt/slides/_rels/slide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jpeg"/></Relationships>
</file>

<file path=ppt/slides/_rels/slide11.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9" Type="http://schemas.openxmlformats.org/officeDocument/2006/relationships/image" Target="../media/image64.png"/></Relationships>
</file>

<file path=ppt/slides/_rels/slide1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68.jpeg"/><Relationship Id="rId5" Type="http://schemas.openxmlformats.org/officeDocument/2006/relationships/image" Target="../media/image67.jpeg"/><Relationship Id="rId4" Type="http://schemas.openxmlformats.org/officeDocument/2006/relationships/image" Target="../media/image66.png"/></Relationships>
</file>

<file path=ppt/slides/_rels/slide1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71.png"/><Relationship Id="rId5" Type="http://schemas.microsoft.com/office/2007/relationships/hdphoto" Target="../media/hdphoto2.wdp"/><Relationship Id="rId4" Type="http://schemas.openxmlformats.org/officeDocument/2006/relationships/image" Target="../media/image70.png"/></Relationships>
</file>

<file path=ppt/slides/_rels/slide14.xml.rels><?xml version="1.0" encoding="UTF-8" standalone="yes"?>
<Relationships xmlns="http://schemas.openxmlformats.org/package/2006/relationships"><Relationship Id="rId3" Type="http://schemas.openxmlformats.org/officeDocument/2006/relationships/image" Target="../media/image72.png"/><Relationship Id="rId7" Type="http://schemas.microsoft.com/office/2007/relationships/hdphoto" Target="../media/hdphoto3.wdp"/><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75.png"/><Relationship Id="rId5" Type="http://schemas.openxmlformats.org/officeDocument/2006/relationships/image" Target="../media/image74.jpeg"/><Relationship Id="rId4" Type="http://schemas.openxmlformats.org/officeDocument/2006/relationships/image" Target="../media/image73.jpeg"/></Relationships>
</file>

<file path=ppt/slides/_rels/slide1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1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81.png"/></Relationships>
</file>

<file path=ppt/slides/_rels/slide17.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1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9.xml"/><Relationship Id="rId1" Type="http://schemas.openxmlformats.org/officeDocument/2006/relationships/slideLayout" Target="../slideLayouts/slideLayout1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notesSlide" Target="../notesSlides/notesSlide20.xml"/><Relationship Id="rId1" Type="http://schemas.openxmlformats.org/officeDocument/2006/relationships/slideLayout" Target="../slideLayouts/slideLayout16.xml"/><Relationship Id="rId5" Type="http://schemas.openxmlformats.org/officeDocument/2006/relationships/image" Target="../media/image90.png"/><Relationship Id="rId4" Type="http://schemas.openxmlformats.org/officeDocument/2006/relationships/image" Target="../media/image89.png"/></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notesSlide" Target="../notesSlides/notesSlide21.xml"/><Relationship Id="rId7" Type="http://schemas.openxmlformats.org/officeDocument/2006/relationships/image" Target="../media/image94.png"/><Relationship Id="rId2" Type="http://schemas.openxmlformats.org/officeDocument/2006/relationships/slideLayout" Target="../slideLayouts/slideLayout16.xml"/><Relationship Id="rId1" Type="http://schemas.openxmlformats.org/officeDocument/2006/relationships/vmlDrawing" Target="../drawings/vmlDrawing1.vml"/><Relationship Id="rId6" Type="http://schemas.openxmlformats.org/officeDocument/2006/relationships/image" Target="../media/image91.png"/><Relationship Id="rId5" Type="http://schemas.openxmlformats.org/officeDocument/2006/relationships/oleObject" Target="../embeddings/oleObject1.bin"/><Relationship Id="rId4" Type="http://schemas.openxmlformats.org/officeDocument/2006/relationships/image" Target="../media/image93.png"/><Relationship Id="rId9" Type="http://schemas.openxmlformats.org/officeDocument/2006/relationships/image" Target="../media/image92.png"/></Relationships>
</file>

<file path=ppt/slides/_rels/slide2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22.xml"/><Relationship Id="rId1" Type="http://schemas.openxmlformats.org/officeDocument/2006/relationships/slideLayout" Target="../slideLayouts/slideLayout16.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24.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notesSlide" Target="../notesSlides/notesSlide23.xml"/><Relationship Id="rId7" Type="http://schemas.openxmlformats.org/officeDocument/2006/relationships/oleObject" Target="../embeddings/oleObject4.bin"/><Relationship Id="rId2" Type="http://schemas.openxmlformats.org/officeDocument/2006/relationships/slideLayout" Target="../slideLayouts/slideLayout16.xml"/><Relationship Id="rId1" Type="http://schemas.openxmlformats.org/officeDocument/2006/relationships/vmlDrawing" Target="../drawings/vmlDrawing2.vml"/><Relationship Id="rId6" Type="http://schemas.openxmlformats.org/officeDocument/2006/relationships/image" Target="../media/image94.png"/><Relationship Id="rId5" Type="http://schemas.openxmlformats.org/officeDocument/2006/relationships/image" Target="../media/image91.png"/><Relationship Id="rId4" Type="http://schemas.openxmlformats.org/officeDocument/2006/relationships/oleObject" Target="../embeddings/oleObject3.bin"/></Relationships>
</file>

<file path=ppt/slides/_rels/slide2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24.xml"/><Relationship Id="rId1" Type="http://schemas.openxmlformats.org/officeDocument/2006/relationships/slideLayout" Target="../slideLayouts/slideLayout16.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40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D781FC17-A91C-B53E-9FE3-0F6C4D81D49D}"/>
              </a:ext>
            </a:extLst>
          </p:cNvPr>
          <p:cNvSpPr>
            <a:spLocks noGrp="1"/>
          </p:cNvSpPr>
          <p:nvPr>
            <p:ph type="ctrTitle"/>
          </p:nvPr>
        </p:nvSpPr>
        <p:spPr>
          <a:xfrm>
            <a:off x="6119813" y="1605206"/>
            <a:ext cx="5098793" cy="2346516"/>
          </a:xfrm>
        </p:spPr>
        <p:txBody>
          <a:bodyPr/>
          <a:lstStyle/>
          <a:p>
            <a:r>
              <a:rPr lang="ru-RU" sz="2800" cap="all" dirty="0"/>
              <a:t>Комплексный мониторинг состояния промышленного здания в условиях влияния буровзрывных работ</a:t>
            </a:r>
          </a:p>
        </p:txBody>
      </p:sp>
      <p:sp>
        <p:nvSpPr>
          <p:cNvPr id="9" name="Текст 5">
            <a:extLst>
              <a:ext uri="{FF2B5EF4-FFF2-40B4-BE49-F238E27FC236}">
                <a16:creationId xmlns:a16="http://schemas.microsoft.com/office/drawing/2014/main" id="{18F5D346-3ACF-367A-25E3-CA82A757F5F0}"/>
              </a:ext>
            </a:extLst>
          </p:cNvPr>
          <p:cNvSpPr>
            <a:spLocks noGrp="1"/>
          </p:cNvSpPr>
          <p:nvPr>
            <p:ph type="body" sz="quarter" idx="11"/>
          </p:nvPr>
        </p:nvSpPr>
        <p:spPr>
          <a:xfrm>
            <a:off x="6119813" y="4163371"/>
            <a:ext cx="4186376" cy="408546"/>
          </a:xfrm>
        </p:spPr>
        <p:txBody>
          <a:bodyPr/>
          <a:lstStyle/>
          <a:p>
            <a:r>
              <a:rPr lang="ru-RU" sz="1800" dirty="0"/>
              <a:t>Тяпкина Полина Александровна</a:t>
            </a:r>
          </a:p>
        </p:txBody>
      </p:sp>
      <p:sp>
        <p:nvSpPr>
          <p:cNvPr id="10" name="Текст 4">
            <a:extLst>
              <a:ext uri="{FF2B5EF4-FFF2-40B4-BE49-F238E27FC236}">
                <a16:creationId xmlns:a16="http://schemas.microsoft.com/office/drawing/2014/main" id="{86795FDF-9CFB-2745-ADAE-AEF169BC3023}"/>
              </a:ext>
            </a:extLst>
          </p:cNvPr>
          <p:cNvSpPr>
            <a:spLocks noGrp="1"/>
          </p:cNvSpPr>
          <p:nvPr>
            <p:ph type="body" sz="quarter" idx="10"/>
          </p:nvPr>
        </p:nvSpPr>
        <p:spPr>
          <a:xfrm>
            <a:off x="6119813" y="4573323"/>
            <a:ext cx="3932492" cy="408546"/>
          </a:xfrm>
        </p:spPr>
        <p:txBody>
          <a:bodyPr/>
          <a:lstStyle/>
          <a:p>
            <a:r>
              <a:rPr lang="ru-RU" sz="1600" dirty="0"/>
              <a:t>младший научный сотрудник</a:t>
            </a:r>
            <a:br>
              <a:rPr lang="ru-RU" sz="1600" dirty="0"/>
            </a:br>
            <a:r>
              <a:rPr lang="ru-RU" sz="1600" dirty="0"/>
              <a:t>Лаборатории геотехники</a:t>
            </a:r>
          </a:p>
        </p:txBody>
      </p:sp>
      <p:sp>
        <p:nvSpPr>
          <p:cNvPr id="5" name="Текст 5">
            <a:extLst>
              <a:ext uri="{FF2B5EF4-FFF2-40B4-BE49-F238E27FC236}">
                <a16:creationId xmlns:a16="http://schemas.microsoft.com/office/drawing/2014/main" id="{6573FA9F-4F76-4384-8E61-EBE9079AE9F7}"/>
              </a:ext>
            </a:extLst>
          </p:cNvPr>
          <p:cNvSpPr txBox="1">
            <a:spLocks/>
          </p:cNvSpPr>
          <p:nvPr/>
        </p:nvSpPr>
        <p:spPr>
          <a:xfrm>
            <a:off x="6119813" y="4981869"/>
            <a:ext cx="4186376" cy="408546"/>
          </a:xfrm>
          <a:prstGeom prst="rect">
            <a:avLst/>
          </a:prstGeom>
        </p:spPr>
        <p:txBody>
          <a:bodyPr vert="horz" lIns="0" tIns="0" rIns="0" bIns="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1800" dirty="0"/>
              <a:t>Федосеев Антон Владимирович</a:t>
            </a:r>
          </a:p>
        </p:txBody>
      </p:sp>
      <p:sp>
        <p:nvSpPr>
          <p:cNvPr id="6" name="Текст 4">
            <a:extLst>
              <a:ext uri="{FF2B5EF4-FFF2-40B4-BE49-F238E27FC236}">
                <a16:creationId xmlns:a16="http://schemas.microsoft.com/office/drawing/2014/main" id="{0471236A-1490-4CA5-940D-001DE75FB09A}"/>
              </a:ext>
            </a:extLst>
          </p:cNvPr>
          <p:cNvSpPr txBox="1">
            <a:spLocks/>
          </p:cNvSpPr>
          <p:nvPr/>
        </p:nvSpPr>
        <p:spPr>
          <a:xfrm>
            <a:off x="6119813" y="5390415"/>
            <a:ext cx="3932492" cy="933450"/>
          </a:xfrm>
          <a:prstGeom prst="rect">
            <a:avLst/>
          </a:prstGeom>
        </p:spPr>
        <p:txBody>
          <a:bodyPr vert="horz" lIns="0" tIns="36000" rIns="0" bIns="36000" rtlCol="0" anchor="t" anchorCtr="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1600" dirty="0"/>
              <a:t>к.т.н., ведущий научный сотрудник</a:t>
            </a:r>
            <a:br>
              <a:rPr lang="ru-RU" sz="1600" dirty="0"/>
            </a:br>
            <a:r>
              <a:rPr lang="ru-RU" sz="1600" dirty="0"/>
              <a:t>Лаборатории геотехники</a:t>
            </a:r>
          </a:p>
        </p:txBody>
      </p:sp>
    </p:spTree>
    <p:extLst>
      <p:ext uri="{BB962C8B-B14F-4D97-AF65-F5344CB8AC3E}">
        <p14:creationId xmlns:p14="http://schemas.microsoft.com/office/powerpoint/2010/main" val="2506196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Массовый взрыв">
            <a:hlinkClick r:id="" action="ppaction://media"/>
            <a:extLst>
              <a:ext uri="{FF2B5EF4-FFF2-40B4-BE49-F238E27FC236}">
                <a16:creationId xmlns:a16="http://schemas.microsoft.com/office/drawing/2014/main" id="{1497A659-EDBD-C48A-BDCF-E6BEF9AF2E10}"/>
              </a:ext>
            </a:extLst>
          </p:cNvPr>
          <p:cNvPicPr>
            <a:picLocks noChangeAspect="1"/>
          </p:cNvPicPr>
          <p:nvPr>
            <a:videoFile r:link="rId1"/>
            <p:extLst>
              <p:ext uri="{DAA4B4D4-6D71-4841-9C94-3DE7FCFB9230}">
                <p14:media xmlns:p14="http://schemas.microsoft.com/office/powerpoint/2010/main" r:embed="rId2">
                  <p14:trim st="8613"/>
                </p14:media>
              </p:ext>
            </p:extLst>
          </p:nvPr>
        </p:nvPicPr>
        <p:blipFill rotWithShape="1">
          <a:blip r:embed="rId5"/>
          <a:srcRect l="21231" t="13437" b="20023"/>
          <a:stretch/>
        </p:blipFill>
        <p:spPr>
          <a:xfrm>
            <a:off x="3156395" y="1139278"/>
            <a:ext cx="5207699" cy="3299137"/>
          </a:xfrm>
          <a:prstGeom prst="rect">
            <a:avLst/>
          </a:prstGeom>
          <a:ln>
            <a:solidFill>
              <a:schemeClr val="tx2">
                <a:lumMod val="75000"/>
              </a:schemeClr>
            </a:solidFill>
          </a:ln>
        </p:spPr>
      </p:pic>
      <p:sp>
        <p:nvSpPr>
          <p:cNvPr id="38" name="Прямоугольник: скругленные углы 37">
            <a:extLst>
              <a:ext uri="{FF2B5EF4-FFF2-40B4-BE49-F238E27FC236}">
                <a16:creationId xmlns:a16="http://schemas.microsoft.com/office/drawing/2014/main" id="{14EDBF6E-94CD-846D-961B-85200A1572A7}"/>
              </a:ext>
            </a:extLst>
          </p:cNvPr>
          <p:cNvSpPr/>
          <p:nvPr/>
        </p:nvSpPr>
        <p:spPr>
          <a:xfrm>
            <a:off x="407465" y="1163554"/>
            <a:ext cx="2448686" cy="3299136"/>
          </a:xfrm>
          <a:prstGeom prst="round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accent2">
                    <a:lumMod val="75000"/>
                  </a:schemeClr>
                </a:solidFill>
                <a:latin typeface="+mj-lt"/>
                <a:ea typeface="Calibri" panose="020F0502020204030204" pitchFamily="34" charset="0"/>
              </a:rPr>
              <a:t>Промышленные объекты горного производства</a:t>
            </a:r>
            <a:endParaRPr lang="ru-RU" sz="2000" dirty="0">
              <a:solidFill>
                <a:schemeClr val="accent2">
                  <a:lumMod val="75000"/>
                </a:schemeClr>
              </a:solidFill>
              <a:latin typeface="+mj-lt"/>
            </a:endParaRPr>
          </a:p>
        </p:txBody>
      </p:sp>
      <p:sp>
        <p:nvSpPr>
          <p:cNvPr id="39" name="Прямоугольник: скругленные углы 38">
            <a:extLst>
              <a:ext uri="{FF2B5EF4-FFF2-40B4-BE49-F238E27FC236}">
                <a16:creationId xmlns:a16="http://schemas.microsoft.com/office/drawing/2014/main" id="{2309625C-144C-CF88-6989-92376A02068E}"/>
              </a:ext>
            </a:extLst>
          </p:cNvPr>
          <p:cNvSpPr/>
          <p:nvPr/>
        </p:nvSpPr>
        <p:spPr>
          <a:xfrm>
            <a:off x="2856153" y="4948388"/>
            <a:ext cx="5808180" cy="1031876"/>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b="1" dirty="0">
                <a:solidFill>
                  <a:schemeClr val="accent2">
                    <a:lumMod val="75000"/>
                  </a:schemeClr>
                </a:solidFill>
                <a:latin typeface="+mj-lt"/>
                <a:ea typeface="Calibri" panose="020F0502020204030204" pitchFamily="34" charset="0"/>
                <a:cs typeface="Tahoma" panose="020B0604030504040204" pitchFamily="34" charset="0"/>
              </a:rPr>
              <a:t>Попадание зданий в зону влияния взрывов по кинематическому воздействию</a:t>
            </a:r>
            <a:endParaRPr lang="ru-RU" sz="2000" b="1" dirty="0">
              <a:solidFill>
                <a:schemeClr val="accent2">
                  <a:lumMod val="75000"/>
                </a:schemeClr>
              </a:solidFill>
              <a:latin typeface="+mj-lt"/>
              <a:cs typeface="Tahoma" panose="020B0604030504040204" pitchFamily="34" charset="0"/>
            </a:endParaRPr>
          </a:p>
        </p:txBody>
      </p:sp>
      <p:sp>
        <p:nvSpPr>
          <p:cNvPr id="40" name="Прямоугольник: скругленные углы 39">
            <a:extLst>
              <a:ext uri="{FF2B5EF4-FFF2-40B4-BE49-F238E27FC236}">
                <a16:creationId xmlns:a16="http://schemas.microsoft.com/office/drawing/2014/main" id="{80587E35-5BA4-77C3-F0A4-52F07E87F59D}"/>
              </a:ext>
            </a:extLst>
          </p:cNvPr>
          <p:cNvSpPr/>
          <p:nvPr/>
        </p:nvSpPr>
        <p:spPr>
          <a:xfrm>
            <a:off x="8664333" y="1163553"/>
            <a:ext cx="2448690" cy="3299137"/>
          </a:xfrm>
          <a:prstGeom prst="round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accent2">
                    <a:lumMod val="75000"/>
                  </a:schemeClr>
                </a:solidFill>
                <a:latin typeface="+mj-lt"/>
                <a:ea typeface="Calibri" panose="020F0502020204030204" pitchFamily="34" charset="0"/>
              </a:rPr>
              <a:t>Буровзрывные работы</a:t>
            </a:r>
          </a:p>
        </p:txBody>
      </p:sp>
      <p:cxnSp>
        <p:nvCxnSpPr>
          <p:cNvPr id="11" name="Соединитель: уступ 10">
            <a:extLst>
              <a:ext uri="{FF2B5EF4-FFF2-40B4-BE49-F238E27FC236}">
                <a16:creationId xmlns:a16="http://schemas.microsoft.com/office/drawing/2014/main" id="{1608864B-EBBA-89DB-163F-EC606632A900}"/>
              </a:ext>
            </a:extLst>
          </p:cNvPr>
          <p:cNvCxnSpPr>
            <a:cxnSpLocks/>
            <a:stCxn id="38" idx="2"/>
            <a:endCxn id="39" idx="1"/>
          </p:cNvCxnSpPr>
          <p:nvPr/>
        </p:nvCxnSpPr>
        <p:spPr>
          <a:xfrm rot="16200000" flipH="1">
            <a:off x="1743162" y="4351335"/>
            <a:ext cx="1001637" cy="1224344"/>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Соединитель: уступ 18">
            <a:extLst>
              <a:ext uri="{FF2B5EF4-FFF2-40B4-BE49-F238E27FC236}">
                <a16:creationId xmlns:a16="http://schemas.microsoft.com/office/drawing/2014/main" id="{02F3390E-3B9D-7570-EFEE-13A3718AECCF}"/>
              </a:ext>
            </a:extLst>
          </p:cNvPr>
          <p:cNvCxnSpPr>
            <a:cxnSpLocks/>
            <a:stCxn id="40" idx="2"/>
            <a:endCxn id="39" idx="3"/>
          </p:cNvCxnSpPr>
          <p:nvPr/>
        </p:nvCxnSpPr>
        <p:spPr>
          <a:xfrm rot="5400000">
            <a:off x="8775688" y="4351335"/>
            <a:ext cx="1001637" cy="1224345"/>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Текст 11">
            <a:extLst>
              <a:ext uri="{FF2B5EF4-FFF2-40B4-BE49-F238E27FC236}">
                <a16:creationId xmlns:a16="http://schemas.microsoft.com/office/drawing/2014/main" id="{2D1AB287-863D-4C3D-A0A8-5885C4D91750}"/>
              </a:ext>
            </a:extLst>
          </p:cNvPr>
          <p:cNvSpPr txBox="1">
            <a:spLocks/>
          </p:cNvSpPr>
          <p:nvPr/>
        </p:nvSpPr>
        <p:spPr>
          <a:xfrm>
            <a:off x="476462" y="0"/>
            <a:ext cx="6615464" cy="36036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600" b="1" dirty="0">
                <a:solidFill>
                  <a:schemeClr val="accent2">
                    <a:lumMod val="75000"/>
                  </a:schemeClr>
                </a:solidFill>
              </a:rPr>
              <a:t>АКТУАЛЬНОСТЬ</a:t>
            </a:r>
            <a:endParaRPr lang="ru-RU" b="1" dirty="0">
              <a:solidFill>
                <a:schemeClr val="accent2">
                  <a:lumMod val="75000"/>
                </a:schemeClr>
              </a:solidFill>
            </a:endParaRPr>
          </a:p>
        </p:txBody>
      </p:sp>
    </p:spTree>
    <p:extLst>
      <p:ext uri="{BB962C8B-B14F-4D97-AF65-F5344CB8AC3E}">
        <p14:creationId xmlns:p14="http://schemas.microsoft.com/office/powerpoint/2010/main" val="4233941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35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mute="1">
                <p:cTn id="12" fill="hold" display="0">
                  <p:stCondLst>
                    <p:cond delay="indefinite"/>
                  </p:stCondLst>
                </p:cTn>
                <p:tgtEl>
                  <p:spTgt spid="2"/>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FC8AFE9-290C-1436-1485-A1B60981EA1C}"/>
              </a:ext>
            </a:extLst>
          </p:cNvPr>
          <p:cNvSpPr>
            <a:spLocks noGrp="1"/>
          </p:cNvSpPr>
          <p:nvPr>
            <p:ph type="sldNum" sz="quarter" idx="4"/>
          </p:nvPr>
        </p:nvSpPr>
        <p:spPr/>
        <p:txBody>
          <a:bodyPr/>
          <a:lstStyle/>
          <a:p>
            <a:r>
              <a:rPr lang="en-US" sz="1800" dirty="0">
                <a:solidFill>
                  <a:schemeClr val="accent2">
                    <a:lumMod val="75000"/>
                  </a:schemeClr>
                </a:solidFill>
              </a:rPr>
              <a:t>| </a:t>
            </a:r>
            <a:fld id="{F54BA9F3-CBAA-4DCF-AD2D-5ECAA0BE8875}" type="slidenum">
              <a:rPr lang="ru-RU" sz="1800" smtClean="0">
                <a:solidFill>
                  <a:schemeClr val="accent2">
                    <a:lumMod val="75000"/>
                  </a:schemeClr>
                </a:solidFill>
              </a:rPr>
              <a:pPr/>
              <a:t>3</a:t>
            </a:fld>
            <a:endParaRPr lang="ru-RU" sz="1800" dirty="0">
              <a:solidFill>
                <a:schemeClr val="accent2">
                  <a:lumMod val="75000"/>
                </a:schemeClr>
              </a:solidFill>
            </a:endParaRPr>
          </a:p>
        </p:txBody>
      </p:sp>
      <p:sp>
        <p:nvSpPr>
          <p:cNvPr id="16" name="Текст 11">
            <a:extLst>
              <a:ext uri="{FF2B5EF4-FFF2-40B4-BE49-F238E27FC236}">
                <a16:creationId xmlns:a16="http://schemas.microsoft.com/office/drawing/2014/main" id="{72E298A4-1F10-233F-45B5-CB67BE268BB0}"/>
              </a:ext>
            </a:extLst>
          </p:cNvPr>
          <p:cNvSpPr>
            <a:spLocks noGrp="1"/>
          </p:cNvSpPr>
          <p:nvPr>
            <p:ph type="body" sz="quarter" idx="11"/>
          </p:nvPr>
        </p:nvSpPr>
        <p:spPr>
          <a:xfrm>
            <a:off x="476462" y="0"/>
            <a:ext cx="6615464" cy="360363"/>
          </a:xfrm>
          <a:prstGeom prst="rect">
            <a:avLst/>
          </a:prstGeom>
        </p:spPr>
        <p:txBody>
          <a:bodyPr/>
          <a:lstStyle/>
          <a:p>
            <a:r>
              <a:rPr lang="ru-RU" sz="1600" dirty="0">
                <a:solidFill>
                  <a:schemeClr val="accent2">
                    <a:lumMod val="75000"/>
                  </a:schemeClr>
                </a:solidFill>
              </a:rPr>
              <a:t>ПРИБОРНАЯ</a:t>
            </a:r>
            <a:r>
              <a:rPr lang="ru-RU" sz="1800" dirty="0">
                <a:solidFill>
                  <a:schemeClr val="accent2">
                    <a:lumMod val="75000"/>
                  </a:schemeClr>
                </a:solidFill>
              </a:rPr>
              <a:t> БАЗА ЛАБОРАТОРИИ ГЕОТЕХНИКИ</a:t>
            </a:r>
          </a:p>
        </p:txBody>
      </p:sp>
      <p:pic>
        <p:nvPicPr>
          <p:cNvPr id="17" name="Рисунок 16" descr="Сейсмограф"/>
          <p:cNvPicPr/>
          <p:nvPr/>
        </p:nvPicPr>
        <p:blipFill rotWithShape="1">
          <a:blip r:embed="rId3" cstate="print">
            <a:extLst>
              <a:ext uri="{28A0092B-C50C-407E-A947-70E740481C1C}">
                <a14:useLocalDpi xmlns:a14="http://schemas.microsoft.com/office/drawing/2010/main"/>
              </a:ext>
            </a:extLst>
          </a:blip>
          <a:srcRect/>
          <a:stretch/>
        </p:blipFill>
        <p:spPr bwMode="auto">
          <a:xfrm>
            <a:off x="346542" y="1955663"/>
            <a:ext cx="1984211" cy="1322807"/>
          </a:xfrm>
          <a:prstGeom prst="rect">
            <a:avLst/>
          </a:prstGeom>
          <a:noFill/>
          <a:ln>
            <a:noFill/>
          </a:ln>
          <a:extLst>
            <a:ext uri="{53640926-AAD7-44D8-BBD7-CCE9431645EC}">
              <a14:shadowObscured xmlns:a14="http://schemas.microsoft.com/office/drawing/2010/main"/>
            </a:ext>
          </a:extLst>
        </p:spPr>
      </p:pic>
      <p:pic>
        <p:nvPicPr>
          <p:cNvPr id="18" name="Рисунок 17" descr="Верхняя панель сейсмометра для подключения к ПК"/>
          <p:cNvPicPr/>
          <p:nvPr/>
        </p:nvPicPr>
        <p:blipFill rotWithShape="1">
          <a:blip r:embed="rId4" cstate="print">
            <a:extLst>
              <a:ext uri="{28A0092B-C50C-407E-A947-70E740481C1C}">
                <a14:useLocalDpi xmlns:a14="http://schemas.microsoft.com/office/drawing/2010/main"/>
              </a:ext>
            </a:extLst>
          </a:blip>
          <a:srcRect/>
          <a:stretch/>
        </p:blipFill>
        <p:spPr bwMode="auto">
          <a:xfrm>
            <a:off x="2396519" y="1943943"/>
            <a:ext cx="1364259" cy="1444510"/>
          </a:xfrm>
          <a:prstGeom prst="rect">
            <a:avLst/>
          </a:prstGeom>
          <a:noFill/>
          <a:ln>
            <a:noFill/>
          </a:ln>
          <a:extLst>
            <a:ext uri="{53640926-AAD7-44D8-BBD7-CCE9431645EC}">
              <a14:shadowObscured xmlns:a14="http://schemas.microsoft.com/office/drawing/2010/main"/>
            </a:ext>
          </a:extLst>
        </p:spPr>
      </p:pic>
      <p:pic>
        <p:nvPicPr>
          <p:cNvPr id="19" name="Рисунок 18"/>
          <p:cNvPicPr/>
          <p:nvPr/>
        </p:nvPicPr>
        <p:blipFill rotWithShape="1">
          <a:blip r:embed="rId5" cstate="screen">
            <a:extLst>
              <a:ext uri="{28A0092B-C50C-407E-A947-70E740481C1C}">
                <a14:useLocalDpi xmlns:a14="http://schemas.microsoft.com/office/drawing/2010/main"/>
              </a:ext>
            </a:extLst>
          </a:blip>
          <a:srcRect/>
          <a:stretch/>
        </p:blipFill>
        <p:spPr bwMode="auto">
          <a:xfrm>
            <a:off x="4923986" y="3134796"/>
            <a:ext cx="1820409" cy="1604083"/>
          </a:xfrm>
          <a:prstGeom prst="rect">
            <a:avLst/>
          </a:prstGeom>
          <a:ln>
            <a:noFill/>
          </a:ln>
          <a:extLst>
            <a:ext uri="{53640926-AAD7-44D8-BBD7-CCE9431645EC}">
              <a14:shadowObscured xmlns:a14="http://schemas.microsoft.com/office/drawing/2010/main"/>
            </a:ext>
          </a:extLst>
        </p:spPr>
      </p:pic>
      <p:pic>
        <p:nvPicPr>
          <p:cNvPr id="20" name="Рисунок 19"/>
          <p:cNvPicPr/>
          <p:nvPr/>
        </p:nvPicPr>
        <p:blipFill rotWithShape="1">
          <a:blip r:embed="rId6" cstate="email">
            <a:extLst>
              <a:ext uri="{28A0092B-C50C-407E-A947-70E740481C1C}">
                <a14:useLocalDpi xmlns:a14="http://schemas.microsoft.com/office/drawing/2010/main"/>
              </a:ext>
            </a:extLst>
          </a:blip>
          <a:srcRect t="15249"/>
          <a:stretch/>
        </p:blipFill>
        <p:spPr bwMode="auto">
          <a:xfrm>
            <a:off x="4848823" y="4723585"/>
            <a:ext cx="1961337" cy="1466094"/>
          </a:xfrm>
          <a:prstGeom prst="rect">
            <a:avLst/>
          </a:prstGeom>
          <a:ln>
            <a:noFill/>
          </a:ln>
          <a:extLst>
            <a:ext uri="{53640926-AAD7-44D8-BBD7-CCE9431645EC}">
              <a14:shadowObscured xmlns:a14="http://schemas.microsoft.com/office/drawing/2010/main"/>
            </a:ext>
          </a:extLst>
        </p:spPr>
      </p:pic>
      <p:pic>
        <p:nvPicPr>
          <p:cNvPr id="21" name="Рисунок 20"/>
          <p:cNvPicPr/>
          <p:nvPr/>
        </p:nvPicPr>
        <p:blipFill>
          <a:blip r:embed="rId7" cstate="screen">
            <a:extLst>
              <a:ext uri="{28A0092B-C50C-407E-A947-70E740481C1C}">
                <a14:useLocalDpi xmlns:a14="http://schemas.microsoft.com/office/drawing/2010/main"/>
              </a:ext>
            </a:extLst>
          </a:blip>
          <a:stretch>
            <a:fillRect/>
          </a:stretch>
        </p:blipFill>
        <p:spPr>
          <a:xfrm>
            <a:off x="1277044" y="4479724"/>
            <a:ext cx="1944395" cy="1709956"/>
          </a:xfrm>
          <a:prstGeom prst="rect">
            <a:avLst/>
          </a:prstGeom>
        </p:spPr>
      </p:pic>
      <p:pic>
        <p:nvPicPr>
          <p:cNvPr id="22" name="Рисунок 21"/>
          <p:cNvPicPr/>
          <p:nvPr/>
        </p:nvPicPr>
        <p:blipFill rotWithShape="1">
          <a:blip r:embed="rId8" cstate="screen">
            <a:extLst>
              <a:ext uri="{28A0092B-C50C-407E-A947-70E740481C1C}">
                <a14:useLocalDpi xmlns:a14="http://schemas.microsoft.com/office/drawing/2010/main"/>
              </a:ext>
            </a:extLst>
          </a:blip>
          <a:srcRect/>
          <a:stretch/>
        </p:blipFill>
        <p:spPr bwMode="auto">
          <a:xfrm>
            <a:off x="7596936" y="4541841"/>
            <a:ext cx="3514160" cy="1297256"/>
          </a:xfrm>
          <a:prstGeom prst="rect">
            <a:avLst/>
          </a:prstGeom>
          <a:noFill/>
          <a:ln>
            <a:noFill/>
          </a:ln>
          <a:extLst>
            <a:ext uri="{53640926-AAD7-44D8-BBD7-CCE9431645EC}">
              <a14:shadowObscured xmlns:a14="http://schemas.microsoft.com/office/drawing/2010/main"/>
            </a:ext>
          </a:extLst>
        </p:spPr>
      </p:pic>
      <p:pic>
        <p:nvPicPr>
          <p:cNvPr id="23" name="image5.png"/>
          <p:cNvPicPr/>
          <p:nvPr/>
        </p:nvPicPr>
        <p:blipFill>
          <a:blip r:embed="rId9" cstate="screen">
            <a:clrChange>
              <a:clrFrom>
                <a:srgbClr val="F9F9F9"/>
              </a:clrFrom>
              <a:clrTo>
                <a:srgbClr val="F9F9F9">
                  <a:alpha val="0"/>
                </a:srgbClr>
              </a:clrTo>
            </a:clrChange>
            <a:extLst>
              <a:ext uri="{28A0092B-C50C-407E-A947-70E740481C1C}">
                <a14:useLocalDpi xmlns:a14="http://schemas.microsoft.com/office/drawing/2010/main"/>
              </a:ext>
            </a:extLst>
          </a:blip>
          <a:srcRect/>
          <a:stretch>
            <a:fillRect/>
          </a:stretch>
        </p:blipFill>
        <p:spPr>
          <a:xfrm>
            <a:off x="8371779" y="1948153"/>
            <a:ext cx="1938070" cy="1536231"/>
          </a:xfrm>
          <a:prstGeom prst="rect">
            <a:avLst/>
          </a:prstGeom>
          <a:ln/>
        </p:spPr>
      </p:pic>
      <p:sp>
        <p:nvSpPr>
          <p:cNvPr id="24" name="Прямоугольник 23">
            <a:extLst>
              <a:ext uri="{FF2B5EF4-FFF2-40B4-BE49-F238E27FC236}">
                <a16:creationId xmlns:a16="http://schemas.microsoft.com/office/drawing/2014/main" id="{B0E5AE17-1417-5ECA-97F4-41D227A6734C}"/>
              </a:ext>
            </a:extLst>
          </p:cNvPr>
          <p:cNvSpPr/>
          <p:nvPr/>
        </p:nvSpPr>
        <p:spPr>
          <a:xfrm>
            <a:off x="471445" y="1079705"/>
            <a:ext cx="3600000" cy="720000"/>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accent2">
                    <a:lumMod val="75000"/>
                  </a:schemeClr>
                </a:solidFill>
              </a:rPr>
              <a:t>ВЕЛОСИМЕТР </a:t>
            </a:r>
            <a:r>
              <a:rPr lang="en-US" dirty="0">
                <a:solidFill>
                  <a:schemeClr val="accent2">
                    <a:lumMod val="75000"/>
                  </a:schemeClr>
                </a:solidFill>
              </a:rPr>
              <a:t>ZET 7156</a:t>
            </a:r>
            <a:r>
              <a:rPr lang="ru-RU" dirty="0">
                <a:solidFill>
                  <a:schemeClr val="accent2">
                    <a:lumMod val="75000"/>
                  </a:schemeClr>
                </a:solidFill>
              </a:rPr>
              <a:t>, АКСЕЛЕРОМЕТР </a:t>
            </a:r>
            <a:r>
              <a:rPr lang="en-US" dirty="0">
                <a:solidFill>
                  <a:schemeClr val="accent2">
                    <a:lumMod val="75000"/>
                  </a:schemeClr>
                </a:solidFill>
              </a:rPr>
              <a:t>ZET 7152N</a:t>
            </a:r>
            <a:endParaRPr lang="ru-RU" dirty="0">
              <a:solidFill>
                <a:schemeClr val="accent2">
                  <a:lumMod val="75000"/>
                </a:schemeClr>
              </a:solidFill>
            </a:endParaRPr>
          </a:p>
        </p:txBody>
      </p:sp>
      <p:sp>
        <p:nvSpPr>
          <p:cNvPr id="25" name="Текст 16">
            <a:extLst>
              <a:ext uri="{FF2B5EF4-FFF2-40B4-BE49-F238E27FC236}">
                <a16:creationId xmlns:a16="http://schemas.microsoft.com/office/drawing/2014/main" id="{4D17250A-797F-5A57-7B8F-D3BFAB7F8561}"/>
              </a:ext>
            </a:extLst>
          </p:cNvPr>
          <p:cNvSpPr txBox="1">
            <a:spLocks/>
          </p:cNvSpPr>
          <p:nvPr/>
        </p:nvSpPr>
        <p:spPr>
          <a:xfrm>
            <a:off x="849046" y="797857"/>
            <a:ext cx="3132049" cy="438465"/>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endParaRPr lang="ru-RU" sz="1800" dirty="0">
              <a:solidFill>
                <a:schemeClr val="accent2">
                  <a:lumMod val="75000"/>
                </a:schemeClr>
              </a:solidFill>
            </a:endParaRPr>
          </a:p>
        </p:txBody>
      </p:sp>
      <p:sp>
        <p:nvSpPr>
          <p:cNvPr id="27" name="Прямоугольник 26">
            <a:extLst>
              <a:ext uri="{FF2B5EF4-FFF2-40B4-BE49-F238E27FC236}">
                <a16:creationId xmlns:a16="http://schemas.microsoft.com/office/drawing/2014/main" id="{B0E5AE17-1417-5ECA-97F4-41D227A6734C}"/>
              </a:ext>
            </a:extLst>
          </p:cNvPr>
          <p:cNvSpPr/>
          <p:nvPr/>
        </p:nvSpPr>
        <p:spPr>
          <a:xfrm>
            <a:off x="4336160" y="1780395"/>
            <a:ext cx="2916000" cy="1260000"/>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cap="all" dirty="0">
                <a:solidFill>
                  <a:schemeClr val="accent2">
                    <a:lumMod val="75000"/>
                  </a:schemeClr>
                </a:solidFill>
              </a:rPr>
              <a:t>СЕЙСМОСТАНЦИЯ </a:t>
            </a:r>
            <a:br>
              <a:rPr lang="ru-RU" cap="all" dirty="0">
                <a:solidFill>
                  <a:schemeClr val="accent2">
                    <a:lumMod val="75000"/>
                  </a:schemeClr>
                </a:solidFill>
              </a:rPr>
            </a:br>
            <a:r>
              <a:rPr lang="ru-RU" cap="all" dirty="0">
                <a:solidFill>
                  <a:schemeClr val="accent2">
                    <a:lumMod val="75000"/>
                  </a:schemeClr>
                </a:solidFill>
              </a:rPr>
              <a:t>ZET 048-E,</a:t>
            </a:r>
            <a:br>
              <a:rPr lang="ru-RU" cap="all" dirty="0">
                <a:solidFill>
                  <a:schemeClr val="accent2">
                    <a:lumMod val="75000"/>
                  </a:schemeClr>
                </a:solidFill>
              </a:rPr>
            </a:br>
            <a:r>
              <a:rPr lang="ru-RU" cap="all" dirty="0">
                <a:solidFill>
                  <a:schemeClr val="accent2">
                    <a:lumMod val="75000"/>
                  </a:schemeClr>
                </a:solidFill>
              </a:rPr>
              <a:t>два сейсмоприемника </a:t>
            </a:r>
            <a:br>
              <a:rPr lang="ru-RU" cap="all" dirty="0">
                <a:solidFill>
                  <a:schemeClr val="accent2">
                    <a:lumMod val="75000"/>
                  </a:schemeClr>
                </a:solidFill>
              </a:rPr>
            </a:br>
            <a:r>
              <a:rPr lang="ru-RU" cap="all" dirty="0">
                <a:solidFill>
                  <a:schemeClr val="accent2">
                    <a:lumMod val="75000"/>
                  </a:schemeClr>
                </a:solidFill>
              </a:rPr>
              <a:t>ВС 1313 </a:t>
            </a:r>
          </a:p>
        </p:txBody>
      </p:sp>
      <p:sp>
        <p:nvSpPr>
          <p:cNvPr id="29" name="Прямоугольник 28">
            <a:extLst>
              <a:ext uri="{FF2B5EF4-FFF2-40B4-BE49-F238E27FC236}">
                <a16:creationId xmlns:a16="http://schemas.microsoft.com/office/drawing/2014/main" id="{B0E5AE17-1417-5ECA-97F4-41D227A6734C}"/>
              </a:ext>
            </a:extLst>
          </p:cNvPr>
          <p:cNvSpPr/>
          <p:nvPr/>
        </p:nvSpPr>
        <p:spPr>
          <a:xfrm>
            <a:off x="7516876" y="3660544"/>
            <a:ext cx="3600000" cy="720000"/>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accent2">
                    <a:lumMod val="75000"/>
                  </a:schemeClr>
                </a:solidFill>
              </a:rPr>
              <a:t>ТЕНЗОМЕТРИЧЕСКАЯ СТАНЦИЯ </a:t>
            </a:r>
            <a:r>
              <a:rPr lang="en-US" dirty="0">
                <a:solidFill>
                  <a:schemeClr val="accent2">
                    <a:lumMod val="75000"/>
                  </a:schemeClr>
                </a:solidFill>
              </a:rPr>
              <a:t>ZET 058 </a:t>
            </a:r>
            <a:endParaRPr lang="ru-RU" dirty="0">
              <a:solidFill>
                <a:schemeClr val="accent2">
                  <a:lumMod val="75000"/>
                </a:schemeClr>
              </a:solidFill>
            </a:endParaRPr>
          </a:p>
        </p:txBody>
      </p:sp>
      <p:sp>
        <p:nvSpPr>
          <p:cNvPr id="31" name="Прямоугольник 30">
            <a:extLst>
              <a:ext uri="{FF2B5EF4-FFF2-40B4-BE49-F238E27FC236}">
                <a16:creationId xmlns:a16="http://schemas.microsoft.com/office/drawing/2014/main" id="{B0E5AE17-1417-5ECA-97F4-41D227A6734C}"/>
              </a:ext>
            </a:extLst>
          </p:cNvPr>
          <p:cNvSpPr/>
          <p:nvPr/>
        </p:nvSpPr>
        <p:spPr>
          <a:xfrm>
            <a:off x="471445" y="3652528"/>
            <a:ext cx="3600000" cy="720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cap="all" dirty="0">
                <a:solidFill>
                  <a:schemeClr val="accent2">
                    <a:lumMod val="75000"/>
                  </a:schemeClr>
                </a:solidFill>
              </a:rPr>
              <a:t>ВИБРОМОНИТОР </a:t>
            </a:r>
            <a:r>
              <a:rPr lang="en-US" cap="all" dirty="0" err="1">
                <a:solidFill>
                  <a:schemeClr val="accent2">
                    <a:lumMod val="75000"/>
                  </a:schemeClr>
                </a:solidFill>
              </a:rPr>
              <a:t>Micromate</a:t>
            </a:r>
            <a:r>
              <a:rPr lang="ru-RU" cap="all" dirty="0">
                <a:solidFill>
                  <a:schemeClr val="accent2">
                    <a:lumMod val="75000"/>
                  </a:schemeClr>
                </a:solidFill>
              </a:rPr>
              <a:t> </a:t>
            </a:r>
            <a:br>
              <a:rPr lang="ru-RU" cap="all" dirty="0">
                <a:solidFill>
                  <a:schemeClr val="accent2">
                    <a:lumMod val="75000"/>
                  </a:schemeClr>
                </a:solidFill>
              </a:rPr>
            </a:br>
            <a:r>
              <a:rPr lang="ru-RU" cap="all" dirty="0">
                <a:solidFill>
                  <a:schemeClr val="accent2">
                    <a:lumMod val="75000"/>
                  </a:schemeClr>
                </a:solidFill>
              </a:rPr>
              <a:t>С </a:t>
            </a:r>
            <a:r>
              <a:rPr lang="ru-RU" cap="all" dirty="0" err="1">
                <a:solidFill>
                  <a:schemeClr val="accent2">
                    <a:lumMod val="75000"/>
                  </a:schemeClr>
                </a:solidFill>
              </a:rPr>
              <a:t>ФУНКЦиЕЙ</a:t>
            </a:r>
            <a:r>
              <a:rPr lang="ru-RU" cap="all" dirty="0">
                <a:solidFill>
                  <a:schemeClr val="accent2">
                    <a:lumMod val="75000"/>
                  </a:schemeClr>
                </a:solidFill>
              </a:rPr>
              <a:t> ИЗМЕРЕНИЯ УВВ</a:t>
            </a:r>
          </a:p>
        </p:txBody>
      </p:sp>
      <p:sp>
        <p:nvSpPr>
          <p:cNvPr id="33" name="Прямоугольник 32">
            <a:extLst>
              <a:ext uri="{FF2B5EF4-FFF2-40B4-BE49-F238E27FC236}">
                <a16:creationId xmlns:a16="http://schemas.microsoft.com/office/drawing/2014/main" id="{B0E5AE17-1417-5ECA-97F4-41D227A6734C}"/>
              </a:ext>
            </a:extLst>
          </p:cNvPr>
          <p:cNvSpPr/>
          <p:nvPr/>
        </p:nvSpPr>
        <p:spPr>
          <a:xfrm>
            <a:off x="7516876" y="1094691"/>
            <a:ext cx="3600000" cy="720000"/>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cap="all" dirty="0">
                <a:solidFill>
                  <a:schemeClr val="accent2">
                    <a:lumMod val="75000"/>
                  </a:schemeClr>
                </a:solidFill>
              </a:rPr>
              <a:t>ВЫСОКОСКОРОСТНАЯ КАМЕРА </a:t>
            </a:r>
            <a:r>
              <a:rPr lang="en-US" cap="all" dirty="0">
                <a:solidFill>
                  <a:schemeClr val="accent2">
                    <a:lumMod val="75000"/>
                  </a:schemeClr>
                </a:solidFill>
              </a:rPr>
              <a:t>Phantom Miro C320</a:t>
            </a:r>
            <a:endParaRPr lang="ru-RU" cap="all" dirty="0">
              <a:solidFill>
                <a:schemeClr val="accent2">
                  <a:lumMod val="75000"/>
                </a:schemeClr>
              </a:solidFill>
            </a:endParaRPr>
          </a:p>
        </p:txBody>
      </p:sp>
    </p:spTree>
    <p:extLst>
      <p:ext uri="{BB962C8B-B14F-4D97-AF65-F5344CB8AC3E}">
        <p14:creationId xmlns:p14="http://schemas.microsoft.com/office/powerpoint/2010/main" val="3001187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FC8AFE9-290C-1436-1485-A1B60981EA1C}"/>
              </a:ext>
            </a:extLst>
          </p:cNvPr>
          <p:cNvSpPr>
            <a:spLocks noGrp="1"/>
          </p:cNvSpPr>
          <p:nvPr>
            <p:ph type="sldNum" sz="quarter" idx="4"/>
          </p:nvPr>
        </p:nvSpPr>
        <p:spPr>
          <a:xfrm>
            <a:off x="10620000" y="0"/>
            <a:ext cx="825069" cy="360363"/>
          </a:xfrm>
        </p:spPr>
        <p:txBody>
          <a:bodyPr/>
          <a:lstStyle/>
          <a:p>
            <a:r>
              <a:rPr lang="en-US" sz="1800">
                <a:solidFill>
                  <a:schemeClr val="accent2">
                    <a:lumMod val="75000"/>
                  </a:schemeClr>
                </a:solidFill>
              </a:rPr>
              <a:t>| </a:t>
            </a:r>
            <a:fld id="{F54BA9F3-CBAA-4DCF-AD2D-5ECAA0BE8875}" type="slidenum">
              <a:rPr lang="ru-RU" sz="1800" smtClean="0">
                <a:solidFill>
                  <a:schemeClr val="accent2">
                    <a:lumMod val="75000"/>
                  </a:schemeClr>
                </a:solidFill>
              </a:rPr>
              <a:pPr/>
              <a:t>4</a:t>
            </a:fld>
            <a:endParaRPr lang="ru-RU" sz="1800" dirty="0">
              <a:solidFill>
                <a:schemeClr val="accent2">
                  <a:lumMod val="75000"/>
                </a:schemeClr>
              </a:solidFill>
            </a:endParaRPr>
          </a:p>
        </p:txBody>
      </p:sp>
      <p:sp>
        <p:nvSpPr>
          <p:cNvPr id="16" name="Текст 11">
            <a:extLst>
              <a:ext uri="{FF2B5EF4-FFF2-40B4-BE49-F238E27FC236}">
                <a16:creationId xmlns:a16="http://schemas.microsoft.com/office/drawing/2014/main" id="{72E298A4-1F10-233F-45B5-CB67BE268BB0}"/>
              </a:ext>
            </a:extLst>
          </p:cNvPr>
          <p:cNvSpPr>
            <a:spLocks noGrp="1"/>
          </p:cNvSpPr>
          <p:nvPr>
            <p:ph type="body" sz="quarter" idx="11"/>
          </p:nvPr>
        </p:nvSpPr>
        <p:spPr>
          <a:xfrm>
            <a:off x="476461" y="0"/>
            <a:ext cx="9176989" cy="360363"/>
          </a:xfrm>
          <a:prstGeom prst="rect">
            <a:avLst/>
          </a:prstGeom>
        </p:spPr>
        <p:txBody>
          <a:bodyPr/>
          <a:lstStyle/>
          <a:p>
            <a:r>
              <a:rPr lang="ru-RU" sz="1600" dirty="0">
                <a:solidFill>
                  <a:schemeClr val="accent2">
                    <a:lumMod val="75000"/>
                  </a:schemeClr>
                </a:solidFill>
              </a:rPr>
              <a:t>УСТАНОВКА ДАТЧИКОВ ИЗМЕРЕНИЯ СЕЙСМИЧЕСКОГО ВОЗДЕЙСТВИЯ ВЗРЫВОВ</a:t>
            </a:r>
          </a:p>
        </p:txBody>
      </p:sp>
      <p:sp>
        <p:nvSpPr>
          <p:cNvPr id="50" name="Прямоугольник 49">
            <a:extLst>
              <a:ext uri="{FF2B5EF4-FFF2-40B4-BE49-F238E27FC236}">
                <a16:creationId xmlns:a16="http://schemas.microsoft.com/office/drawing/2014/main" id="{420B3351-39AA-4722-99AC-29065F0D0236}"/>
              </a:ext>
            </a:extLst>
          </p:cNvPr>
          <p:cNvSpPr/>
          <p:nvPr/>
        </p:nvSpPr>
        <p:spPr>
          <a:xfrm>
            <a:off x="1355962" y="1018203"/>
            <a:ext cx="3401097" cy="369332"/>
          </a:xfrm>
          <a:prstGeom prst="rect">
            <a:avLst/>
          </a:prstGeom>
          <a:solidFill>
            <a:srgbClr val="92D050"/>
          </a:solidFill>
        </p:spPr>
        <p:txBody>
          <a:bodyPr wrap="square">
            <a:spAutoFit/>
          </a:bodyPr>
          <a:lstStyle/>
          <a:p>
            <a:pPr algn="ctr"/>
            <a:r>
              <a:rPr lang="ru-RU" b="1" dirty="0">
                <a:solidFill>
                  <a:schemeClr val="accent2">
                    <a:lumMod val="75000"/>
                  </a:schemeClr>
                </a:solidFill>
                <a:latin typeface="Tahoma" panose="020B0604030504040204" pitchFamily="34" charset="0"/>
                <a:cs typeface="Tahoma" panose="020B0604030504040204" pitchFamily="34" charset="0"/>
              </a:rPr>
              <a:t>Рекомендуется</a:t>
            </a:r>
          </a:p>
        </p:txBody>
      </p:sp>
      <p:sp>
        <p:nvSpPr>
          <p:cNvPr id="51" name="Прямоугольник 50">
            <a:extLst>
              <a:ext uri="{FF2B5EF4-FFF2-40B4-BE49-F238E27FC236}">
                <a16:creationId xmlns:a16="http://schemas.microsoft.com/office/drawing/2014/main" id="{420B3351-39AA-4722-99AC-29065F0D0236}"/>
              </a:ext>
            </a:extLst>
          </p:cNvPr>
          <p:cNvSpPr/>
          <p:nvPr/>
        </p:nvSpPr>
        <p:spPr>
          <a:xfrm>
            <a:off x="6856234" y="1032263"/>
            <a:ext cx="3401097" cy="369332"/>
          </a:xfrm>
          <a:prstGeom prst="rect">
            <a:avLst/>
          </a:prstGeom>
          <a:solidFill>
            <a:srgbClr val="E45F44"/>
          </a:solidFill>
        </p:spPr>
        <p:txBody>
          <a:bodyPr wrap="square">
            <a:spAutoFit/>
          </a:bodyPr>
          <a:lstStyle/>
          <a:p>
            <a:pPr algn="ctr"/>
            <a:r>
              <a:rPr lang="ru-RU" b="1" dirty="0">
                <a:solidFill>
                  <a:schemeClr val="accent2">
                    <a:lumMod val="75000"/>
                  </a:schemeClr>
                </a:solidFill>
                <a:latin typeface="Tahoma" panose="020B0604030504040204" pitchFamily="34" charset="0"/>
                <a:cs typeface="Tahoma" panose="020B0604030504040204" pitchFamily="34" charset="0"/>
              </a:rPr>
              <a:t>Не рекомендуется</a:t>
            </a:r>
          </a:p>
        </p:txBody>
      </p:sp>
      <p:sp>
        <p:nvSpPr>
          <p:cNvPr id="52" name="Прямоугольник 51"/>
          <p:cNvSpPr/>
          <p:nvPr/>
        </p:nvSpPr>
        <p:spPr>
          <a:xfrm>
            <a:off x="436422" y="1018203"/>
            <a:ext cx="5240178" cy="5123009"/>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accent2">
                  <a:lumMod val="75000"/>
                </a:schemeClr>
              </a:solidFill>
            </a:endParaRPr>
          </a:p>
        </p:txBody>
      </p:sp>
      <p:sp>
        <p:nvSpPr>
          <p:cNvPr id="53" name="Прямоугольник 52"/>
          <p:cNvSpPr/>
          <p:nvPr/>
        </p:nvSpPr>
        <p:spPr>
          <a:xfrm>
            <a:off x="5843890" y="1032263"/>
            <a:ext cx="5240177" cy="5123009"/>
          </a:xfrm>
          <a:prstGeom prst="rect">
            <a:avLst/>
          </a:prstGeom>
          <a:noFill/>
          <a:ln>
            <a:solidFill>
              <a:srgbClr val="E45F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accent2">
                  <a:lumMod val="75000"/>
                </a:schemeClr>
              </a:solidFill>
            </a:endParaRPr>
          </a:p>
        </p:txBody>
      </p:sp>
      <p:sp>
        <p:nvSpPr>
          <p:cNvPr id="54" name="Прямоугольник 53"/>
          <p:cNvSpPr/>
          <p:nvPr/>
        </p:nvSpPr>
        <p:spPr>
          <a:xfrm>
            <a:off x="476460" y="1348840"/>
            <a:ext cx="5168065" cy="4524315"/>
          </a:xfrm>
          <a:prstGeom prst="rect">
            <a:avLst/>
          </a:prstGeom>
        </p:spPr>
        <p:txBody>
          <a:bodyPr wrap="square">
            <a:spAutoFit/>
          </a:bodyPr>
          <a:lstStyle/>
          <a:p>
            <a:pPr algn="just"/>
            <a:r>
              <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1.Установка на твердые породы</a:t>
            </a:r>
            <a:r>
              <a:rPr lang="en-US"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 </a:t>
            </a:r>
            <a:r>
              <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или на значительную бетонную массу</a:t>
            </a:r>
            <a:r>
              <a:rPr lang="en-US"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 </a:t>
            </a:r>
            <a:r>
              <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плотно контактирующую с грунтом на гипс или анкерные (болтовые) крепления</a:t>
            </a:r>
          </a:p>
          <a:p>
            <a:pPr algn="just"/>
            <a:endPar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a:p>
            <a:pPr algn="just"/>
            <a:endPar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a:p>
            <a:pPr algn="just"/>
            <a:endPar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a:p>
            <a:pPr algn="just"/>
            <a:r>
              <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2. Установка в грунт закапыванием и утрамбовкой</a:t>
            </a:r>
          </a:p>
          <a:p>
            <a:pPr algn="just"/>
            <a:endPar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a:p>
            <a:pPr algn="just"/>
            <a:endPar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a:p>
            <a:pPr algn="just"/>
            <a:endPar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a:p>
            <a:pPr algn="just"/>
            <a:endPar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a:p>
            <a:pPr algn="just"/>
            <a:r>
              <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3.</a:t>
            </a:r>
            <a:r>
              <a:rPr lang="en-US"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 </a:t>
            </a:r>
            <a:r>
              <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Установка на грунт при помощи шипов</a:t>
            </a:r>
          </a:p>
          <a:p>
            <a:pPr algn="just"/>
            <a:endPar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a:p>
            <a:pPr algn="just"/>
            <a:endPar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a:p>
            <a:pPr algn="just"/>
            <a:endPar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a:p>
            <a:pPr algn="just"/>
            <a:r>
              <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4. </a:t>
            </a:r>
            <a:r>
              <a:rPr lang="ru-RU" sz="1600" dirty="0" err="1">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Пригрузка</a:t>
            </a:r>
            <a:r>
              <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 мешком с песком (только для низких уровней воздействия)</a:t>
            </a:r>
          </a:p>
        </p:txBody>
      </p:sp>
      <p:pic>
        <p:nvPicPr>
          <p:cNvPr id="55" name="Рисунок 5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511363" y="2358122"/>
            <a:ext cx="1054623" cy="672531"/>
          </a:xfrm>
          <a:prstGeom prst="rect">
            <a:avLst/>
          </a:prstGeom>
        </p:spPr>
      </p:pic>
      <p:pic>
        <p:nvPicPr>
          <p:cNvPr id="56" name="Рисунок 55"/>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758904" y="3328006"/>
            <a:ext cx="940952" cy="995977"/>
          </a:xfrm>
          <a:prstGeom prst="rect">
            <a:avLst/>
          </a:prstGeom>
        </p:spPr>
      </p:pic>
      <p:pic>
        <p:nvPicPr>
          <p:cNvPr id="57" name="Рисунок 56"/>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656996" y="4586907"/>
            <a:ext cx="1144768" cy="711282"/>
          </a:xfrm>
          <a:prstGeom prst="rect">
            <a:avLst/>
          </a:prstGeom>
        </p:spPr>
      </p:pic>
      <p:pic>
        <p:nvPicPr>
          <p:cNvPr id="58" name="Рисунок 57"/>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656996" y="5595542"/>
            <a:ext cx="1947706" cy="492091"/>
          </a:xfrm>
          <a:prstGeom prst="rect">
            <a:avLst/>
          </a:prstGeom>
        </p:spPr>
      </p:pic>
      <p:pic>
        <p:nvPicPr>
          <p:cNvPr id="59" name="Рисунок 58"/>
          <p:cNvPicPr>
            <a:picLocks noChangeAspect="1"/>
          </p:cNvPicPr>
          <p:nvPr/>
        </p:nvPicPr>
        <p:blipFill>
          <a:blip r:embed="rId7"/>
          <a:stretch>
            <a:fillRect/>
          </a:stretch>
        </p:blipFill>
        <p:spPr>
          <a:xfrm>
            <a:off x="1586328" y="2351671"/>
            <a:ext cx="1643052" cy="624651"/>
          </a:xfrm>
          <a:prstGeom prst="rect">
            <a:avLst/>
          </a:prstGeom>
        </p:spPr>
      </p:pic>
      <p:sp>
        <p:nvSpPr>
          <p:cNvPr id="60" name="Прямоугольник 59"/>
          <p:cNvSpPr/>
          <p:nvPr/>
        </p:nvSpPr>
        <p:spPr>
          <a:xfrm>
            <a:off x="5843890" y="1351852"/>
            <a:ext cx="5200138" cy="3970318"/>
          </a:xfrm>
          <a:prstGeom prst="rect">
            <a:avLst/>
          </a:prstGeom>
        </p:spPr>
        <p:txBody>
          <a:bodyPr wrap="square">
            <a:spAutoFit/>
          </a:bodyPr>
          <a:lstStyle/>
          <a:p>
            <a:r>
              <a:rPr lang="ru-RU"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1.</a:t>
            </a:r>
            <a:r>
              <a:rPr lang="en-US"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 </a:t>
            </a:r>
            <a:r>
              <a:rPr lang="ru-RU"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Рыхлые породы и неровные поверхности</a:t>
            </a:r>
          </a:p>
          <a:p>
            <a:endParaRPr lang="ru-RU"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a:p>
            <a:endParaRPr lang="ru-RU"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a:p>
            <a:r>
              <a:rPr lang="ru-RU"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2.</a:t>
            </a:r>
            <a:r>
              <a:rPr lang="en-US"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 </a:t>
            </a:r>
            <a:r>
              <a:rPr lang="ru-RU"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Тонкий слой бетона</a:t>
            </a:r>
          </a:p>
          <a:p>
            <a:endParaRPr lang="ru-RU"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a:p>
            <a:endParaRPr lang="ru-RU"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a:p>
            <a:endParaRPr lang="ru-RU"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a:p>
            <a:r>
              <a:rPr lang="ru-RU"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3. Рыхлый кирпич или брусчатка</a:t>
            </a:r>
          </a:p>
          <a:p>
            <a:endParaRPr lang="ru-RU"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a:p>
            <a:endParaRPr lang="ru-RU"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a:p>
            <a:endParaRPr lang="ru-RU"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endParaRPr>
          </a:p>
          <a:p>
            <a:r>
              <a:rPr lang="ru-RU"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4.</a:t>
            </a:r>
            <a:r>
              <a:rPr lang="en-US"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 </a:t>
            </a:r>
            <a:r>
              <a:rPr lang="ru-RU"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Установка на шипы при отсутствии контакта между датчиком и поверхностью из-за слабой прижимки или растительности</a:t>
            </a:r>
          </a:p>
        </p:txBody>
      </p:sp>
      <p:pic>
        <p:nvPicPr>
          <p:cNvPr id="61" name="Рисунок 60"/>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7803040" y="1677007"/>
            <a:ext cx="1507487" cy="531761"/>
          </a:xfrm>
          <a:prstGeom prst="rect">
            <a:avLst/>
          </a:prstGeom>
        </p:spPr>
      </p:pic>
      <p:pic>
        <p:nvPicPr>
          <p:cNvPr id="62" name="Рисунок 61"/>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7929229" y="2671704"/>
            <a:ext cx="1215124" cy="471487"/>
          </a:xfrm>
          <a:prstGeom prst="rect">
            <a:avLst/>
          </a:prstGeom>
        </p:spPr>
      </p:pic>
      <p:pic>
        <p:nvPicPr>
          <p:cNvPr id="63" name="Рисунок 62"/>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7949086" y="3625686"/>
            <a:ext cx="1297158" cy="774400"/>
          </a:xfrm>
          <a:prstGeom prst="rect">
            <a:avLst/>
          </a:prstGeom>
        </p:spPr>
      </p:pic>
      <p:pic>
        <p:nvPicPr>
          <p:cNvPr id="64" name="Рисунок 63"/>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7397557" y="5375035"/>
            <a:ext cx="1148102" cy="629952"/>
          </a:xfrm>
          <a:prstGeom prst="rect">
            <a:avLst/>
          </a:prstGeom>
        </p:spPr>
      </p:pic>
      <p:pic>
        <p:nvPicPr>
          <p:cNvPr id="65" name="Рисунок 64"/>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8655120" y="5364768"/>
            <a:ext cx="1365808" cy="650484"/>
          </a:xfrm>
          <a:prstGeom prst="rect">
            <a:avLst/>
          </a:prstGeom>
        </p:spPr>
      </p:pic>
    </p:spTree>
    <p:extLst>
      <p:ext uri="{BB962C8B-B14F-4D97-AF65-F5344CB8AC3E}">
        <p14:creationId xmlns:p14="http://schemas.microsoft.com/office/powerpoint/2010/main" val="4000688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FC8AFE9-290C-1436-1485-A1B60981EA1C}"/>
              </a:ext>
            </a:extLst>
          </p:cNvPr>
          <p:cNvSpPr>
            <a:spLocks noGrp="1"/>
          </p:cNvSpPr>
          <p:nvPr>
            <p:ph type="sldNum" sz="quarter" idx="4"/>
          </p:nvPr>
        </p:nvSpPr>
        <p:spPr/>
        <p:txBody>
          <a:bodyPr/>
          <a:lstStyle/>
          <a:p>
            <a:r>
              <a:rPr lang="en-US" sz="1600"/>
              <a:t>| </a:t>
            </a:r>
            <a:fld id="{F54BA9F3-CBAA-4DCF-AD2D-5ECAA0BE8875}" type="slidenum">
              <a:rPr lang="ru-RU" sz="1600" smtClean="0"/>
              <a:pPr/>
              <a:t>5</a:t>
            </a:fld>
            <a:endParaRPr lang="ru-RU" sz="1600" dirty="0"/>
          </a:p>
        </p:txBody>
      </p:sp>
      <p:sp>
        <p:nvSpPr>
          <p:cNvPr id="16" name="Текст 11">
            <a:extLst>
              <a:ext uri="{FF2B5EF4-FFF2-40B4-BE49-F238E27FC236}">
                <a16:creationId xmlns:a16="http://schemas.microsoft.com/office/drawing/2014/main" id="{72E298A4-1F10-233F-45B5-CB67BE268BB0}"/>
              </a:ext>
            </a:extLst>
          </p:cNvPr>
          <p:cNvSpPr>
            <a:spLocks noGrp="1"/>
          </p:cNvSpPr>
          <p:nvPr>
            <p:ph type="body" sz="quarter" idx="11"/>
          </p:nvPr>
        </p:nvSpPr>
        <p:spPr>
          <a:xfrm>
            <a:off x="476461" y="0"/>
            <a:ext cx="8680601" cy="360363"/>
          </a:xfrm>
          <a:prstGeom prst="rect">
            <a:avLst/>
          </a:prstGeom>
        </p:spPr>
        <p:txBody>
          <a:bodyPr/>
          <a:lstStyle/>
          <a:p>
            <a:r>
              <a:rPr lang="ru-RU" sz="1600" dirty="0">
                <a:solidFill>
                  <a:schemeClr val="accent2">
                    <a:lumMod val="75000"/>
                  </a:schemeClr>
                </a:solidFill>
              </a:rPr>
              <a:t>УСТАНОВКА СЕЙСМОДАТЧИКОВ В ПРОИЗВОДСТВЕННЫХ УСЛОВИЯХ</a:t>
            </a:r>
          </a:p>
        </p:txBody>
      </p:sp>
      <p:pic>
        <p:nvPicPr>
          <p:cNvPr id="50" name="Рисунок 49"/>
          <p:cNvPicPr/>
          <p:nvPr/>
        </p:nvPicPr>
        <p:blipFill rotWithShape="1">
          <a:blip r:embed="rId3" cstate="print">
            <a:extLst>
              <a:ext uri="{28A0092B-C50C-407E-A947-70E740481C1C}">
                <a14:useLocalDpi xmlns:a14="http://schemas.microsoft.com/office/drawing/2010/main"/>
              </a:ext>
            </a:extLst>
          </a:blip>
          <a:srcRect/>
          <a:stretch/>
        </p:blipFill>
        <p:spPr>
          <a:xfrm>
            <a:off x="4990702" y="2694119"/>
            <a:ext cx="1777412" cy="1843617"/>
          </a:xfrm>
          <a:prstGeom prst="rect">
            <a:avLst/>
          </a:prstGeom>
        </p:spPr>
      </p:pic>
      <p:pic>
        <p:nvPicPr>
          <p:cNvPr id="51" name="Рисунок 50"/>
          <p:cNvPicPr/>
          <p:nvPr/>
        </p:nvPicPr>
        <p:blipFill rotWithShape="1">
          <a:blip r:embed="rId4" cstate="print">
            <a:extLst>
              <a:ext uri="{28A0092B-C50C-407E-A947-70E740481C1C}">
                <a14:useLocalDpi xmlns:a14="http://schemas.microsoft.com/office/drawing/2010/main"/>
              </a:ext>
            </a:extLst>
          </a:blip>
          <a:srcRect/>
          <a:stretch/>
        </p:blipFill>
        <p:spPr bwMode="auto">
          <a:xfrm>
            <a:off x="4990706" y="959570"/>
            <a:ext cx="1786021" cy="1551794"/>
          </a:xfrm>
          <a:prstGeom prst="rect">
            <a:avLst/>
          </a:prstGeom>
          <a:ln>
            <a:noFill/>
          </a:ln>
          <a:extLst>
            <a:ext uri="{53640926-AAD7-44D8-BBD7-CCE9431645EC}">
              <a14:shadowObscured xmlns:a14="http://schemas.microsoft.com/office/drawing/2010/main"/>
            </a:ext>
          </a:extLst>
        </p:spPr>
      </p:pic>
      <p:pic>
        <p:nvPicPr>
          <p:cNvPr id="52" name="Рисунок 51"/>
          <p:cNvPicPr/>
          <p:nvPr/>
        </p:nvPicPr>
        <p:blipFill rotWithShape="1">
          <a:blip r:embed="rId5" cstate="screen">
            <a:extLst>
              <a:ext uri="{28A0092B-C50C-407E-A947-70E740481C1C}">
                <a14:useLocalDpi xmlns:a14="http://schemas.microsoft.com/office/drawing/2010/main"/>
              </a:ext>
            </a:extLst>
          </a:blip>
          <a:srcRect/>
          <a:stretch/>
        </p:blipFill>
        <p:spPr bwMode="auto">
          <a:xfrm>
            <a:off x="1697175" y="4720487"/>
            <a:ext cx="1513337" cy="1504725"/>
          </a:xfrm>
          <a:prstGeom prst="rect">
            <a:avLst/>
          </a:prstGeom>
          <a:ln>
            <a:noFill/>
          </a:ln>
          <a:extLst>
            <a:ext uri="{53640926-AAD7-44D8-BBD7-CCE9431645EC}">
              <a14:shadowObscured xmlns:a14="http://schemas.microsoft.com/office/drawing/2010/main"/>
            </a:ext>
          </a:extLst>
        </p:spPr>
      </p:pic>
      <p:pic>
        <p:nvPicPr>
          <p:cNvPr id="53" name="Рисунок 52"/>
          <p:cNvPicPr/>
          <p:nvPr/>
        </p:nvPicPr>
        <p:blipFill rotWithShape="1">
          <a:blip r:embed="rId6" cstate="screen">
            <a:extLst>
              <a:ext uri="{28A0092B-C50C-407E-A947-70E740481C1C}">
                <a14:useLocalDpi xmlns:a14="http://schemas.microsoft.com/office/drawing/2010/main"/>
              </a:ext>
            </a:extLst>
          </a:blip>
          <a:srcRect/>
          <a:stretch/>
        </p:blipFill>
        <p:spPr>
          <a:xfrm>
            <a:off x="8560409" y="959570"/>
            <a:ext cx="1630436" cy="1551794"/>
          </a:xfrm>
          <a:prstGeom prst="rect">
            <a:avLst/>
          </a:prstGeom>
        </p:spPr>
      </p:pic>
      <p:pic>
        <p:nvPicPr>
          <p:cNvPr id="54" name="Рисунок 53"/>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6843823" y="2694119"/>
            <a:ext cx="1632744" cy="1843617"/>
          </a:xfrm>
          <a:prstGeom prst="rect">
            <a:avLst/>
          </a:prstGeom>
        </p:spPr>
      </p:pic>
      <p:pic>
        <p:nvPicPr>
          <p:cNvPr id="55" name="Рисунок 54"/>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1697171" y="2694121"/>
            <a:ext cx="1508594" cy="1843617"/>
          </a:xfrm>
          <a:prstGeom prst="rect">
            <a:avLst/>
          </a:prstGeom>
        </p:spPr>
      </p:pic>
      <p:pic>
        <p:nvPicPr>
          <p:cNvPr id="56" name="Рисунок 55"/>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3306807" y="2694120"/>
            <a:ext cx="1647889" cy="1843617"/>
          </a:xfrm>
          <a:prstGeom prst="rect">
            <a:avLst/>
          </a:prstGeom>
        </p:spPr>
      </p:pic>
      <p:pic>
        <p:nvPicPr>
          <p:cNvPr id="57" name="Рисунок 56"/>
          <p:cNvPicPr>
            <a:picLocks noChangeAspect="1"/>
          </p:cNvPicPr>
          <p:nvPr/>
        </p:nvPicPr>
        <p:blipFill rotWithShape="1">
          <a:blip r:embed="rId10" cstate="screen">
            <a:extLst>
              <a:ext uri="{28A0092B-C50C-407E-A947-70E740481C1C}">
                <a14:useLocalDpi xmlns:a14="http://schemas.microsoft.com/office/drawing/2010/main"/>
              </a:ext>
            </a:extLst>
          </a:blip>
          <a:srcRect/>
          <a:stretch/>
        </p:blipFill>
        <p:spPr>
          <a:xfrm>
            <a:off x="3315907" y="959570"/>
            <a:ext cx="1651717" cy="1551794"/>
          </a:xfrm>
          <a:prstGeom prst="rect">
            <a:avLst/>
          </a:prstGeom>
        </p:spPr>
      </p:pic>
      <p:pic>
        <p:nvPicPr>
          <p:cNvPr id="58" name="Рисунок 57"/>
          <p:cNvPicPr/>
          <p:nvPr/>
        </p:nvPicPr>
        <p:blipFill rotWithShape="1">
          <a:blip r:embed="rId11" cstate="screen">
            <a:extLst>
              <a:ext uri="{28A0092B-C50C-407E-A947-70E740481C1C}">
                <a14:useLocalDpi xmlns:a14="http://schemas.microsoft.com/office/drawing/2010/main"/>
              </a:ext>
            </a:extLst>
          </a:blip>
          <a:srcRect/>
          <a:stretch/>
        </p:blipFill>
        <p:spPr>
          <a:xfrm>
            <a:off x="6849031" y="968314"/>
            <a:ext cx="1656824" cy="1543050"/>
          </a:xfrm>
          <a:prstGeom prst="rect">
            <a:avLst/>
          </a:prstGeom>
        </p:spPr>
      </p:pic>
      <p:pic>
        <p:nvPicPr>
          <p:cNvPr id="59" name="Рисунок 58"/>
          <p:cNvPicPr/>
          <p:nvPr/>
        </p:nvPicPr>
        <p:blipFill rotWithShape="1">
          <a:blip r:embed="rId12" cstate="screen">
            <a:extLst>
              <a:ext uri="{28A0092B-C50C-407E-A947-70E740481C1C}">
                <a14:useLocalDpi xmlns:a14="http://schemas.microsoft.com/office/drawing/2010/main"/>
              </a:ext>
            </a:extLst>
          </a:blip>
          <a:srcRect/>
          <a:stretch/>
        </p:blipFill>
        <p:spPr>
          <a:xfrm>
            <a:off x="3315907" y="4700103"/>
            <a:ext cx="1647889" cy="1525106"/>
          </a:xfrm>
          <a:prstGeom prst="rect">
            <a:avLst/>
          </a:prstGeom>
        </p:spPr>
      </p:pic>
      <p:pic>
        <p:nvPicPr>
          <p:cNvPr id="60" name="Рисунок 59"/>
          <p:cNvPicPr/>
          <p:nvPr/>
        </p:nvPicPr>
        <p:blipFill rotWithShape="1">
          <a:blip r:embed="rId13" cstate="screen">
            <a:extLst>
              <a:ext uri="{28A0092B-C50C-407E-A947-70E740481C1C}">
                <a14:useLocalDpi xmlns:a14="http://schemas.microsoft.com/office/drawing/2010/main"/>
              </a:ext>
            </a:extLst>
          </a:blip>
          <a:srcRect/>
          <a:stretch/>
        </p:blipFill>
        <p:spPr bwMode="auto">
          <a:xfrm>
            <a:off x="8560409" y="4700106"/>
            <a:ext cx="1630436" cy="1525107"/>
          </a:xfrm>
          <a:prstGeom prst="rect">
            <a:avLst/>
          </a:prstGeom>
          <a:ln>
            <a:noFill/>
          </a:ln>
          <a:extLst>
            <a:ext uri="{53640926-AAD7-44D8-BBD7-CCE9431645EC}">
              <a14:shadowObscured xmlns:a14="http://schemas.microsoft.com/office/drawing/2010/main"/>
            </a:ext>
          </a:extLst>
        </p:spPr>
      </p:pic>
      <p:pic>
        <p:nvPicPr>
          <p:cNvPr id="61" name="Рисунок 60"/>
          <p:cNvPicPr/>
          <p:nvPr/>
        </p:nvPicPr>
        <p:blipFill rotWithShape="1">
          <a:blip r:embed="rId14" cstate="screen">
            <a:extLst>
              <a:ext uri="{28A0092B-C50C-407E-A947-70E740481C1C}">
                <a14:useLocalDpi xmlns:a14="http://schemas.microsoft.com/office/drawing/2010/main"/>
              </a:ext>
            </a:extLst>
          </a:blip>
          <a:srcRect/>
          <a:stretch/>
        </p:blipFill>
        <p:spPr bwMode="auto">
          <a:xfrm>
            <a:off x="6843823" y="4700106"/>
            <a:ext cx="1632744" cy="1525107"/>
          </a:xfrm>
          <a:prstGeom prst="rect">
            <a:avLst/>
          </a:prstGeom>
          <a:ln>
            <a:noFill/>
          </a:ln>
          <a:extLst>
            <a:ext uri="{53640926-AAD7-44D8-BBD7-CCE9431645EC}">
              <a14:shadowObscured xmlns:a14="http://schemas.microsoft.com/office/drawing/2010/main"/>
            </a:ext>
          </a:extLst>
        </p:spPr>
      </p:pic>
      <p:pic>
        <p:nvPicPr>
          <p:cNvPr id="62" name="Рисунок 61"/>
          <p:cNvPicPr/>
          <p:nvPr/>
        </p:nvPicPr>
        <p:blipFill rotWithShape="1">
          <a:blip r:embed="rId15" cstate="screen">
            <a:extLst>
              <a:ext uri="{28A0092B-C50C-407E-A947-70E740481C1C}">
                <a14:useLocalDpi xmlns:a14="http://schemas.microsoft.com/office/drawing/2010/main"/>
              </a:ext>
            </a:extLst>
          </a:blip>
          <a:srcRect/>
          <a:stretch/>
        </p:blipFill>
        <p:spPr>
          <a:xfrm>
            <a:off x="1698659" y="959570"/>
            <a:ext cx="1507111" cy="1551794"/>
          </a:xfrm>
          <a:prstGeom prst="rect">
            <a:avLst/>
          </a:prstGeom>
        </p:spPr>
      </p:pic>
      <p:pic>
        <p:nvPicPr>
          <p:cNvPr id="63" name="Рисунок 62"/>
          <p:cNvPicPr/>
          <p:nvPr/>
        </p:nvPicPr>
        <p:blipFill rotWithShape="1">
          <a:blip r:embed="rId16" cstate="screen">
            <a:extLst>
              <a:ext uri="{28A0092B-C50C-407E-A947-70E740481C1C}">
                <a14:useLocalDpi xmlns:a14="http://schemas.microsoft.com/office/drawing/2010/main"/>
              </a:ext>
            </a:extLst>
          </a:blip>
          <a:srcRect/>
          <a:stretch/>
        </p:blipFill>
        <p:spPr bwMode="auto">
          <a:xfrm>
            <a:off x="4969645" y="4700106"/>
            <a:ext cx="1800059" cy="1535297"/>
          </a:xfrm>
          <a:prstGeom prst="rect">
            <a:avLst/>
          </a:prstGeom>
          <a:ln>
            <a:noFill/>
          </a:ln>
          <a:extLst>
            <a:ext uri="{53640926-AAD7-44D8-BBD7-CCE9431645EC}">
              <a14:shadowObscured xmlns:a14="http://schemas.microsoft.com/office/drawing/2010/main"/>
            </a:ext>
          </a:extLst>
        </p:spPr>
      </p:pic>
      <p:pic>
        <p:nvPicPr>
          <p:cNvPr id="64" name="Рисунок 63"/>
          <p:cNvPicPr>
            <a:picLocks noChangeAspect="1"/>
          </p:cNvPicPr>
          <p:nvPr/>
        </p:nvPicPr>
        <p:blipFill rotWithShape="1">
          <a:blip r:embed="rId17" cstate="screen">
            <a:extLst>
              <a:ext uri="{28A0092B-C50C-407E-A947-70E740481C1C}">
                <a14:useLocalDpi xmlns:a14="http://schemas.microsoft.com/office/drawing/2010/main"/>
              </a:ext>
            </a:extLst>
          </a:blip>
          <a:srcRect/>
          <a:stretch/>
        </p:blipFill>
        <p:spPr>
          <a:xfrm>
            <a:off x="8560409" y="2694119"/>
            <a:ext cx="1630436" cy="1843617"/>
          </a:xfrm>
          <a:prstGeom prst="rect">
            <a:avLst/>
          </a:prstGeom>
        </p:spPr>
      </p:pic>
      <p:sp>
        <p:nvSpPr>
          <p:cNvPr id="65" name="Прямоугольник 64">
            <a:extLst>
              <a:ext uri="{FF2B5EF4-FFF2-40B4-BE49-F238E27FC236}">
                <a16:creationId xmlns:a16="http://schemas.microsoft.com/office/drawing/2014/main" id="{B0E5AE17-1417-5ECA-97F4-41D227A6734C}"/>
              </a:ext>
            </a:extLst>
          </p:cNvPr>
          <p:cNvSpPr/>
          <p:nvPr/>
        </p:nvSpPr>
        <p:spPr>
          <a:xfrm>
            <a:off x="1697173" y="959569"/>
            <a:ext cx="1506726" cy="54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Ростверк фундамента</a:t>
            </a:r>
          </a:p>
        </p:txBody>
      </p:sp>
      <p:sp>
        <p:nvSpPr>
          <p:cNvPr id="66" name="Текст 16">
            <a:extLst>
              <a:ext uri="{FF2B5EF4-FFF2-40B4-BE49-F238E27FC236}">
                <a16:creationId xmlns:a16="http://schemas.microsoft.com/office/drawing/2014/main" id="{4D17250A-797F-5A57-7B8F-D3BFAB7F8561}"/>
              </a:ext>
            </a:extLst>
          </p:cNvPr>
          <p:cNvSpPr txBox="1">
            <a:spLocks/>
          </p:cNvSpPr>
          <p:nvPr/>
        </p:nvSpPr>
        <p:spPr>
          <a:xfrm>
            <a:off x="1697172" y="940720"/>
            <a:ext cx="915488" cy="379511"/>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endParaRPr lang="ru-RU" sz="1600" dirty="0">
              <a:solidFill>
                <a:schemeClr val="bg1"/>
              </a:solidFill>
            </a:endParaRPr>
          </a:p>
        </p:txBody>
      </p:sp>
      <p:sp>
        <p:nvSpPr>
          <p:cNvPr id="67" name="Прямоугольник 66">
            <a:extLst>
              <a:ext uri="{FF2B5EF4-FFF2-40B4-BE49-F238E27FC236}">
                <a16:creationId xmlns:a16="http://schemas.microsoft.com/office/drawing/2014/main" id="{B0E5AE17-1417-5ECA-97F4-41D227A6734C}"/>
              </a:ext>
            </a:extLst>
          </p:cNvPr>
          <p:cNvSpPr/>
          <p:nvPr/>
        </p:nvSpPr>
        <p:spPr>
          <a:xfrm>
            <a:off x="1697175" y="2694113"/>
            <a:ext cx="1507111" cy="54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Фундамент</a:t>
            </a:r>
          </a:p>
          <a:p>
            <a:pPr algn="ctr"/>
            <a:r>
              <a:rPr lang="ru-RU" sz="1600" dirty="0">
                <a:solidFill>
                  <a:schemeClr val="bg1"/>
                </a:solidFill>
              </a:rPr>
              <a:t>вентилятора</a:t>
            </a:r>
          </a:p>
        </p:txBody>
      </p:sp>
      <p:sp>
        <p:nvSpPr>
          <p:cNvPr id="68" name="Прямоугольник 67">
            <a:extLst>
              <a:ext uri="{FF2B5EF4-FFF2-40B4-BE49-F238E27FC236}">
                <a16:creationId xmlns:a16="http://schemas.microsoft.com/office/drawing/2014/main" id="{B0E5AE17-1417-5ECA-97F4-41D227A6734C}"/>
              </a:ext>
            </a:extLst>
          </p:cNvPr>
          <p:cNvSpPr/>
          <p:nvPr/>
        </p:nvSpPr>
        <p:spPr>
          <a:xfrm>
            <a:off x="3455028" y="959571"/>
            <a:ext cx="1499668" cy="54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Почва выработки</a:t>
            </a:r>
          </a:p>
        </p:txBody>
      </p:sp>
      <p:sp>
        <p:nvSpPr>
          <p:cNvPr id="69" name="Прямоугольник 68">
            <a:extLst>
              <a:ext uri="{FF2B5EF4-FFF2-40B4-BE49-F238E27FC236}">
                <a16:creationId xmlns:a16="http://schemas.microsoft.com/office/drawing/2014/main" id="{B0E5AE17-1417-5ECA-97F4-41D227A6734C}"/>
              </a:ext>
            </a:extLst>
          </p:cNvPr>
          <p:cNvSpPr/>
          <p:nvPr/>
        </p:nvSpPr>
        <p:spPr>
          <a:xfrm>
            <a:off x="3444614" y="2694113"/>
            <a:ext cx="1517274" cy="54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Фундамент</a:t>
            </a:r>
          </a:p>
          <a:p>
            <a:pPr algn="ctr"/>
            <a:r>
              <a:rPr lang="ru-RU" sz="1600" dirty="0">
                <a:solidFill>
                  <a:schemeClr val="bg1"/>
                </a:solidFill>
              </a:rPr>
              <a:t>вентилятора</a:t>
            </a:r>
          </a:p>
        </p:txBody>
      </p:sp>
      <p:sp>
        <p:nvSpPr>
          <p:cNvPr id="70" name="Прямоугольник 69">
            <a:extLst>
              <a:ext uri="{FF2B5EF4-FFF2-40B4-BE49-F238E27FC236}">
                <a16:creationId xmlns:a16="http://schemas.microsoft.com/office/drawing/2014/main" id="{B0E5AE17-1417-5ECA-97F4-41D227A6734C}"/>
              </a:ext>
            </a:extLst>
          </p:cNvPr>
          <p:cNvSpPr/>
          <p:nvPr/>
        </p:nvSpPr>
        <p:spPr>
          <a:xfrm>
            <a:off x="5203245" y="956465"/>
            <a:ext cx="1508400" cy="54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Массив</a:t>
            </a:r>
            <a:br>
              <a:rPr lang="ru-RU" sz="1600" dirty="0">
                <a:solidFill>
                  <a:schemeClr val="bg1"/>
                </a:solidFill>
              </a:rPr>
            </a:br>
            <a:r>
              <a:rPr lang="ru-RU" sz="1600" dirty="0">
                <a:solidFill>
                  <a:schemeClr val="bg1"/>
                </a:solidFill>
              </a:rPr>
              <a:t>(карьер)</a:t>
            </a:r>
          </a:p>
        </p:txBody>
      </p:sp>
      <p:sp>
        <p:nvSpPr>
          <p:cNvPr id="71" name="Прямоугольник 70">
            <a:extLst>
              <a:ext uri="{FF2B5EF4-FFF2-40B4-BE49-F238E27FC236}">
                <a16:creationId xmlns:a16="http://schemas.microsoft.com/office/drawing/2014/main" id="{B0E5AE17-1417-5ECA-97F4-41D227A6734C}"/>
              </a:ext>
            </a:extLst>
          </p:cNvPr>
          <p:cNvSpPr/>
          <p:nvPr/>
        </p:nvSpPr>
        <p:spPr>
          <a:xfrm>
            <a:off x="6961039" y="956465"/>
            <a:ext cx="1508400" cy="54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Фундамент</a:t>
            </a:r>
          </a:p>
          <a:p>
            <a:pPr algn="ctr"/>
            <a:r>
              <a:rPr lang="ru-RU" sz="1600" dirty="0">
                <a:solidFill>
                  <a:schemeClr val="bg1"/>
                </a:solidFill>
              </a:rPr>
              <a:t>здания</a:t>
            </a:r>
          </a:p>
        </p:txBody>
      </p:sp>
      <p:sp>
        <p:nvSpPr>
          <p:cNvPr id="72" name="Прямоугольник 71">
            <a:extLst>
              <a:ext uri="{FF2B5EF4-FFF2-40B4-BE49-F238E27FC236}">
                <a16:creationId xmlns:a16="http://schemas.microsoft.com/office/drawing/2014/main" id="{B0E5AE17-1417-5ECA-97F4-41D227A6734C}"/>
              </a:ext>
            </a:extLst>
          </p:cNvPr>
          <p:cNvSpPr/>
          <p:nvPr/>
        </p:nvSpPr>
        <p:spPr>
          <a:xfrm>
            <a:off x="8689571" y="956465"/>
            <a:ext cx="1508400" cy="54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Фундамент</a:t>
            </a:r>
          </a:p>
          <a:p>
            <a:pPr algn="ctr"/>
            <a:r>
              <a:rPr lang="ru-RU" sz="1600" dirty="0">
                <a:solidFill>
                  <a:schemeClr val="bg1"/>
                </a:solidFill>
              </a:rPr>
              <a:t>здания</a:t>
            </a:r>
          </a:p>
        </p:txBody>
      </p:sp>
      <p:sp>
        <p:nvSpPr>
          <p:cNvPr id="73" name="Прямоугольник 72">
            <a:extLst>
              <a:ext uri="{FF2B5EF4-FFF2-40B4-BE49-F238E27FC236}">
                <a16:creationId xmlns:a16="http://schemas.microsoft.com/office/drawing/2014/main" id="{B0E5AE17-1417-5ECA-97F4-41D227A6734C}"/>
              </a:ext>
            </a:extLst>
          </p:cNvPr>
          <p:cNvSpPr/>
          <p:nvPr/>
        </p:nvSpPr>
        <p:spPr>
          <a:xfrm>
            <a:off x="1701103" y="5697308"/>
            <a:ext cx="1499690" cy="54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Бок</a:t>
            </a:r>
            <a:br>
              <a:rPr lang="ru-RU" sz="1600" dirty="0">
                <a:solidFill>
                  <a:schemeClr val="bg1"/>
                </a:solidFill>
              </a:rPr>
            </a:br>
            <a:r>
              <a:rPr lang="ru-RU" sz="1600" dirty="0">
                <a:solidFill>
                  <a:schemeClr val="bg1"/>
                </a:solidFill>
              </a:rPr>
              <a:t>выработки</a:t>
            </a:r>
          </a:p>
        </p:txBody>
      </p:sp>
      <p:sp>
        <p:nvSpPr>
          <p:cNvPr id="74" name="Прямоугольник 73">
            <a:extLst>
              <a:ext uri="{FF2B5EF4-FFF2-40B4-BE49-F238E27FC236}">
                <a16:creationId xmlns:a16="http://schemas.microsoft.com/office/drawing/2014/main" id="{B0E5AE17-1417-5ECA-97F4-41D227A6734C}"/>
              </a:ext>
            </a:extLst>
          </p:cNvPr>
          <p:cNvSpPr/>
          <p:nvPr/>
        </p:nvSpPr>
        <p:spPr>
          <a:xfrm>
            <a:off x="3444614" y="5677157"/>
            <a:ext cx="1510082" cy="54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Кровля</a:t>
            </a:r>
            <a:br>
              <a:rPr lang="ru-RU" sz="1600" dirty="0">
                <a:solidFill>
                  <a:schemeClr val="bg1"/>
                </a:solidFill>
              </a:rPr>
            </a:br>
            <a:r>
              <a:rPr lang="ru-RU" sz="1600" dirty="0">
                <a:solidFill>
                  <a:schemeClr val="bg1"/>
                </a:solidFill>
              </a:rPr>
              <a:t>выработки</a:t>
            </a:r>
          </a:p>
        </p:txBody>
      </p:sp>
      <p:sp>
        <p:nvSpPr>
          <p:cNvPr id="75" name="Прямоугольник 74">
            <a:extLst>
              <a:ext uri="{FF2B5EF4-FFF2-40B4-BE49-F238E27FC236}">
                <a16:creationId xmlns:a16="http://schemas.microsoft.com/office/drawing/2014/main" id="{B0E5AE17-1417-5ECA-97F4-41D227A6734C}"/>
              </a:ext>
            </a:extLst>
          </p:cNvPr>
          <p:cNvSpPr/>
          <p:nvPr/>
        </p:nvSpPr>
        <p:spPr>
          <a:xfrm>
            <a:off x="5203245" y="5677157"/>
            <a:ext cx="1515424" cy="54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Кровля</a:t>
            </a:r>
            <a:br>
              <a:rPr lang="ru-RU" sz="1600" dirty="0">
                <a:solidFill>
                  <a:schemeClr val="bg1"/>
                </a:solidFill>
              </a:rPr>
            </a:br>
            <a:r>
              <a:rPr lang="ru-RU" sz="1600" dirty="0">
                <a:solidFill>
                  <a:schemeClr val="bg1"/>
                </a:solidFill>
              </a:rPr>
              <a:t>выработки</a:t>
            </a:r>
            <a:endParaRPr lang="ru-RU" sz="1600" dirty="0"/>
          </a:p>
        </p:txBody>
      </p:sp>
      <p:sp>
        <p:nvSpPr>
          <p:cNvPr id="76" name="Прямоугольник 75">
            <a:extLst>
              <a:ext uri="{FF2B5EF4-FFF2-40B4-BE49-F238E27FC236}">
                <a16:creationId xmlns:a16="http://schemas.microsoft.com/office/drawing/2014/main" id="{B0E5AE17-1417-5ECA-97F4-41D227A6734C}"/>
              </a:ext>
            </a:extLst>
          </p:cNvPr>
          <p:cNvSpPr/>
          <p:nvPr/>
        </p:nvSpPr>
        <p:spPr>
          <a:xfrm>
            <a:off x="6975101" y="5685209"/>
            <a:ext cx="1479316" cy="54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Почва выработки</a:t>
            </a:r>
          </a:p>
        </p:txBody>
      </p:sp>
      <p:sp>
        <p:nvSpPr>
          <p:cNvPr id="77" name="Прямоугольник 76">
            <a:extLst>
              <a:ext uri="{FF2B5EF4-FFF2-40B4-BE49-F238E27FC236}">
                <a16:creationId xmlns:a16="http://schemas.microsoft.com/office/drawing/2014/main" id="{B0E5AE17-1417-5ECA-97F4-41D227A6734C}"/>
              </a:ext>
            </a:extLst>
          </p:cNvPr>
          <p:cNvSpPr/>
          <p:nvPr/>
        </p:nvSpPr>
        <p:spPr>
          <a:xfrm>
            <a:off x="8683667" y="5697308"/>
            <a:ext cx="1485028" cy="54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Фундамент опоры ЛЭП</a:t>
            </a:r>
          </a:p>
        </p:txBody>
      </p:sp>
      <p:sp>
        <p:nvSpPr>
          <p:cNvPr id="78" name="Прямоугольник 77">
            <a:extLst>
              <a:ext uri="{FF2B5EF4-FFF2-40B4-BE49-F238E27FC236}">
                <a16:creationId xmlns:a16="http://schemas.microsoft.com/office/drawing/2014/main" id="{B0E5AE17-1417-5ECA-97F4-41D227A6734C}"/>
              </a:ext>
            </a:extLst>
          </p:cNvPr>
          <p:cNvSpPr/>
          <p:nvPr/>
        </p:nvSpPr>
        <p:spPr>
          <a:xfrm>
            <a:off x="8671915" y="2695826"/>
            <a:ext cx="1496780" cy="54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Массив</a:t>
            </a:r>
            <a:br>
              <a:rPr lang="ru-RU" sz="1600" dirty="0">
                <a:solidFill>
                  <a:schemeClr val="bg1"/>
                </a:solidFill>
              </a:rPr>
            </a:br>
            <a:r>
              <a:rPr lang="ru-RU" sz="1600" dirty="0">
                <a:solidFill>
                  <a:schemeClr val="bg1"/>
                </a:solidFill>
              </a:rPr>
              <a:t>(карьер)</a:t>
            </a:r>
          </a:p>
        </p:txBody>
      </p:sp>
      <p:sp>
        <p:nvSpPr>
          <p:cNvPr id="82" name="Текст 16">
            <a:extLst>
              <a:ext uri="{FF2B5EF4-FFF2-40B4-BE49-F238E27FC236}">
                <a16:creationId xmlns:a16="http://schemas.microsoft.com/office/drawing/2014/main" id="{4D17250A-797F-5A57-7B8F-D3BFAB7F8561}"/>
              </a:ext>
            </a:extLst>
          </p:cNvPr>
          <p:cNvSpPr txBox="1">
            <a:spLocks/>
          </p:cNvSpPr>
          <p:nvPr/>
        </p:nvSpPr>
        <p:spPr>
          <a:xfrm>
            <a:off x="2281683" y="5826617"/>
            <a:ext cx="915488" cy="382614"/>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endParaRPr lang="ru-RU" sz="1600" dirty="0">
              <a:solidFill>
                <a:schemeClr val="bg1"/>
              </a:solidFill>
            </a:endParaRPr>
          </a:p>
        </p:txBody>
      </p:sp>
      <p:sp>
        <p:nvSpPr>
          <p:cNvPr id="83" name="Текст 16">
            <a:extLst>
              <a:ext uri="{FF2B5EF4-FFF2-40B4-BE49-F238E27FC236}">
                <a16:creationId xmlns:a16="http://schemas.microsoft.com/office/drawing/2014/main" id="{4D17250A-797F-5A57-7B8F-D3BFAB7F8561}"/>
              </a:ext>
            </a:extLst>
          </p:cNvPr>
          <p:cNvSpPr txBox="1">
            <a:spLocks/>
          </p:cNvSpPr>
          <p:nvPr/>
        </p:nvSpPr>
        <p:spPr>
          <a:xfrm>
            <a:off x="4029481" y="5837154"/>
            <a:ext cx="915488" cy="379511"/>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endParaRPr lang="ru-RU" sz="1600" dirty="0">
              <a:solidFill>
                <a:schemeClr val="bg1"/>
              </a:solidFill>
            </a:endParaRPr>
          </a:p>
        </p:txBody>
      </p:sp>
      <p:sp>
        <p:nvSpPr>
          <p:cNvPr id="86" name="Текст 16">
            <a:extLst>
              <a:ext uri="{FF2B5EF4-FFF2-40B4-BE49-F238E27FC236}">
                <a16:creationId xmlns:a16="http://schemas.microsoft.com/office/drawing/2014/main" id="{4D17250A-797F-5A57-7B8F-D3BFAB7F8561}"/>
              </a:ext>
            </a:extLst>
          </p:cNvPr>
          <p:cNvSpPr txBox="1">
            <a:spLocks/>
          </p:cNvSpPr>
          <p:nvPr/>
        </p:nvSpPr>
        <p:spPr>
          <a:xfrm>
            <a:off x="9271875" y="2669988"/>
            <a:ext cx="915488" cy="540000"/>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endParaRPr lang="ru-RU" sz="1600" dirty="0">
              <a:solidFill>
                <a:schemeClr val="bg1"/>
              </a:solidFill>
            </a:endParaRPr>
          </a:p>
        </p:txBody>
      </p:sp>
      <p:sp>
        <p:nvSpPr>
          <p:cNvPr id="88" name="Текст 16">
            <a:extLst>
              <a:ext uri="{FF2B5EF4-FFF2-40B4-BE49-F238E27FC236}">
                <a16:creationId xmlns:a16="http://schemas.microsoft.com/office/drawing/2014/main" id="{4D17250A-797F-5A57-7B8F-D3BFAB7F8561}"/>
              </a:ext>
            </a:extLst>
          </p:cNvPr>
          <p:cNvSpPr txBox="1">
            <a:spLocks/>
          </p:cNvSpPr>
          <p:nvPr/>
        </p:nvSpPr>
        <p:spPr>
          <a:xfrm>
            <a:off x="7538929" y="5840257"/>
            <a:ext cx="915488" cy="379511"/>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endParaRPr lang="ru-RU" sz="1600" dirty="0">
              <a:solidFill>
                <a:schemeClr val="bg1"/>
              </a:solidFill>
            </a:endParaRPr>
          </a:p>
        </p:txBody>
      </p:sp>
      <p:sp>
        <p:nvSpPr>
          <p:cNvPr id="89" name="Прямоугольник 88">
            <a:extLst>
              <a:ext uri="{FF2B5EF4-FFF2-40B4-BE49-F238E27FC236}">
                <a16:creationId xmlns:a16="http://schemas.microsoft.com/office/drawing/2014/main" id="{B0E5AE17-1417-5ECA-97F4-41D227A6734C}"/>
              </a:ext>
            </a:extLst>
          </p:cNvPr>
          <p:cNvSpPr/>
          <p:nvPr/>
        </p:nvSpPr>
        <p:spPr>
          <a:xfrm>
            <a:off x="6963348" y="2695826"/>
            <a:ext cx="1494267" cy="54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Бок</a:t>
            </a:r>
            <a:br>
              <a:rPr lang="ru-RU" sz="1600" dirty="0">
                <a:solidFill>
                  <a:schemeClr val="bg1"/>
                </a:solidFill>
              </a:rPr>
            </a:br>
            <a:r>
              <a:rPr lang="ru-RU" sz="1600" dirty="0">
                <a:solidFill>
                  <a:schemeClr val="bg1"/>
                </a:solidFill>
              </a:rPr>
              <a:t>выработки</a:t>
            </a:r>
          </a:p>
        </p:txBody>
      </p:sp>
      <p:sp>
        <p:nvSpPr>
          <p:cNvPr id="90" name="Прямоугольник 89">
            <a:extLst>
              <a:ext uri="{FF2B5EF4-FFF2-40B4-BE49-F238E27FC236}">
                <a16:creationId xmlns:a16="http://schemas.microsoft.com/office/drawing/2014/main" id="{B0E5AE17-1417-5ECA-97F4-41D227A6734C}"/>
              </a:ext>
            </a:extLst>
          </p:cNvPr>
          <p:cNvSpPr/>
          <p:nvPr/>
        </p:nvSpPr>
        <p:spPr>
          <a:xfrm>
            <a:off x="5196247" y="2707848"/>
            <a:ext cx="1560236" cy="54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Массив</a:t>
            </a:r>
            <a:br>
              <a:rPr lang="ru-RU" sz="1600" dirty="0">
                <a:solidFill>
                  <a:schemeClr val="bg1"/>
                </a:solidFill>
              </a:rPr>
            </a:br>
            <a:r>
              <a:rPr lang="ru-RU" sz="1600" dirty="0">
                <a:solidFill>
                  <a:schemeClr val="bg1"/>
                </a:solidFill>
              </a:rPr>
              <a:t>(карьер)</a:t>
            </a:r>
          </a:p>
        </p:txBody>
      </p:sp>
      <p:sp>
        <p:nvSpPr>
          <p:cNvPr id="92" name="Текст 16">
            <a:extLst>
              <a:ext uri="{FF2B5EF4-FFF2-40B4-BE49-F238E27FC236}">
                <a16:creationId xmlns:a16="http://schemas.microsoft.com/office/drawing/2014/main" id="{4D17250A-797F-5A57-7B8F-D3BFAB7F8561}"/>
              </a:ext>
            </a:extLst>
          </p:cNvPr>
          <p:cNvSpPr txBox="1">
            <a:spLocks/>
          </p:cNvSpPr>
          <p:nvPr/>
        </p:nvSpPr>
        <p:spPr>
          <a:xfrm>
            <a:off x="9264959" y="5823237"/>
            <a:ext cx="915488" cy="382614"/>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endParaRPr lang="ru-RU" sz="1600" dirty="0">
              <a:solidFill>
                <a:schemeClr val="bg1"/>
              </a:solidFill>
            </a:endParaRPr>
          </a:p>
        </p:txBody>
      </p:sp>
      <p:sp>
        <p:nvSpPr>
          <p:cNvPr id="93" name="Текст 16">
            <a:extLst>
              <a:ext uri="{FF2B5EF4-FFF2-40B4-BE49-F238E27FC236}">
                <a16:creationId xmlns:a16="http://schemas.microsoft.com/office/drawing/2014/main" id="{4D17250A-797F-5A57-7B8F-D3BFAB7F8561}"/>
              </a:ext>
            </a:extLst>
          </p:cNvPr>
          <p:cNvSpPr txBox="1">
            <a:spLocks/>
          </p:cNvSpPr>
          <p:nvPr/>
        </p:nvSpPr>
        <p:spPr>
          <a:xfrm>
            <a:off x="5451732" y="4130527"/>
            <a:ext cx="915488" cy="540000"/>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endParaRPr lang="ru-RU" sz="1600" dirty="0">
              <a:solidFill>
                <a:schemeClr val="bg1"/>
              </a:solidFill>
            </a:endParaRPr>
          </a:p>
        </p:txBody>
      </p:sp>
      <p:sp>
        <p:nvSpPr>
          <p:cNvPr id="7" name="Прямоугольник 6">
            <a:extLst>
              <a:ext uri="{FF2B5EF4-FFF2-40B4-BE49-F238E27FC236}">
                <a16:creationId xmlns:a16="http://schemas.microsoft.com/office/drawing/2014/main" id="{979FFEA0-933D-43F6-B875-FA0E483DCFF0}"/>
              </a:ext>
            </a:extLst>
          </p:cNvPr>
          <p:cNvSpPr/>
          <p:nvPr/>
        </p:nvSpPr>
        <p:spPr>
          <a:xfrm>
            <a:off x="3207014" y="801189"/>
            <a:ext cx="237600" cy="55844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5" name="Прямоугольник 94">
            <a:extLst>
              <a:ext uri="{FF2B5EF4-FFF2-40B4-BE49-F238E27FC236}">
                <a16:creationId xmlns:a16="http://schemas.microsoft.com/office/drawing/2014/main" id="{46896FB8-D0DB-4355-9633-51A2A5D2F551}"/>
              </a:ext>
            </a:extLst>
          </p:cNvPr>
          <p:cNvSpPr/>
          <p:nvPr/>
        </p:nvSpPr>
        <p:spPr>
          <a:xfrm>
            <a:off x="8446067" y="801188"/>
            <a:ext cx="237600" cy="55844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6" name="Прямоугольник 95">
            <a:extLst>
              <a:ext uri="{FF2B5EF4-FFF2-40B4-BE49-F238E27FC236}">
                <a16:creationId xmlns:a16="http://schemas.microsoft.com/office/drawing/2014/main" id="{6878FBDE-9BD8-4C42-82B5-5092EB65BBCE}"/>
              </a:ext>
            </a:extLst>
          </p:cNvPr>
          <p:cNvSpPr/>
          <p:nvPr/>
        </p:nvSpPr>
        <p:spPr>
          <a:xfrm>
            <a:off x="6724573" y="801188"/>
            <a:ext cx="237600" cy="55844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7" name="Прямоугольник 96">
            <a:extLst>
              <a:ext uri="{FF2B5EF4-FFF2-40B4-BE49-F238E27FC236}">
                <a16:creationId xmlns:a16="http://schemas.microsoft.com/office/drawing/2014/main" id="{5BBD3790-E7CB-4708-894D-C227807EFFF8}"/>
              </a:ext>
            </a:extLst>
          </p:cNvPr>
          <p:cNvSpPr/>
          <p:nvPr/>
        </p:nvSpPr>
        <p:spPr>
          <a:xfrm>
            <a:off x="4951808" y="823694"/>
            <a:ext cx="237600" cy="55844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813845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FC8AFE9-290C-1436-1485-A1B60981EA1C}"/>
              </a:ext>
            </a:extLst>
          </p:cNvPr>
          <p:cNvSpPr>
            <a:spLocks noGrp="1"/>
          </p:cNvSpPr>
          <p:nvPr>
            <p:ph type="sldNum" sz="quarter" idx="4"/>
          </p:nvPr>
        </p:nvSpPr>
        <p:spPr>
          <a:xfrm>
            <a:off x="10620000" y="0"/>
            <a:ext cx="986471" cy="360363"/>
          </a:xfrm>
        </p:spPr>
        <p:txBody>
          <a:bodyPr/>
          <a:lstStyle/>
          <a:p>
            <a:r>
              <a:rPr lang="en-US" sz="1600"/>
              <a:t>| </a:t>
            </a:r>
            <a:fld id="{F54BA9F3-CBAA-4DCF-AD2D-5ECAA0BE8875}" type="slidenum">
              <a:rPr lang="ru-RU" sz="1600" smtClean="0"/>
              <a:pPr/>
              <a:t>6</a:t>
            </a:fld>
            <a:endParaRPr lang="ru-RU" sz="1600" dirty="0"/>
          </a:p>
        </p:txBody>
      </p:sp>
      <p:sp>
        <p:nvSpPr>
          <p:cNvPr id="16" name="Текст 11">
            <a:extLst>
              <a:ext uri="{FF2B5EF4-FFF2-40B4-BE49-F238E27FC236}">
                <a16:creationId xmlns:a16="http://schemas.microsoft.com/office/drawing/2014/main" id="{72E298A4-1F10-233F-45B5-CB67BE268BB0}"/>
              </a:ext>
            </a:extLst>
          </p:cNvPr>
          <p:cNvSpPr>
            <a:spLocks noGrp="1"/>
          </p:cNvSpPr>
          <p:nvPr>
            <p:ph type="body" sz="quarter" idx="11"/>
          </p:nvPr>
        </p:nvSpPr>
        <p:spPr>
          <a:xfrm>
            <a:off x="476462" y="0"/>
            <a:ext cx="9162838" cy="360363"/>
          </a:xfrm>
          <a:prstGeom prst="rect">
            <a:avLst/>
          </a:prstGeom>
        </p:spPr>
        <p:txBody>
          <a:bodyPr/>
          <a:lstStyle/>
          <a:p>
            <a:r>
              <a:rPr lang="ru-RU" sz="1600" dirty="0">
                <a:solidFill>
                  <a:schemeClr val="accent2">
                    <a:lumMod val="75000"/>
                  </a:schemeClr>
                </a:solidFill>
              </a:rPr>
              <a:t>ИЗМЕРЕНИЯ ПАРАМЕТРОВ СОБСТВЕННЫХ КОЛЕБАНИЙ ЗДАНИЯ</a:t>
            </a:r>
          </a:p>
        </p:txBody>
      </p:sp>
      <p:pic>
        <p:nvPicPr>
          <p:cNvPr id="4" name="Рисунок 3"/>
          <p:cNvPicPr>
            <a:picLocks noChangeAspect="1"/>
          </p:cNvPicPr>
          <p:nvPr/>
        </p:nvPicPr>
        <p:blipFill rotWithShape="1">
          <a:blip r:embed="rId3"/>
          <a:srcRect b="11446"/>
          <a:stretch/>
        </p:blipFill>
        <p:spPr>
          <a:xfrm>
            <a:off x="470480" y="1568232"/>
            <a:ext cx="2850824" cy="4740010"/>
          </a:xfrm>
          <a:prstGeom prst="rect">
            <a:avLst/>
          </a:prstGeom>
        </p:spPr>
      </p:pic>
      <p:sp>
        <p:nvSpPr>
          <p:cNvPr id="6" name="Скругленный прямоугольник 5">
            <a:extLst>
              <a:ext uri="{FF2B5EF4-FFF2-40B4-BE49-F238E27FC236}">
                <a16:creationId xmlns:a16="http://schemas.microsoft.com/office/drawing/2014/main" id="{CB5E5687-6970-430F-8050-F89517A23DD7}"/>
              </a:ext>
            </a:extLst>
          </p:cNvPr>
          <p:cNvSpPr/>
          <p:nvPr/>
        </p:nvSpPr>
        <p:spPr>
          <a:xfrm>
            <a:off x="8120465" y="793579"/>
            <a:ext cx="3024000" cy="1191816"/>
          </a:xfrm>
          <a:prstGeom prst="roundRect">
            <a:avLst/>
          </a:prstGeom>
          <a:solidFill>
            <a:srgbClr val="0077C8"/>
          </a:solidFill>
          <a:ln>
            <a:solidFill>
              <a:schemeClr val="tx1"/>
            </a:solidFill>
          </a:ln>
        </p:spPr>
        <p:txBody>
          <a:bodyPr wrap="square">
            <a:spAutoFit/>
          </a:bodyPr>
          <a:lstStyle/>
          <a:p>
            <a:pPr algn="ctr"/>
            <a:r>
              <a:rPr lang="ru-RU" sz="1600" dirty="0">
                <a:solidFill>
                  <a:schemeClr val="bg1"/>
                </a:solidFill>
                <a:latin typeface="Tahoma" panose="020B0604030504040204" pitchFamily="34" charset="0"/>
                <a:ea typeface="Tahoma" panose="020B0604030504040204" pitchFamily="34" charset="0"/>
                <a:cs typeface="Tahoma" panose="020B0604030504040204" pitchFamily="34" charset="0"/>
              </a:rPr>
              <a:t>Определение параметров собственных колебаний здания в</a:t>
            </a:r>
            <a:br>
              <a:rPr lang="en-US" sz="1600" dirty="0">
                <a:solidFill>
                  <a:schemeClr val="bg1"/>
                </a:solidFill>
                <a:latin typeface="Tahoma" panose="020B0604030504040204" pitchFamily="34" charset="0"/>
                <a:ea typeface="Tahoma" panose="020B0604030504040204" pitchFamily="34" charset="0"/>
                <a:cs typeface="Tahoma" panose="020B0604030504040204" pitchFamily="34" charset="0"/>
              </a:rPr>
            </a:br>
            <a:r>
              <a:rPr lang="ru-RU" sz="1600" dirty="0">
                <a:solidFill>
                  <a:schemeClr val="bg1"/>
                </a:solidFill>
                <a:latin typeface="Tahoma" panose="020B0604030504040204" pitchFamily="34" charset="0"/>
                <a:ea typeface="Tahoma" panose="020B0604030504040204" pitchFamily="34" charset="0"/>
                <a:cs typeface="Tahoma" panose="020B0604030504040204" pitchFamily="34" charset="0"/>
              </a:rPr>
              <a:t>ПО «</a:t>
            </a:r>
            <a:r>
              <a:rPr lang="en-US" sz="1600" dirty="0">
                <a:solidFill>
                  <a:schemeClr val="bg1"/>
                </a:solidFill>
                <a:latin typeface="Tahoma" panose="020B0604030504040204" pitchFamily="34" charset="0"/>
                <a:ea typeface="Tahoma" panose="020B0604030504040204" pitchFamily="34" charset="0"/>
                <a:cs typeface="Tahoma" panose="020B0604030504040204" pitchFamily="34" charset="0"/>
              </a:rPr>
              <a:t>Fundamental Tone» </a:t>
            </a:r>
            <a:endParaRPr lang="ru-RU" sz="16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7" name="Скругленный прямоугольник 6">
            <a:extLst>
              <a:ext uri="{FF2B5EF4-FFF2-40B4-BE49-F238E27FC236}">
                <a16:creationId xmlns:a16="http://schemas.microsoft.com/office/drawing/2014/main" id="{CB5E5687-6970-430F-8050-F89517A23DD7}"/>
              </a:ext>
            </a:extLst>
          </p:cNvPr>
          <p:cNvSpPr/>
          <p:nvPr/>
        </p:nvSpPr>
        <p:spPr>
          <a:xfrm>
            <a:off x="470480" y="793579"/>
            <a:ext cx="2850824" cy="646986"/>
          </a:xfrm>
          <a:prstGeom prst="roundRect">
            <a:avLst/>
          </a:prstGeom>
          <a:solidFill>
            <a:srgbClr val="0077C8"/>
          </a:solidFill>
          <a:ln>
            <a:solidFill>
              <a:schemeClr val="tx1"/>
            </a:solidFill>
          </a:ln>
        </p:spPr>
        <p:txBody>
          <a:bodyPr wrap="square">
            <a:spAutoFit/>
          </a:bodyPr>
          <a:lstStyle/>
          <a:p>
            <a:pPr algn="ctr"/>
            <a:r>
              <a:rPr lang="ru-RU" sz="1600" dirty="0">
                <a:solidFill>
                  <a:schemeClr val="bg1"/>
                </a:solidFill>
                <a:latin typeface="Tahoma" panose="020B0604030504040204" pitchFamily="34" charset="0"/>
                <a:ea typeface="Tahoma" panose="020B0604030504040204" pitchFamily="34" charset="0"/>
                <a:cs typeface="Tahoma" panose="020B0604030504040204" pitchFamily="34" charset="0"/>
              </a:rPr>
              <a:t>Спектр сейсмовзрывной волны</a:t>
            </a:r>
          </a:p>
        </p:txBody>
      </p:sp>
      <p:pic>
        <p:nvPicPr>
          <p:cNvPr id="8" name="Рисунок 7"/>
          <p:cNvPicPr/>
          <p:nvPr/>
        </p:nvPicPr>
        <p:blipFill>
          <a:blip r:embed="rId4" cstate="screen">
            <a:extLst>
              <a:ext uri="{28A0092B-C50C-407E-A947-70E740481C1C}">
                <a14:useLocalDpi xmlns:a14="http://schemas.microsoft.com/office/drawing/2010/main"/>
              </a:ext>
            </a:extLst>
          </a:blip>
          <a:stretch>
            <a:fillRect/>
          </a:stretch>
        </p:blipFill>
        <p:spPr>
          <a:xfrm>
            <a:off x="5834829" y="1389487"/>
            <a:ext cx="1800000" cy="1800000"/>
          </a:xfrm>
          <a:prstGeom prst="rect">
            <a:avLst/>
          </a:prstGeom>
          <a:effectLst>
            <a:softEdge rad="31750"/>
          </a:effectLst>
        </p:spPr>
      </p:pic>
      <p:sp>
        <p:nvSpPr>
          <p:cNvPr id="10" name="Скругленный прямоугольник 9">
            <a:extLst>
              <a:ext uri="{FF2B5EF4-FFF2-40B4-BE49-F238E27FC236}">
                <a16:creationId xmlns:a16="http://schemas.microsoft.com/office/drawing/2014/main" id="{CB5E5687-6970-430F-8050-F89517A23DD7}"/>
              </a:ext>
            </a:extLst>
          </p:cNvPr>
          <p:cNvSpPr/>
          <p:nvPr/>
        </p:nvSpPr>
        <p:spPr>
          <a:xfrm>
            <a:off x="3827282" y="873947"/>
            <a:ext cx="3780000" cy="374571"/>
          </a:xfrm>
          <a:prstGeom prst="roundRect">
            <a:avLst/>
          </a:prstGeom>
          <a:solidFill>
            <a:srgbClr val="0077C8"/>
          </a:solidFill>
          <a:ln>
            <a:solidFill>
              <a:schemeClr val="tx1"/>
            </a:solidFill>
          </a:ln>
        </p:spPr>
        <p:txBody>
          <a:bodyPr wrap="square">
            <a:spAutoFit/>
          </a:bodyPr>
          <a:lstStyle/>
          <a:p>
            <a:pPr algn="ctr"/>
            <a:r>
              <a:rPr lang="ru-RU" sz="1600" dirty="0">
                <a:solidFill>
                  <a:schemeClr val="bg1"/>
                </a:solidFill>
                <a:latin typeface="Tahoma" panose="020B0604030504040204" pitchFamily="34" charset="0"/>
                <a:ea typeface="Tahoma" panose="020B0604030504040204" pitchFamily="34" charset="0"/>
                <a:cs typeface="Tahoma" panose="020B0604030504040204" pitchFamily="34" charset="0"/>
              </a:rPr>
              <a:t>Примеры установки датчиков</a:t>
            </a:r>
          </a:p>
        </p:txBody>
      </p:sp>
      <p:pic>
        <p:nvPicPr>
          <p:cNvPr id="11" name="Рисунок 10"/>
          <p:cNvPicPr/>
          <p:nvPr/>
        </p:nvPicPr>
        <p:blipFill rotWithShape="1">
          <a:blip r:embed="rId5" cstate="screen">
            <a:extLst>
              <a:ext uri="{28A0092B-C50C-407E-A947-70E740481C1C}">
                <a14:useLocalDpi xmlns:a14="http://schemas.microsoft.com/office/drawing/2010/main"/>
              </a:ext>
            </a:extLst>
          </a:blip>
          <a:srcRect t="2775" r="3311"/>
          <a:stretch/>
        </p:blipFill>
        <p:spPr>
          <a:xfrm>
            <a:off x="3806940" y="1389487"/>
            <a:ext cx="1800000" cy="1800000"/>
          </a:xfrm>
          <a:prstGeom prst="rect">
            <a:avLst/>
          </a:prstGeom>
          <a:effectLst>
            <a:softEdge rad="31750"/>
          </a:effectLst>
        </p:spPr>
      </p:pic>
      <p:sp>
        <p:nvSpPr>
          <p:cNvPr id="15" name="Прямоугольник 14">
            <a:extLst>
              <a:ext uri="{FF2B5EF4-FFF2-40B4-BE49-F238E27FC236}">
                <a16:creationId xmlns:a16="http://schemas.microsoft.com/office/drawing/2014/main" id="{B0E5AE17-1417-5ECA-97F4-41D227A6734C}"/>
              </a:ext>
            </a:extLst>
          </p:cNvPr>
          <p:cNvSpPr/>
          <p:nvPr/>
        </p:nvSpPr>
        <p:spPr>
          <a:xfrm>
            <a:off x="3845383" y="1430143"/>
            <a:ext cx="1728000" cy="36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Нижний ярус</a:t>
            </a:r>
          </a:p>
        </p:txBody>
      </p:sp>
      <p:sp>
        <p:nvSpPr>
          <p:cNvPr id="18" name="Прямоугольник 17">
            <a:extLst>
              <a:ext uri="{FF2B5EF4-FFF2-40B4-BE49-F238E27FC236}">
                <a16:creationId xmlns:a16="http://schemas.microsoft.com/office/drawing/2014/main" id="{B0E5AE17-1417-5ECA-97F4-41D227A6734C}"/>
              </a:ext>
            </a:extLst>
          </p:cNvPr>
          <p:cNvSpPr/>
          <p:nvPr/>
        </p:nvSpPr>
        <p:spPr>
          <a:xfrm>
            <a:off x="5879282" y="1430141"/>
            <a:ext cx="1728000" cy="3600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Верхний ярус</a:t>
            </a:r>
          </a:p>
        </p:txBody>
      </p:sp>
      <p:pic>
        <p:nvPicPr>
          <p:cNvPr id="35" name="Рисунок 34">
            <a:extLst>
              <a:ext uri="{FF2B5EF4-FFF2-40B4-BE49-F238E27FC236}">
                <a16:creationId xmlns:a16="http://schemas.microsoft.com/office/drawing/2014/main" id="{32FDFF63-F589-4E2A-AF3F-0E0E48AEA582}"/>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3809394" y="4056956"/>
            <a:ext cx="3901700" cy="2251288"/>
          </a:xfrm>
          <a:prstGeom prst="rect">
            <a:avLst/>
          </a:prstGeom>
          <a:effectLst>
            <a:softEdge rad="31750"/>
          </a:effectLst>
        </p:spPr>
      </p:pic>
      <p:sp>
        <p:nvSpPr>
          <p:cNvPr id="36" name="Скругленный прямоугольник 11">
            <a:extLst>
              <a:ext uri="{FF2B5EF4-FFF2-40B4-BE49-F238E27FC236}">
                <a16:creationId xmlns:a16="http://schemas.microsoft.com/office/drawing/2014/main" id="{3C7EA7BA-93B9-4EEC-8844-713C27F45386}"/>
              </a:ext>
            </a:extLst>
          </p:cNvPr>
          <p:cNvSpPr/>
          <p:nvPr/>
        </p:nvSpPr>
        <p:spPr>
          <a:xfrm>
            <a:off x="3827282" y="3591294"/>
            <a:ext cx="3780000" cy="374400"/>
          </a:xfrm>
          <a:prstGeom prst="roundRect">
            <a:avLst/>
          </a:prstGeom>
          <a:solidFill>
            <a:srgbClr val="0077C8"/>
          </a:solidFill>
          <a:ln>
            <a:solidFill>
              <a:schemeClr val="tx1"/>
            </a:solidFill>
          </a:ln>
        </p:spPr>
        <p:txBody>
          <a:bodyPr wrap="square">
            <a:spAutoFit/>
          </a:bodyPr>
          <a:lstStyle/>
          <a:p>
            <a:pPr algn="ctr"/>
            <a:r>
              <a:rPr lang="ru-RU" sz="1600" dirty="0">
                <a:solidFill>
                  <a:schemeClr val="bg1"/>
                </a:solidFill>
                <a:latin typeface="Tahoma" panose="020B0604030504040204" pitchFamily="34" charset="0"/>
                <a:ea typeface="Tahoma" panose="020B0604030504040204" pitchFamily="34" charset="0"/>
                <a:cs typeface="Tahoma" panose="020B0604030504040204" pitchFamily="34" charset="0"/>
              </a:rPr>
              <a:t>Интерфейс ПО «</a:t>
            </a:r>
            <a:r>
              <a:rPr lang="en-US" sz="1600" dirty="0">
                <a:solidFill>
                  <a:schemeClr val="bg1"/>
                </a:solidFill>
                <a:latin typeface="Tahoma" panose="020B0604030504040204" pitchFamily="34" charset="0"/>
                <a:ea typeface="Tahoma" panose="020B0604030504040204" pitchFamily="34" charset="0"/>
                <a:cs typeface="Tahoma" panose="020B0604030504040204" pitchFamily="34" charset="0"/>
              </a:rPr>
              <a:t>Fundamental Tone» </a:t>
            </a:r>
            <a:endParaRPr lang="ru-RU" sz="16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aphicFrame>
        <p:nvGraphicFramePr>
          <p:cNvPr id="38" name="Таблица 37">
            <a:extLst>
              <a:ext uri="{FF2B5EF4-FFF2-40B4-BE49-F238E27FC236}">
                <a16:creationId xmlns:a16="http://schemas.microsoft.com/office/drawing/2014/main" id="{0AABEA50-A5EE-4936-A0FC-E0BA3551CDBF}"/>
              </a:ext>
            </a:extLst>
          </p:cNvPr>
          <p:cNvGraphicFramePr>
            <a:graphicFrameLocks noGrp="1"/>
          </p:cNvGraphicFramePr>
          <p:nvPr>
            <p:extLst>
              <p:ext uri="{D42A27DB-BD31-4B8C-83A1-F6EECF244321}">
                <p14:modId xmlns:p14="http://schemas.microsoft.com/office/powerpoint/2010/main" val="288537568"/>
              </p:ext>
            </p:extLst>
          </p:nvPr>
        </p:nvGraphicFramePr>
        <p:xfrm>
          <a:off x="8089235" y="2197290"/>
          <a:ext cx="3024000" cy="4110952"/>
        </p:xfrm>
        <a:graphic>
          <a:graphicData uri="http://schemas.openxmlformats.org/drawingml/2006/table">
            <a:tbl>
              <a:tblPr>
                <a:tableStyleId>{5C22544A-7EE6-4342-B048-85BDC9FD1C3A}</a:tableStyleId>
              </a:tblPr>
              <a:tblGrid>
                <a:gridCol w="1008000">
                  <a:extLst>
                    <a:ext uri="{9D8B030D-6E8A-4147-A177-3AD203B41FA5}">
                      <a16:colId xmlns:a16="http://schemas.microsoft.com/office/drawing/2014/main" val="2249721274"/>
                    </a:ext>
                  </a:extLst>
                </a:gridCol>
                <a:gridCol w="1008000">
                  <a:extLst>
                    <a:ext uri="{9D8B030D-6E8A-4147-A177-3AD203B41FA5}">
                      <a16:colId xmlns:a16="http://schemas.microsoft.com/office/drawing/2014/main" val="2171040000"/>
                    </a:ext>
                  </a:extLst>
                </a:gridCol>
                <a:gridCol w="1008000">
                  <a:extLst>
                    <a:ext uri="{9D8B030D-6E8A-4147-A177-3AD203B41FA5}">
                      <a16:colId xmlns:a16="http://schemas.microsoft.com/office/drawing/2014/main" val="2056808523"/>
                    </a:ext>
                  </a:extLst>
                </a:gridCol>
              </a:tblGrid>
              <a:tr h="1027738">
                <a:tc>
                  <a:txBody>
                    <a:bodyPr/>
                    <a:lstStyle/>
                    <a:p>
                      <a:pPr algn="ctr" fontAlgn="ctr"/>
                      <a:r>
                        <a:rPr lang="ru-RU" sz="1600" u="none" strike="noStrike" dirty="0">
                          <a:effectLst/>
                          <a:latin typeface="+mj-lt"/>
                        </a:rPr>
                        <a:t> </a:t>
                      </a:r>
                      <a:endParaRPr lang="ru-RU" sz="16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ru-RU" sz="1600" u="none" strike="noStrike">
                          <a:effectLst/>
                          <a:latin typeface="+mj-lt"/>
                        </a:rPr>
                        <a:t>Частота, Гц</a:t>
                      </a:r>
                      <a:endParaRPr lang="ru-RU" sz="16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ru-RU" sz="1600" u="none" strike="noStrike" dirty="0" err="1">
                          <a:effectLst/>
                          <a:latin typeface="+mj-lt"/>
                        </a:rPr>
                        <a:t>Декре</a:t>
                      </a:r>
                      <a:r>
                        <a:rPr lang="ru-RU" sz="1600" u="none" strike="noStrike" dirty="0">
                          <a:effectLst/>
                          <a:latin typeface="+mj-lt"/>
                        </a:rPr>
                        <a:t>-мент затухания</a:t>
                      </a:r>
                      <a:endParaRPr lang="ru-RU" sz="16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2517416"/>
                  </a:ext>
                </a:extLst>
              </a:tr>
              <a:tr h="1027738">
                <a:tc>
                  <a:txBody>
                    <a:bodyPr/>
                    <a:lstStyle/>
                    <a:p>
                      <a:pPr algn="ctr" rtl="0" fontAlgn="ctr"/>
                      <a:r>
                        <a:rPr lang="ru-RU" sz="1600" u="none" strike="noStrike" dirty="0">
                          <a:effectLst/>
                          <a:latin typeface="+mj-lt"/>
                        </a:rPr>
                        <a:t>Верти-</a:t>
                      </a:r>
                      <a:r>
                        <a:rPr lang="ru-RU" sz="1600" u="none" strike="noStrike" dirty="0" err="1">
                          <a:effectLst/>
                          <a:latin typeface="+mj-lt"/>
                        </a:rPr>
                        <a:t>кальная</a:t>
                      </a:r>
                      <a:r>
                        <a:rPr lang="ru-RU" sz="1600" u="none" strike="noStrike" dirty="0">
                          <a:effectLst/>
                          <a:latin typeface="+mj-lt"/>
                        </a:rPr>
                        <a:t> ось</a:t>
                      </a:r>
                      <a:endParaRPr lang="ru-RU" sz="16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ru-RU" sz="1600" b="0" i="0" u="none" strike="noStrike" dirty="0">
                          <a:solidFill>
                            <a:srgbClr val="000000"/>
                          </a:solidFill>
                          <a:effectLst/>
                          <a:latin typeface="+mj-lt"/>
                        </a:rPr>
                        <a:t>3,0-5,0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ru-RU" sz="1600" u="none" strike="noStrike" dirty="0">
                          <a:effectLst/>
                          <a:latin typeface="+mj-lt"/>
                        </a:rPr>
                        <a:t>0,1-0,5</a:t>
                      </a:r>
                      <a:endParaRPr lang="ru-RU" sz="16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0216147"/>
                  </a:ext>
                </a:extLst>
              </a:tr>
              <a:tr h="1027738">
                <a:tc>
                  <a:txBody>
                    <a:bodyPr/>
                    <a:lstStyle/>
                    <a:p>
                      <a:pPr algn="ctr" rtl="0" fontAlgn="ctr"/>
                      <a:r>
                        <a:rPr lang="ru-RU" sz="1600" u="none" strike="noStrike" dirty="0">
                          <a:effectLst/>
                          <a:latin typeface="+mj-lt"/>
                        </a:rPr>
                        <a:t>Малая</a:t>
                      </a:r>
                      <a:r>
                        <a:rPr lang="en-US" sz="1600" u="none" strike="noStrike" dirty="0">
                          <a:effectLst/>
                          <a:latin typeface="+mj-lt"/>
                        </a:rPr>
                        <a:t> </a:t>
                      </a:r>
                      <a:endParaRPr lang="ru-RU" sz="1600" u="none" strike="noStrike" dirty="0">
                        <a:effectLst/>
                        <a:latin typeface="+mj-lt"/>
                      </a:endParaRPr>
                    </a:p>
                    <a:p>
                      <a:pPr algn="ctr" rtl="0" fontAlgn="ctr"/>
                      <a:r>
                        <a:rPr lang="ru-RU" sz="1600" u="none" strike="noStrike" dirty="0">
                          <a:effectLst/>
                          <a:latin typeface="+mj-lt"/>
                        </a:rPr>
                        <a:t>ось </a:t>
                      </a:r>
                      <a:endParaRPr lang="ru-RU" sz="16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ru-RU" sz="1600" u="none" strike="noStrike" dirty="0">
                          <a:effectLst/>
                          <a:latin typeface="+mj-lt"/>
                        </a:rPr>
                        <a:t>3,8-4,6</a:t>
                      </a:r>
                      <a:endParaRPr lang="ru-RU" sz="16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ru-RU" sz="1600" u="none" strike="noStrike" dirty="0">
                          <a:effectLst/>
                          <a:latin typeface="+mj-lt"/>
                        </a:rPr>
                        <a:t>0,1</a:t>
                      </a:r>
                      <a:endParaRPr lang="ru-RU" sz="16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8392105"/>
                  </a:ext>
                </a:extLst>
              </a:tr>
              <a:tr h="1027738">
                <a:tc>
                  <a:txBody>
                    <a:bodyPr/>
                    <a:lstStyle/>
                    <a:p>
                      <a:pPr algn="ctr" rtl="0" fontAlgn="ctr"/>
                      <a:r>
                        <a:rPr lang="ru-RU" sz="1600" u="none" strike="noStrike">
                          <a:effectLst/>
                          <a:latin typeface="+mj-lt"/>
                        </a:rPr>
                        <a:t>Большая ось</a:t>
                      </a:r>
                      <a:endParaRPr lang="ru-RU" sz="16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ru-RU" sz="1600" u="none" strike="noStrike" dirty="0">
                          <a:effectLst/>
                          <a:latin typeface="+mj-lt"/>
                        </a:rPr>
                        <a:t>3,1-3,4</a:t>
                      </a:r>
                      <a:endParaRPr lang="ru-RU" sz="16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ru-RU" sz="1600" u="none" strike="noStrike" dirty="0">
                          <a:effectLst/>
                          <a:latin typeface="+mj-lt"/>
                        </a:rPr>
                        <a:t>0,1-0,2</a:t>
                      </a:r>
                      <a:endParaRPr lang="ru-RU" sz="16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9735972"/>
                  </a:ext>
                </a:extLst>
              </a:tr>
            </a:tbl>
          </a:graphicData>
        </a:graphic>
      </p:graphicFrame>
    </p:spTree>
    <p:extLst>
      <p:ext uri="{BB962C8B-B14F-4D97-AF65-F5344CB8AC3E}">
        <p14:creationId xmlns:p14="http://schemas.microsoft.com/office/powerpoint/2010/main" val="2520198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Рисунок 20"/>
          <p:cNvPicPr/>
          <p:nvPr/>
        </p:nvPicPr>
        <p:blipFill>
          <a:blip r:embed="rId3"/>
          <a:stretch>
            <a:fillRect/>
          </a:stretch>
        </p:blipFill>
        <p:spPr>
          <a:xfrm>
            <a:off x="418034" y="1702324"/>
            <a:ext cx="3420000" cy="3596323"/>
          </a:xfrm>
          <a:prstGeom prst="rect">
            <a:avLst/>
          </a:prstGeom>
          <a:ln>
            <a:solidFill>
              <a:srgbClr val="0080C8"/>
            </a:solidFill>
          </a:ln>
        </p:spPr>
      </p:pic>
      <p:sp>
        <p:nvSpPr>
          <p:cNvPr id="2" name="Номер слайда 1">
            <a:extLst>
              <a:ext uri="{FF2B5EF4-FFF2-40B4-BE49-F238E27FC236}">
                <a16:creationId xmlns:a16="http://schemas.microsoft.com/office/drawing/2014/main" id="{CFC8AFE9-290C-1436-1485-A1B60981EA1C}"/>
              </a:ext>
            </a:extLst>
          </p:cNvPr>
          <p:cNvSpPr>
            <a:spLocks noGrp="1"/>
          </p:cNvSpPr>
          <p:nvPr>
            <p:ph type="sldNum" sz="quarter" idx="4"/>
          </p:nvPr>
        </p:nvSpPr>
        <p:spPr/>
        <p:txBody>
          <a:bodyPr/>
          <a:lstStyle/>
          <a:p>
            <a:r>
              <a:rPr lang="en-US"/>
              <a:t>| </a:t>
            </a:r>
            <a:fld id="{F54BA9F3-CBAA-4DCF-AD2D-5ECAA0BE8875}" type="slidenum">
              <a:rPr lang="ru-RU" smtClean="0"/>
              <a:pPr/>
              <a:t>7</a:t>
            </a:fld>
            <a:endParaRPr lang="ru-RU" dirty="0"/>
          </a:p>
        </p:txBody>
      </p:sp>
      <p:pic>
        <p:nvPicPr>
          <p:cNvPr id="22" name="Рисунок 21"/>
          <p:cNvPicPr/>
          <p:nvPr/>
        </p:nvPicPr>
        <p:blipFill>
          <a:blip r:embed="rId4"/>
          <a:stretch>
            <a:fillRect/>
          </a:stretch>
        </p:blipFill>
        <p:spPr>
          <a:xfrm>
            <a:off x="4320988" y="1702324"/>
            <a:ext cx="3094511" cy="3596323"/>
          </a:xfrm>
          <a:prstGeom prst="rect">
            <a:avLst/>
          </a:prstGeom>
          <a:ln>
            <a:solidFill>
              <a:srgbClr val="0080C8"/>
            </a:solidFill>
          </a:ln>
        </p:spPr>
      </p:pic>
      <p:pic>
        <p:nvPicPr>
          <p:cNvPr id="23" name="Рисунок 22"/>
          <p:cNvPicPr/>
          <p:nvPr/>
        </p:nvPicPr>
        <p:blipFill>
          <a:blip r:embed="rId5"/>
          <a:stretch>
            <a:fillRect/>
          </a:stretch>
        </p:blipFill>
        <p:spPr>
          <a:xfrm>
            <a:off x="7898454" y="1702324"/>
            <a:ext cx="3204000" cy="3596323"/>
          </a:xfrm>
          <a:prstGeom prst="rect">
            <a:avLst/>
          </a:prstGeom>
          <a:ln>
            <a:solidFill>
              <a:srgbClr val="0080C8"/>
            </a:solidFill>
          </a:ln>
        </p:spPr>
      </p:pic>
      <p:sp>
        <p:nvSpPr>
          <p:cNvPr id="24" name="TextBox 23"/>
          <p:cNvSpPr txBox="1"/>
          <p:nvPr/>
        </p:nvSpPr>
        <p:spPr>
          <a:xfrm>
            <a:off x="418034" y="776545"/>
            <a:ext cx="3420000" cy="830997"/>
          </a:xfrm>
          <a:prstGeom prst="rect">
            <a:avLst/>
          </a:prstGeom>
          <a:noFill/>
          <a:ln>
            <a:solidFill>
              <a:srgbClr val="0080C8"/>
            </a:solidFill>
          </a:ln>
        </p:spPr>
        <p:txBody>
          <a:bodyPr wrap="square" rtlCol="0">
            <a:spAutoFit/>
          </a:bodyPr>
          <a:lstStyle/>
          <a:p>
            <a:pPr algn="ctr"/>
            <a:r>
              <a:rPr lang="ru-RU" sz="1600" dirty="0"/>
              <a:t>Здания делового назначения, производственные здания и сооружения</a:t>
            </a:r>
            <a:endParaRPr lang="ru-RU" sz="1600" dirty="0">
              <a:latin typeface="Tahoma" panose="020B0604030504040204" pitchFamily="34" charset="0"/>
              <a:ea typeface="Tahoma" panose="020B0604030504040204" pitchFamily="34" charset="0"/>
              <a:cs typeface="Tahoma" panose="020B0604030504040204" pitchFamily="34" charset="0"/>
            </a:endParaRPr>
          </a:p>
        </p:txBody>
      </p:sp>
      <p:sp>
        <p:nvSpPr>
          <p:cNvPr id="25" name="TextBox 24"/>
          <p:cNvSpPr txBox="1"/>
          <p:nvPr/>
        </p:nvSpPr>
        <p:spPr>
          <a:xfrm>
            <a:off x="418034" y="5387623"/>
            <a:ext cx="2658444" cy="338554"/>
          </a:xfrm>
          <a:prstGeom prst="rect">
            <a:avLst/>
          </a:prstGeom>
          <a:noFill/>
          <a:ln>
            <a:solidFill>
              <a:srgbClr val="0080C8"/>
            </a:solidFill>
          </a:ln>
        </p:spPr>
        <p:txBody>
          <a:bodyPr wrap="square" rtlCol="0">
            <a:spAutoFit/>
          </a:bodyPr>
          <a:lstStyle/>
          <a:p>
            <a:pPr algn="ctr"/>
            <a:r>
              <a:rPr lang="ru-RU" sz="1600" dirty="0"/>
              <a:t>Жилые здания</a:t>
            </a:r>
            <a:endParaRPr lang="ru-RU" sz="1600" dirty="0">
              <a:latin typeface="Tahoma" panose="020B0604030504040204" pitchFamily="34" charset="0"/>
              <a:ea typeface="Tahoma" panose="020B0604030504040204" pitchFamily="34" charset="0"/>
              <a:cs typeface="Tahoma" panose="020B0604030504040204" pitchFamily="34" charset="0"/>
            </a:endParaRPr>
          </a:p>
        </p:txBody>
      </p:sp>
      <p:sp>
        <p:nvSpPr>
          <p:cNvPr id="26" name="TextBox 25"/>
          <p:cNvSpPr txBox="1"/>
          <p:nvPr/>
        </p:nvSpPr>
        <p:spPr>
          <a:xfrm>
            <a:off x="418034" y="5808927"/>
            <a:ext cx="3420000" cy="584775"/>
          </a:xfrm>
          <a:prstGeom prst="rect">
            <a:avLst/>
          </a:prstGeom>
          <a:noFill/>
          <a:ln>
            <a:solidFill>
              <a:srgbClr val="0080C8"/>
            </a:solidFill>
          </a:ln>
        </p:spPr>
        <p:txBody>
          <a:bodyPr wrap="square" rtlCol="0">
            <a:spAutoFit/>
          </a:bodyPr>
          <a:lstStyle/>
          <a:p>
            <a:pPr algn="ctr"/>
            <a:r>
              <a:rPr lang="ru-RU" sz="1600" dirty="0"/>
              <a:t>Социально значимые объекты, памятники архитектуры</a:t>
            </a:r>
            <a:endParaRPr lang="ru-RU" sz="1600" dirty="0">
              <a:latin typeface="Tahoma" panose="020B0604030504040204" pitchFamily="34" charset="0"/>
              <a:ea typeface="Tahoma" panose="020B0604030504040204" pitchFamily="34" charset="0"/>
              <a:cs typeface="Tahoma" panose="020B0604030504040204" pitchFamily="34" charset="0"/>
            </a:endParaRPr>
          </a:p>
        </p:txBody>
      </p:sp>
      <p:cxnSp>
        <p:nvCxnSpPr>
          <p:cNvPr id="27" name="Прямая со стрелкой 26"/>
          <p:cNvCxnSpPr>
            <a:cxnSpLocks/>
          </p:cNvCxnSpPr>
          <p:nvPr/>
        </p:nvCxnSpPr>
        <p:spPr>
          <a:xfrm>
            <a:off x="3076478" y="1625214"/>
            <a:ext cx="0" cy="936085"/>
          </a:xfrm>
          <a:prstGeom prst="straightConnector1">
            <a:avLst/>
          </a:prstGeom>
          <a:ln w="12700">
            <a:solidFill>
              <a:srgbClr val="0080C8"/>
            </a:solidFill>
            <a:tailEnd type="triangle"/>
          </a:ln>
        </p:spPr>
        <p:style>
          <a:lnRef idx="1">
            <a:schemeClr val="accent2"/>
          </a:lnRef>
          <a:fillRef idx="0">
            <a:schemeClr val="accent2"/>
          </a:fillRef>
          <a:effectRef idx="0">
            <a:schemeClr val="accent2"/>
          </a:effectRef>
          <a:fontRef idx="minor">
            <a:schemeClr val="tx1"/>
          </a:fontRef>
        </p:style>
      </p:cxnSp>
      <p:cxnSp>
        <p:nvCxnSpPr>
          <p:cNvPr id="28" name="Прямая со стрелкой 27"/>
          <p:cNvCxnSpPr>
            <a:cxnSpLocks/>
          </p:cNvCxnSpPr>
          <p:nvPr/>
        </p:nvCxnSpPr>
        <p:spPr>
          <a:xfrm flipV="1">
            <a:off x="2902205" y="3903260"/>
            <a:ext cx="0" cy="1478137"/>
          </a:xfrm>
          <a:prstGeom prst="straightConnector1">
            <a:avLst/>
          </a:prstGeom>
          <a:ln w="12700">
            <a:solidFill>
              <a:srgbClr val="0080C8"/>
            </a:solidFill>
            <a:tailEnd type="triangle"/>
          </a:ln>
        </p:spPr>
        <p:style>
          <a:lnRef idx="1">
            <a:schemeClr val="accent2"/>
          </a:lnRef>
          <a:fillRef idx="0">
            <a:schemeClr val="accent2"/>
          </a:fillRef>
          <a:effectRef idx="0">
            <a:schemeClr val="accent2"/>
          </a:effectRef>
          <a:fontRef idx="minor">
            <a:schemeClr val="tx1"/>
          </a:fontRef>
        </p:style>
      </p:cxnSp>
      <p:cxnSp>
        <p:nvCxnSpPr>
          <p:cNvPr id="29" name="Прямая со стрелкой 28"/>
          <p:cNvCxnSpPr>
            <a:cxnSpLocks/>
          </p:cNvCxnSpPr>
          <p:nvPr/>
        </p:nvCxnSpPr>
        <p:spPr>
          <a:xfrm flipV="1">
            <a:off x="3371609" y="4244454"/>
            <a:ext cx="0" cy="1564473"/>
          </a:xfrm>
          <a:prstGeom prst="straightConnector1">
            <a:avLst/>
          </a:prstGeom>
          <a:ln w="12700">
            <a:solidFill>
              <a:srgbClr val="0080C8"/>
            </a:solidFill>
            <a:tailEnd type="triangle"/>
          </a:ln>
        </p:spPr>
        <p:style>
          <a:lnRef idx="1">
            <a:schemeClr val="accent2"/>
          </a:lnRef>
          <a:fillRef idx="0">
            <a:schemeClr val="accent2"/>
          </a:fillRef>
          <a:effectRef idx="0">
            <a:schemeClr val="accent2"/>
          </a:effectRef>
          <a:fontRef idx="minor">
            <a:schemeClr val="tx1"/>
          </a:fontRef>
        </p:style>
      </p:cxnSp>
      <p:sp>
        <p:nvSpPr>
          <p:cNvPr id="30" name="TextBox 29"/>
          <p:cNvSpPr txBox="1"/>
          <p:nvPr/>
        </p:nvSpPr>
        <p:spPr>
          <a:xfrm>
            <a:off x="7898318" y="759567"/>
            <a:ext cx="3204000" cy="831600"/>
          </a:xfrm>
          <a:prstGeom prst="rect">
            <a:avLst/>
          </a:prstGeom>
          <a:noFill/>
          <a:ln>
            <a:solidFill>
              <a:srgbClr val="0080C8"/>
            </a:solidFill>
          </a:ln>
        </p:spPr>
        <p:txBody>
          <a:bodyPr wrap="square" rtlCol="0">
            <a:spAutoFit/>
          </a:bodyPr>
          <a:lstStyle/>
          <a:p>
            <a:pPr algn="ctr"/>
            <a:r>
              <a:rPr lang="ru-RU" sz="1600" dirty="0"/>
              <a:t>Здания производственного назначения с каркасными или армированными конструкциями</a:t>
            </a:r>
            <a:endParaRPr lang="ru-RU" sz="1600" dirty="0">
              <a:latin typeface="Tahoma" panose="020B0604030504040204" pitchFamily="34" charset="0"/>
              <a:ea typeface="Tahoma" panose="020B0604030504040204" pitchFamily="34" charset="0"/>
              <a:cs typeface="Tahoma" panose="020B0604030504040204" pitchFamily="34" charset="0"/>
            </a:endParaRPr>
          </a:p>
        </p:txBody>
      </p:sp>
      <p:cxnSp>
        <p:nvCxnSpPr>
          <p:cNvPr id="31" name="Прямая со стрелкой 30"/>
          <p:cNvCxnSpPr>
            <a:cxnSpLocks/>
          </p:cNvCxnSpPr>
          <p:nvPr/>
        </p:nvCxnSpPr>
        <p:spPr>
          <a:xfrm>
            <a:off x="8643365" y="1607542"/>
            <a:ext cx="0" cy="1226213"/>
          </a:xfrm>
          <a:prstGeom prst="straightConnector1">
            <a:avLst/>
          </a:prstGeom>
          <a:ln w="12700">
            <a:solidFill>
              <a:srgbClr val="0080C8"/>
            </a:solidFill>
            <a:tailEnd type="triangle"/>
          </a:ln>
        </p:spPr>
        <p:style>
          <a:lnRef idx="1">
            <a:schemeClr val="accent2"/>
          </a:lnRef>
          <a:fillRef idx="0">
            <a:schemeClr val="accent2"/>
          </a:fillRef>
          <a:effectRef idx="0">
            <a:schemeClr val="accent2"/>
          </a:effectRef>
          <a:fontRef idx="minor">
            <a:schemeClr val="tx1"/>
          </a:fontRef>
        </p:style>
      </p:cxnSp>
      <p:sp>
        <p:nvSpPr>
          <p:cNvPr id="32" name="TextBox 31"/>
          <p:cNvSpPr txBox="1"/>
          <p:nvPr/>
        </p:nvSpPr>
        <p:spPr>
          <a:xfrm>
            <a:off x="7898318" y="5381397"/>
            <a:ext cx="3204000" cy="1008000"/>
          </a:xfrm>
          <a:prstGeom prst="rect">
            <a:avLst/>
          </a:prstGeom>
          <a:noFill/>
          <a:ln>
            <a:solidFill>
              <a:srgbClr val="0080C8"/>
            </a:solidFill>
          </a:ln>
        </p:spPr>
        <p:txBody>
          <a:bodyPr wrap="square" rtlCol="0">
            <a:spAutoFit/>
          </a:bodyPr>
          <a:lstStyle/>
          <a:p>
            <a:pPr algn="ctr"/>
            <a:r>
              <a:rPr lang="ru-RU" sz="1600" dirty="0"/>
              <a:t>Жилые здания, с облегченной конструкцией, конструкцией без армирования или с облегченным каркасом</a:t>
            </a:r>
            <a:endParaRPr lang="ru-RU" sz="1600" dirty="0">
              <a:latin typeface="Tahoma" panose="020B0604030504040204" pitchFamily="34" charset="0"/>
              <a:ea typeface="Tahoma" panose="020B0604030504040204" pitchFamily="34" charset="0"/>
              <a:cs typeface="Tahoma" panose="020B0604030504040204" pitchFamily="34" charset="0"/>
            </a:endParaRPr>
          </a:p>
        </p:txBody>
      </p:sp>
      <p:cxnSp>
        <p:nvCxnSpPr>
          <p:cNvPr id="33" name="Прямая со стрелкой 32"/>
          <p:cNvCxnSpPr>
            <a:cxnSpLocks/>
          </p:cNvCxnSpPr>
          <p:nvPr/>
        </p:nvCxnSpPr>
        <p:spPr>
          <a:xfrm flipV="1">
            <a:off x="8863274" y="4012442"/>
            <a:ext cx="1" cy="1368955"/>
          </a:xfrm>
          <a:prstGeom prst="straightConnector1">
            <a:avLst/>
          </a:prstGeom>
          <a:ln w="12700">
            <a:solidFill>
              <a:srgbClr val="0080C8"/>
            </a:solidFill>
            <a:tailEnd type="triangle"/>
          </a:ln>
        </p:spPr>
        <p:style>
          <a:lnRef idx="1">
            <a:schemeClr val="accent2"/>
          </a:lnRef>
          <a:fillRef idx="0">
            <a:schemeClr val="accent2"/>
          </a:fillRef>
          <a:effectRef idx="0">
            <a:schemeClr val="accent2"/>
          </a:effectRef>
          <a:fontRef idx="minor">
            <a:schemeClr val="tx1"/>
          </a:fontRef>
        </p:style>
      </p:cxnSp>
      <p:sp>
        <p:nvSpPr>
          <p:cNvPr id="34" name="Текст 11">
            <a:extLst>
              <a:ext uri="{FF2B5EF4-FFF2-40B4-BE49-F238E27FC236}">
                <a16:creationId xmlns:a16="http://schemas.microsoft.com/office/drawing/2014/main" id="{A5AC2145-0812-4AF9-8B24-C425E33C6CD5}"/>
              </a:ext>
            </a:extLst>
          </p:cNvPr>
          <p:cNvSpPr txBox="1">
            <a:spLocks/>
          </p:cNvSpPr>
          <p:nvPr/>
        </p:nvSpPr>
        <p:spPr>
          <a:xfrm>
            <a:off x="476462" y="0"/>
            <a:ext cx="9162838" cy="360363"/>
          </a:xfrm>
          <a:prstGeom prst="rect">
            <a:avLst/>
          </a:prstGeom>
        </p:spPr>
        <p:txBody>
          <a:bodyPr vert="horz" lIns="0" tIns="0" rIns="0" bIns="0" rtlCol="0" anchor="ctr" anchorCtr="0">
            <a:noAutofit/>
          </a:bodyPr>
          <a:lstStyle>
            <a:lvl1pPr marL="0" indent="0" algn="l" defTabSz="864017" rtl="0" eaLnBrk="1" latinLnBrk="0" hangingPunct="1">
              <a:lnSpc>
                <a:spcPct val="110000"/>
              </a:lnSpc>
              <a:spcBef>
                <a:spcPts val="600"/>
              </a:spcBef>
              <a:buFont typeface="Arial" panose="020B0604020202020204" pitchFamily="34" charset="0"/>
              <a:buNone/>
              <a:defRPr sz="1000" b="1" kern="1200">
                <a:solidFill>
                  <a:schemeClr val="bg1">
                    <a:lumMod val="65000"/>
                  </a:schemeClr>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r>
              <a:rPr lang="ru-RU" sz="1600" dirty="0">
                <a:solidFill>
                  <a:schemeClr val="accent2">
                    <a:lumMod val="75000"/>
                  </a:schemeClr>
                </a:solidFill>
              </a:rPr>
              <a:t>НОРМАТИВНЫЕ ДОКУМЕНТЫ И ПАРАМЕТРЫ СОБСТВЕННЫХ КОЛЕБАНИЙ ЗДАНИЯ</a:t>
            </a:r>
          </a:p>
        </p:txBody>
      </p:sp>
      <p:sp>
        <p:nvSpPr>
          <p:cNvPr id="52" name="TextBox 51">
            <a:extLst>
              <a:ext uri="{FF2B5EF4-FFF2-40B4-BE49-F238E27FC236}">
                <a16:creationId xmlns:a16="http://schemas.microsoft.com/office/drawing/2014/main" id="{6F457E00-5B54-4D6E-9891-56DC4A84C2A9}"/>
              </a:ext>
            </a:extLst>
          </p:cNvPr>
          <p:cNvSpPr txBox="1"/>
          <p:nvPr/>
        </p:nvSpPr>
        <p:spPr>
          <a:xfrm>
            <a:off x="4307437" y="5381397"/>
            <a:ext cx="3108062" cy="1008000"/>
          </a:xfrm>
          <a:prstGeom prst="rect">
            <a:avLst/>
          </a:prstGeom>
          <a:noFill/>
          <a:ln>
            <a:solidFill>
              <a:srgbClr val="0080C8"/>
            </a:solidFill>
          </a:ln>
        </p:spPr>
        <p:txBody>
          <a:bodyPr wrap="square" rtlCol="0" anchor="ctr" anchorCtr="0">
            <a:spAutoFit/>
          </a:bodyPr>
          <a:lstStyle/>
          <a:p>
            <a:pPr algn="ctr"/>
            <a:r>
              <a:rPr lang="ru-RU" sz="1600" dirty="0">
                <a:latin typeface="Tahoma" panose="020B0604030504040204" pitchFamily="34" charset="0"/>
                <a:ea typeface="Tahoma" panose="020B0604030504040204" pitchFamily="34" charset="0"/>
                <a:cs typeface="Tahoma" panose="020B0604030504040204" pitchFamily="34" charset="0"/>
              </a:rPr>
              <a:t>Исторические и чувствительные к вибрациям здания</a:t>
            </a:r>
          </a:p>
        </p:txBody>
      </p:sp>
      <p:cxnSp>
        <p:nvCxnSpPr>
          <p:cNvPr id="53" name="Прямая со стрелкой 52">
            <a:extLst>
              <a:ext uri="{FF2B5EF4-FFF2-40B4-BE49-F238E27FC236}">
                <a16:creationId xmlns:a16="http://schemas.microsoft.com/office/drawing/2014/main" id="{AF38781A-4FEE-4832-902F-A306B67B9280}"/>
              </a:ext>
            </a:extLst>
          </p:cNvPr>
          <p:cNvCxnSpPr>
            <a:cxnSpLocks/>
          </p:cNvCxnSpPr>
          <p:nvPr/>
        </p:nvCxnSpPr>
        <p:spPr>
          <a:xfrm flipV="1">
            <a:off x="5002900" y="3684896"/>
            <a:ext cx="0" cy="1679554"/>
          </a:xfrm>
          <a:prstGeom prst="straightConnector1">
            <a:avLst/>
          </a:prstGeom>
          <a:ln w="12700">
            <a:solidFill>
              <a:srgbClr val="0080C8"/>
            </a:solidFill>
            <a:tailEnd type="triangle"/>
          </a:ln>
        </p:spPr>
        <p:style>
          <a:lnRef idx="1">
            <a:schemeClr val="accent2"/>
          </a:lnRef>
          <a:fillRef idx="0">
            <a:schemeClr val="accent2"/>
          </a:fillRef>
          <a:effectRef idx="0">
            <a:schemeClr val="accent2"/>
          </a:effectRef>
          <a:fontRef idx="minor">
            <a:schemeClr val="tx1"/>
          </a:fontRef>
        </p:style>
      </p:cxnSp>
      <p:sp>
        <p:nvSpPr>
          <p:cNvPr id="57" name="TextBox 56">
            <a:extLst>
              <a:ext uri="{FF2B5EF4-FFF2-40B4-BE49-F238E27FC236}">
                <a16:creationId xmlns:a16="http://schemas.microsoft.com/office/drawing/2014/main" id="{1353D34F-D3B3-4060-9041-AECD76C8747B}"/>
              </a:ext>
            </a:extLst>
          </p:cNvPr>
          <p:cNvSpPr txBox="1"/>
          <p:nvPr/>
        </p:nvSpPr>
        <p:spPr>
          <a:xfrm>
            <a:off x="4307435" y="760170"/>
            <a:ext cx="3108063" cy="831600"/>
          </a:xfrm>
          <a:prstGeom prst="rect">
            <a:avLst/>
          </a:prstGeom>
          <a:noFill/>
          <a:ln>
            <a:solidFill>
              <a:srgbClr val="0080C8"/>
            </a:solidFill>
          </a:ln>
        </p:spPr>
        <p:txBody>
          <a:bodyPr wrap="square" rtlCol="0" anchor="ctr" anchorCtr="0">
            <a:spAutoFit/>
          </a:bodyPr>
          <a:lstStyle/>
          <a:p>
            <a:pPr algn="ctr"/>
            <a:r>
              <a:rPr lang="ru-RU" sz="1600" dirty="0"/>
              <a:t>Промышленные здания</a:t>
            </a:r>
            <a:endParaRPr lang="ru-RU" sz="1600" dirty="0">
              <a:latin typeface="Tahoma" panose="020B0604030504040204" pitchFamily="34" charset="0"/>
              <a:ea typeface="Tahoma" panose="020B0604030504040204" pitchFamily="34" charset="0"/>
              <a:cs typeface="Tahoma" panose="020B0604030504040204" pitchFamily="34" charset="0"/>
            </a:endParaRPr>
          </a:p>
        </p:txBody>
      </p:sp>
      <p:cxnSp>
        <p:nvCxnSpPr>
          <p:cNvPr id="58" name="Прямая со стрелкой 57">
            <a:extLst>
              <a:ext uri="{FF2B5EF4-FFF2-40B4-BE49-F238E27FC236}">
                <a16:creationId xmlns:a16="http://schemas.microsoft.com/office/drawing/2014/main" id="{66D41D1A-67CD-4BAA-AB51-2B72ED405311}"/>
              </a:ext>
            </a:extLst>
          </p:cNvPr>
          <p:cNvCxnSpPr>
            <a:cxnSpLocks/>
          </p:cNvCxnSpPr>
          <p:nvPr/>
        </p:nvCxnSpPr>
        <p:spPr>
          <a:xfrm>
            <a:off x="6845535" y="1591167"/>
            <a:ext cx="0" cy="1070146"/>
          </a:xfrm>
          <a:prstGeom prst="straightConnector1">
            <a:avLst/>
          </a:prstGeom>
          <a:ln w="12700">
            <a:solidFill>
              <a:srgbClr val="0080C8"/>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19319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FC8AFE9-290C-1436-1485-A1B60981EA1C}"/>
              </a:ext>
            </a:extLst>
          </p:cNvPr>
          <p:cNvSpPr>
            <a:spLocks noGrp="1"/>
          </p:cNvSpPr>
          <p:nvPr>
            <p:ph type="sldNum" sz="quarter" idx="4"/>
          </p:nvPr>
        </p:nvSpPr>
        <p:spPr>
          <a:xfrm>
            <a:off x="10620000" y="0"/>
            <a:ext cx="712221" cy="360363"/>
          </a:xfrm>
        </p:spPr>
        <p:txBody>
          <a:bodyPr/>
          <a:lstStyle/>
          <a:p>
            <a:r>
              <a:rPr lang="en-US" sz="1600"/>
              <a:t>| </a:t>
            </a:r>
            <a:fld id="{F54BA9F3-CBAA-4DCF-AD2D-5ECAA0BE8875}" type="slidenum">
              <a:rPr lang="ru-RU" sz="1600" smtClean="0"/>
              <a:pPr/>
              <a:t>8</a:t>
            </a:fld>
            <a:endParaRPr lang="ru-RU" sz="1600" dirty="0"/>
          </a:p>
        </p:txBody>
      </p:sp>
      <p:sp>
        <p:nvSpPr>
          <p:cNvPr id="16" name="Текст 11">
            <a:extLst>
              <a:ext uri="{FF2B5EF4-FFF2-40B4-BE49-F238E27FC236}">
                <a16:creationId xmlns:a16="http://schemas.microsoft.com/office/drawing/2014/main" id="{72E298A4-1F10-233F-45B5-CB67BE268BB0}"/>
              </a:ext>
            </a:extLst>
          </p:cNvPr>
          <p:cNvSpPr>
            <a:spLocks noGrp="1"/>
          </p:cNvSpPr>
          <p:nvPr>
            <p:ph type="body" sz="quarter" idx="11"/>
          </p:nvPr>
        </p:nvSpPr>
        <p:spPr>
          <a:xfrm>
            <a:off x="476461" y="0"/>
            <a:ext cx="8967789" cy="360363"/>
          </a:xfrm>
          <a:prstGeom prst="rect">
            <a:avLst/>
          </a:prstGeom>
        </p:spPr>
        <p:txBody>
          <a:bodyPr/>
          <a:lstStyle/>
          <a:p>
            <a:r>
              <a:rPr lang="ru-RU" sz="1600" dirty="0">
                <a:solidFill>
                  <a:schemeClr val="accent2">
                    <a:lumMod val="75000"/>
                  </a:schemeClr>
                </a:solidFill>
              </a:rPr>
              <a:t>ИЗМЕРЕНИЕ РАСКАЧКИ ЗДАНИЯ ОТ ВЕДЕНИЯ ВЗРЫВНЫХ РАБОТ В КАРЬЕРЕ</a:t>
            </a:r>
          </a:p>
        </p:txBody>
      </p:sp>
      <p:pic>
        <p:nvPicPr>
          <p:cNvPr id="4" name="Рисунок 3"/>
          <p:cNvPicPr/>
          <p:nvPr/>
        </p:nvPicPr>
        <p:blipFill rotWithShape="1">
          <a:blip r:embed="rId3" cstate="screen">
            <a:extLst>
              <a:ext uri="{28A0092B-C50C-407E-A947-70E740481C1C}">
                <a14:useLocalDpi xmlns:a14="http://schemas.microsoft.com/office/drawing/2010/main"/>
              </a:ext>
            </a:extLst>
          </a:blip>
          <a:srcRect/>
          <a:stretch/>
        </p:blipFill>
        <p:spPr bwMode="auto">
          <a:xfrm>
            <a:off x="397621" y="811025"/>
            <a:ext cx="4761233" cy="2774351"/>
          </a:xfrm>
          <a:prstGeom prst="rect">
            <a:avLst/>
          </a:prstGeom>
          <a:ln>
            <a:noFill/>
          </a:ln>
          <a:extLst>
            <a:ext uri="{53640926-AAD7-44D8-BBD7-CCE9431645EC}">
              <a14:shadowObscured xmlns:a14="http://schemas.microsoft.com/office/drawing/2010/main"/>
            </a:ext>
          </a:extLst>
        </p:spPr>
      </p:pic>
      <p:sp>
        <p:nvSpPr>
          <p:cNvPr id="5" name="Прямоугольник 4">
            <a:extLst>
              <a:ext uri="{FF2B5EF4-FFF2-40B4-BE49-F238E27FC236}">
                <a16:creationId xmlns:a16="http://schemas.microsoft.com/office/drawing/2014/main" id="{B0E5AE17-1417-5ECA-97F4-41D227A6734C}"/>
              </a:ext>
            </a:extLst>
          </p:cNvPr>
          <p:cNvSpPr/>
          <p:nvPr/>
        </p:nvSpPr>
        <p:spPr>
          <a:xfrm>
            <a:off x="2111695" y="811025"/>
            <a:ext cx="3047159" cy="763563"/>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Соотношение вибраций, измеренных на нижнем и верхнем ярусах</a:t>
            </a:r>
          </a:p>
        </p:txBody>
      </p:sp>
      <p:pic>
        <p:nvPicPr>
          <p:cNvPr id="7" name="Рисунок 6" descr="D:\ГИПРОНИКЕЛЬ\Норильск\УВВ МР\25.09.2020 УВВ-сейсмо.jpg"/>
          <p:cNvPicPr/>
          <p:nvPr/>
        </p:nvPicPr>
        <p:blipFill rotWithShape="1">
          <a:blip r:embed="rId4" cstate="print">
            <a:extLst>
              <a:ext uri="{28A0092B-C50C-407E-A947-70E740481C1C}">
                <a14:useLocalDpi xmlns:a14="http://schemas.microsoft.com/office/drawing/2010/main"/>
              </a:ext>
            </a:extLst>
          </a:blip>
          <a:srcRect/>
          <a:stretch/>
        </p:blipFill>
        <p:spPr bwMode="auto">
          <a:xfrm>
            <a:off x="6105531" y="811025"/>
            <a:ext cx="5017336" cy="2764461"/>
          </a:xfrm>
          <a:prstGeom prst="rect">
            <a:avLst/>
          </a:prstGeom>
          <a:noFill/>
          <a:ln>
            <a:noFill/>
          </a:ln>
        </p:spPr>
      </p:pic>
      <p:pic>
        <p:nvPicPr>
          <p:cNvPr id="9" name="Рисунок 8"/>
          <p:cNvPicPr/>
          <p:nvPr/>
        </p:nvPicPr>
        <p:blipFill>
          <a:blip r:embed="rId5" cstate="print">
            <a:extLst>
              <a:ext uri="{28A0092B-C50C-407E-A947-70E740481C1C}">
                <a14:useLocalDpi xmlns:a14="http://schemas.microsoft.com/office/drawing/2010/main"/>
              </a:ext>
            </a:extLst>
          </a:blip>
          <a:stretch>
            <a:fillRect/>
          </a:stretch>
        </p:blipFill>
        <p:spPr>
          <a:xfrm>
            <a:off x="2635626" y="4115808"/>
            <a:ext cx="1999295" cy="2155816"/>
          </a:xfrm>
          <a:prstGeom prst="rect">
            <a:avLst/>
          </a:prstGeom>
          <a:effectLst>
            <a:softEdge rad="31750"/>
          </a:effectLst>
        </p:spPr>
      </p:pic>
      <p:pic>
        <p:nvPicPr>
          <p:cNvPr id="10" name="Рисунок 9"/>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5045368" y="4122019"/>
            <a:ext cx="1429749" cy="2149605"/>
          </a:xfrm>
          <a:prstGeom prst="rect">
            <a:avLst/>
          </a:prstGeom>
          <a:effectLst>
            <a:softEdge rad="31750"/>
          </a:effectLst>
        </p:spPr>
      </p:pic>
      <p:pic>
        <p:nvPicPr>
          <p:cNvPr id="11" name="Рисунок 10"/>
          <p:cNvPicPr/>
          <p:nvPr/>
        </p:nvPicPr>
        <p:blipFill>
          <a:blip r:embed="rId7" cstate="print">
            <a:extLst>
              <a:ext uri="{28A0092B-C50C-407E-A947-70E740481C1C}">
                <a14:useLocalDpi xmlns:a14="http://schemas.microsoft.com/office/drawing/2010/main"/>
              </a:ext>
            </a:extLst>
          </a:blip>
          <a:stretch>
            <a:fillRect/>
          </a:stretch>
        </p:blipFill>
        <p:spPr>
          <a:xfrm>
            <a:off x="6885564" y="4112128"/>
            <a:ext cx="1595014" cy="2159495"/>
          </a:xfrm>
          <a:prstGeom prst="rect">
            <a:avLst/>
          </a:prstGeom>
          <a:effectLst>
            <a:softEdge rad="31750"/>
          </a:effectLst>
        </p:spPr>
      </p:pic>
      <p:sp>
        <p:nvSpPr>
          <p:cNvPr id="12" name="Прямоугольник 11">
            <a:extLst>
              <a:ext uri="{FF2B5EF4-FFF2-40B4-BE49-F238E27FC236}">
                <a16:creationId xmlns:a16="http://schemas.microsoft.com/office/drawing/2014/main" id="{B0E5AE17-1417-5ECA-97F4-41D227A6734C}"/>
              </a:ext>
            </a:extLst>
          </p:cNvPr>
          <p:cNvSpPr/>
          <p:nvPr/>
        </p:nvSpPr>
        <p:spPr>
          <a:xfrm>
            <a:off x="8521234" y="811389"/>
            <a:ext cx="2398668" cy="7632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Результаты измерения вибраций и УВВ на верхнем ярусе здания</a:t>
            </a:r>
          </a:p>
        </p:txBody>
      </p:sp>
      <p:sp>
        <p:nvSpPr>
          <p:cNvPr id="14" name="Скругленный прямоугольник 13">
            <a:extLst>
              <a:ext uri="{FF2B5EF4-FFF2-40B4-BE49-F238E27FC236}">
                <a16:creationId xmlns:a16="http://schemas.microsoft.com/office/drawing/2014/main" id="{CB5E5687-6970-430F-8050-F89517A23DD7}"/>
              </a:ext>
            </a:extLst>
          </p:cNvPr>
          <p:cNvSpPr/>
          <p:nvPr/>
        </p:nvSpPr>
        <p:spPr>
          <a:xfrm>
            <a:off x="2635626" y="3661467"/>
            <a:ext cx="5844952" cy="374571"/>
          </a:xfrm>
          <a:prstGeom prst="roundRect">
            <a:avLst/>
          </a:prstGeom>
          <a:solidFill>
            <a:srgbClr val="0077C8"/>
          </a:solidFill>
          <a:ln>
            <a:solidFill>
              <a:schemeClr val="tx1"/>
            </a:solidFill>
          </a:ln>
        </p:spPr>
        <p:txBody>
          <a:bodyPr wrap="square">
            <a:spAutoFit/>
          </a:bodyPr>
          <a:lstStyle/>
          <a:p>
            <a:pPr algn="ctr"/>
            <a:r>
              <a:rPr lang="ru-RU" sz="1600" dirty="0">
                <a:solidFill>
                  <a:schemeClr val="bg1"/>
                </a:solidFill>
                <a:latin typeface="Tahoma" panose="020B0604030504040204" pitchFamily="34" charset="0"/>
                <a:ea typeface="Tahoma" panose="020B0604030504040204" pitchFamily="34" charset="0"/>
                <a:cs typeface="Tahoma" panose="020B0604030504040204" pitchFamily="34" charset="0"/>
              </a:rPr>
              <a:t>Установка измерительного оборудования</a:t>
            </a:r>
          </a:p>
        </p:txBody>
      </p:sp>
    </p:spTree>
    <p:extLst>
      <p:ext uri="{BB962C8B-B14F-4D97-AF65-F5344CB8AC3E}">
        <p14:creationId xmlns:p14="http://schemas.microsoft.com/office/powerpoint/2010/main" val="4238896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FC8AFE9-290C-1436-1485-A1B60981EA1C}"/>
              </a:ext>
            </a:extLst>
          </p:cNvPr>
          <p:cNvSpPr>
            <a:spLocks noGrp="1"/>
          </p:cNvSpPr>
          <p:nvPr>
            <p:ph type="sldNum" sz="quarter" idx="4"/>
          </p:nvPr>
        </p:nvSpPr>
        <p:spPr/>
        <p:txBody>
          <a:bodyPr/>
          <a:lstStyle/>
          <a:p>
            <a:r>
              <a:rPr lang="en-US" sz="1600"/>
              <a:t>| </a:t>
            </a:r>
            <a:fld id="{F54BA9F3-CBAA-4DCF-AD2D-5ECAA0BE8875}" type="slidenum">
              <a:rPr lang="ru-RU" sz="1600" smtClean="0"/>
              <a:pPr/>
              <a:t>9</a:t>
            </a:fld>
            <a:endParaRPr lang="ru-RU" sz="1600" dirty="0"/>
          </a:p>
        </p:txBody>
      </p:sp>
      <p:sp>
        <p:nvSpPr>
          <p:cNvPr id="16" name="Текст 11">
            <a:extLst>
              <a:ext uri="{FF2B5EF4-FFF2-40B4-BE49-F238E27FC236}">
                <a16:creationId xmlns:a16="http://schemas.microsoft.com/office/drawing/2014/main" id="{72E298A4-1F10-233F-45B5-CB67BE268BB0}"/>
              </a:ext>
            </a:extLst>
          </p:cNvPr>
          <p:cNvSpPr>
            <a:spLocks noGrp="1"/>
          </p:cNvSpPr>
          <p:nvPr>
            <p:ph type="body" sz="quarter" idx="11"/>
          </p:nvPr>
        </p:nvSpPr>
        <p:spPr>
          <a:xfrm>
            <a:off x="476461" y="0"/>
            <a:ext cx="8926845" cy="360363"/>
          </a:xfrm>
          <a:prstGeom prst="rect">
            <a:avLst/>
          </a:prstGeom>
        </p:spPr>
        <p:txBody>
          <a:bodyPr/>
          <a:lstStyle/>
          <a:p>
            <a:r>
              <a:rPr lang="ru-RU" sz="1600" dirty="0">
                <a:solidFill>
                  <a:schemeClr val="accent2">
                    <a:lumMod val="75000"/>
                  </a:schemeClr>
                </a:solidFill>
              </a:rPr>
              <a:t>ИЗМЕРЕНИЕ РАСКАЧКИ ЗДАНИЯ ОТ ВЕДЕНИЯ ВЗРЫВНЫХ РАБОТ В КАРЬЕРЕ</a:t>
            </a:r>
          </a:p>
        </p:txBody>
      </p:sp>
      <p:graphicFrame>
        <p:nvGraphicFramePr>
          <p:cNvPr id="8" name="Таблица 7"/>
          <p:cNvGraphicFramePr>
            <a:graphicFrameLocks noGrp="1"/>
          </p:cNvGraphicFramePr>
          <p:nvPr>
            <p:extLst>
              <p:ext uri="{D42A27DB-BD31-4B8C-83A1-F6EECF244321}">
                <p14:modId xmlns:p14="http://schemas.microsoft.com/office/powerpoint/2010/main" val="107310411"/>
              </p:ext>
            </p:extLst>
          </p:nvPr>
        </p:nvGraphicFramePr>
        <p:xfrm>
          <a:off x="342761" y="1752367"/>
          <a:ext cx="10834966" cy="1493520"/>
        </p:xfrm>
        <a:graphic>
          <a:graphicData uri="http://schemas.openxmlformats.org/drawingml/2006/table">
            <a:tbl>
              <a:tblPr firstRow="1" firstCol="1" bandRow="1">
                <a:tableStyleId>{2D5ABB26-0587-4C30-8999-92F81FD0307C}</a:tableStyleId>
              </a:tblPr>
              <a:tblGrid>
                <a:gridCol w="843982">
                  <a:extLst>
                    <a:ext uri="{9D8B030D-6E8A-4147-A177-3AD203B41FA5}">
                      <a16:colId xmlns:a16="http://schemas.microsoft.com/office/drawing/2014/main" val="692476480"/>
                    </a:ext>
                  </a:extLst>
                </a:gridCol>
                <a:gridCol w="816873">
                  <a:extLst>
                    <a:ext uri="{9D8B030D-6E8A-4147-A177-3AD203B41FA5}">
                      <a16:colId xmlns:a16="http://schemas.microsoft.com/office/drawing/2014/main" val="888975314"/>
                    </a:ext>
                  </a:extLst>
                </a:gridCol>
                <a:gridCol w="816873">
                  <a:extLst>
                    <a:ext uri="{9D8B030D-6E8A-4147-A177-3AD203B41FA5}">
                      <a16:colId xmlns:a16="http://schemas.microsoft.com/office/drawing/2014/main" val="3296769631"/>
                    </a:ext>
                  </a:extLst>
                </a:gridCol>
                <a:gridCol w="864000">
                  <a:extLst>
                    <a:ext uri="{9D8B030D-6E8A-4147-A177-3AD203B41FA5}">
                      <a16:colId xmlns:a16="http://schemas.microsoft.com/office/drawing/2014/main" val="2048170130"/>
                    </a:ext>
                  </a:extLst>
                </a:gridCol>
                <a:gridCol w="816873">
                  <a:extLst>
                    <a:ext uri="{9D8B030D-6E8A-4147-A177-3AD203B41FA5}">
                      <a16:colId xmlns:a16="http://schemas.microsoft.com/office/drawing/2014/main" val="3126023755"/>
                    </a:ext>
                  </a:extLst>
                </a:gridCol>
                <a:gridCol w="816873">
                  <a:extLst>
                    <a:ext uri="{9D8B030D-6E8A-4147-A177-3AD203B41FA5}">
                      <a16:colId xmlns:a16="http://schemas.microsoft.com/office/drawing/2014/main" val="35644167"/>
                    </a:ext>
                  </a:extLst>
                </a:gridCol>
                <a:gridCol w="864000">
                  <a:extLst>
                    <a:ext uri="{9D8B030D-6E8A-4147-A177-3AD203B41FA5}">
                      <a16:colId xmlns:a16="http://schemas.microsoft.com/office/drawing/2014/main" val="568832983"/>
                    </a:ext>
                  </a:extLst>
                </a:gridCol>
                <a:gridCol w="816873">
                  <a:extLst>
                    <a:ext uri="{9D8B030D-6E8A-4147-A177-3AD203B41FA5}">
                      <a16:colId xmlns:a16="http://schemas.microsoft.com/office/drawing/2014/main" val="3755400714"/>
                    </a:ext>
                  </a:extLst>
                </a:gridCol>
                <a:gridCol w="816873">
                  <a:extLst>
                    <a:ext uri="{9D8B030D-6E8A-4147-A177-3AD203B41FA5}">
                      <a16:colId xmlns:a16="http://schemas.microsoft.com/office/drawing/2014/main" val="2556901299"/>
                    </a:ext>
                  </a:extLst>
                </a:gridCol>
                <a:gridCol w="864000">
                  <a:extLst>
                    <a:ext uri="{9D8B030D-6E8A-4147-A177-3AD203B41FA5}">
                      <a16:colId xmlns:a16="http://schemas.microsoft.com/office/drawing/2014/main" val="1136919685"/>
                    </a:ext>
                  </a:extLst>
                </a:gridCol>
                <a:gridCol w="816873">
                  <a:extLst>
                    <a:ext uri="{9D8B030D-6E8A-4147-A177-3AD203B41FA5}">
                      <a16:colId xmlns:a16="http://schemas.microsoft.com/office/drawing/2014/main" val="1475583647"/>
                    </a:ext>
                  </a:extLst>
                </a:gridCol>
                <a:gridCol w="816873">
                  <a:extLst>
                    <a:ext uri="{9D8B030D-6E8A-4147-A177-3AD203B41FA5}">
                      <a16:colId xmlns:a16="http://schemas.microsoft.com/office/drawing/2014/main" val="1798053653"/>
                    </a:ext>
                  </a:extLst>
                </a:gridCol>
                <a:gridCol w="864000">
                  <a:extLst>
                    <a:ext uri="{9D8B030D-6E8A-4147-A177-3AD203B41FA5}">
                      <a16:colId xmlns:a16="http://schemas.microsoft.com/office/drawing/2014/main" val="2590462891"/>
                    </a:ext>
                  </a:extLst>
                </a:gridCol>
              </a:tblGrid>
              <a:tr h="161883">
                <a:tc rowSpan="3">
                  <a:txBody>
                    <a:bodyPr/>
                    <a:lstStyle/>
                    <a:p>
                      <a:pPr algn="ctr">
                        <a:spcAft>
                          <a:spcPts val="0"/>
                        </a:spcAft>
                      </a:pPr>
                      <a:r>
                        <a:rPr lang="ru-RU" sz="1400" dirty="0">
                          <a:effectLst/>
                        </a:rPr>
                        <a:t>Дата записи</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algn="ctr">
                        <a:spcAft>
                          <a:spcPts val="0"/>
                        </a:spcAft>
                      </a:pPr>
                      <a:r>
                        <a:rPr lang="ru-RU" sz="1400" dirty="0">
                          <a:effectLst/>
                        </a:rPr>
                        <a:t>Наибольшие значения </a:t>
                      </a:r>
                      <a:r>
                        <a:rPr lang="ru-RU" sz="1400" b="1" dirty="0">
                          <a:effectLst/>
                        </a:rPr>
                        <a:t>скорости</a:t>
                      </a:r>
                      <a:r>
                        <a:rPr lang="ru-RU" sz="1400" dirty="0">
                          <a:effectLst/>
                        </a:rPr>
                        <a:t> смещения</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gridSpan="6">
                  <a:txBody>
                    <a:bodyPr/>
                    <a:lstStyle/>
                    <a:p>
                      <a:pPr algn="ctr">
                        <a:spcAft>
                          <a:spcPts val="0"/>
                        </a:spcAft>
                      </a:pPr>
                      <a:r>
                        <a:rPr lang="ru-RU" sz="1400" dirty="0">
                          <a:effectLst/>
                        </a:rPr>
                        <a:t>Наибольшие значения </a:t>
                      </a:r>
                      <a:r>
                        <a:rPr lang="ru-RU" sz="1400" b="1" dirty="0">
                          <a:effectLst/>
                        </a:rPr>
                        <a:t>перемещения</a:t>
                      </a:r>
                      <a:r>
                        <a:rPr lang="ru-RU" sz="1400" dirty="0">
                          <a:effectLst/>
                        </a:rPr>
                        <a:t>, мм</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3218110466"/>
                  </a:ext>
                </a:extLst>
              </a:tr>
              <a:tr h="161883">
                <a:tc vMerge="1">
                  <a:txBody>
                    <a:bodyPr/>
                    <a:lstStyle/>
                    <a:p>
                      <a:endParaRPr lang="ru-RU"/>
                    </a:p>
                  </a:txBody>
                  <a:tcPr/>
                </a:tc>
                <a:tc gridSpan="3">
                  <a:txBody>
                    <a:bodyPr/>
                    <a:lstStyle/>
                    <a:p>
                      <a:pPr algn="ctr">
                        <a:spcAft>
                          <a:spcPts val="0"/>
                        </a:spcAft>
                      </a:pPr>
                      <a:r>
                        <a:rPr lang="ru-RU" sz="1400" dirty="0">
                          <a:effectLst/>
                        </a:rPr>
                        <a:t>Сейсмовзрывная волна</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tc gridSpan="3">
                  <a:txBody>
                    <a:bodyPr/>
                    <a:lstStyle/>
                    <a:p>
                      <a:pPr algn="ctr">
                        <a:spcAft>
                          <a:spcPts val="0"/>
                        </a:spcAft>
                      </a:pPr>
                      <a:r>
                        <a:rPr lang="ru-RU" sz="1400" dirty="0">
                          <a:effectLst/>
                        </a:rPr>
                        <a:t>Ударно воздушная волна</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tc gridSpan="3">
                  <a:txBody>
                    <a:bodyPr/>
                    <a:lstStyle/>
                    <a:p>
                      <a:pPr algn="ctr">
                        <a:spcAft>
                          <a:spcPts val="0"/>
                        </a:spcAft>
                      </a:pPr>
                      <a:r>
                        <a:rPr lang="ru-RU" sz="1400" dirty="0">
                          <a:effectLst/>
                        </a:rPr>
                        <a:t>Сейсмовзрывная волна</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tc gridSpan="3">
                  <a:txBody>
                    <a:bodyPr/>
                    <a:lstStyle/>
                    <a:p>
                      <a:pPr algn="ctr">
                        <a:spcAft>
                          <a:spcPts val="0"/>
                        </a:spcAft>
                      </a:pPr>
                      <a:r>
                        <a:rPr lang="ru-RU" sz="1400" dirty="0">
                          <a:effectLst/>
                        </a:rPr>
                        <a:t>Ударно воздушная волна</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2147936043"/>
                  </a:ext>
                </a:extLst>
              </a:tr>
              <a:tr h="274333">
                <a:tc vMerge="1">
                  <a:txBody>
                    <a:bodyPr/>
                    <a:lstStyle/>
                    <a:p>
                      <a:endParaRPr lang="ru-RU"/>
                    </a:p>
                  </a:txBody>
                  <a:tcPr/>
                </a:tc>
                <a:tc>
                  <a:txBody>
                    <a:bodyPr/>
                    <a:lstStyle/>
                    <a:p>
                      <a:pPr algn="ctr">
                        <a:spcAft>
                          <a:spcPts val="0"/>
                        </a:spcAft>
                      </a:pPr>
                      <a:r>
                        <a:rPr lang="ru-RU" sz="1400" dirty="0">
                          <a:effectLst/>
                        </a:rPr>
                        <a:t>Нижний ярус, мм/с</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Верхний ярус, мм/с</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kern="1200" dirty="0">
                          <a:effectLst/>
                        </a:rPr>
                        <a:t>Раскачка</a:t>
                      </a:r>
                      <a:endParaRPr lang="ru-RU" sz="1400" b="1" kern="1200" dirty="0">
                        <a:solidFill>
                          <a:schemeClr val="accent2">
                            <a:lumMod val="75000"/>
                          </a:schemeClr>
                        </a:solidFill>
                        <a:effectLst/>
                        <a:latin typeface="+mj-lt"/>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Нижний ярус, мм/с</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Верхний ярус, мм/с</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Раскачка</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Нижний ярус, мм/с</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Верхний ярус, мм/с</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Раскачка</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Нижний ярус, мм/с</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Верхний ярус, мм/с</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Раскачка</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3313159"/>
                  </a:ext>
                </a:extLst>
              </a:tr>
              <a:tr h="161883">
                <a:tc>
                  <a:txBody>
                    <a:bodyPr/>
                    <a:lstStyle/>
                    <a:p>
                      <a:pPr algn="ctr">
                        <a:spcAft>
                          <a:spcPts val="0"/>
                        </a:spcAft>
                      </a:pPr>
                      <a:r>
                        <a:rPr lang="ru-RU" sz="1400" dirty="0">
                          <a:effectLst/>
                        </a:rPr>
                        <a:t>13.03.20</a:t>
                      </a:r>
                      <a:endParaRPr lang="ru-RU" sz="1400" b="1"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0,41</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1,28</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3,12</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0,07</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0,64</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8,89</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0,005</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0,02</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4,04</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0,001</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0,02</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15,55</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7321347"/>
                  </a:ext>
                </a:extLst>
              </a:tr>
              <a:tr h="161883">
                <a:tc>
                  <a:txBody>
                    <a:bodyPr/>
                    <a:lstStyle/>
                    <a:p>
                      <a:pPr algn="ctr">
                        <a:spcAft>
                          <a:spcPts val="0"/>
                        </a:spcAft>
                      </a:pPr>
                      <a:r>
                        <a:rPr lang="ru-RU" sz="1400" dirty="0">
                          <a:effectLst/>
                        </a:rPr>
                        <a:t>25.09.20</a:t>
                      </a:r>
                      <a:endParaRPr lang="ru-RU" sz="1400" b="1"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0,64</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2,43</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3,80</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0,19</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6,14</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33,21</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0,01</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0,05</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4,22</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0,003</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0,18</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ru-RU" sz="1400" dirty="0">
                          <a:effectLst/>
                        </a:rPr>
                        <a:t>53,93</a:t>
                      </a:r>
                      <a:endParaRPr lang="ru-RU" sz="1400" dirty="0">
                        <a:solidFill>
                          <a:schemeClr val="accent2">
                            <a:lumMod val="75000"/>
                          </a:schemeClr>
                        </a:solidFill>
                        <a:effectLst/>
                        <a:latin typeface="Tahoma" panose="020B0604030504040204" pitchFamily="34" charset="0"/>
                        <a:ea typeface="Calibri" panose="020F0502020204030204" pitchFamily="34" charset="0"/>
                        <a:cs typeface="Tahoma" panose="020B0604030504040204" pitchFamily="34" charset="0"/>
                      </a:endParaRPr>
                    </a:p>
                  </a:txBody>
                  <a:tcPr marL="58278" marR="5827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3267881"/>
                  </a:ext>
                </a:extLst>
              </a:tr>
            </a:tbl>
          </a:graphicData>
        </a:graphic>
      </p:graphicFrame>
      <p:sp>
        <p:nvSpPr>
          <p:cNvPr id="15" name="Скругленный прямоугольник 14">
            <a:extLst>
              <a:ext uri="{FF2B5EF4-FFF2-40B4-BE49-F238E27FC236}">
                <a16:creationId xmlns:a16="http://schemas.microsoft.com/office/drawing/2014/main" id="{CB5E5687-6970-430F-8050-F89517A23DD7}"/>
              </a:ext>
            </a:extLst>
          </p:cNvPr>
          <p:cNvSpPr/>
          <p:nvPr/>
        </p:nvSpPr>
        <p:spPr>
          <a:xfrm>
            <a:off x="3548526" y="1240520"/>
            <a:ext cx="4423436" cy="374571"/>
          </a:xfrm>
          <a:prstGeom prst="roundRect">
            <a:avLst/>
          </a:prstGeom>
          <a:solidFill>
            <a:srgbClr val="0077C8"/>
          </a:solidFill>
          <a:ln>
            <a:solidFill>
              <a:schemeClr val="tx1"/>
            </a:solidFill>
          </a:ln>
        </p:spPr>
        <p:txBody>
          <a:bodyPr wrap="square">
            <a:spAutoFit/>
          </a:bodyPr>
          <a:lstStyle/>
          <a:p>
            <a:pPr algn="ctr"/>
            <a:r>
              <a:rPr lang="ru-RU" sz="1600" dirty="0">
                <a:solidFill>
                  <a:schemeClr val="bg1"/>
                </a:solidFill>
                <a:latin typeface="Tahoma" panose="020B0604030504040204" pitchFamily="34" charset="0"/>
                <a:ea typeface="Tahoma" panose="020B0604030504040204" pitchFamily="34" charset="0"/>
                <a:cs typeface="Tahoma" panose="020B0604030504040204" pitchFamily="34" charset="0"/>
              </a:rPr>
              <a:t>Результаты измерений раскачки здания</a:t>
            </a:r>
          </a:p>
        </p:txBody>
      </p:sp>
      <p:pic>
        <p:nvPicPr>
          <p:cNvPr id="17" name="Рисунок 16"/>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72612" y="4637891"/>
            <a:ext cx="8788107" cy="1309766"/>
          </a:xfrm>
          <a:prstGeom prst="rect">
            <a:avLst/>
          </a:prstGeom>
        </p:spPr>
      </p:pic>
      <p:sp>
        <p:nvSpPr>
          <p:cNvPr id="18" name="Скругленный прямоугольник 17">
            <a:extLst>
              <a:ext uri="{FF2B5EF4-FFF2-40B4-BE49-F238E27FC236}">
                <a16:creationId xmlns:a16="http://schemas.microsoft.com/office/drawing/2014/main" id="{CB5E5687-6970-430F-8050-F89517A23DD7}"/>
              </a:ext>
            </a:extLst>
          </p:cNvPr>
          <p:cNvSpPr/>
          <p:nvPr/>
        </p:nvSpPr>
        <p:spPr>
          <a:xfrm>
            <a:off x="2160244" y="4126044"/>
            <a:ext cx="7200000" cy="360000"/>
          </a:xfrm>
          <a:prstGeom prst="roundRect">
            <a:avLst/>
          </a:prstGeom>
          <a:solidFill>
            <a:srgbClr val="0077C8"/>
          </a:solidFill>
          <a:ln>
            <a:solidFill>
              <a:schemeClr val="tx1"/>
            </a:solidFill>
          </a:ln>
        </p:spPr>
        <p:txBody>
          <a:bodyPr wrap="square">
            <a:spAutoFit/>
          </a:bodyPr>
          <a:lstStyle/>
          <a:p>
            <a:pPr algn="ctr"/>
            <a:r>
              <a:rPr lang="ru-RU" sz="1600" dirty="0">
                <a:solidFill>
                  <a:schemeClr val="bg1"/>
                </a:solidFill>
                <a:latin typeface="Tahoma" panose="020B0604030504040204" pitchFamily="34" charset="0"/>
                <a:ea typeface="Tahoma" panose="020B0604030504040204" pitchFamily="34" charset="0"/>
                <a:cs typeface="Tahoma" panose="020B0604030504040204" pitchFamily="34" charset="0"/>
              </a:rPr>
              <a:t>Рекомендуемые предельные значения колебаний верхнего перекрытия</a:t>
            </a:r>
          </a:p>
        </p:txBody>
      </p:sp>
    </p:spTree>
    <p:extLst>
      <p:ext uri="{BB962C8B-B14F-4D97-AF65-F5344CB8AC3E}">
        <p14:creationId xmlns:p14="http://schemas.microsoft.com/office/powerpoint/2010/main" val="2418556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FC8AFE9-290C-1436-1485-A1B60981EA1C}"/>
              </a:ext>
            </a:extLst>
          </p:cNvPr>
          <p:cNvSpPr>
            <a:spLocks noGrp="1"/>
          </p:cNvSpPr>
          <p:nvPr>
            <p:ph type="sldNum" sz="quarter" idx="4"/>
          </p:nvPr>
        </p:nvSpPr>
        <p:spPr/>
        <p:txBody>
          <a:bodyPr/>
          <a:lstStyle/>
          <a:p>
            <a:r>
              <a:rPr lang="en-US" sz="1600"/>
              <a:t>| </a:t>
            </a:r>
            <a:fld id="{F54BA9F3-CBAA-4DCF-AD2D-5ECAA0BE8875}" type="slidenum">
              <a:rPr lang="ru-RU" sz="1600" smtClean="0"/>
              <a:pPr/>
              <a:t>10</a:t>
            </a:fld>
            <a:endParaRPr lang="ru-RU" sz="1600" dirty="0"/>
          </a:p>
        </p:txBody>
      </p:sp>
      <p:sp>
        <p:nvSpPr>
          <p:cNvPr id="16" name="Текст 11">
            <a:extLst>
              <a:ext uri="{FF2B5EF4-FFF2-40B4-BE49-F238E27FC236}">
                <a16:creationId xmlns:a16="http://schemas.microsoft.com/office/drawing/2014/main" id="{72E298A4-1F10-233F-45B5-CB67BE268BB0}"/>
              </a:ext>
            </a:extLst>
          </p:cNvPr>
          <p:cNvSpPr>
            <a:spLocks noGrp="1"/>
          </p:cNvSpPr>
          <p:nvPr>
            <p:ph type="body" sz="quarter" idx="11"/>
          </p:nvPr>
        </p:nvSpPr>
        <p:spPr>
          <a:xfrm>
            <a:off x="476462" y="0"/>
            <a:ext cx="8815536" cy="360363"/>
          </a:xfrm>
          <a:prstGeom prst="rect">
            <a:avLst/>
          </a:prstGeom>
        </p:spPr>
        <p:txBody>
          <a:bodyPr/>
          <a:lstStyle/>
          <a:p>
            <a:r>
              <a:rPr lang="ru-RU" sz="1600" dirty="0">
                <a:solidFill>
                  <a:schemeClr val="accent2">
                    <a:lumMod val="75000"/>
                  </a:schemeClr>
                </a:solidFill>
              </a:rPr>
              <a:t>ДЕФОРМАЦИОННЫЙ МОНИТОРИНГ ДЕФЕКТОВ В КОНСТРУКЦИЯХ ЗДАНИЯ</a:t>
            </a:r>
          </a:p>
        </p:txBody>
      </p:sp>
      <p:pic>
        <p:nvPicPr>
          <p:cNvPr id="4" name="Рисунок 3"/>
          <p:cNvPicPr/>
          <p:nvPr/>
        </p:nvPicPr>
        <p:blipFill rotWithShape="1">
          <a:blip r:embed="rId3" cstate="print">
            <a:extLst>
              <a:ext uri="{28A0092B-C50C-407E-A947-70E740481C1C}">
                <a14:useLocalDpi xmlns:a14="http://schemas.microsoft.com/office/drawing/2010/main"/>
              </a:ext>
            </a:extLst>
          </a:blip>
          <a:srcRect l="11471"/>
          <a:stretch/>
        </p:blipFill>
        <p:spPr>
          <a:xfrm>
            <a:off x="2514608" y="4435447"/>
            <a:ext cx="2208162" cy="1979930"/>
          </a:xfrm>
          <a:prstGeom prst="rect">
            <a:avLst/>
          </a:prstGeom>
        </p:spPr>
      </p:pic>
      <p:sp>
        <p:nvSpPr>
          <p:cNvPr id="5" name="Прямоугольник 4">
            <a:extLst>
              <a:ext uri="{FF2B5EF4-FFF2-40B4-BE49-F238E27FC236}">
                <a16:creationId xmlns:a16="http://schemas.microsoft.com/office/drawing/2014/main" id="{B0E5AE17-1417-5ECA-97F4-41D227A6734C}"/>
              </a:ext>
            </a:extLst>
          </p:cNvPr>
          <p:cNvSpPr/>
          <p:nvPr/>
        </p:nvSpPr>
        <p:spPr>
          <a:xfrm>
            <a:off x="3112325" y="4455260"/>
            <a:ext cx="1610445" cy="5639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6" name="Текст 16">
            <a:extLst>
              <a:ext uri="{FF2B5EF4-FFF2-40B4-BE49-F238E27FC236}">
                <a16:creationId xmlns:a16="http://schemas.microsoft.com/office/drawing/2014/main" id="{4D17250A-797F-5A57-7B8F-D3BFAB7F8561}"/>
              </a:ext>
            </a:extLst>
          </p:cNvPr>
          <p:cNvSpPr txBox="1">
            <a:spLocks/>
          </p:cNvSpPr>
          <p:nvPr/>
        </p:nvSpPr>
        <p:spPr>
          <a:xfrm>
            <a:off x="3248163" y="4590046"/>
            <a:ext cx="1310185" cy="213822"/>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r>
              <a:rPr lang="ru-RU" sz="1600" dirty="0">
                <a:solidFill>
                  <a:schemeClr val="bg1"/>
                </a:solidFill>
              </a:rPr>
              <a:t>Датчик №1</a:t>
            </a:r>
          </a:p>
        </p:txBody>
      </p:sp>
      <p:pic>
        <p:nvPicPr>
          <p:cNvPr id="7" name="Рисунок 6" descr="F:\1. WORK\Медвежий Ручей 2024г\МР 2024.2\20240617_154914.jpg"/>
          <p:cNvPicPr/>
          <p:nvPr/>
        </p:nvPicPr>
        <p:blipFill rotWithShape="1">
          <a:blip r:embed="rId4" cstate="screen">
            <a:extLst>
              <a:ext uri="{28A0092B-C50C-407E-A947-70E740481C1C}">
                <a14:useLocalDpi xmlns:a14="http://schemas.microsoft.com/office/drawing/2010/main"/>
              </a:ext>
            </a:extLst>
          </a:blip>
          <a:srcRect/>
          <a:stretch/>
        </p:blipFill>
        <p:spPr bwMode="auto">
          <a:xfrm rot="5400000">
            <a:off x="477863" y="1343989"/>
            <a:ext cx="2012284" cy="2176024"/>
          </a:xfrm>
          <a:prstGeom prst="rect">
            <a:avLst/>
          </a:prstGeom>
          <a:noFill/>
          <a:ln>
            <a:noFill/>
          </a:ln>
          <a:effectLst>
            <a:softEdge rad="31750"/>
          </a:effectLst>
          <a:extLst>
            <a:ext uri="{53640926-AAD7-44D8-BBD7-CCE9431645EC}">
              <a14:shadowObscured xmlns:a14="http://schemas.microsoft.com/office/drawing/2010/main"/>
            </a:ext>
          </a:extLst>
        </p:spPr>
      </p:pic>
      <p:pic>
        <p:nvPicPr>
          <p:cNvPr id="8" name="Рисунок 7"/>
          <p:cNvPicPr/>
          <p:nvPr/>
        </p:nvPicPr>
        <p:blipFill rotWithShape="1">
          <a:blip r:embed="rId5" cstate="screen">
            <a:extLst>
              <a:ext uri="{28A0092B-C50C-407E-A947-70E740481C1C}">
                <a14:useLocalDpi xmlns:a14="http://schemas.microsoft.com/office/drawing/2010/main"/>
              </a:ext>
            </a:extLst>
          </a:blip>
          <a:srcRect/>
          <a:stretch/>
        </p:blipFill>
        <p:spPr bwMode="auto">
          <a:xfrm>
            <a:off x="2897732" y="1457567"/>
            <a:ext cx="1193528" cy="2012284"/>
          </a:xfrm>
          <a:prstGeom prst="rect">
            <a:avLst/>
          </a:prstGeom>
          <a:noFill/>
          <a:ln>
            <a:noFill/>
          </a:ln>
          <a:effectLst>
            <a:softEdge rad="31750"/>
          </a:effectLst>
          <a:extLst>
            <a:ext uri="{53640926-AAD7-44D8-BBD7-CCE9431645EC}">
              <a14:shadowObscured xmlns:a14="http://schemas.microsoft.com/office/drawing/2010/main"/>
            </a:ext>
          </a:extLst>
        </p:spPr>
      </p:pic>
      <p:pic>
        <p:nvPicPr>
          <p:cNvPr id="9" name="Рисунок 8"/>
          <p:cNvPicPr/>
          <p:nvPr/>
        </p:nvPicPr>
        <p:blipFill rotWithShape="1">
          <a:blip r:embed="rId6" cstate="screen">
            <a:extLst>
              <a:ext uri="{28A0092B-C50C-407E-A947-70E740481C1C}">
                <a14:useLocalDpi xmlns:a14="http://schemas.microsoft.com/office/drawing/2010/main"/>
              </a:ext>
            </a:extLst>
          </a:blip>
          <a:srcRect/>
          <a:stretch/>
        </p:blipFill>
        <p:spPr bwMode="auto">
          <a:xfrm>
            <a:off x="7237369" y="4435446"/>
            <a:ext cx="2207137" cy="1979930"/>
          </a:xfrm>
          <a:prstGeom prst="rect">
            <a:avLst/>
          </a:prstGeom>
          <a:ln>
            <a:noFill/>
          </a:ln>
          <a:extLst>
            <a:ext uri="{53640926-AAD7-44D8-BBD7-CCE9431645EC}">
              <a14:shadowObscured xmlns:a14="http://schemas.microsoft.com/office/drawing/2010/main"/>
            </a:ext>
          </a:extLst>
        </p:spPr>
      </p:pic>
      <p:sp>
        <p:nvSpPr>
          <p:cNvPr id="10" name="Прямоугольник 9">
            <a:extLst>
              <a:ext uri="{FF2B5EF4-FFF2-40B4-BE49-F238E27FC236}">
                <a16:creationId xmlns:a16="http://schemas.microsoft.com/office/drawing/2014/main" id="{B0E5AE17-1417-5ECA-97F4-41D227A6734C}"/>
              </a:ext>
            </a:extLst>
          </p:cNvPr>
          <p:cNvSpPr/>
          <p:nvPr/>
        </p:nvSpPr>
        <p:spPr>
          <a:xfrm>
            <a:off x="7834061" y="4435446"/>
            <a:ext cx="1610445" cy="5639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1" name="Текст 16">
            <a:extLst>
              <a:ext uri="{FF2B5EF4-FFF2-40B4-BE49-F238E27FC236}">
                <a16:creationId xmlns:a16="http://schemas.microsoft.com/office/drawing/2014/main" id="{4D17250A-797F-5A57-7B8F-D3BFAB7F8561}"/>
              </a:ext>
            </a:extLst>
          </p:cNvPr>
          <p:cNvSpPr txBox="1">
            <a:spLocks/>
          </p:cNvSpPr>
          <p:nvPr/>
        </p:nvSpPr>
        <p:spPr>
          <a:xfrm>
            <a:off x="7834060" y="4608454"/>
            <a:ext cx="1610445" cy="268038"/>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r>
              <a:rPr lang="ru-RU" sz="1600" dirty="0">
                <a:solidFill>
                  <a:schemeClr val="bg1"/>
                </a:solidFill>
              </a:rPr>
              <a:t>Датчик №6</a:t>
            </a:r>
          </a:p>
        </p:txBody>
      </p:sp>
      <p:pic>
        <p:nvPicPr>
          <p:cNvPr id="12" name="Рисунок 11"/>
          <p:cNvPicPr/>
          <p:nvPr/>
        </p:nvPicPr>
        <p:blipFill>
          <a:blip r:embed="rId7" cstate="screen">
            <a:extLst>
              <a:ext uri="{28A0092B-C50C-407E-A947-70E740481C1C}">
                <a14:useLocalDpi xmlns:a14="http://schemas.microsoft.com/office/drawing/2010/main"/>
              </a:ext>
            </a:extLst>
          </a:blip>
          <a:stretch>
            <a:fillRect/>
          </a:stretch>
        </p:blipFill>
        <p:spPr>
          <a:xfrm>
            <a:off x="4965935" y="4435447"/>
            <a:ext cx="2021802" cy="1979930"/>
          </a:xfrm>
          <a:prstGeom prst="rect">
            <a:avLst/>
          </a:prstGeom>
        </p:spPr>
      </p:pic>
      <p:sp>
        <p:nvSpPr>
          <p:cNvPr id="13" name="Прямоугольник 12">
            <a:extLst>
              <a:ext uri="{FF2B5EF4-FFF2-40B4-BE49-F238E27FC236}">
                <a16:creationId xmlns:a16="http://schemas.microsoft.com/office/drawing/2014/main" id="{B0E5AE17-1417-5ECA-97F4-41D227A6734C}"/>
              </a:ext>
            </a:extLst>
          </p:cNvPr>
          <p:cNvSpPr/>
          <p:nvPr/>
        </p:nvSpPr>
        <p:spPr>
          <a:xfrm>
            <a:off x="5377292" y="4435446"/>
            <a:ext cx="1610445" cy="5639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4" name="Текст 16">
            <a:extLst>
              <a:ext uri="{FF2B5EF4-FFF2-40B4-BE49-F238E27FC236}">
                <a16:creationId xmlns:a16="http://schemas.microsoft.com/office/drawing/2014/main" id="{4D17250A-797F-5A57-7B8F-D3BFAB7F8561}"/>
              </a:ext>
            </a:extLst>
          </p:cNvPr>
          <p:cNvSpPr txBox="1">
            <a:spLocks/>
          </p:cNvSpPr>
          <p:nvPr/>
        </p:nvSpPr>
        <p:spPr>
          <a:xfrm>
            <a:off x="5477723" y="4608454"/>
            <a:ext cx="1510013" cy="268038"/>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r>
              <a:rPr lang="ru-RU" sz="1600" dirty="0">
                <a:solidFill>
                  <a:schemeClr val="bg1"/>
                </a:solidFill>
              </a:rPr>
              <a:t>Датчик №3</a:t>
            </a:r>
          </a:p>
        </p:txBody>
      </p:sp>
      <p:sp>
        <p:nvSpPr>
          <p:cNvPr id="15" name="Прямоугольник 14">
            <a:extLst>
              <a:ext uri="{FF2B5EF4-FFF2-40B4-BE49-F238E27FC236}">
                <a16:creationId xmlns:a16="http://schemas.microsoft.com/office/drawing/2014/main" id="{B0E5AE17-1417-5ECA-97F4-41D227A6734C}"/>
              </a:ext>
            </a:extLst>
          </p:cNvPr>
          <p:cNvSpPr/>
          <p:nvPr/>
        </p:nvSpPr>
        <p:spPr>
          <a:xfrm>
            <a:off x="429735" y="3469850"/>
            <a:ext cx="2119996" cy="760955"/>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Тензометрический датчик перемещений</a:t>
            </a:r>
          </a:p>
        </p:txBody>
      </p:sp>
      <p:sp>
        <p:nvSpPr>
          <p:cNvPr id="17" name="Текст 16">
            <a:extLst>
              <a:ext uri="{FF2B5EF4-FFF2-40B4-BE49-F238E27FC236}">
                <a16:creationId xmlns:a16="http://schemas.microsoft.com/office/drawing/2014/main" id="{4D17250A-797F-5A57-7B8F-D3BFAB7F8561}"/>
              </a:ext>
            </a:extLst>
          </p:cNvPr>
          <p:cNvSpPr txBox="1">
            <a:spLocks/>
          </p:cNvSpPr>
          <p:nvPr/>
        </p:nvSpPr>
        <p:spPr>
          <a:xfrm>
            <a:off x="2549731" y="979200"/>
            <a:ext cx="1447059" cy="331657"/>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endParaRPr lang="ru-RU" sz="1600" dirty="0">
              <a:solidFill>
                <a:schemeClr val="bg1"/>
              </a:solidFill>
            </a:endParaRPr>
          </a:p>
        </p:txBody>
      </p:sp>
      <p:sp>
        <p:nvSpPr>
          <p:cNvPr id="18" name="Прямоугольник 17">
            <a:extLst>
              <a:ext uri="{FF2B5EF4-FFF2-40B4-BE49-F238E27FC236}">
                <a16:creationId xmlns:a16="http://schemas.microsoft.com/office/drawing/2014/main" id="{B0E5AE17-1417-5ECA-97F4-41D227A6734C}"/>
              </a:ext>
            </a:extLst>
          </p:cNvPr>
          <p:cNvSpPr/>
          <p:nvPr/>
        </p:nvSpPr>
        <p:spPr>
          <a:xfrm>
            <a:off x="4188001" y="2485548"/>
            <a:ext cx="1758664" cy="947541"/>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Измерительный элемент</a:t>
            </a:r>
          </a:p>
        </p:txBody>
      </p:sp>
      <p:sp>
        <p:nvSpPr>
          <p:cNvPr id="19" name="Текст 16">
            <a:extLst>
              <a:ext uri="{FF2B5EF4-FFF2-40B4-BE49-F238E27FC236}">
                <a16:creationId xmlns:a16="http://schemas.microsoft.com/office/drawing/2014/main" id="{4D17250A-797F-5A57-7B8F-D3BFAB7F8561}"/>
              </a:ext>
            </a:extLst>
          </p:cNvPr>
          <p:cNvSpPr txBox="1">
            <a:spLocks/>
          </p:cNvSpPr>
          <p:nvPr/>
        </p:nvSpPr>
        <p:spPr>
          <a:xfrm>
            <a:off x="4188001" y="2432001"/>
            <a:ext cx="1053348" cy="217884"/>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endParaRPr lang="ru-RU" sz="1600" dirty="0">
              <a:solidFill>
                <a:schemeClr val="bg1"/>
              </a:solidFill>
            </a:endParaRPr>
          </a:p>
        </p:txBody>
      </p:sp>
      <p:pic>
        <p:nvPicPr>
          <p:cNvPr id="20" name="Рисунок 19"/>
          <p:cNvPicPr/>
          <p:nvPr/>
        </p:nvPicPr>
        <p:blipFill>
          <a:blip r:embed="rId8" cstate="screen">
            <a:extLst>
              <a:ext uri="{28A0092B-C50C-407E-A947-70E740481C1C}">
                <a14:useLocalDpi xmlns:a14="http://schemas.microsoft.com/office/drawing/2010/main"/>
              </a:ext>
            </a:extLst>
          </a:blip>
          <a:srcRect/>
          <a:stretch>
            <a:fillRect/>
          </a:stretch>
        </p:blipFill>
        <p:spPr bwMode="auto">
          <a:xfrm>
            <a:off x="6896948" y="1380976"/>
            <a:ext cx="4131626" cy="2474903"/>
          </a:xfrm>
          <a:prstGeom prst="rect">
            <a:avLst/>
          </a:prstGeom>
          <a:noFill/>
        </p:spPr>
      </p:pic>
      <p:sp>
        <p:nvSpPr>
          <p:cNvPr id="21" name="Текст 15">
            <a:extLst>
              <a:ext uri="{FF2B5EF4-FFF2-40B4-BE49-F238E27FC236}">
                <a16:creationId xmlns:a16="http://schemas.microsoft.com/office/drawing/2014/main" id="{5B9EA09E-2144-CB9A-4305-8017D55F5483}"/>
              </a:ext>
            </a:extLst>
          </p:cNvPr>
          <p:cNvSpPr txBox="1">
            <a:spLocks/>
          </p:cNvSpPr>
          <p:nvPr/>
        </p:nvSpPr>
        <p:spPr>
          <a:xfrm>
            <a:off x="2667116" y="3910563"/>
            <a:ext cx="6624882" cy="583713"/>
          </a:xfrm>
          <a:prstGeom prst="rect">
            <a:avLst/>
          </a:prstGeom>
        </p:spPr>
        <p:txBody>
          <a:bodyPr vert="horz" lIns="0" tIns="0" rIns="0" bIns="0" rtlCol="0" anchor="ctr" anchorCtr="0">
            <a:noAutofit/>
          </a:bodyPr>
          <a:lstStyle>
            <a:lvl1pPr marL="0" indent="0" algn="ctr" defTabSz="864017" rtl="0" eaLnBrk="1" latinLnBrk="0" hangingPunct="1">
              <a:lnSpc>
                <a:spcPct val="90000"/>
              </a:lnSpc>
              <a:spcBef>
                <a:spcPts val="945"/>
              </a:spcBef>
              <a:buFont typeface="Arial" panose="020B0604020202020204" pitchFamily="34" charset="0"/>
              <a:buNone/>
              <a:defRPr sz="4000" b="1"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r>
              <a:rPr lang="ru-RU" sz="1600" dirty="0">
                <a:solidFill>
                  <a:schemeClr val="accent2">
                    <a:lumMod val="75000"/>
                  </a:schemeClr>
                </a:solidFill>
              </a:rPr>
              <a:t>Установка тензометрических датчиков на трещины в конструкциях здания</a:t>
            </a:r>
            <a:endParaRPr lang="en-US" sz="1600" dirty="0">
              <a:solidFill>
                <a:schemeClr val="accent2">
                  <a:lumMod val="75000"/>
                </a:schemeClr>
              </a:solidFill>
            </a:endParaRPr>
          </a:p>
        </p:txBody>
      </p:sp>
      <p:sp>
        <p:nvSpPr>
          <p:cNvPr id="22" name="Текст 15">
            <a:extLst>
              <a:ext uri="{FF2B5EF4-FFF2-40B4-BE49-F238E27FC236}">
                <a16:creationId xmlns:a16="http://schemas.microsoft.com/office/drawing/2014/main" id="{5B9EA09E-2144-CB9A-4305-8017D55F5483}"/>
              </a:ext>
            </a:extLst>
          </p:cNvPr>
          <p:cNvSpPr txBox="1">
            <a:spLocks/>
          </p:cNvSpPr>
          <p:nvPr/>
        </p:nvSpPr>
        <p:spPr>
          <a:xfrm>
            <a:off x="395993" y="911992"/>
            <a:ext cx="5550672" cy="482159"/>
          </a:xfrm>
          <a:prstGeom prst="rect">
            <a:avLst/>
          </a:prstGeom>
        </p:spPr>
        <p:txBody>
          <a:bodyPr vert="horz" lIns="0" tIns="0" rIns="0" bIns="0" rtlCol="0" anchor="ctr" anchorCtr="0">
            <a:noAutofit/>
          </a:bodyPr>
          <a:lstStyle>
            <a:lvl1pPr marL="0" indent="0" algn="ctr" defTabSz="864017" rtl="0" eaLnBrk="1" latinLnBrk="0" hangingPunct="1">
              <a:lnSpc>
                <a:spcPct val="90000"/>
              </a:lnSpc>
              <a:spcBef>
                <a:spcPts val="945"/>
              </a:spcBef>
              <a:buFont typeface="Arial" panose="020B0604020202020204" pitchFamily="34" charset="0"/>
              <a:buNone/>
              <a:defRPr sz="4000" b="1"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r>
              <a:rPr lang="en-US" sz="1600" dirty="0">
                <a:solidFill>
                  <a:schemeClr val="accent2">
                    <a:lumMod val="75000"/>
                  </a:schemeClr>
                </a:solidFill>
              </a:rPr>
              <a:t> </a:t>
            </a:r>
            <a:r>
              <a:rPr lang="ru-RU" sz="1600" dirty="0">
                <a:solidFill>
                  <a:schemeClr val="accent2">
                    <a:lumMod val="75000"/>
                  </a:schemeClr>
                </a:solidFill>
              </a:rPr>
              <a:t>Изготовленные тензометрические датчики</a:t>
            </a:r>
          </a:p>
        </p:txBody>
      </p:sp>
      <p:sp>
        <p:nvSpPr>
          <p:cNvPr id="25" name="Текст 15">
            <a:extLst>
              <a:ext uri="{FF2B5EF4-FFF2-40B4-BE49-F238E27FC236}">
                <a16:creationId xmlns:a16="http://schemas.microsoft.com/office/drawing/2014/main" id="{5B9EA09E-2144-CB9A-4305-8017D55F5483}"/>
              </a:ext>
            </a:extLst>
          </p:cNvPr>
          <p:cNvSpPr txBox="1">
            <a:spLocks/>
          </p:cNvSpPr>
          <p:nvPr/>
        </p:nvSpPr>
        <p:spPr>
          <a:xfrm>
            <a:off x="7075155" y="901823"/>
            <a:ext cx="3638485" cy="482159"/>
          </a:xfrm>
          <a:prstGeom prst="rect">
            <a:avLst/>
          </a:prstGeom>
        </p:spPr>
        <p:txBody>
          <a:bodyPr vert="horz" lIns="0" tIns="0" rIns="0" bIns="0" rtlCol="0" anchor="ctr" anchorCtr="0">
            <a:noAutofit/>
          </a:bodyPr>
          <a:lstStyle>
            <a:lvl1pPr marL="0" indent="0" algn="ctr" defTabSz="864017" rtl="0" eaLnBrk="1" latinLnBrk="0" hangingPunct="1">
              <a:lnSpc>
                <a:spcPct val="90000"/>
              </a:lnSpc>
              <a:spcBef>
                <a:spcPts val="945"/>
              </a:spcBef>
              <a:buFont typeface="Arial" panose="020B0604020202020204" pitchFamily="34" charset="0"/>
              <a:buNone/>
              <a:defRPr sz="4000" b="1"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r>
              <a:rPr lang="ru-RU" sz="1600" dirty="0">
                <a:solidFill>
                  <a:schemeClr val="accent2">
                    <a:lumMod val="75000"/>
                  </a:schemeClr>
                </a:solidFill>
              </a:rPr>
              <a:t>Калибровка тензометрических датчиков </a:t>
            </a:r>
          </a:p>
        </p:txBody>
      </p:sp>
    </p:spTree>
    <p:extLst>
      <p:ext uri="{BB962C8B-B14F-4D97-AF65-F5344CB8AC3E}">
        <p14:creationId xmlns:p14="http://schemas.microsoft.com/office/powerpoint/2010/main" val="2796958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FC8AFE9-290C-1436-1485-A1B60981EA1C}"/>
              </a:ext>
            </a:extLst>
          </p:cNvPr>
          <p:cNvSpPr>
            <a:spLocks noGrp="1"/>
          </p:cNvSpPr>
          <p:nvPr>
            <p:ph type="sldNum" sz="quarter" idx="4"/>
          </p:nvPr>
        </p:nvSpPr>
        <p:spPr/>
        <p:txBody>
          <a:bodyPr/>
          <a:lstStyle/>
          <a:p>
            <a:r>
              <a:rPr lang="en-US" sz="1600"/>
              <a:t>| </a:t>
            </a:r>
            <a:fld id="{F54BA9F3-CBAA-4DCF-AD2D-5ECAA0BE8875}" type="slidenum">
              <a:rPr lang="ru-RU" sz="1600" smtClean="0"/>
              <a:pPr/>
              <a:t>11</a:t>
            </a:fld>
            <a:endParaRPr lang="ru-RU" sz="1600" dirty="0"/>
          </a:p>
        </p:txBody>
      </p:sp>
      <p:sp>
        <p:nvSpPr>
          <p:cNvPr id="16" name="Текст 11">
            <a:extLst>
              <a:ext uri="{FF2B5EF4-FFF2-40B4-BE49-F238E27FC236}">
                <a16:creationId xmlns:a16="http://schemas.microsoft.com/office/drawing/2014/main" id="{72E298A4-1F10-233F-45B5-CB67BE268BB0}"/>
              </a:ext>
            </a:extLst>
          </p:cNvPr>
          <p:cNvSpPr>
            <a:spLocks noGrp="1"/>
          </p:cNvSpPr>
          <p:nvPr>
            <p:ph type="body" sz="quarter" idx="11"/>
          </p:nvPr>
        </p:nvSpPr>
        <p:spPr>
          <a:xfrm>
            <a:off x="476461" y="0"/>
            <a:ext cx="8981437" cy="360363"/>
          </a:xfrm>
          <a:prstGeom prst="rect">
            <a:avLst/>
          </a:prstGeom>
        </p:spPr>
        <p:txBody>
          <a:bodyPr/>
          <a:lstStyle/>
          <a:p>
            <a:r>
              <a:rPr lang="ru-RU" sz="1600" dirty="0">
                <a:solidFill>
                  <a:schemeClr val="accent2">
                    <a:lumMod val="75000"/>
                  </a:schemeClr>
                </a:solidFill>
              </a:rPr>
              <a:t>ДЕФОРМАЦИОННЫЙ МОНИТОРИНГ ДЕФЕКТОВ В КОНСТРУКЦИЯХ ЗДАНИЯ</a:t>
            </a:r>
          </a:p>
        </p:txBody>
      </p:sp>
      <p:pic>
        <p:nvPicPr>
          <p:cNvPr id="4" name="Рисунок 3"/>
          <p:cNvPicPr/>
          <p:nvPr/>
        </p:nvPicPr>
        <p:blipFill>
          <a:blip r:embed="rId3" cstate="print">
            <a:extLst>
              <a:ext uri="{28A0092B-C50C-407E-A947-70E740481C1C}">
                <a14:useLocalDpi xmlns:a14="http://schemas.microsoft.com/office/drawing/2010/main"/>
              </a:ext>
            </a:extLst>
          </a:blip>
          <a:srcRect/>
          <a:stretch>
            <a:fillRect/>
          </a:stretch>
        </p:blipFill>
        <p:spPr bwMode="auto">
          <a:xfrm>
            <a:off x="5861610" y="743972"/>
            <a:ext cx="4720321" cy="2649271"/>
          </a:xfrm>
          <a:prstGeom prst="rect">
            <a:avLst/>
          </a:prstGeom>
          <a:noFill/>
        </p:spPr>
      </p:pic>
      <p:sp>
        <p:nvSpPr>
          <p:cNvPr id="6" name="Текст 16">
            <a:extLst>
              <a:ext uri="{FF2B5EF4-FFF2-40B4-BE49-F238E27FC236}">
                <a16:creationId xmlns:a16="http://schemas.microsoft.com/office/drawing/2014/main" id="{4D17250A-797F-5A57-7B8F-D3BFAB7F8561}"/>
              </a:ext>
            </a:extLst>
          </p:cNvPr>
          <p:cNvSpPr txBox="1">
            <a:spLocks/>
          </p:cNvSpPr>
          <p:nvPr/>
        </p:nvSpPr>
        <p:spPr>
          <a:xfrm>
            <a:off x="987537" y="1722423"/>
            <a:ext cx="5385149" cy="587836"/>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l">
              <a:lnSpc>
                <a:spcPct val="100000"/>
              </a:lnSpc>
            </a:pPr>
            <a:r>
              <a:rPr lang="ru-RU" sz="1600" dirty="0">
                <a:solidFill>
                  <a:schemeClr val="accent2">
                    <a:lumMod val="75000"/>
                  </a:schemeClr>
                </a:solidFill>
              </a:rPr>
              <a:t>Рост деформаций – закрытие трещин;</a:t>
            </a:r>
          </a:p>
          <a:p>
            <a:pPr algn="l">
              <a:lnSpc>
                <a:spcPct val="100000"/>
              </a:lnSpc>
            </a:pPr>
            <a:r>
              <a:rPr lang="ru-RU" sz="1600" dirty="0">
                <a:solidFill>
                  <a:schemeClr val="accent2">
                    <a:lumMod val="75000"/>
                  </a:schemeClr>
                </a:solidFill>
              </a:rPr>
              <a:t>Снижение деформаций – раскрытие трещин.</a:t>
            </a:r>
          </a:p>
        </p:txBody>
      </p:sp>
      <p:pic>
        <p:nvPicPr>
          <p:cNvPr id="7" name="Рисунок 6"/>
          <p:cNvPicPr/>
          <p:nvPr/>
        </p:nvPicPr>
        <p:blipFill>
          <a:blip r:embed="rId4" cstate="screen">
            <a:extLst>
              <a:ext uri="{28A0092B-C50C-407E-A947-70E740481C1C}">
                <a14:useLocalDpi xmlns:a14="http://schemas.microsoft.com/office/drawing/2010/main"/>
              </a:ext>
            </a:extLst>
          </a:blip>
          <a:srcRect/>
          <a:stretch>
            <a:fillRect/>
          </a:stretch>
        </p:blipFill>
        <p:spPr bwMode="auto">
          <a:xfrm>
            <a:off x="1611059" y="3510282"/>
            <a:ext cx="2808000" cy="1440000"/>
          </a:xfrm>
          <a:prstGeom prst="rect">
            <a:avLst/>
          </a:prstGeom>
          <a:noFill/>
          <a:ln>
            <a:solidFill>
              <a:schemeClr val="tx1"/>
            </a:solidFill>
          </a:ln>
        </p:spPr>
      </p:pic>
      <p:pic>
        <p:nvPicPr>
          <p:cNvPr id="8" name="Рисунок 7"/>
          <p:cNvPicPr/>
          <p:nvPr/>
        </p:nvPicPr>
        <p:blipFill>
          <a:blip r:embed="rId5" cstate="screen">
            <a:extLst>
              <a:ext uri="{28A0092B-C50C-407E-A947-70E740481C1C}">
                <a14:useLocalDpi xmlns:a14="http://schemas.microsoft.com/office/drawing/2010/main"/>
              </a:ext>
            </a:extLst>
          </a:blip>
          <a:srcRect/>
          <a:stretch>
            <a:fillRect/>
          </a:stretch>
        </p:blipFill>
        <p:spPr bwMode="auto">
          <a:xfrm>
            <a:off x="1611059" y="4987423"/>
            <a:ext cx="2808000" cy="1440000"/>
          </a:xfrm>
          <a:prstGeom prst="rect">
            <a:avLst/>
          </a:prstGeom>
          <a:noFill/>
          <a:ln>
            <a:solidFill>
              <a:schemeClr val="tx1"/>
            </a:solidFill>
          </a:ln>
        </p:spPr>
      </p:pic>
      <p:pic>
        <p:nvPicPr>
          <p:cNvPr id="9" name="Рисунок 8"/>
          <p:cNvPicPr/>
          <p:nvPr/>
        </p:nvPicPr>
        <p:blipFill>
          <a:blip r:embed="rId6" cstate="screen">
            <a:extLst>
              <a:ext uri="{28A0092B-C50C-407E-A947-70E740481C1C}">
                <a14:useLocalDpi xmlns:a14="http://schemas.microsoft.com/office/drawing/2010/main"/>
              </a:ext>
            </a:extLst>
          </a:blip>
          <a:srcRect/>
          <a:stretch>
            <a:fillRect/>
          </a:stretch>
        </p:blipFill>
        <p:spPr bwMode="auto">
          <a:xfrm>
            <a:off x="4457610" y="3510282"/>
            <a:ext cx="2808000" cy="1440000"/>
          </a:xfrm>
          <a:prstGeom prst="rect">
            <a:avLst/>
          </a:prstGeom>
          <a:noFill/>
          <a:ln>
            <a:solidFill>
              <a:schemeClr val="tx1"/>
            </a:solidFill>
          </a:ln>
        </p:spPr>
      </p:pic>
      <p:pic>
        <p:nvPicPr>
          <p:cNvPr id="10" name="Рисунок 9"/>
          <p:cNvPicPr/>
          <p:nvPr/>
        </p:nvPicPr>
        <p:blipFill>
          <a:blip r:embed="rId7" cstate="screen">
            <a:extLst>
              <a:ext uri="{28A0092B-C50C-407E-A947-70E740481C1C}">
                <a14:useLocalDpi xmlns:a14="http://schemas.microsoft.com/office/drawing/2010/main"/>
              </a:ext>
            </a:extLst>
          </a:blip>
          <a:srcRect/>
          <a:stretch>
            <a:fillRect/>
          </a:stretch>
        </p:blipFill>
        <p:spPr bwMode="auto">
          <a:xfrm>
            <a:off x="4457610" y="4987423"/>
            <a:ext cx="2808000" cy="1440000"/>
          </a:xfrm>
          <a:prstGeom prst="rect">
            <a:avLst/>
          </a:prstGeom>
          <a:noFill/>
          <a:ln>
            <a:solidFill>
              <a:schemeClr val="tx1"/>
            </a:solidFill>
          </a:ln>
        </p:spPr>
      </p:pic>
      <p:pic>
        <p:nvPicPr>
          <p:cNvPr id="11" name="Рисунок 10"/>
          <p:cNvPicPr/>
          <p:nvPr/>
        </p:nvPicPr>
        <p:blipFill>
          <a:blip r:embed="rId8" cstate="screen">
            <a:extLst>
              <a:ext uri="{28A0092B-C50C-407E-A947-70E740481C1C}">
                <a14:useLocalDpi xmlns:a14="http://schemas.microsoft.com/office/drawing/2010/main"/>
              </a:ext>
            </a:extLst>
          </a:blip>
          <a:srcRect/>
          <a:stretch>
            <a:fillRect/>
          </a:stretch>
        </p:blipFill>
        <p:spPr bwMode="auto">
          <a:xfrm>
            <a:off x="7313039" y="3510282"/>
            <a:ext cx="2808000" cy="1440000"/>
          </a:xfrm>
          <a:prstGeom prst="rect">
            <a:avLst/>
          </a:prstGeom>
          <a:noFill/>
          <a:ln>
            <a:solidFill>
              <a:schemeClr val="tx1"/>
            </a:solidFill>
          </a:ln>
        </p:spPr>
      </p:pic>
      <p:pic>
        <p:nvPicPr>
          <p:cNvPr id="12" name="Рисунок 11"/>
          <p:cNvPicPr/>
          <p:nvPr/>
        </p:nvPicPr>
        <p:blipFill>
          <a:blip r:embed="rId9" cstate="screen">
            <a:extLst>
              <a:ext uri="{28A0092B-C50C-407E-A947-70E740481C1C}">
                <a14:useLocalDpi xmlns:a14="http://schemas.microsoft.com/office/drawing/2010/main"/>
              </a:ext>
            </a:extLst>
          </a:blip>
          <a:srcRect/>
          <a:stretch>
            <a:fillRect/>
          </a:stretch>
        </p:blipFill>
        <p:spPr bwMode="auto">
          <a:xfrm>
            <a:off x="7313039" y="4987423"/>
            <a:ext cx="2808000" cy="1440000"/>
          </a:xfrm>
          <a:prstGeom prst="rect">
            <a:avLst/>
          </a:prstGeom>
          <a:noFill/>
          <a:ln>
            <a:solidFill>
              <a:schemeClr val="tx1"/>
            </a:solidFill>
          </a:ln>
        </p:spPr>
      </p:pic>
      <p:sp>
        <p:nvSpPr>
          <p:cNvPr id="13" name="Прямоугольник 12">
            <a:extLst>
              <a:ext uri="{FF2B5EF4-FFF2-40B4-BE49-F238E27FC236}">
                <a16:creationId xmlns:a16="http://schemas.microsoft.com/office/drawing/2014/main" id="{B0E5AE17-1417-5ECA-97F4-41D227A6734C}"/>
              </a:ext>
            </a:extLst>
          </p:cNvPr>
          <p:cNvSpPr/>
          <p:nvPr/>
        </p:nvSpPr>
        <p:spPr>
          <a:xfrm>
            <a:off x="1611058" y="3510282"/>
            <a:ext cx="2407107" cy="260566"/>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4" name="Текст 16">
            <a:extLst>
              <a:ext uri="{FF2B5EF4-FFF2-40B4-BE49-F238E27FC236}">
                <a16:creationId xmlns:a16="http://schemas.microsoft.com/office/drawing/2014/main" id="{4D17250A-797F-5A57-7B8F-D3BFAB7F8561}"/>
              </a:ext>
            </a:extLst>
          </p:cNvPr>
          <p:cNvSpPr txBox="1">
            <a:spLocks/>
          </p:cNvSpPr>
          <p:nvPr/>
        </p:nvSpPr>
        <p:spPr>
          <a:xfrm>
            <a:off x="1778519" y="3510282"/>
            <a:ext cx="2098820" cy="217884"/>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r>
              <a:rPr lang="ru-RU" sz="1600" dirty="0">
                <a:solidFill>
                  <a:schemeClr val="bg1"/>
                </a:solidFill>
              </a:rPr>
              <a:t>БВР от 25.06.2024</a:t>
            </a:r>
          </a:p>
        </p:txBody>
      </p:sp>
      <p:sp>
        <p:nvSpPr>
          <p:cNvPr id="15" name="Прямоугольник 14">
            <a:extLst>
              <a:ext uri="{FF2B5EF4-FFF2-40B4-BE49-F238E27FC236}">
                <a16:creationId xmlns:a16="http://schemas.microsoft.com/office/drawing/2014/main" id="{B0E5AE17-1417-5ECA-97F4-41D227A6734C}"/>
              </a:ext>
            </a:extLst>
          </p:cNvPr>
          <p:cNvSpPr/>
          <p:nvPr/>
        </p:nvSpPr>
        <p:spPr>
          <a:xfrm>
            <a:off x="4454571" y="3510282"/>
            <a:ext cx="2407107" cy="260566"/>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7" name="Текст 16">
            <a:extLst>
              <a:ext uri="{FF2B5EF4-FFF2-40B4-BE49-F238E27FC236}">
                <a16:creationId xmlns:a16="http://schemas.microsoft.com/office/drawing/2014/main" id="{4D17250A-797F-5A57-7B8F-D3BFAB7F8561}"/>
              </a:ext>
            </a:extLst>
          </p:cNvPr>
          <p:cNvSpPr txBox="1">
            <a:spLocks/>
          </p:cNvSpPr>
          <p:nvPr/>
        </p:nvSpPr>
        <p:spPr>
          <a:xfrm>
            <a:off x="4595397" y="3510282"/>
            <a:ext cx="2065593" cy="150726"/>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r>
              <a:rPr lang="ru-RU" sz="1600" dirty="0">
                <a:solidFill>
                  <a:schemeClr val="bg1"/>
                </a:solidFill>
              </a:rPr>
              <a:t>БВР от 28.06.2024</a:t>
            </a:r>
          </a:p>
        </p:txBody>
      </p:sp>
      <p:sp>
        <p:nvSpPr>
          <p:cNvPr id="18" name="Прямоугольник 17">
            <a:extLst>
              <a:ext uri="{FF2B5EF4-FFF2-40B4-BE49-F238E27FC236}">
                <a16:creationId xmlns:a16="http://schemas.microsoft.com/office/drawing/2014/main" id="{B0E5AE17-1417-5ECA-97F4-41D227A6734C}"/>
              </a:ext>
            </a:extLst>
          </p:cNvPr>
          <p:cNvSpPr/>
          <p:nvPr/>
        </p:nvSpPr>
        <p:spPr>
          <a:xfrm>
            <a:off x="7313039" y="3510281"/>
            <a:ext cx="2239646" cy="255025"/>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9" name="Текст 16">
            <a:extLst>
              <a:ext uri="{FF2B5EF4-FFF2-40B4-BE49-F238E27FC236}">
                <a16:creationId xmlns:a16="http://schemas.microsoft.com/office/drawing/2014/main" id="{4D17250A-797F-5A57-7B8F-D3BFAB7F8561}"/>
              </a:ext>
            </a:extLst>
          </p:cNvPr>
          <p:cNvSpPr txBox="1">
            <a:spLocks/>
          </p:cNvSpPr>
          <p:nvPr/>
        </p:nvSpPr>
        <p:spPr>
          <a:xfrm>
            <a:off x="7453866" y="3510282"/>
            <a:ext cx="1909390" cy="217884"/>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r>
              <a:rPr lang="ru-RU" sz="1600" dirty="0">
                <a:solidFill>
                  <a:schemeClr val="bg1"/>
                </a:solidFill>
              </a:rPr>
              <a:t>БВР от 02.07.2024</a:t>
            </a:r>
          </a:p>
        </p:txBody>
      </p:sp>
      <p:sp>
        <p:nvSpPr>
          <p:cNvPr id="20" name="Текст 15">
            <a:extLst>
              <a:ext uri="{FF2B5EF4-FFF2-40B4-BE49-F238E27FC236}">
                <a16:creationId xmlns:a16="http://schemas.microsoft.com/office/drawing/2014/main" id="{5B9EA09E-2144-CB9A-4305-8017D55F5483}"/>
              </a:ext>
            </a:extLst>
          </p:cNvPr>
          <p:cNvSpPr txBox="1">
            <a:spLocks/>
          </p:cNvSpPr>
          <p:nvPr/>
        </p:nvSpPr>
        <p:spPr>
          <a:xfrm>
            <a:off x="987537" y="951573"/>
            <a:ext cx="4874074" cy="852256"/>
          </a:xfrm>
          <a:prstGeom prst="rect">
            <a:avLst/>
          </a:prstGeom>
        </p:spPr>
        <p:txBody>
          <a:bodyPr vert="horz" lIns="0" tIns="0" rIns="0" bIns="0" rtlCol="0" anchor="ctr" anchorCtr="0">
            <a:noAutofit/>
          </a:bodyPr>
          <a:lstStyle>
            <a:lvl1pPr marL="0" indent="0" algn="ctr" defTabSz="864017" rtl="0" eaLnBrk="1" latinLnBrk="0" hangingPunct="1">
              <a:lnSpc>
                <a:spcPct val="90000"/>
              </a:lnSpc>
              <a:spcBef>
                <a:spcPts val="945"/>
              </a:spcBef>
              <a:buFont typeface="Arial" panose="020B0604020202020204" pitchFamily="34" charset="0"/>
              <a:buNone/>
              <a:defRPr sz="4000" b="1"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l"/>
            <a:r>
              <a:rPr lang="ru-RU" sz="1600" dirty="0">
                <a:solidFill>
                  <a:schemeClr val="accent2">
                    <a:lumMod val="75000"/>
                  </a:schemeClr>
                </a:solidFill>
              </a:rPr>
              <a:t>Изменения ширины</a:t>
            </a:r>
            <a:r>
              <a:rPr lang="en-US" sz="1600" dirty="0">
                <a:solidFill>
                  <a:schemeClr val="accent2">
                    <a:lumMod val="75000"/>
                  </a:schemeClr>
                </a:solidFill>
              </a:rPr>
              <a:t> </a:t>
            </a:r>
            <a:r>
              <a:rPr lang="ru-RU" sz="1600" dirty="0">
                <a:solidFill>
                  <a:schemeClr val="accent2">
                    <a:lumMod val="75000"/>
                  </a:schemeClr>
                </a:solidFill>
              </a:rPr>
              <a:t>раскрытия трещин</a:t>
            </a:r>
            <a:r>
              <a:rPr lang="en-US" sz="1600" dirty="0">
                <a:solidFill>
                  <a:schemeClr val="accent2">
                    <a:lumMod val="75000"/>
                  </a:schemeClr>
                </a:solidFill>
              </a:rPr>
              <a:t> </a:t>
            </a:r>
            <a:r>
              <a:rPr lang="ru-RU" sz="1600" dirty="0">
                <a:solidFill>
                  <a:schemeClr val="accent2">
                    <a:lumMod val="75000"/>
                  </a:schemeClr>
                </a:solidFill>
              </a:rPr>
              <a:t>в конструкциях здания (под влиянием взрывов и погодных условий)</a:t>
            </a:r>
          </a:p>
        </p:txBody>
      </p:sp>
      <p:cxnSp>
        <p:nvCxnSpPr>
          <p:cNvPr id="21" name="Прямая соединительная линия 20">
            <a:extLst>
              <a:ext uri="{FF2B5EF4-FFF2-40B4-BE49-F238E27FC236}">
                <a16:creationId xmlns:a16="http://schemas.microsoft.com/office/drawing/2014/main" id="{C4529EE9-70E5-0BF9-F2F4-D207851D21B1}"/>
              </a:ext>
            </a:extLst>
          </p:cNvPr>
          <p:cNvCxnSpPr>
            <a:cxnSpLocks/>
          </p:cNvCxnSpPr>
          <p:nvPr/>
        </p:nvCxnSpPr>
        <p:spPr>
          <a:xfrm flipV="1">
            <a:off x="6528079" y="887189"/>
            <a:ext cx="1" cy="1106314"/>
          </a:xfrm>
          <a:prstGeom prst="line">
            <a:avLst/>
          </a:prstGeom>
          <a:ln w="57150" cap="rnd">
            <a:solidFill>
              <a:srgbClr val="C00000">
                <a:alpha val="50000"/>
              </a:srgbClr>
            </a:solidFill>
            <a:prstDash val="dash"/>
            <a:round/>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a:extLst>
              <a:ext uri="{FF2B5EF4-FFF2-40B4-BE49-F238E27FC236}">
                <a16:creationId xmlns:a16="http://schemas.microsoft.com/office/drawing/2014/main" id="{C4529EE9-70E5-0BF9-F2F4-D207851D21B1}"/>
              </a:ext>
            </a:extLst>
          </p:cNvPr>
          <p:cNvCxnSpPr>
            <a:cxnSpLocks/>
          </p:cNvCxnSpPr>
          <p:nvPr/>
        </p:nvCxnSpPr>
        <p:spPr>
          <a:xfrm flipV="1">
            <a:off x="8083148" y="1119489"/>
            <a:ext cx="0" cy="874014"/>
          </a:xfrm>
          <a:prstGeom prst="line">
            <a:avLst/>
          </a:prstGeom>
          <a:ln w="57150" cap="rnd">
            <a:solidFill>
              <a:srgbClr val="C00000">
                <a:alpha val="50000"/>
              </a:srgbClr>
            </a:solidFill>
            <a:prstDash val="dash"/>
            <a:round/>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a:extLst>
              <a:ext uri="{FF2B5EF4-FFF2-40B4-BE49-F238E27FC236}">
                <a16:creationId xmlns:a16="http://schemas.microsoft.com/office/drawing/2014/main" id="{C4529EE9-70E5-0BF9-F2F4-D207851D21B1}"/>
              </a:ext>
            </a:extLst>
          </p:cNvPr>
          <p:cNvCxnSpPr>
            <a:cxnSpLocks/>
          </p:cNvCxnSpPr>
          <p:nvPr/>
        </p:nvCxnSpPr>
        <p:spPr>
          <a:xfrm flipV="1">
            <a:off x="10159041" y="1061411"/>
            <a:ext cx="0" cy="888047"/>
          </a:xfrm>
          <a:prstGeom prst="line">
            <a:avLst/>
          </a:prstGeom>
          <a:ln w="57150" cap="rnd">
            <a:solidFill>
              <a:srgbClr val="C00000">
                <a:alpha val="50000"/>
              </a:srgbClr>
            </a:solidFill>
            <a:prstDash val="dash"/>
            <a:round/>
          </a:ln>
        </p:spPr>
        <p:style>
          <a:lnRef idx="1">
            <a:schemeClr val="accent1"/>
          </a:lnRef>
          <a:fillRef idx="0">
            <a:schemeClr val="accent1"/>
          </a:fillRef>
          <a:effectRef idx="0">
            <a:schemeClr val="accent1"/>
          </a:effectRef>
          <a:fontRef idx="minor">
            <a:schemeClr val="tx1"/>
          </a:fontRef>
        </p:style>
      </p:cxnSp>
      <p:sp>
        <p:nvSpPr>
          <p:cNvPr id="24" name="Текст 15">
            <a:extLst>
              <a:ext uri="{FF2B5EF4-FFF2-40B4-BE49-F238E27FC236}">
                <a16:creationId xmlns:a16="http://schemas.microsoft.com/office/drawing/2014/main" id="{5B9EA09E-2144-CB9A-4305-8017D55F5483}"/>
              </a:ext>
            </a:extLst>
          </p:cNvPr>
          <p:cNvSpPr txBox="1">
            <a:spLocks/>
          </p:cNvSpPr>
          <p:nvPr/>
        </p:nvSpPr>
        <p:spPr>
          <a:xfrm>
            <a:off x="1612171" y="2574679"/>
            <a:ext cx="3624806" cy="852256"/>
          </a:xfrm>
          <a:prstGeom prst="rect">
            <a:avLst/>
          </a:prstGeom>
        </p:spPr>
        <p:txBody>
          <a:bodyPr vert="horz" lIns="0" tIns="0" rIns="0" bIns="0" rtlCol="0" anchor="ctr" anchorCtr="0">
            <a:noAutofit/>
          </a:bodyPr>
          <a:lstStyle>
            <a:lvl1pPr marL="0" indent="0" algn="ctr" defTabSz="864017" rtl="0" eaLnBrk="1" latinLnBrk="0" hangingPunct="1">
              <a:lnSpc>
                <a:spcPct val="90000"/>
              </a:lnSpc>
              <a:spcBef>
                <a:spcPts val="945"/>
              </a:spcBef>
              <a:buFont typeface="Arial" panose="020B0604020202020204" pitchFamily="34" charset="0"/>
              <a:buNone/>
              <a:defRPr sz="4000" b="1"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l"/>
            <a:r>
              <a:rPr lang="ru-RU" sz="1600" dirty="0">
                <a:solidFill>
                  <a:schemeClr val="accent2">
                    <a:lumMod val="75000"/>
                  </a:schemeClr>
                </a:solidFill>
              </a:rPr>
              <a:t>Зарегистрированные на фундаменте здания </a:t>
            </a:r>
            <a:r>
              <a:rPr lang="ru-RU" sz="1600" dirty="0" err="1">
                <a:solidFill>
                  <a:schemeClr val="accent2">
                    <a:lumMod val="75000"/>
                  </a:schemeClr>
                </a:solidFill>
              </a:rPr>
              <a:t>велосиграммы</a:t>
            </a:r>
            <a:r>
              <a:rPr lang="ru-RU" sz="1600" dirty="0">
                <a:solidFill>
                  <a:schemeClr val="accent2">
                    <a:lumMod val="75000"/>
                  </a:schemeClr>
                </a:solidFill>
              </a:rPr>
              <a:t> при ведении взрывных работ в карьере</a:t>
            </a:r>
            <a:endParaRPr lang="en-US" sz="1600" dirty="0">
              <a:solidFill>
                <a:schemeClr val="accent2">
                  <a:lumMod val="75000"/>
                </a:schemeClr>
              </a:solidFill>
            </a:endParaRPr>
          </a:p>
        </p:txBody>
      </p:sp>
      <p:sp>
        <p:nvSpPr>
          <p:cNvPr id="28" name="Надпись 3"/>
          <p:cNvSpPr txBox="1"/>
          <p:nvPr/>
        </p:nvSpPr>
        <p:spPr>
          <a:xfrm>
            <a:off x="6454334" y="1016008"/>
            <a:ext cx="333375" cy="933450"/>
          </a:xfrm>
          <a:prstGeom prst="rect">
            <a:avLst/>
          </a:prstGeom>
          <a:noFill/>
          <a:ln w="6350">
            <a:noFill/>
          </a:ln>
        </p:spPr>
        <p:txBody>
          <a:bodyPr rot="0" spcFirstLastPara="0" vert="vert270" wrap="square" lIns="91440" tIns="45720" rIns="91440" bIns="45720" numCol="1" spcCol="0" rtlCol="0" fromWordArt="0" anchor="t" anchorCtr="0" forceAA="0" compatLnSpc="1">
            <a:prstTxWarp prst="textNoShape">
              <a:avLst/>
            </a:prstTxWarp>
            <a:noAutofit/>
          </a:bodyPr>
          <a:lstStyle/>
          <a:p>
            <a:pPr>
              <a:lnSpc>
                <a:spcPct val="107000"/>
              </a:lnSpc>
            </a:pPr>
            <a:r>
              <a:rPr lang="en-US" sz="1600" dirty="0">
                <a:latin typeface="Calibri" panose="020F0502020204030204" pitchFamily="34" charset="0"/>
                <a:ea typeface="Calibri" panose="020F0502020204030204" pitchFamily="34" charset="0"/>
                <a:cs typeface="Tahoma" panose="020B0604030504040204" pitchFamily="34" charset="0"/>
              </a:rPr>
              <a:t>PVS=0,6</a:t>
            </a:r>
            <a:r>
              <a:rPr lang="ru-RU" sz="1600" dirty="0">
                <a:latin typeface="Calibri" panose="020F0502020204030204" pitchFamily="34" charset="0"/>
                <a:ea typeface="Calibri" panose="020F0502020204030204" pitchFamily="34" charset="0"/>
                <a:cs typeface="Tahoma" panose="020B0604030504040204" pitchFamily="34" charset="0"/>
              </a:rPr>
              <a:t>8см/с</a:t>
            </a:r>
          </a:p>
        </p:txBody>
      </p:sp>
      <p:sp>
        <p:nvSpPr>
          <p:cNvPr id="29" name="Надпись 4"/>
          <p:cNvSpPr txBox="1"/>
          <p:nvPr/>
        </p:nvSpPr>
        <p:spPr>
          <a:xfrm>
            <a:off x="7470277" y="1031913"/>
            <a:ext cx="333375" cy="933450"/>
          </a:xfrm>
          <a:prstGeom prst="rect">
            <a:avLst/>
          </a:prstGeom>
          <a:noFill/>
          <a:ln w="6350">
            <a:noFill/>
          </a:ln>
        </p:spPr>
        <p:txBody>
          <a:bodyPr rot="0" spcFirstLastPara="0" vert="vert270" wrap="square" lIns="91440" tIns="45720" rIns="91440" bIns="45720" numCol="1" spcCol="0" rtlCol="0" fromWordArt="0" anchor="t" anchorCtr="0" forceAA="0" compatLnSpc="1">
            <a:prstTxWarp prst="textNoShape">
              <a:avLst/>
            </a:prstTxWarp>
            <a:noAutofit/>
          </a:bodyPr>
          <a:lstStyle/>
          <a:p>
            <a:pPr>
              <a:lnSpc>
                <a:spcPct val="107000"/>
              </a:lnSpc>
            </a:pPr>
            <a:r>
              <a:rPr lang="en-US" sz="1600" dirty="0">
                <a:latin typeface="Calibri" panose="020F0502020204030204" pitchFamily="34" charset="0"/>
                <a:ea typeface="Calibri" panose="020F0502020204030204" pitchFamily="34" charset="0"/>
                <a:cs typeface="Tahoma" panose="020B0604030504040204" pitchFamily="34" charset="0"/>
              </a:rPr>
              <a:t>PVS=1,36</a:t>
            </a:r>
            <a:r>
              <a:rPr lang="ru-RU" sz="1600" dirty="0">
                <a:latin typeface="Calibri" panose="020F0502020204030204" pitchFamily="34" charset="0"/>
                <a:ea typeface="Calibri" panose="020F0502020204030204" pitchFamily="34" charset="0"/>
                <a:cs typeface="Tahoma" panose="020B0604030504040204" pitchFamily="34" charset="0"/>
              </a:rPr>
              <a:t>см/с</a:t>
            </a:r>
          </a:p>
        </p:txBody>
      </p:sp>
      <p:sp>
        <p:nvSpPr>
          <p:cNvPr id="30" name="Надпись 1"/>
          <p:cNvSpPr txBox="1"/>
          <p:nvPr/>
        </p:nvSpPr>
        <p:spPr>
          <a:xfrm>
            <a:off x="9546169" y="1016008"/>
            <a:ext cx="333375" cy="933450"/>
          </a:xfrm>
          <a:prstGeom prst="rect">
            <a:avLst/>
          </a:prstGeom>
          <a:noFill/>
          <a:ln w="6350">
            <a:noFill/>
          </a:ln>
        </p:spPr>
        <p:txBody>
          <a:bodyPr rot="0" spcFirstLastPara="0" vert="vert270" wrap="square" lIns="91440" tIns="45720" rIns="91440" bIns="45720" numCol="1" spcCol="0" rtlCol="0" fromWordArt="0" anchor="t" anchorCtr="0" forceAA="0" compatLnSpc="1">
            <a:prstTxWarp prst="textNoShape">
              <a:avLst/>
            </a:prstTxWarp>
            <a:noAutofit/>
          </a:bodyPr>
          <a:lstStyle/>
          <a:p>
            <a:pPr>
              <a:lnSpc>
                <a:spcPct val="107000"/>
              </a:lnSpc>
            </a:pPr>
            <a:r>
              <a:rPr lang="en-US" sz="1600" dirty="0">
                <a:latin typeface="Calibri" panose="020F0502020204030204" pitchFamily="34" charset="0"/>
                <a:ea typeface="Calibri" panose="020F0502020204030204" pitchFamily="34" charset="0"/>
                <a:cs typeface="Tahoma" panose="020B0604030504040204" pitchFamily="34" charset="0"/>
              </a:rPr>
              <a:t>PVS=1,</a:t>
            </a:r>
            <a:r>
              <a:rPr lang="ru-RU" sz="1600" dirty="0">
                <a:latin typeface="Calibri" panose="020F0502020204030204" pitchFamily="34" charset="0"/>
                <a:ea typeface="Calibri" panose="020F0502020204030204" pitchFamily="34" charset="0"/>
                <a:cs typeface="Tahoma" panose="020B0604030504040204" pitchFamily="34" charset="0"/>
              </a:rPr>
              <a:t>31см/с</a:t>
            </a:r>
          </a:p>
        </p:txBody>
      </p:sp>
    </p:spTree>
    <p:extLst>
      <p:ext uri="{BB962C8B-B14F-4D97-AF65-F5344CB8AC3E}">
        <p14:creationId xmlns:p14="http://schemas.microsoft.com/office/powerpoint/2010/main" val="1086649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FC8AFE9-290C-1436-1485-A1B60981EA1C}"/>
              </a:ext>
            </a:extLst>
          </p:cNvPr>
          <p:cNvSpPr>
            <a:spLocks noGrp="1"/>
          </p:cNvSpPr>
          <p:nvPr>
            <p:ph type="sldNum" sz="quarter" idx="4"/>
          </p:nvPr>
        </p:nvSpPr>
        <p:spPr/>
        <p:txBody>
          <a:bodyPr/>
          <a:lstStyle/>
          <a:p>
            <a:r>
              <a:rPr lang="en-US" sz="1600">
                <a:solidFill>
                  <a:schemeClr val="accent2">
                    <a:lumMod val="75000"/>
                  </a:schemeClr>
                </a:solidFill>
              </a:rPr>
              <a:t>| </a:t>
            </a:r>
            <a:fld id="{F54BA9F3-CBAA-4DCF-AD2D-5ECAA0BE8875}" type="slidenum">
              <a:rPr lang="ru-RU" sz="1600" smtClean="0">
                <a:solidFill>
                  <a:schemeClr val="accent2">
                    <a:lumMod val="75000"/>
                  </a:schemeClr>
                </a:solidFill>
              </a:rPr>
              <a:pPr/>
              <a:t>12</a:t>
            </a:fld>
            <a:endParaRPr lang="ru-RU" sz="1600" dirty="0">
              <a:solidFill>
                <a:schemeClr val="accent2">
                  <a:lumMod val="75000"/>
                </a:schemeClr>
              </a:solidFill>
            </a:endParaRPr>
          </a:p>
        </p:txBody>
      </p:sp>
      <p:sp>
        <p:nvSpPr>
          <p:cNvPr id="16" name="Текст 11">
            <a:extLst>
              <a:ext uri="{FF2B5EF4-FFF2-40B4-BE49-F238E27FC236}">
                <a16:creationId xmlns:a16="http://schemas.microsoft.com/office/drawing/2014/main" id="{72E298A4-1F10-233F-45B5-CB67BE268BB0}"/>
              </a:ext>
            </a:extLst>
          </p:cNvPr>
          <p:cNvSpPr>
            <a:spLocks noGrp="1"/>
          </p:cNvSpPr>
          <p:nvPr>
            <p:ph type="body" sz="quarter" idx="11"/>
          </p:nvPr>
        </p:nvSpPr>
        <p:spPr>
          <a:xfrm>
            <a:off x="476462" y="0"/>
            <a:ext cx="9363574" cy="360363"/>
          </a:xfrm>
          <a:prstGeom prst="rect">
            <a:avLst/>
          </a:prstGeom>
        </p:spPr>
        <p:txBody>
          <a:bodyPr/>
          <a:lstStyle/>
          <a:p>
            <a:r>
              <a:rPr lang="ru-RU" sz="1600" dirty="0">
                <a:solidFill>
                  <a:schemeClr val="accent2">
                    <a:lumMod val="75000"/>
                  </a:schemeClr>
                </a:solidFill>
              </a:rPr>
              <a:t>ВЫСОКОСКОРОСТНАЯ ВИДЕОСЪЕМКА ВЗРЫВАЕМЫХ БЛОКОВ</a:t>
            </a:r>
          </a:p>
        </p:txBody>
      </p:sp>
      <p:pic>
        <p:nvPicPr>
          <p:cNvPr id="4" name="Рисунок 3"/>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846956" y="912774"/>
            <a:ext cx="3246538" cy="2030664"/>
          </a:xfrm>
          <a:prstGeom prst="rect">
            <a:avLst/>
          </a:prstGeom>
        </p:spPr>
      </p:pic>
      <p:sp>
        <p:nvSpPr>
          <p:cNvPr id="5" name="Текст 15">
            <a:extLst>
              <a:ext uri="{FF2B5EF4-FFF2-40B4-BE49-F238E27FC236}">
                <a16:creationId xmlns:a16="http://schemas.microsoft.com/office/drawing/2014/main" id="{5B9EA09E-2144-CB9A-4305-8017D55F5483}"/>
              </a:ext>
            </a:extLst>
          </p:cNvPr>
          <p:cNvSpPr txBox="1">
            <a:spLocks/>
          </p:cNvSpPr>
          <p:nvPr/>
        </p:nvSpPr>
        <p:spPr>
          <a:xfrm>
            <a:off x="1746346" y="968779"/>
            <a:ext cx="2163856" cy="1918653"/>
          </a:xfrm>
          <a:prstGeom prst="rect">
            <a:avLst/>
          </a:prstGeom>
        </p:spPr>
        <p:txBody>
          <a:bodyPr vert="horz" lIns="0" tIns="0" rIns="0" bIns="0" rtlCol="0" anchor="ctr" anchorCtr="0">
            <a:noAutofit/>
          </a:bodyPr>
          <a:lstStyle>
            <a:lvl1pPr marL="0" indent="0" algn="ctr" defTabSz="864017" rtl="0" eaLnBrk="1" latinLnBrk="0" hangingPunct="1">
              <a:lnSpc>
                <a:spcPct val="90000"/>
              </a:lnSpc>
              <a:spcBef>
                <a:spcPts val="945"/>
              </a:spcBef>
              <a:buFont typeface="Arial" panose="020B0604020202020204" pitchFamily="34" charset="0"/>
              <a:buNone/>
              <a:defRPr sz="4000" b="1"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l">
              <a:lnSpc>
                <a:spcPct val="100000"/>
              </a:lnSpc>
              <a:spcBef>
                <a:spcPts val="0"/>
              </a:spcBef>
            </a:pPr>
            <a:r>
              <a:rPr lang="ru-RU" sz="1600" dirty="0">
                <a:solidFill>
                  <a:schemeClr val="accent2">
                    <a:lumMod val="75000"/>
                  </a:schemeClr>
                </a:solidFill>
              </a:rPr>
              <a:t>Высокоскоростная</a:t>
            </a:r>
            <a:br>
              <a:rPr lang="ru-RU" sz="1600" dirty="0">
                <a:solidFill>
                  <a:schemeClr val="accent2">
                    <a:lumMod val="75000"/>
                  </a:schemeClr>
                </a:solidFill>
              </a:rPr>
            </a:br>
            <a:r>
              <a:rPr lang="ru-RU" sz="1600" dirty="0">
                <a:solidFill>
                  <a:schemeClr val="accent2">
                    <a:lumMod val="75000"/>
                  </a:schemeClr>
                </a:solidFill>
              </a:rPr>
              <a:t>камера </a:t>
            </a:r>
            <a:br>
              <a:rPr lang="ru-RU" sz="1600" dirty="0">
                <a:solidFill>
                  <a:schemeClr val="accent2">
                    <a:lumMod val="75000"/>
                  </a:schemeClr>
                </a:solidFill>
              </a:rPr>
            </a:br>
            <a:r>
              <a:rPr lang="ru-RU" sz="1600" dirty="0" err="1">
                <a:solidFill>
                  <a:schemeClr val="accent2">
                    <a:lumMod val="75000"/>
                  </a:schemeClr>
                </a:solidFill>
              </a:rPr>
              <a:t>Phantom</a:t>
            </a:r>
            <a:r>
              <a:rPr lang="ru-RU" sz="1600" dirty="0">
                <a:solidFill>
                  <a:schemeClr val="accent2">
                    <a:lumMod val="75000"/>
                  </a:schemeClr>
                </a:solidFill>
              </a:rPr>
              <a:t> MIRO C320</a:t>
            </a:r>
          </a:p>
          <a:p>
            <a:pPr algn="l">
              <a:lnSpc>
                <a:spcPct val="100000"/>
              </a:lnSpc>
              <a:spcBef>
                <a:spcPts val="0"/>
              </a:spcBef>
            </a:pPr>
            <a:r>
              <a:rPr lang="ru-RU" sz="1600" dirty="0">
                <a:solidFill>
                  <a:schemeClr val="accent2">
                    <a:lumMod val="75000"/>
                  </a:schemeClr>
                </a:solidFill>
              </a:rPr>
              <a:t>(2000 кадров в секунду)</a:t>
            </a:r>
          </a:p>
        </p:txBody>
      </p:sp>
      <p:sp>
        <p:nvSpPr>
          <p:cNvPr id="6" name="Текст 15">
            <a:extLst>
              <a:ext uri="{FF2B5EF4-FFF2-40B4-BE49-F238E27FC236}">
                <a16:creationId xmlns:a16="http://schemas.microsoft.com/office/drawing/2014/main" id="{5B9EA09E-2144-CB9A-4305-8017D55F5483}"/>
              </a:ext>
            </a:extLst>
          </p:cNvPr>
          <p:cNvSpPr txBox="1">
            <a:spLocks/>
          </p:cNvSpPr>
          <p:nvPr/>
        </p:nvSpPr>
        <p:spPr>
          <a:xfrm>
            <a:off x="3810329" y="2832182"/>
            <a:ext cx="6563194" cy="852256"/>
          </a:xfrm>
          <a:prstGeom prst="rect">
            <a:avLst/>
          </a:prstGeom>
        </p:spPr>
        <p:txBody>
          <a:bodyPr vert="horz" lIns="0" tIns="0" rIns="0" bIns="0" rtlCol="0" anchor="ctr" anchorCtr="0">
            <a:noAutofit/>
          </a:bodyPr>
          <a:lstStyle>
            <a:lvl1pPr marL="0" indent="0" algn="ctr" defTabSz="864017" rtl="0" eaLnBrk="1" latinLnBrk="0" hangingPunct="1">
              <a:lnSpc>
                <a:spcPct val="90000"/>
              </a:lnSpc>
              <a:spcBef>
                <a:spcPts val="945"/>
              </a:spcBef>
              <a:buFont typeface="Arial" panose="020B0604020202020204" pitchFamily="34" charset="0"/>
              <a:buNone/>
              <a:defRPr sz="4000" b="1"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l"/>
            <a:r>
              <a:rPr lang="ru-RU" sz="1600" dirty="0">
                <a:solidFill>
                  <a:schemeClr val="accent2">
                    <a:lumMod val="75000"/>
                  </a:schemeClr>
                </a:solidFill>
              </a:rPr>
              <a:t>Анализ работы сети коммутации скважинных зарядов </a:t>
            </a:r>
            <a:endParaRPr lang="en-US" sz="1600" dirty="0">
              <a:solidFill>
                <a:schemeClr val="accent2">
                  <a:lumMod val="75000"/>
                </a:schemeClr>
              </a:solidFill>
            </a:endParaRPr>
          </a:p>
        </p:txBody>
      </p:sp>
      <p:pic>
        <p:nvPicPr>
          <p:cNvPr id="8" name="image5.png"/>
          <p:cNvPicPr/>
          <p:nvPr/>
        </p:nvPicPr>
        <p:blipFill>
          <a:blip r:embed="rId4" cstate="print">
            <a:clrChange>
              <a:clrFrom>
                <a:srgbClr val="F9F9F9"/>
              </a:clrFrom>
              <a:clrTo>
                <a:srgbClr val="F9F9F9">
                  <a:alpha val="0"/>
                </a:srgbClr>
              </a:clrTo>
            </a:clrChange>
            <a:extLst>
              <a:ext uri="{28A0092B-C50C-407E-A947-70E740481C1C}">
                <a14:useLocalDpi xmlns:a14="http://schemas.microsoft.com/office/drawing/2010/main"/>
              </a:ext>
            </a:extLst>
          </a:blip>
          <a:srcRect/>
          <a:stretch>
            <a:fillRect/>
          </a:stretch>
        </p:blipFill>
        <p:spPr>
          <a:xfrm>
            <a:off x="4216795" y="1064917"/>
            <a:ext cx="2394662" cy="1970658"/>
          </a:xfrm>
          <a:prstGeom prst="rect">
            <a:avLst/>
          </a:prstGeom>
          <a:ln/>
        </p:spPr>
      </p:pic>
      <p:pic>
        <p:nvPicPr>
          <p:cNvPr id="9" name="Рисунок 8" descr="F:\1. WORK\Медвежий Ручей 2024г\скоростная_съёмка_24.06-03.07\25.06\25.06-0024.jpg"/>
          <p:cNvPicPr/>
          <p:nvPr/>
        </p:nvPicPr>
        <p:blipFill rotWithShape="1">
          <a:blip r:embed="rId5" cstate="print">
            <a:extLst>
              <a:ext uri="{28A0092B-C50C-407E-A947-70E740481C1C}">
                <a14:useLocalDpi xmlns:a14="http://schemas.microsoft.com/office/drawing/2010/main"/>
              </a:ext>
            </a:extLst>
          </a:blip>
          <a:srcRect/>
          <a:stretch/>
        </p:blipFill>
        <p:spPr bwMode="auto">
          <a:xfrm>
            <a:off x="1746346" y="3536736"/>
            <a:ext cx="4140000" cy="2695051"/>
          </a:xfrm>
          <a:prstGeom prst="rect">
            <a:avLst/>
          </a:prstGeom>
          <a:noFill/>
          <a:ln>
            <a:noFill/>
          </a:ln>
          <a:extLst>
            <a:ext uri="{53640926-AAD7-44D8-BBD7-CCE9431645EC}">
              <a14:shadowObscured xmlns:a14="http://schemas.microsoft.com/office/drawing/2010/main"/>
            </a:ext>
          </a:extLst>
        </p:spPr>
      </p:pic>
      <p:pic>
        <p:nvPicPr>
          <p:cNvPr id="10" name="Рисунок 9" descr="F:\1. WORK\Медвежий Ручей 2024г\скоростная_съёмка_24.06-03.07\25.06\25.06-1132.jpg"/>
          <p:cNvPicPr/>
          <p:nvPr/>
        </p:nvPicPr>
        <p:blipFill rotWithShape="1">
          <a:blip r:embed="rId6" cstate="print">
            <a:extLst>
              <a:ext uri="{28A0092B-C50C-407E-A947-70E740481C1C}">
                <a14:useLocalDpi xmlns:a14="http://schemas.microsoft.com/office/drawing/2010/main"/>
              </a:ext>
            </a:extLst>
          </a:blip>
          <a:srcRect/>
          <a:stretch/>
        </p:blipFill>
        <p:spPr bwMode="auto">
          <a:xfrm>
            <a:off x="5953494" y="3536736"/>
            <a:ext cx="4140000" cy="2695051"/>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1697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FC8AFE9-290C-1436-1485-A1B60981EA1C}"/>
              </a:ext>
            </a:extLst>
          </p:cNvPr>
          <p:cNvSpPr>
            <a:spLocks noGrp="1"/>
          </p:cNvSpPr>
          <p:nvPr>
            <p:ph type="sldNum" sz="quarter" idx="4"/>
          </p:nvPr>
        </p:nvSpPr>
        <p:spPr/>
        <p:txBody>
          <a:bodyPr/>
          <a:lstStyle/>
          <a:p>
            <a:r>
              <a:rPr lang="en-US" sz="1600">
                <a:solidFill>
                  <a:schemeClr val="accent2">
                    <a:lumMod val="75000"/>
                  </a:schemeClr>
                </a:solidFill>
              </a:rPr>
              <a:t>| </a:t>
            </a:r>
            <a:fld id="{F54BA9F3-CBAA-4DCF-AD2D-5ECAA0BE8875}" type="slidenum">
              <a:rPr lang="ru-RU" sz="1600" smtClean="0">
                <a:solidFill>
                  <a:schemeClr val="accent2">
                    <a:lumMod val="75000"/>
                  </a:schemeClr>
                </a:solidFill>
              </a:rPr>
              <a:pPr/>
              <a:t>13</a:t>
            </a:fld>
            <a:endParaRPr lang="ru-RU" sz="1600" dirty="0">
              <a:solidFill>
                <a:schemeClr val="accent2">
                  <a:lumMod val="75000"/>
                </a:schemeClr>
              </a:solidFill>
            </a:endParaRPr>
          </a:p>
        </p:txBody>
      </p:sp>
      <p:sp>
        <p:nvSpPr>
          <p:cNvPr id="16" name="Текст 11">
            <a:extLst>
              <a:ext uri="{FF2B5EF4-FFF2-40B4-BE49-F238E27FC236}">
                <a16:creationId xmlns:a16="http://schemas.microsoft.com/office/drawing/2014/main" id="{72E298A4-1F10-233F-45B5-CB67BE268BB0}"/>
              </a:ext>
            </a:extLst>
          </p:cNvPr>
          <p:cNvSpPr>
            <a:spLocks noGrp="1"/>
          </p:cNvSpPr>
          <p:nvPr>
            <p:ph type="body" sz="quarter" idx="11"/>
          </p:nvPr>
        </p:nvSpPr>
        <p:spPr>
          <a:xfrm>
            <a:off x="476462" y="0"/>
            <a:ext cx="6615464" cy="360363"/>
          </a:xfrm>
          <a:prstGeom prst="rect">
            <a:avLst/>
          </a:prstGeom>
        </p:spPr>
        <p:txBody>
          <a:bodyPr/>
          <a:lstStyle/>
          <a:p>
            <a:r>
              <a:rPr lang="ru-RU" sz="1600" dirty="0">
                <a:solidFill>
                  <a:schemeClr val="accent2">
                    <a:lumMod val="75000"/>
                  </a:schemeClr>
                </a:solidFill>
              </a:rPr>
              <a:t>ВЫСОКОСКОРОСТНАЯ ВИДЕОСЪЕМКА ВЗРЫВАЕМЫХ БЛОКОВ</a:t>
            </a:r>
          </a:p>
        </p:txBody>
      </p:sp>
      <p:sp>
        <p:nvSpPr>
          <p:cNvPr id="4" name="Текст 15">
            <a:extLst>
              <a:ext uri="{FF2B5EF4-FFF2-40B4-BE49-F238E27FC236}">
                <a16:creationId xmlns:a16="http://schemas.microsoft.com/office/drawing/2014/main" id="{5B9EA09E-2144-CB9A-4305-8017D55F5483}"/>
              </a:ext>
            </a:extLst>
          </p:cNvPr>
          <p:cNvSpPr txBox="1">
            <a:spLocks/>
          </p:cNvSpPr>
          <p:nvPr/>
        </p:nvSpPr>
        <p:spPr>
          <a:xfrm>
            <a:off x="4711546" y="1489895"/>
            <a:ext cx="3041750" cy="713618"/>
          </a:xfrm>
          <a:prstGeom prst="rect">
            <a:avLst/>
          </a:prstGeom>
        </p:spPr>
        <p:txBody>
          <a:bodyPr vert="horz" lIns="0" tIns="0" rIns="0" bIns="0" rtlCol="0" anchor="ctr" anchorCtr="0">
            <a:noAutofit/>
          </a:bodyPr>
          <a:lstStyle>
            <a:lvl1pPr marL="0" indent="0" algn="ctr" defTabSz="864017" rtl="0" eaLnBrk="1" latinLnBrk="0" hangingPunct="1">
              <a:lnSpc>
                <a:spcPct val="90000"/>
              </a:lnSpc>
              <a:spcBef>
                <a:spcPts val="945"/>
              </a:spcBef>
              <a:buFont typeface="Arial" panose="020B0604020202020204" pitchFamily="34" charset="0"/>
              <a:buNone/>
              <a:defRPr sz="4000" b="1"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l"/>
            <a:r>
              <a:rPr lang="ru-RU" sz="1600" dirty="0">
                <a:solidFill>
                  <a:schemeClr val="accent2">
                    <a:lumMod val="75000"/>
                  </a:schemeClr>
                </a:solidFill>
              </a:rPr>
              <a:t>Фактическая очередность взрывания скважин блока</a:t>
            </a:r>
          </a:p>
        </p:txBody>
      </p:sp>
      <p:pic>
        <p:nvPicPr>
          <p:cNvPr id="6" name="Рисунок 5" descr="F:\1. WORK\Медвежий Ручей 2024г\скоростная_съёмка_24.06-03.07\28.06-2552.jpg"/>
          <p:cNvPicPr/>
          <p:nvPr/>
        </p:nvPicPr>
        <p:blipFill rotWithShape="1">
          <a:blip r:embed="rId3" cstate="screen">
            <a:extLst>
              <a:ext uri="{28A0092B-C50C-407E-A947-70E740481C1C}">
                <a14:useLocalDpi xmlns:a14="http://schemas.microsoft.com/office/drawing/2010/main"/>
              </a:ext>
            </a:extLst>
          </a:blip>
          <a:srcRect/>
          <a:stretch/>
        </p:blipFill>
        <p:spPr bwMode="auto">
          <a:xfrm>
            <a:off x="7753296" y="892390"/>
            <a:ext cx="3041750" cy="1908628"/>
          </a:xfrm>
          <a:prstGeom prst="rect">
            <a:avLst/>
          </a:prstGeom>
          <a:noFill/>
          <a:ln>
            <a:noFill/>
          </a:ln>
          <a:extLst>
            <a:ext uri="{53640926-AAD7-44D8-BBD7-CCE9431645EC}">
              <a14:shadowObscured xmlns:a14="http://schemas.microsoft.com/office/drawing/2010/main"/>
            </a:ext>
          </a:extLst>
        </p:spPr>
      </p:pic>
      <p:pic>
        <p:nvPicPr>
          <p:cNvPr id="7" name="Рисунок 6"/>
          <p:cNvPicPr/>
          <p:nvPr/>
        </p:nvPicPr>
        <p:blipFill>
          <a:blip r:embed="rId4" cstate="screen">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a:ext>
            </a:extLst>
          </a:blip>
          <a:stretch>
            <a:fillRect/>
          </a:stretch>
        </p:blipFill>
        <p:spPr>
          <a:xfrm>
            <a:off x="655873" y="892390"/>
            <a:ext cx="1507472" cy="1818558"/>
          </a:xfrm>
          <a:prstGeom prst="rect">
            <a:avLst/>
          </a:prstGeom>
        </p:spPr>
      </p:pic>
      <p:sp>
        <p:nvSpPr>
          <p:cNvPr id="8" name="Текст 15">
            <a:extLst>
              <a:ext uri="{FF2B5EF4-FFF2-40B4-BE49-F238E27FC236}">
                <a16:creationId xmlns:a16="http://schemas.microsoft.com/office/drawing/2014/main" id="{5B9EA09E-2144-CB9A-4305-8017D55F5483}"/>
              </a:ext>
            </a:extLst>
          </p:cNvPr>
          <p:cNvSpPr txBox="1">
            <a:spLocks/>
          </p:cNvSpPr>
          <p:nvPr/>
        </p:nvSpPr>
        <p:spPr>
          <a:xfrm>
            <a:off x="2055248" y="918600"/>
            <a:ext cx="3075754" cy="533085"/>
          </a:xfrm>
          <a:prstGeom prst="rect">
            <a:avLst/>
          </a:prstGeom>
        </p:spPr>
        <p:txBody>
          <a:bodyPr vert="horz" lIns="0" tIns="0" rIns="0" bIns="0" rtlCol="0" anchor="ctr" anchorCtr="0">
            <a:noAutofit/>
          </a:bodyPr>
          <a:lstStyle>
            <a:lvl1pPr marL="0" indent="0" algn="ctr" defTabSz="864017" rtl="0" eaLnBrk="1" latinLnBrk="0" hangingPunct="1">
              <a:lnSpc>
                <a:spcPct val="90000"/>
              </a:lnSpc>
              <a:spcBef>
                <a:spcPts val="945"/>
              </a:spcBef>
              <a:buFont typeface="Arial" panose="020B0604020202020204" pitchFamily="34" charset="0"/>
              <a:buNone/>
              <a:defRPr sz="4000" b="1"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l"/>
            <a:r>
              <a:rPr lang="ru-RU" sz="1600" dirty="0">
                <a:solidFill>
                  <a:schemeClr val="accent2">
                    <a:lumMod val="75000"/>
                  </a:schemeClr>
                </a:solidFill>
              </a:rPr>
              <a:t>Схема инициирования скважинных зарядов взрываемого блока</a:t>
            </a:r>
          </a:p>
        </p:txBody>
      </p:sp>
      <p:pic>
        <p:nvPicPr>
          <p:cNvPr id="9" name="Рисунок 8"/>
          <p:cNvPicPr>
            <a:picLocks noChangeAspect="1"/>
          </p:cNvPicPr>
          <p:nvPr/>
        </p:nvPicPr>
        <p:blipFill>
          <a:blip r:embed="rId6"/>
          <a:stretch>
            <a:fillRect/>
          </a:stretch>
        </p:blipFill>
        <p:spPr>
          <a:xfrm>
            <a:off x="1652449" y="3189429"/>
            <a:ext cx="8365238" cy="3191064"/>
          </a:xfrm>
          <a:prstGeom prst="rect">
            <a:avLst/>
          </a:prstGeom>
        </p:spPr>
      </p:pic>
      <p:sp>
        <p:nvSpPr>
          <p:cNvPr id="10" name="Текст 15">
            <a:extLst>
              <a:ext uri="{FF2B5EF4-FFF2-40B4-BE49-F238E27FC236}">
                <a16:creationId xmlns:a16="http://schemas.microsoft.com/office/drawing/2014/main" id="{5B9EA09E-2144-CB9A-4305-8017D55F5483}"/>
              </a:ext>
            </a:extLst>
          </p:cNvPr>
          <p:cNvSpPr txBox="1">
            <a:spLocks/>
          </p:cNvSpPr>
          <p:nvPr/>
        </p:nvSpPr>
        <p:spPr>
          <a:xfrm>
            <a:off x="1908319" y="2931936"/>
            <a:ext cx="7954643" cy="268126"/>
          </a:xfrm>
          <a:prstGeom prst="rect">
            <a:avLst/>
          </a:prstGeom>
          <a:solidFill>
            <a:schemeClr val="bg1"/>
          </a:solidFill>
        </p:spPr>
        <p:txBody>
          <a:bodyPr vert="horz" lIns="0" tIns="0" rIns="0" bIns="0" rtlCol="0" anchor="ctr" anchorCtr="0">
            <a:noAutofit/>
          </a:bodyPr>
          <a:lstStyle>
            <a:lvl1pPr marL="0" indent="0" algn="ctr" defTabSz="864017" rtl="0" eaLnBrk="1" latinLnBrk="0" hangingPunct="1">
              <a:lnSpc>
                <a:spcPct val="90000"/>
              </a:lnSpc>
              <a:spcBef>
                <a:spcPts val="945"/>
              </a:spcBef>
              <a:buFont typeface="Arial" panose="020B0604020202020204" pitchFamily="34" charset="0"/>
              <a:buNone/>
              <a:defRPr sz="4000" b="1"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r>
              <a:rPr lang="ru-RU" sz="1600" dirty="0">
                <a:solidFill>
                  <a:schemeClr val="accent2">
                    <a:lumMod val="75000"/>
                  </a:schemeClr>
                </a:solidFill>
              </a:rPr>
              <a:t>Результаты анализа сети коммутации скважинных зарядов </a:t>
            </a:r>
            <a:endParaRPr lang="en-US" sz="1600" dirty="0">
              <a:solidFill>
                <a:schemeClr val="accent2">
                  <a:lumMod val="75000"/>
                </a:schemeClr>
              </a:solidFill>
            </a:endParaRPr>
          </a:p>
        </p:txBody>
      </p:sp>
    </p:spTree>
    <p:extLst>
      <p:ext uri="{BB962C8B-B14F-4D97-AF65-F5344CB8AC3E}">
        <p14:creationId xmlns:p14="http://schemas.microsoft.com/office/powerpoint/2010/main" val="3872032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FC8AFE9-290C-1436-1485-A1B60981EA1C}"/>
              </a:ext>
            </a:extLst>
          </p:cNvPr>
          <p:cNvSpPr>
            <a:spLocks noGrp="1"/>
          </p:cNvSpPr>
          <p:nvPr>
            <p:ph type="sldNum" sz="quarter" idx="4"/>
          </p:nvPr>
        </p:nvSpPr>
        <p:spPr/>
        <p:txBody>
          <a:bodyPr/>
          <a:lstStyle/>
          <a:p>
            <a:r>
              <a:rPr lang="en-US" sz="1600">
                <a:solidFill>
                  <a:schemeClr val="accent2">
                    <a:lumMod val="75000"/>
                  </a:schemeClr>
                </a:solidFill>
              </a:rPr>
              <a:t>| </a:t>
            </a:r>
            <a:fld id="{F54BA9F3-CBAA-4DCF-AD2D-5ECAA0BE8875}" type="slidenum">
              <a:rPr lang="ru-RU" sz="1600" smtClean="0">
                <a:solidFill>
                  <a:schemeClr val="accent2">
                    <a:lumMod val="75000"/>
                  </a:schemeClr>
                </a:solidFill>
              </a:rPr>
              <a:pPr/>
              <a:t>14</a:t>
            </a:fld>
            <a:endParaRPr lang="ru-RU" sz="1600" dirty="0">
              <a:solidFill>
                <a:schemeClr val="accent2">
                  <a:lumMod val="75000"/>
                </a:schemeClr>
              </a:solidFill>
            </a:endParaRPr>
          </a:p>
        </p:txBody>
      </p:sp>
      <p:sp>
        <p:nvSpPr>
          <p:cNvPr id="16" name="Текст 11">
            <a:extLst>
              <a:ext uri="{FF2B5EF4-FFF2-40B4-BE49-F238E27FC236}">
                <a16:creationId xmlns:a16="http://schemas.microsoft.com/office/drawing/2014/main" id="{72E298A4-1F10-233F-45B5-CB67BE268BB0}"/>
              </a:ext>
            </a:extLst>
          </p:cNvPr>
          <p:cNvSpPr>
            <a:spLocks noGrp="1"/>
          </p:cNvSpPr>
          <p:nvPr>
            <p:ph type="body" sz="quarter" idx="11"/>
          </p:nvPr>
        </p:nvSpPr>
        <p:spPr>
          <a:xfrm>
            <a:off x="476462" y="0"/>
            <a:ext cx="8531060" cy="360363"/>
          </a:xfrm>
          <a:prstGeom prst="rect">
            <a:avLst/>
          </a:prstGeom>
        </p:spPr>
        <p:txBody>
          <a:bodyPr/>
          <a:lstStyle/>
          <a:p>
            <a:r>
              <a:rPr lang="ru-RU" sz="1600" dirty="0">
                <a:solidFill>
                  <a:schemeClr val="accent2">
                    <a:lumMod val="75000"/>
                  </a:schemeClr>
                </a:solidFill>
              </a:rPr>
              <a:t>ИЗМЕРЕНИЯ ВЛИЯНИЯ СЕЙСМИЧЕСКОГО ДЕЙСТВИЯ ВЗРЫВ В БЛИЖНЕЙ ЗОНЕ</a:t>
            </a:r>
          </a:p>
        </p:txBody>
      </p:sp>
      <p:sp>
        <p:nvSpPr>
          <p:cNvPr id="4" name="Текст 15">
            <a:extLst>
              <a:ext uri="{FF2B5EF4-FFF2-40B4-BE49-F238E27FC236}">
                <a16:creationId xmlns:a16="http://schemas.microsoft.com/office/drawing/2014/main" id="{5B9EA09E-2144-CB9A-4305-8017D55F5483}"/>
              </a:ext>
            </a:extLst>
          </p:cNvPr>
          <p:cNvSpPr txBox="1">
            <a:spLocks/>
          </p:cNvSpPr>
          <p:nvPr/>
        </p:nvSpPr>
        <p:spPr>
          <a:xfrm>
            <a:off x="2947916" y="3195512"/>
            <a:ext cx="6747050" cy="364037"/>
          </a:xfrm>
          <a:prstGeom prst="rect">
            <a:avLst/>
          </a:prstGeom>
        </p:spPr>
        <p:txBody>
          <a:bodyPr vert="horz" lIns="0" tIns="0" rIns="0" bIns="0" rtlCol="0" anchor="ctr" anchorCtr="0">
            <a:noAutofit/>
          </a:bodyPr>
          <a:lstStyle>
            <a:lvl1pPr marL="0" indent="0" algn="ctr" defTabSz="864017" rtl="0" eaLnBrk="1" latinLnBrk="0" hangingPunct="1">
              <a:lnSpc>
                <a:spcPct val="90000"/>
              </a:lnSpc>
              <a:spcBef>
                <a:spcPts val="945"/>
              </a:spcBef>
              <a:buFont typeface="Arial" panose="020B0604020202020204" pitchFamily="34" charset="0"/>
              <a:buNone/>
              <a:defRPr sz="4000" b="1"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l"/>
            <a:r>
              <a:rPr lang="ru-RU" sz="1600" dirty="0">
                <a:solidFill>
                  <a:schemeClr val="accent2">
                    <a:lumMod val="75000"/>
                  </a:schemeClr>
                </a:solidFill>
              </a:rPr>
              <a:t>Результаты измерений сейсмического действия взрыва </a:t>
            </a:r>
            <a:endParaRPr lang="en-US" sz="1600" dirty="0">
              <a:solidFill>
                <a:schemeClr val="accent2">
                  <a:lumMod val="75000"/>
                </a:schemeClr>
              </a:solidFill>
            </a:endParaRPr>
          </a:p>
        </p:txBody>
      </p:sp>
      <p:pic>
        <p:nvPicPr>
          <p:cNvPr id="6" name="Рисунок 5"/>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796357" y="991004"/>
            <a:ext cx="2898609" cy="1908840"/>
          </a:xfrm>
          <a:prstGeom prst="rect">
            <a:avLst/>
          </a:prstGeom>
        </p:spPr>
      </p:pic>
      <p:pic>
        <p:nvPicPr>
          <p:cNvPr id="7" name="Рисунок 6"/>
          <p:cNvPicPr/>
          <p:nvPr/>
        </p:nvPicPr>
        <p:blipFill>
          <a:blip r:embed="rId4" cstate="screen">
            <a:extLst>
              <a:ext uri="{28A0092B-C50C-407E-A947-70E740481C1C}">
                <a14:useLocalDpi xmlns:a14="http://schemas.microsoft.com/office/drawing/2010/main"/>
              </a:ext>
            </a:extLst>
          </a:blip>
          <a:stretch>
            <a:fillRect/>
          </a:stretch>
        </p:blipFill>
        <p:spPr>
          <a:xfrm>
            <a:off x="1546138" y="3483693"/>
            <a:ext cx="4021407" cy="2738936"/>
          </a:xfrm>
          <a:prstGeom prst="rect">
            <a:avLst/>
          </a:prstGeom>
        </p:spPr>
      </p:pic>
      <p:pic>
        <p:nvPicPr>
          <p:cNvPr id="8" name="Рисунок 7"/>
          <p:cNvPicPr/>
          <p:nvPr/>
        </p:nvPicPr>
        <p:blipFill>
          <a:blip r:embed="rId5" cstate="screen">
            <a:extLst>
              <a:ext uri="{28A0092B-C50C-407E-A947-70E740481C1C}">
                <a14:useLocalDpi xmlns:a14="http://schemas.microsoft.com/office/drawing/2010/main"/>
              </a:ext>
            </a:extLst>
          </a:blip>
          <a:stretch>
            <a:fillRect/>
          </a:stretch>
        </p:blipFill>
        <p:spPr>
          <a:xfrm>
            <a:off x="5961184" y="3731376"/>
            <a:ext cx="4143882" cy="2324924"/>
          </a:xfrm>
          <a:prstGeom prst="rect">
            <a:avLst/>
          </a:prstGeom>
        </p:spPr>
      </p:pic>
      <p:pic>
        <p:nvPicPr>
          <p:cNvPr id="9" name="Рисунок 8"/>
          <p:cNvPicPr>
            <a:picLocks noChangeAspect="1"/>
          </p:cNvPicPr>
          <p:nvPr/>
        </p:nvPicPr>
        <p:blipFill rotWithShape="1">
          <a:blip r:embed="rId6" cstate="screen">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a:ext>
            </a:extLst>
          </a:blip>
          <a:srcRect/>
          <a:stretch/>
        </p:blipFill>
        <p:spPr>
          <a:xfrm>
            <a:off x="1818275" y="1037827"/>
            <a:ext cx="4093954" cy="1741035"/>
          </a:xfrm>
          <a:prstGeom prst="rect">
            <a:avLst/>
          </a:prstGeom>
        </p:spPr>
      </p:pic>
    </p:spTree>
    <p:extLst>
      <p:ext uri="{BB962C8B-B14F-4D97-AF65-F5344CB8AC3E}">
        <p14:creationId xmlns:p14="http://schemas.microsoft.com/office/powerpoint/2010/main" val="2669338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FC8AFE9-290C-1436-1485-A1B60981EA1C}"/>
              </a:ext>
            </a:extLst>
          </p:cNvPr>
          <p:cNvSpPr>
            <a:spLocks noGrp="1"/>
          </p:cNvSpPr>
          <p:nvPr>
            <p:ph type="sldNum" sz="quarter" idx="4"/>
          </p:nvPr>
        </p:nvSpPr>
        <p:spPr/>
        <p:txBody>
          <a:bodyPr/>
          <a:lstStyle/>
          <a:p>
            <a:r>
              <a:rPr lang="en-US" sz="1600" dirty="0">
                <a:solidFill>
                  <a:schemeClr val="accent2">
                    <a:lumMod val="75000"/>
                  </a:schemeClr>
                </a:solidFill>
              </a:rPr>
              <a:t>| </a:t>
            </a:r>
            <a:fld id="{F54BA9F3-CBAA-4DCF-AD2D-5ECAA0BE8875}" type="slidenum">
              <a:rPr lang="ru-RU" sz="1600" smtClean="0">
                <a:solidFill>
                  <a:schemeClr val="accent2">
                    <a:lumMod val="75000"/>
                  </a:schemeClr>
                </a:solidFill>
              </a:rPr>
              <a:pPr/>
              <a:t>15</a:t>
            </a:fld>
            <a:endParaRPr lang="ru-RU" sz="1600" dirty="0">
              <a:solidFill>
                <a:schemeClr val="accent2">
                  <a:lumMod val="75000"/>
                </a:schemeClr>
              </a:solidFill>
            </a:endParaRPr>
          </a:p>
        </p:txBody>
      </p:sp>
      <p:sp>
        <p:nvSpPr>
          <p:cNvPr id="16" name="Текст 11">
            <a:extLst>
              <a:ext uri="{FF2B5EF4-FFF2-40B4-BE49-F238E27FC236}">
                <a16:creationId xmlns:a16="http://schemas.microsoft.com/office/drawing/2014/main" id="{72E298A4-1F10-233F-45B5-CB67BE268BB0}"/>
              </a:ext>
            </a:extLst>
          </p:cNvPr>
          <p:cNvSpPr>
            <a:spLocks noGrp="1"/>
          </p:cNvSpPr>
          <p:nvPr>
            <p:ph type="body" sz="quarter" idx="11"/>
          </p:nvPr>
        </p:nvSpPr>
        <p:spPr>
          <a:xfrm>
            <a:off x="476461" y="0"/>
            <a:ext cx="8395427" cy="360363"/>
          </a:xfrm>
          <a:prstGeom prst="rect">
            <a:avLst/>
          </a:prstGeom>
        </p:spPr>
        <p:txBody>
          <a:bodyPr/>
          <a:lstStyle/>
          <a:p>
            <a:r>
              <a:rPr lang="ru-RU" sz="1600" dirty="0">
                <a:solidFill>
                  <a:schemeClr val="accent2">
                    <a:lumMod val="75000"/>
                  </a:schemeClr>
                </a:solidFill>
              </a:rPr>
              <a:t>ИЗМЕРЕНИЕ СКОРОСТИ РАСПРОСТРАНЕНИЯ ПРОДОЛЬНОЙ ВОЛНЫ</a:t>
            </a:r>
          </a:p>
        </p:txBody>
      </p:sp>
      <p:sp>
        <p:nvSpPr>
          <p:cNvPr id="4" name="Текст 15">
            <a:extLst>
              <a:ext uri="{FF2B5EF4-FFF2-40B4-BE49-F238E27FC236}">
                <a16:creationId xmlns:a16="http://schemas.microsoft.com/office/drawing/2014/main" id="{5B9EA09E-2144-CB9A-4305-8017D55F5483}"/>
              </a:ext>
            </a:extLst>
          </p:cNvPr>
          <p:cNvSpPr txBox="1">
            <a:spLocks/>
          </p:cNvSpPr>
          <p:nvPr/>
        </p:nvSpPr>
        <p:spPr>
          <a:xfrm>
            <a:off x="6211926" y="827931"/>
            <a:ext cx="4069223" cy="364037"/>
          </a:xfrm>
          <a:prstGeom prst="rect">
            <a:avLst/>
          </a:prstGeom>
        </p:spPr>
        <p:txBody>
          <a:bodyPr vert="horz" lIns="0" tIns="0" rIns="0" bIns="0" rtlCol="0" anchor="ctr" anchorCtr="0">
            <a:noAutofit/>
          </a:bodyPr>
          <a:lstStyle>
            <a:lvl1pPr marL="0" indent="0" algn="ctr" defTabSz="864017" rtl="0" eaLnBrk="1" latinLnBrk="0" hangingPunct="1">
              <a:lnSpc>
                <a:spcPct val="90000"/>
              </a:lnSpc>
              <a:spcBef>
                <a:spcPts val="945"/>
              </a:spcBef>
              <a:buFont typeface="Arial" panose="020B0604020202020204" pitchFamily="34" charset="0"/>
              <a:buNone/>
              <a:defRPr sz="4000" b="1"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r>
              <a:rPr lang="ru-RU" sz="1600" dirty="0">
                <a:solidFill>
                  <a:schemeClr val="accent2">
                    <a:lumMod val="75000"/>
                  </a:schemeClr>
                </a:solidFill>
              </a:rPr>
              <a:t>Допустимая скорость колебаний*</a:t>
            </a:r>
          </a:p>
        </p:txBody>
      </p:sp>
      <p:pic>
        <p:nvPicPr>
          <p:cNvPr id="6" name="Рисунок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571313" y="838859"/>
            <a:ext cx="2407622" cy="3210163"/>
          </a:xfrm>
          <a:prstGeom prst="rect">
            <a:avLst/>
          </a:prstGeom>
        </p:spPr>
      </p:pic>
      <p:pic>
        <p:nvPicPr>
          <p:cNvPr id="7" name="Рисунок 6"/>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3993130" y="838859"/>
            <a:ext cx="1765376" cy="3210163"/>
          </a:xfrm>
          <a:prstGeom prst="rect">
            <a:avLst/>
          </a:prstGeom>
        </p:spPr>
      </p:pic>
      <p:sp>
        <p:nvSpPr>
          <p:cNvPr id="8" name="Прямоугольник 7">
            <a:extLst>
              <a:ext uri="{FF2B5EF4-FFF2-40B4-BE49-F238E27FC236}">
                <a16:creationId xmlns:a16="http://schemas.microsoft.com/office/drawing/2014/main" id="{B0E5AE17-1417-5ECA-97F4-41D227A6734C}"/>
              </a:ext>
            </a:extLst>
          </p:cNvPr>
          <p:cNvSpPr/>
          <p:nvPr/>
        </p:nvSpPr>
        <p:spPr>
          <a:xfrm>
            <a:off x="1571317" y="838855"/>
            <a:ext cx="1690473" cy="78523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solidFill>
                <a:schemeClr val="accent2">
                  <a:lumMod val="75000"/>
                </a:schemeClr>
              </a:solidFill>
            </a:endParaRPr>
          </a:p>
        </p:txBody>
      </p:sp>
      <p:sp>
        <p:nvSpPr>
          <p:cNvPr id="9" name="Текст 16">
            <a:extLst>
              <a:ext uri="{FF2B5EF4-FFF2-40B4-BE49-F238E27FC236}">
                <a16:creationId xmlns:a16="http://schemas.microsoft.com/office/drawing/2014/main" id="{4D17250A-797F-5A57-7B8F-D3BFAB7F8561}"/>
              </a:ext>
            </a:extLst>
          </p:cNvPr>
          <p:cNvSpPr txBox="1">
            <a:spLocks/>
          </p:cNvSpPr>
          <p:nvPr/>
        </p:nvSpPr>
        <p:spPr>
          <a:xfrm>
            <a:off x="1697714" y="928516"/>
            <a:ext cx="1518795" cy="899145"/>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r>
              <a:rPr lang="ru-RU" sz="1600" dirty="0">
                <a:solidFill>
                  <a:schemeClr val="bg1"/>
                </a:solidFill>
              </a:rPr>
              <a:t>Сейсмостанция и датчик №1</a:t>
            </a:r>
          </a:p>
        </p:txBody>
      </p:sp>
      <p:sp>
        <p:nvSpPr>
          <p:cNvPr id="10" name="Прямоугольник 9">
            <a:extLst>
              <a:ext uri="{FF2B5EF4-FFF2-40B4-BE49-F238E27FC236}">
                <a16:creationId xmlns:a16="http://schemas.microsoft.com/office/drawing/2014/main" id="{B0E5AE17-1417-5ECA-97F4-41D227A6734C}"/>
              </a:ext>
            </a:extLst>
          </p:cNvPr>
          <p:cNvSpPr/>
          <p:nvPr/>
        </p:nvSpPr>
        <p:spPr>
          <a:xfrm>
            <a:off x="3993133" y="838854"/>
            <a:ext cx="1610445" cy="563900"/>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solidFill>
                <a:schemeClr val="accent2">
                  <a:lumMod val="75000"/>
                </a:schemeClr>
              </a:solidFill>
            </a:endParaRPr>
          </a:p>
        </p:txBody>
      </p:sp>
      <p:sp>
        <p:nvSpPr>
          <p:cNvPr id="11" name="Текст 16">
            <a:extLst>
              <a:ext uri="{FF2B5EF4-FFF2-40B4-BE49-F238E27FC236}">
                <a16:creationId xmlns:a16="http://schemas.microsoft.com/office/drawing/2014/main" id="{4D17250A-797F-5A57-7B8F-D3BFAB7F8561}"/>
              </a:ext>
            </a:extLst>
          </p:cNvPr>
          <p:cNvSpPr txBox="1">
            <a:spLocks/>
          </p:cNvSpPr>
          <p:nvPr/>
        </p:nvSpPr>
        <p:spPr>
          <a:xfrm>
            <a:off x="4073157" y="1011862"/>
            <a:ext cx="1251259" cy="219607"/>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r>
              <a:rPr lang="ru-RU" sz="1600" dirty="0">
                <a:solidFill>
                  <a:schemeClr val="bg1"/>
                </a:solidFill>
              </a:rPr>
              <a:t>Датчик №2</a:t>
            </a:r>
          </a:p>
        </p:txBody>
      </p:sp>
      <p:cxnSp>
        <p:nvCxnSpPr>
          <p:cNvPr id="12" name="Прямая со стрелкой 11"/>
          <p:cNvCxnSpPr>
            <a:cxnSpLocks/>
            <a:stCxn id="8" idx="3"/>
          </p:cNvCxnSpPr>
          <p:nvPr/>
        </p:nvCxnSpPr>
        <p:spPr>
          <a:xfrm>
            <a:off x="3261790" y="1231470"/>
            <a:ext cx="284189" cy="171289"/>
          </a:xfrm>
          <a:prstGeom prst="straightConnector1">
            <a:avLst/>
          </a:prstGeom>
          <a:ln w="28575">
            <a:solidFill>
              <a:schemeClr val="bg1">
                <a:lumMod val="9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13" name="Прямая со стрелкой 12">
            <a:extLst>
              <a:ext uri="{FF2B5EF4-FFF2-40B4-BE49-F238E27FC236}">
                <a16:creationId xmlns:a16="http://schemas.microsoft.com/office/drawing/2014/main" id="{58322C4C-2C3B-2045-E110-E761DE098578}"/>
              </a:ext>
            </a:extLst>
          </p:cNvPr>
          <p:cNvCxnSpPr>
            <a:cxnSpLocks/>
          </p:cNvCxnSpPr>
          <p:nvPr/>
        </p:nvCxnSpPr>
        <p:spPr>
          <a:xfrm>
            <a:off x="2388358" y="1624085"/>
            <a:ext cx="386771" cy="1615829"/>
          </a:xfrm>
          <a:prstGeom prst="straightConnector1">
            <a:avLst/>
          </a:prstGeom>
          <a:ln w="254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p:cNvCxnSpPr>
            <a:cxnSpLocks/>
          </p:cNvCxnSpPr>
          <p:nvPr/>
        </p:nvCxnSpPr>
        <p:spPr>
          <a:xfrm flipH="1">
            <a:off x="4700877" y="1456815"/>
            <a:ext cx="95103" cy="882201"/>
          </a:xfrm>
          <a:prstGeom prst="straightConnector1">
            <a:avLst/>
          </a:prstGeom>
          <a:ln w="28575">
            <a:solidFill>
              <a:schemeClr val="bg1">
                <a:lumMod val="95000"/>
              </a:schemeClr>
            </a:solidFill>
            <a:tailEnd type="triangle"/>
          </a:ln>
        </p:spPr>
        <p:style>
          <a:lnRef idx="1">
            <a:schemeClr val="accent2"/>
          </a:lnRef>
          <a:fillRef idx="0">
            <a:schemeClr val="accent2"/>
          </a:fillRef>
          <a:effectRef idx="0">
            <a:schemeClr val="accent2"/>
          </a:effectRef>
          <a:fontRef idx="minor">
            <a:schemeClr val="tx1"/>
          </a:fontRef>
        </p:style>
      </p:cxnSp>
      <p:pic>
        <p:nvPicPr>
          <p:cNvPr id="15" name="Рисунок 14"/>
          <p:cNvPicPr/>
          <p:nvPr/>
        </p:nvPicPr>
        <p:blipFill>
          <a:blip r:embed="rId5">
            <a:extLst>
              <a:ext uri="{28A0092B-C50C-407E-A947-70E740481C1C}">
                <a14:useLocalDpi xmlns:a14="http://schemas.microsoft.com/office/drawing/2010/main"/>
              </a:ext>
            </a:extLst>
          </a:blip>
          <a:srcRect/>
          <a:stretch>
            <a:fillRect/>
          </a:stretch>
        </p:blipFill>
        <p:spPr bwMode="auto">
          <a:xfrm>
            <a:off x="6346853" y="1903360"/>
            <a:ext cx="3799371" cy="2203757"/>
          </a:xfrm>
          <a:prstGeom prst="rect">
            <a:avLst/>
          </a:prstGeom>
          <a:noFill/>
          <a:ln>
            <a:noFill/>
          </a:ln>
        </p:spPr>
      </p:pic>
      <mc:AlternateContent xmlns:mc="http://schemas.openxmlformats.org/markup-compatibility/2006">
        <mc:Choice xmlns:a14="http://schemas.microsoft.com/office/drawing/2010/main" Requires="a14">
          <p:sp>
            <p:nvSpPr>
              <p:cNvPr id="17" name="TextBox 16"/>
              <p:cNvSpPr txBox="1"/>
              <p:nvPr/>
            </p:nvSpPr>
            <p:spPr>
              <a:xfrm>
                <a:off x="5916912" y="1120224"/>
                <a:ext cx="4885505" cy="7074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smtClean="0">
                          <a:solidFill>
                            <a:schemeClr val="accent2">
                              <a:lumMod val="75000"/>
                            </a:schemeClr>
                          </a:solidFill>
                          <a:latin typeface="Cambria Math" panose="02040503050406030204" pitchFamily="18" charset="0"/>
                        </a:rPr>
                        <m:t>𝑉</m:t>
                      </m:r>
                      <m:r>
                        <a:rPr lang="ru-RU" sz="1600">
                          <a:solidFill>
                            <a:schemeClr val="accent2">
                              <a:lumMod val="75000"/>
                            </a:schemeClr>
                          </a:solidFill>
                          <a:latin typeface="Cambria Math" panose="02040503050406030204" pitchFamily="18" charset="0"/>
                        </a:rPr>
                        <m:t>=</m:t>
                      </m:r>
                      <m:f>
                        <m:fPr>
                          <m:ctrlPr>
                            <a:rPr lang="ru-RU" sz="1600" i="1">
                              <a:solidFill>
                                <a:schemeClr val="accent2">
                                  <a:lumMod val="75000"/>
                                </a:schemeClr>
                              </a:solidFill>
                              <a:latin typeface="Cambria Math" panose="02040503050406030204" pitchFamily="18" charset="0"/>
                            </a:rPr>
                          </m:ctrlPr>
                        </m:fPr>
                        <m:num>
                          <m:r>
                            <a:rPr lang="ru-RU" sz="1600">
                              <a:solidFill>
                                <a:schemeClr val="accent2">
                                  <a:lumMod val="75000"/>
                                </a:schemeClr>
                              </a:solidFill>
                              <a:latin typeface="Cambria Math" panose="02040503050406030204" pitchFamily="18" charset="0"/>
                            </a:rPr>
                            <m:t>0,375∙</m:t>
                          </m:r>
                          <m:d>
                            <m:dPr>
                              <m:ctrlPr>
                                <a:rPr lang="ru-RU" sz="1600" i="1">
                                  <a:solidFill>
                                    <a:schemeClr val="accent2">
                                      <a:lumMod val="75000"/>
                                    </a:schemeClr>
                                  </a:solidFill>
                                  <a:latin typeface="Cambria Math" panose="02040503050406030204" pitchFamily="18" charset="0"/>
                                </a:rPr>
                              </m:ctrlPr>
                            </m:dPr>
                            <m:e>
                              <m:sSubSup>
                                <m:sSubSupPr>
                                  <m:ctrlPr>
                                    <a:rPr lang="ru-RU" sz="1600" i="1">
                                      <a:solidFill>
                                        <a:schemeClr val="accent2">
                                          <a:lumMod val="75000"/>
                                        </a:schemeClr>
                                      </a:solidFill>
                                      <a:latin typeface="Cambria Math" panose="02040503050406030204" pitchFamily="18" charset="0"/>
                                    </a:rPr>
                                  </m:ctrlPr>
                                </m:sSubSupPr>
                                <m:e>
                                  <m:r>
                                    <a:rPr lang="ru-RU" sz="1600" i="1">
                                      <a:solidFill>
                                        <a:schemeClr val="accent2">
                                          <a:lumMod val="75000"/>
                                        </a:schemeClr>
                                      </a:solidFill>
                                      <a:latin typeface="Cambria Math" panose="02040503050406030204" pitchFamily="18" charset="0"/>
                                    </a:rPr>
                                    <m:t>𝐶</m:t>
                                  </m:r>
                                </m:e>
                                <m:sub>
                                  <m:r>
                                    <a:rPr lang="ru-RU" sz="1600" i="1">
                                      <a:solidFill>
                                        <a:schemeClr val="accent2">
                                          <a:lumMod val="75000"/>
                                        </a:schemeClr>
                                      </a:solidFill>
                                      <a:latin typeface="Cambria Math" panose="02040503050406030204" pitchFamily="18" charset="0"/>
                                    </a:rPr>
                                    <m:t>𝑃</m:t>
                                  </m:r>
                                </m:sub>
                                <m:sup>
                                  <m:r>
                                    <a:rPr lang="ru-RU" sz="1600">
                                      <a:solidFill>
                                        <a:schemeClr val="accent2">
                                          <a:lumMod val="75000"/>
                                        </a:schemeClr>
                                      </a:solidFill>
                                      <a:latin typeface="Cambria Math" panose="02040503050406030204" pitchFamily="18" charset="0"/>
                                    </a:rPr>
                                    <m:t>2</m:t>
                                  </m:r>
                                </m:sup>
                              </m:sSubSup>
                              <m:r>
                                <a:rPr lang="ru-RU" sz="1600" i="1">
                                  <a:solidFill>
                                    <a:schemeClr val="accent2">
                                      <a:lumMod val="75000"/>
                                    </a:schemeClr>
                                  </a:solidFill>
                                  <a:latin typeface="Cambria Math" panose="02040503050406030204" pitchFamily="18" charset="0"/>
                                </a:rPr>
                                <m:t>−</m:t>
                              </m:r>
                              <m:f>
                                <m:fPr>
                                  <m:ctrlPr>
                                    <a:rPr lang="ru-RU" sz="1600" i="1">
                                      <a:solidFill>
                                        <a:schemeClr val="accent2">
                                          <a:lumMod val="75000"/>
                                        </a:schemeClr>
                                      </a:solidFill>
                                      <a:latin typeface="Cambria Math" panose="02040503050406030204" pitchFamily="18" charset="0"/>
                                    </a:rPr>
                                  </m:ctrlPr>
                                </m:fPr>
                                <m:num>
                                  <m:r>
                                    <a:rPr lang="ru-RU" sz="1600">
                                      <a:solidFill>
                                        <a:schemeClr val="accent2">
                                          <a:lumMod val="75000"/>
                                        </a:schemeClr>
                                      </a:solidFill>
                                      <a:latin typeface="Cambria Math" panose="02040503050406030204" pitchFamily="18" charset="0"/>
                                    </a:rPr>
                                    <m:t>4</m:t>
                                  </m:r>
                                </m:num>
                                <m:den>
                                  <m:r>
                                    <a:rPr lang="ru-RU" sz="1600">
                                      <a:solidFill>
                                        <a:schemeClr val="accent2">
                                          <a:lumMod val="75000"/>
                                        </a:schemeClr>
                                      </a:solidFill>
                                      <a:latin typeface="Cambria Math" panose="02040503050406030204" pitchFamily="18" charset="0"/>
                                    </a:rPr>
                                    <m:t>3</m:t>
                                  </m:r>
                                </m:den>
                              </m:f>
                              <m:sSubSup>
                                <m:sSubSupPr>
                                  <m:ctrlPr>
                                    <a:rPr lang="ru-RU" sz="1600" i="1">
                                      <a:solidFill>
                                        <a:schemeClr val="accent2">
                                          <a:lumMod val="75000"/>
                                        </a:schemeClr>
                                      </a:solidFill>
                                      <a:latin typeface="Cambria Math" panose="02040503050406030204" pitchFamily="18" charset="0"/>
                                    </a:rPr>
                                  </m:ctrlPr>
                                </m:sSubSupPr>
                                <m:e>
                                  <m:r>
                                    <a:rPr lang="ru-RU" sz="1600" i="1">
                                      <a:solidFill>
                                        <a:schemeClr val="accent2">
                                          <a:lumMod val="75000"/>
                                        </a:schemeClr>
                                      </a:solidFill>
                                      <a:latin typeface="Cambria Math" panose="02040503050406030204" pitchFamily="18" charset="0"/>
                                    </a:rPr>
                                    <m:t>𝐶</m:t>
                                  </m:r>
                                </m:e>
                                <m:sub>
                                  <m:r>
                                    <a:rPr lang="ru-RU" sz="1600" i="1">
                                      <a:solidFill>
                                        <a:schemeClr val="accent2">
                                          <a:lumMod val="75000"/>
                                        </a:schemeClr>
                                      </a:solidFill>
                                      <a:latin typeface="Cambria Math" panose="02040503050406030204" pitchFamily="18" charset="0"/>
                                    </a:rPr>
                                    <m:t>𝑆</m:t>
                                  </m:r>
                                </m:sub>
                                <m:sup>
                                  <m:r>
                                    <a:rPr lang="ru-RU" sz="1600">
                                      <a:solidFill>
                                        <a:schemeClr val="accent2">
                                          <a:lumMod val="75000"/>
                                        </a:schemeClr>
                                      </a:solidFill>
                                      <a:latin typeface="Cambria Math" panose="02040503050406030204" pitchFamily="18" charset="0"/>
                                    </a:rPr>
                                    <m:t>2</m:t>
                                  </m:r>
                                </m:sup>
                              </m:sSubSup>
                            </m:e>
                          </m:d>
                          <m:d>
                            <m:dPr>
                              <m:begChr m:val="{"/>
                              <m:endChr m:val="}"/>
                              <m:ctrlPr>
                                <a:rPr lang="ru-RU" sz="1600" i="1">
                                  <a:solidFill>
                                    <a:schemeClr val="accent2">
                                      <a:lumMod val="75000"/>
                                    </a:schemeClr>
                                  </a:solidFill>
                                  <a:latin typeface="Cambria Math" panose="02040503050406030204" pitchFamily="18" charset="0"/>
                                </a:rPr>
                              </m:ctrlPr>
                            </m:dPr>
                            <m:e>
                              <m:sSup>
                                <m:sSupPr>
                                  <m:ctrlPr>
                                    <a:rPr lang="ru-RU" sz="1600" i="1">
                                      <a:solidFill>
                                        <a:schemeClr val="accent2">
                                          <a:lumMod val="75000"/>
                                        </a:schemeClr>
                                      </a:solidFill>
                                      <a:latin typeface="Cambria Math" panose="02040503050406030204" pitchFamily="18" charset="0"/>
                                    </a:rPr>
                                  </m:ctrlPr>
                                </m:sSupPr>
                                <m:e>
                                  <m:d>
                                    <m:dPr>
                                      <m:begChr m:val="["/>
                                      <m:endChr m:val="]"/>
                                      <m:ctrlPr>
                                        <a:rPr lang="ru-RU" sz="1600" i="1">
                                          <a:solidFill>
                                            <a:schemeClr val="accent2">
                                              <a:lumMod val="75000"/>
                                            </a:schemeClr>
                                          </a:solidFill>
                                          <a:latin typeface="Cambria Math" panose="02040503050406030204" pitchFamily="18" charset="0"/>
                                        </a:rPr>
                                      </m:ctrlPr>
                                    </m:dPr>
                                    <m:e>
                                      <m:r>
                                        <a:rPr lang="ru-RU" sz="1600">
                                          <a:solidFill>
                                            <a:schemeClr val="accent2">
                                              <a:lumMod val="75000"/>
                                            </a:schemeClr>
                                          </a:solidFill>
                                          <a:latin typeface="Cambria Math" panose="02040503050406030204" pitchFamily="18" charset="0"/>
                                        </a:rPr>
                                        <m:t>1+</m:t>
                                      </m:r>
                                      <m:d>
                                        <m:dPr>
                                          <m:ctrlPr>
                                            <a:rPr lang="ru-RU" sz="1600" i="1">
                                              <a:solidFill>
                                                <a:schemeClr val="accent2">
                                                  <a:lumMod val="75000"/>
                                                </a:schemeClr>
                                              </a:solidFill>
                                              <a:latin typeface="Cambria Math" panose="02040503050406030204" pitchFamily="18" charset="0"/>
                                            </a:rPr>
                                          </m:ctrlPr>
                                        </m:dPr>
                                        <m:e>
                                          <m:r>
                                            <a:rPr lang="ru-RU" sz="1600">
                                              <a:solidFill>
                                                <a:schemeClr val="accent2">
                                                  <a:lumMod val="75000"/>
                                                </a:schemeClr>
                                              </a:solidFill>
                                              <a:latin typeface="Cambria Math" panose="02040503050406030204" pitchFamily="18" charset="0"/>
                                            </a:rPr>
                                            <m:t>1</m:t>
                                          </m:r>
                                          <m:r>
                                            <a:rPr lang="ru-RU" sz="1600" i="1">
                                              <a:solidFill>
                                                <a:schemeClr val="accent2">
                                                  <a:lumMod val="75000"/>
                                                </a:schemeClr>
                                              </a:solidFill>
                                              <a:latin typeface="Cambria Math" panose="02040503050406030204" pitchFamily="18" charset="0"/>
                                            </a:rPr>
                                            <m:t>−</m:t>
                                          </m:r>
                                          <m:r>
                                            <a:rPr lang="ru-RU" sz="1600">
                                              <a:solidFill>
                                                <a:schemeClr val="accent2">
                                                  <a:lumMod val="75000"/>
                                                </a:schemeClr>
                                              </a:solidFill>
                                              <a:latin typeface="Cambria Math" panose="02040503050406030204" pitchFamily="18" charset="0"/>
                                            </a:rPr>
                                            <m:t>2</m:t>
                                          </m:r>
                                          <m:r>
                                            <a:rPr lang="en-US" sz="1600" i="1">
                                              <a:solidFill>
                                                <a:schemeClr val="accent2">
                                                  <a:lumMod val="75000"/>
                                                </a:schemeClr>
                                              </a:solidFill>
                                              <a:latin typeface="Cambria Math" panose="02040503050406030204" pitchFamily="18" charset="0"/>
                                            </a:rPr>
                                            <m:t>𝜈</m:t>
                                          </m:r>
                                        </m:e>
                                      </m:d>
                                      <m:sSub>
                                        <m:sSubPr>
                                          <m:ctrlPr>
                                            <a:rPr lang="ru-RU" sz="1600" i="1">
                                              <a:solidFill>
                                                <a:schemeClr val="accent2">
                                                  <a:lumMod val="75000"/>
                                                </a:schemeClr>
                                              </a:solidFill>
                                              <a:latin typeface="Cambria Math" panose="02040503050406030204" pitchFamily="18" charset="0"/>
                                            </a:rPr>
                                          </m:ctrlPr>
                                        </m:sSubPr>
                                        <m:e>
                                          <m:r>
                                            <a:rPr lang="ru-RU" sz="1600" i="1">
                                              <a:solidFill>
                                                <a:schemeClr val="accent2">
                                                  <a:lumMod val="75000"/>
                                                </a:schemeClr>
                                              </a:solidFill>
                                              <a:latin typeface="Cambria Math" panose="02040503050406030204" pitchFamily="18" charset="0"/>
                                            </a:rPr>
                                            <m:t>𝜀</m:t>
                                          </m:r>
                                        </m:e>
                                        <m:sub>
                                          <m:r>
                                            <a:rPr lang="ru-RU" sz="1600">
                                              <a:solidFill>
                                                <a:schemeClr val="accent2">
                                                  <a:lumMod val="75000"/>
                                                </a:schemeClr>
                                              </a:solidFill>
                                              <a:latin typeface="Cambria Math" panose="02040503050406030204" pitchFamily="18" charset="0"/>
                                            </a:rPr>
                                            <m:t>0</m:t>
                                          </m:r>
                                        </m:sub>
                                      </m:sSub>
                                    </m:e>
                                  </m:d>
                                </m:e>
                                <m:sup>
                                  <m:r>
                                    <a:rPr lang="ru-RU" sz="1600">
                                      <a:solidFill>
                                        <a:schemeClr val="accent2">
                                          <a:lumMod val="75000"/>
                                        </a:schemeClr>
                                      </a:solidFill>
                                      <a:latin typeface="Cambria Math" panose="02040503050406030204" pitchFamily="18" charset="0"/>
                                    </a:rPr>
                                    <m:t>8/3</m:t>
                                  </m:r>
                                </m:sup>
                              </m:sSup>
                              <m:r>
                                <a:rPr lang="ru-RU" sz="1600" i="1">
                                  <a:solidFill>
                                    <a:schemeClr val="accent2">
                                      <a:lumMod val="75000"/>
                                    </a:schemeClr>
                                  </a:solidFill>
                                  <a:latin typeface="Cambria Math" panose="02040503050406030204" pitchFamily="18" charset="0"/>
                                </a:rPr>
                                <m:t>−</m:t>
                              </m:r>
                              <m:r>
                                <a:rPr lang="ru-RU" sz="1600">
                                  <a:solidFill>
                                    <a:schemeClr val="accent2">
                                      <a:lumMod val="75000"/>
                                    </a:schemeClr>
                                  </a:solidFill>
                                  <a:latin typeface="Cambria Math" panose="02040503050406030204" pitchFamily="18" charset="0"/>
                                </a:rPr>
                                <m:t>1</m:t>
                              </m:r>
                            </m:e>
                          </m:d>
                        </m:num>
                        <m:den>
                          <m:sSub>
                            <m:sSubPr>
                              <m:ctrlPr>
                                <a:rPr lang="ru-RU" sz="1600" i="1">
                                  <a:solidFill>
                                    <a:schemeClr val="accent2">
                                      <a:lumMod val="75000"/>
                                    </a:schemeClr>
                                  </a:solidFill>
                                  <a:latin typeface="Cambria Math" panose="02040503050406030204" pitchFamily="18" charset="0"/>
                                </a:rPr>
                              </m:ctrlPr>
                            </m:sSubPr>
                            <m:e>
                              <m:r>
                                <a:rPr lang="ru-RU" sz="1600" i="1">
                                  <a:solidFill>
                                    <a:schemeClr val="accent2">
                                      <a:lumMod val="75000"/>
                                    </a:schemeClr>
                                  </a:solidFill>
                                  <a:latin typeface="Cambria Math" panose="02040503050406030204" pitchFamily="18" charset="0"/>
                                </a:rPr>
                                <m:t>𝐶</m:t>
                              </m:r>
                            </m:e>
                            <m:sub>
                              <m:r>
                                <a:rPr lang="ru-RU" sz="1600" i="1">
                                  <a:solidFill>
                                    <a:schemeClr val="accent2">
                                      <a:lumMod val="75000"/>
                                    </a:schemeClr>
                                  </a:solidFill>
                                  <a:latin typeface="Cambria Math" panose="02040503050406030204" pitchFamily="18" charset="0"/>
                                </a:rPr>
                                <m:t>𝑃</m:t>
                              </m:r>
                            </m:sub>
                          </m:sSub>
                          <m:sSup>
                            <m:sSupPr>
                              <m:ctrlPr>
                                <a:rPr lang="ru-RU" sz="1600" i="1">
                                  <a:solidFill>
                                    <a:schemeClr val="accent2">
                                      <a:lumMod val="75000"/>
                                    </a:schemeClr>
                                  </a:solidFill>
                                  <a:latin typeface="Cambria Math" panose="02040503050406030204" pitchFamily="18" charset="0"/>
                                </a:rPr>
                              </m:ctrlPr>
                            </m:sSupPr>
                            <m:e>
                              <m:d>
                                <m:dPr>
                                  <m:begChr m:val="["/>
                                  <m:endChr m:val="]"/>
                                  <m:ctrlPr>
                                    <a:rPr lang="ru-RU" sz="1600" i="1">
                                      <a:solidFill>
                                        <a:schemeClr val="accent2">
                                          <a:lumMod val="75000"/>
                                        </a:schemeClr>
                                      </a:solidFill>
                                      <a:latin typeface="Cambria Math" panose="02040503050406030204" pitchFamily="18" charset="0"/>
                                    </a:rPr>
                                  </m:ctrlPr>
                                </m:dPr>
                                <m:e>
                                  <m:r>
                                    <a:rPr lang="ru-RU" sz="1600">
                                      <a:solidFill>
                                        <a:schemeClr val="accent2">
                                          <a:lumMod val="75000"/>
                                        </a:schemeClr>
                                      </a:solidFill>
                                      <a:latin typeface="Cambria Math" panose="02040503050406030204" pitchFamily="18" charset="0"/>
                                    </a:rPr>
                                    <m:t>1+</m:t>
                                  </m:r>
                                  <m:d>
                                    <m:dPr>
                                      <m:ctrlPr>
                                        <a:rPr lang="ru-RU" sz="1600" i="1">
                                          <a:solidFill>
                                            <a:schemeClr val="accent2">
                                              <a:lumMod val="75000"/>
                                            </a:schemeClr>
                                          </a:solidFill>
                                          <a:latin typeface="Cambria Math" panose="02040503050406030204" pitchFamily="18" charset="0"/>
                                        </a:rPr>
                                      </m:ctrlPr>
                                    </m:dPr>
                                    <m:e>
                                      <m:r>
                                        <a:rPr lang="ru-RU" sz="1600">
                                          <a:solidFill>
                                            <a:schemeClr val="accent2">
                                              <a:lumMod val="75000"/>
                                            </a:schemeClr>
                                          </a:solidFill>
                                          <a:latin typeface="Cambria Math" panose="02040503050406030204" pitchFamily="18" charset="0"/>
                                        </a:rPr>
                                        <m:t>1</m:t>
                                      </m:r>
                                      <m:r>
                                        <a:rPr lang="ru-RU" sz="1600" i="1">
                                          <a:solidFill>
                                            <a:schemeClr val="accent2">
                                              <a:lumMod val="75000"/>
                                            </a:schemeClr>
                                          </a:solidFill>
                                          <a:latin typeface="Cambria Math" panose="02040503050406030204" pitchFamily="18" charset="0"/>
                                        </a:rPr>
                                        <m:t>−</m:t>
                                      </m:r>
                                      <m:r>
                                        <a:rPr lang="ru-RU" sz="1600">
                                          <a:solidFill>
                                            <a:schemeClr val="accent2">
                                              <a:lumMod val="75000"/>
                                            </a:schemeClr>
                                          </a:solidFill>
                                          <a:latin typeface="Cambria Math" panose="02040503050406030204" pitchFamily="18" charset="0"/>
                                        </a:rPr>
                                        <m:t>2</m:t>
                                      </m:r>
                                      <m:r>
                                        <a:rPr lang="en-US" sz="1600" i="1">
                                          <a:solidFill>
                                            <a:schemeClr val="accent2">
                                              <a:lumMod val="75000"/>
                                            </a:schemeClr>
                                          </a:solidFill>
                                          <a:latin typeface="Cambria Math" panose="02040503050406030204" pitchFamily="18" charset="0"/>
                                        </a:rPr>
                                        <m:t>𝜈</m:t>
                                      </m:r>
                                    </m:e>
                                  </m:d>
                                  <m:sSub>
                                    <m:sSubPr>
                                      <m:ctrlPr>
                                        <a:rPr lang="ru-RU" sz="1600" i="1">
                                          <a:solidFill>
                                            <a:schemeClr val="accent2">
                                              <a:lumMod val="75000"/>
                                            </a:schemeClr>
                                          </a:solidFill>
                                          <a:latin typeface="Cambria Math" panose="02040503050406030204" pitchFamily="18" charset="0"/>
                                        </a:rPr>
                                      </m:ctrlPr>
                                    </m:sSubPr>
                                    <m:e>
                                      <m:r>
                                        <a:rPr lang="ru-RU" sz="1600" i="1">
                                          <a:solidFill>
                                            <a:schemeClr val="accent2">
                                              <a:lumMod val="75000"/>
                                            </a:schemeClr>
                                          </a:solidFill>
                                          <a:latin typeface="Cambria Math" panose="02040503050406030204" pitchFamily="18" charset="0"/>
                                        </a:rPr>
                                        <m:t>𝜀</m:t>
                                      </m:r>
                                    </m:e>
                                    <m:sub>
                                      <m:r>
                                        <a:rPr lang="ru-RU" sz="1600">
                                          <a:solidFill>
                                            <a:schemeClr val="accent2">
                                              <a:lumMod val="75000"/>
                                            </a:schemeClr>
                                          </a:solidFill>
                                          <a:latin typeface="Cambria Math" panose="02040503050406030204" pitchFamily="18" charset="0"/>
                                        </a:rPr>
                                        <m:t>0</m:t>
                                      </m:r>
                                    </m:sub>
                                  </m:sSub>
                                </m:e>
                              </m:d>
                            </m:e>
                            <m:sup>
                              <m:r>
                                <a:rPr lang="ru-RU" sz="1600">
                                  <a:solidFill>
                                    <a:schemeClr val="accent2">
                                      <a:lumMod val="75000"/>
                                    </a:schemeClr>
                                  </a:solidFill>
                                  <a:latin typeface="Cambria Math" panose="02040503050406030204" pitchFamily="18" charset="0"/>
                                </a:rPr>
                                <m:t>4</m:t>
                              </m:r>
                            </m:sup>
                          </m:sSup>
                        </m:den>
                      </m:f>
                      <m:r>
                        <a:rPr lang="ru-RU" sz="1600">
                          <a:solidFill>
                            <a:schemeClr val="accent2">
                              <a:lumMod val="75000"/>
                            </a:schemeClr>
                          </a:solidFill>
                          <a:latin typeface="Cambria Math" panose="02040503050406030204" pitchFamily="18" charset="0"/>
                        </a:rPr>
                        <m:t>∙</m:t>
                      </m:r>
                      <m:sSup>
                        <m:sSupPr>
                          <m:ctrlPr>
                            <a:rPr lang="ru-RU" sz="1600" i="1">
                              <a:solidFill>
                                <a:schemeClr val="accent2">
                                  <a:lumMod val="75000"/>
                                </a:schemeClr>
                              </a:solidFill>
                              <a:latin typeface="Cambria Math" panose="02040503050406030204" pitchFamily="18" charset="0"/>
                            </a:rPr>
                          </m:ctrlPr>
                        </m:sSupPr>
                        <m:e>
                          <m:r>
                            <a:rPr lang="ru-RU" sz="1600">
                              <a:solidFill>
                                <a:schemeClr val="accent2">
                                  <a:lumMod val="75000"/>
                                </a:schemeClr>
                              </a:solidFill>
                              <a:latin typeface="Cambria Math" panose="02040503050406030204" pitchFamily="18" charset="0"/>
                            </a:rPr>
                            <m:t>10</m:t>
                          </m:r>
                        </m:e>
                        <m:sup>
                          <m:r>
                            <a:rPr lang="ru-RU" sz="1600">
                              <a:solidFill>
                                <a:schemeClr val="accent2">
                                  <a:lumMod val="75000"/>
                                </a:schemeClr>
                              </a:solidFill>
                              <a:latin typeface="Cambria Math" panose="02040503050406030204" pitchFamily="18" charset="0"/>
                            </a:rPr>
                            <m:t>2</m:t>
                          </m:r>
                        </m:sup>
                      </m:sSup>
                    </m:oMath>
                  </m:oMathPara>
                </a14:m>
                <a:endParaRPr lang="ru-RU" sz="1600" dirty="0">
                  <a:solidFill>
                    <a:schemeClr val="accent2">
                      <a:lumMod val="75000"/>
                    </a:schemeClr>
                  </a:solidFill>
                </a:endParaRPr>
              </a:p>
            </p:txBody>
          </p:sp>
        </mc:Choice>
        <mc:Fallback>
          <p:sp>
            <p:nvSpPr>
              <p:cNvPr id="17" name="TextBox 16"/>
              <p:cNvSpPr txBox="1">
                <a:spLocks noRot="1" noChangeAspect="1" noMove="1" noResize="1" noEditPoints="1" noAdjustHandles="1" noChangeArrowheads="1" noChangeShapeType="1" noTextEdit="1"/>
              </p:cNvSpPr>
              <p:nvPr/>
            </p:nvSpPr>
            <p:spPr>
              <a:xfrm>
                <a:off x="5916912" y="1120224"/>
                <a:ext cx="4885505" cy="707438"/>
              </a:xfrm>
              <a:prstGeom prst="rect">
                <a:avLst/>
              </a:prstGeom>
              <a:blipFill>
                <a:blip r:embed="rId6"/>
                <a:stretch>
                  <a:fillRect/>
                </a:stretch>
              </a:blipFill>
            </p:spPr>
            <p:txBody>
              <a:bodyPr/>
              <a:lstStyle/>
              <a:p>
                <a:r>
                  <a:rPr lang="ru-RU">
                    <a:noFill/>
                  </a:rPr>
                  <a:t> </a:t>
                </a:r>
              </a:p>
            </p:txBody>
          </p:sp>
        </mc:Fallback>
      </mc:AlternateContent>
      <p:graphicFrame>
        <p:nvGraphicFramePr>
          <p:cNvPr id="18" name="Таблица 17"/>
          <p:cNvGraphicFramePr>
            <a:graphicFrameLocks noGrp="1"/>
          </p:cNvGraphicFramePr>
          <p:nvPr>
            <p:extLst>
              <p:ext uri="{D42A27DB-BD31-4B8C-83A1-F6EECF244321}">
                <p14:modId xmlns:p14="http://schemas.microsoft.com/office/powerpoint/2010/main" val="1647882855"/>
              </p:ext>
            </p:extLst>
          </p:nvPr>
        </p:nvGraphicFramePr>
        <p:xfrm>
          <a:off x="709684" y="4239534"/>
          <a:ext cx="10085694" cy="1920240"/>
        </p:xfrm>
        <a:graphic>
          <a:graphicData uri="http://schemas.openxmlformats.org/drawingml/2006/table">
            <a:tbl>
              <a:tblPr>
                <a:tableStyleId>{2D5ABB26-0587-4C30-8999-92F81FD0307C}</a:tableStyleId>
              </a:tblPr>
              <a:tblGrid>
                <a:gridCol w="709683">
                  <a:extLst>
                    <a:ext uri="{9D8B030D-6E8A-4147-A177-3AD203B41FA5}">
                      <a16:colId xmlns:a16="http://schemas.microsoft.com/office/drawing/2014/main" val="2718333315"/>
                    </a:ext>
                  </a:extLst>
                </a:gridCol>
                <a:gridCol w="8020748">
                  <a:extLst>
                    <a:ext uri="{9D8B030D-6E8A-4147-A177-3AD203B41FA5}">
                      <a16:colId xmlns:a16="http://schemas.microsoft.com/office/drawing/2014/main" val="1471190335"/>
                    </a:ext>
                  </a:extLst>
                </a:gridCol>
                <a:gridCol w="1355263">
                  <a:extLst>
                    <a:ext uri="{9D8B030D-6E8A-4147-A177-3AD203B41FA5}">
                      <a16:colId xmlns:a16="http://schemas.microsoft.com/office/drawing/2014/main" val="973384326"/>
                    </a:ext>
                  </a:extLst>
                </a:gridCol>
              </a:tblGrid>
              <a:tr h="551952">
                <a:tc>
                  <a:txBody>
                    <a:bodyPr/>
                    <a:lstStyle/>
                    <a:p>
                      <a:pPr marL="0" algn="ctr" defTabSz="457200" rtl="0" eaLnBrk="1" latinLnBrk="0" hangingPunct="1">
                        <a:spcAft>
                          <a:spcPts val="0"/>
                        </a:spcAft>
                      </a:pPr>
                      <a:r>
                        <a:rPr lang="ru-RU" sz="1400" kern="1200" dirty="0">
                          <a:solidFill>
                            <a:schemeClr val="accent2">
                              <a:lumMod val="75000"/>
                            </a:schemeClr>
                          </a:solidFill>
                          <a:effectLst/>
                        </a:rPr>
                        <a:t>Класс </a:t>
                      </a:r>
                      <a:r>
                        <a:rPr lang="ru-RU" sz="1400" kern="1200" dirty="0" err="1">
                          <a:solidFill>
                            <a:schemeClr val="accent2">
                              <a:lumMod val="75000"/>
                            </a:schemeClr>
                          </a:solidFill>
                          <a:effectLst/>
                        </a:rPr>
                        <a:t>соор</a:t>
                      </a:r>
                      <a:r>
                        <a:rPr lang="ru-RU" sz="1400" kern="1200" dirty="0">
                          <a:solidFill>
                            <a:schemeClr val="accent2">
                              <a:lumMod val="75000"/>
                            </a:schemeClr>
                          </a:solidFill>
                          <a:effectLst/>
                        </a:rPr>
                        <a:t>-й</a:t>
                      </a:r>
                      <a:endParaRPr lang="ru-RU" sz="1400" kern="1200" dirty="0">
                        <a:solidFill>
                          <a:schemeClr val="accent2">
                            <a:lumMod val="75000"/>
                          </a:schemeClr>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algn="ctr" defTabSz="457200" rtl="0" eaLnBrk="1" latinLnBrk="0" hangingPunct="1">
                        <a:spcAft>
                          <a:spcPts val="0"/>
                        </a:spcAft>
                      </a:pPr>
                      <a:r>
                        <a:rPr lang="ru-RU" sz="1400" kern="1200" dirty="0">
                          <a:solidFill>
                            <a:schemeClr val="accent2">
                              <a:lumMod val="75000"/>
                            </a:schemeClr>
                          </a:solidFill>
                          <a:effectLst/>
                        </a:rPr>
                        <a:t>Характеристика сооружений, срок их эксплуатации</a:t>
                      </a:r>
                      <a:endParaRPr lang="ru-RU" sz="1400" kern="1200" dirty="0">
                        <a:solidFill>
                          <a:schemeClr val="accent2">
                            <a:lumMod val="75000"/>
                          </a:schemeClr>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algn="ctr" defTabSz="457200" rtl="0" eaLnBrk="1" latinLnBrk="0" hangingPunct="1">
                        <a:spcAft>
                          <a:spcPts val="0"/>
                        </a:spcAft>
                      </a:pPr>
                      <a:r>
                        <a:rPr lang="ru-RU" sz="1400" kern="1200" dirty="0">
                          <a:solidFill>
                            <a:schemeClr val="accent2">
                              <a:lumMod val="75000"/>
                            </a:schemeClr>
                          </a:solidFill>
                          <a:effectLst/>
                        </a:rPr>
                        <a:t>Допустимая упр. </a:t>
                      </a:r>
                      <a:r>
                        <a:rPr lang="ru-RU" sz="1400" kern="1200" dirty="0" err="1">
                          <a:solidFill>
                            <a:schemeClr val="accent2">
                              <a:lumMod val="75000"/>
                            </a:schemeClr>
                          </a:solidFill>
                          <a:effectLst/>
                        </a:rPr>
                        <a:t>отн</a:t>
                      </a:r>
                      <a:r>
                        <a:rPr lang="ru-RU" sz="1400" kern="1200" dirty="0">
                          <a:solidFill>
                            <a:schemeClr val="accent2">
                              <a:lumMod val="75000"/>
                            </a:schemeClr>
                          </a:solidFill>
                          <a:effectLst/>
                        </a:rPr>
                        <a:t>. деформация*</a:t>
                      </a:r>
                      <a:endParaRPr lang="ru-RU" sz="1400" kern="1200" dirty="0">
                        <a:solidFill>
                          <a:schemeClr val="accent2">
                            <a:lumMod val="75000"/>
                          </a:schemeClr>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516878399"/>
                  </a:ext>
                </a:extLst>
              </a:tr>
              <a:tr h="367968">
                <a:tc>
                  <a:txBody>
                    <a:bodyPr/>
                    <a:lstStyle/>
                    <a:p>
                      <a:pPr marL="0" algn="ctr" defTabSz="457200" rtl="0" eaLnBrk="1" latinLnBrk="0" hangingPunct="1">
                        <a:spcAft>
                          <a:spcPts val="0"/>
                        </a:spcAft>
                      </a:pPr>
                      <a:r>
                        <a:rPr lang="en-US" sz="1400" kern="1200" dirty="0">
                          <a:solidFill>
                            <a:schemeClr val="accent2">
                              <a:lumMod val="75000"/>
                            </a:schemeClr>
                          </a:solidFill>
                          <a:effectLst/>
                        </a:rPr>
                        <a:t>I</a:t>
                      </a:r>
                      <a:endParaRPr lang="ru-RU" sz="1400" kern="1200" dirty="0">
                        <a:solidFill>
                          <a:schemeClr val="accent2">
                            <a:lumMod val="75000"/>
                          </a:schemeClr>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457200" rtl="0" eaLnBrk="1" latinLnBrk="0" hangingPunct="1">
                        <a:spcAft>
                          <a:spcPts val="0"/>
                        </a:spcAft>
                      </a:pPr>
                      <a:r>
                        <a:rPr lang="ru-RU" sz="1400" kern="1200" dirty="0">
                          <a:solidFill>
                            <a:schemeClr val="accent2">
                              <a:lumMod val="75000"/>
                            </a:schemeClr>
                          </a:solidFill>
                          <a:effectLst/>
                        </a:rPr>
                        <a:t>Особо ответственные сооружения длительного срока эксплуатации (более 10 – 15 лет): стволы шахт, капитальные штольни, камеры дробления, водоотлива, околоствольные дворы</a:t>
                      </a:r>
                      <a:endParaRPr lang="ru-RU" sz="1400" kern="1200" dirty="0">
                        <a:solidFill>
                          <a:schemeClr val="accent2">
                            <a:lumMod val="75000"/>
                          </a:schemeClr>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457200" rtl="0" eaLnBrk="1" latinLnBrk="0" hangingPunct="1">
                        <a:spcAft>
                          <a:spcPts val="0"/>
                        </a:spcAft>
                      </a:pPr>
                      <a:r>
                        <a:rPr lang="en-US" sz="1400" kern="1200" dirty="0">
                          <a:solidFill>
                            <a:schemeClr val="accent2">
                              <a:lumMod val="75000"/>
                            </a:schemeClr>
                          </a:solidFill>
                          <a:effectLst/>
                        </a:rPr>
                        <a:t>0,0001</a:t>
                      </a:r>
                      <a:endParaRPr lang="ru-RU" sz="1400" kern="1200" dirty="0">
                        <a:solidFill>
                          <a:schemeClr val="accent2">
                            <a:lumMod val="75000"/>
                          </a:schemeClr>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3497749"/>
                  </a:ext>
                </a:extLst>
              </a:tr>
              <a:tr h="367968">
                <a:tc>
                  <a:txBody>
                    <a:bodyPr/>
                    <a:lstStyle/>
                    <a:p>
                      <a:pPr marL="0" algn="ctr" defTabSz="457200" rtl="0" eaLnBrk="1" latinLnBrk="0" hangingPunct="1">
                        <a:spcAft>
                          <a:spcPts val="0"/>
                        </a:spcAft>
                      </a:pPr>
                      <a:r>
                        <a:rPr lang="en-US" sz="1400" kern="1200" dirty="0">
                          <a:solidFill>
                            <a:schemeClr val="accent2">
                              <a:lumMod val="75000"/>
                            </a:schemeClr>
                          </a:solidFill>
                          <a:effectLst/>
                        </a:rPr>
                        <a:t>II</a:t>
                      </a:r>
                      <a:endParaRPr lang="ru-RU" sz="1400" kern="1200" dirty="0">
                        <a:solidFill>
                          <a:schemeClr val="accent2">
                            <a:lumMod val="75000"/>
                          </a:schemeClr>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algn="ctr" defTabSz="457200" rtl="0" eaLnBrk="1" latinLnBrk="0" hangingPunct="1">
                        <a:spcAft>
                          <a:spcPts val="0"/>
                        </a:spcAft>
                      </a:pPr>
                      <a:r>
                        <a:rPr lang="ru-RU" sz="1400" kern="1200" dirty="0">
                          <a:solidFill>
                            <a:schemeClr val="accent2">
                              <a:lumMod val="75000"/>
                            </a:schemeClr>
                          </a:solidFill>
                          <a:effectLst/>
                        </a:rPr>
                        <a:t>Ответственные сооружения со сроком эксплуатации более 5 - 10 лет: </a:t>
                      </a:r>
                      <a:r>
                        <a:rPr lang="ru-RU" sz="1400" kern="1200" dirty="0" err="1">
                          <a:solidFill>
                            <a:schemeClr val="accent2">
                              <a:lumMod val="75000"/>
                            </a:schemeClr>
                          </a:solidFill>
                          <a:effectLst/>
                        </a:rPr>
                        <a:t>надкамерные</a:t>
                      </a:r>
                      <a:r>
                        <a:rPr lang="ru-RU" sz="1400" kern="1200" dirty="0">
                          <a:solidFill>
                            <a:schemeClr val="accent2">
                              <a:lumMod val="75000"/>
                            </a:schemeClr>
                          </a:solidFill>
                          <a:effectLst/>
                        </a:rPr>
                        <a:t> целики, квершлаги, уступы карьеров, отвалов</a:t>
                      </a:r>
                      <a:endParaRPr lang="ru-RU" sz="1400" kern="1200" dirty="0">
                        <a:solidFill>
                          <a:schemeClr val="accent2">
                            <a:lumMod val="75000"/>
                          </a:schemeClr>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algn="ctr" defTabSz="457200" rtl="0" eaLnBrk="1" latinLnBrk="0" hangingPunct="1">
                        <a:spcAft>
                          <a:spcPts val="0"/>
                        </a:spcAft>
                      </a:pPr>
                      <a:r>
                        <a:rPr lang="en-US" sz="1400" kern="1200" dirty="0">
                          <a:solidFill>
                            <a:schemeClr val="accent2">
                              <a:lumMod val="75000"/>
                            </a:schemeClr>
                          </a:solidFill>
                          <a:effectLst/>
                        </a:rPr>
                        <a:t>0,0002</a:t>
                      </a:r>
                      <a:endParaRPr lang="ru-RU" sz="1400" kern="1200" dirty="0">
                        <a:solidFill>
                          <a:schemeClr val="accent2">
                            <a:lumMod val="75000"/>
                          </a:schemeClr>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399830838"/>
                  </a:ext>
                </a:extLst>
              </a:tr>
              <a:tr h="183984">
                <a:tc>
                  <a:txBody>
                    <a:bodyPr/>
                    <a:lstStyle/>
                    <a:p>
                      <a:pPr marL="0" algn="ctr" defTabSz="457200" rtl="0" eaLnBrk="1" latinLnBrk="0" hangingPunct="1">
                        <a:spcAft>
                          <a:spcPts val="0"/>
                        </a:spcAft>
                      </a:pPr>
                      <a:r>
                        <a:rPr lang="en-US" sz="1400" kern="1200" dirty="0">
                          <a:solidFill>
                            <a:schemeClr val="accent2">
                              <a:lumMod val="75000"/>
                            </a:schemeClr>
                          </a:solidFill>
                          <a:effectLst/>
                        </a:rPr>
                        <a:t>III</a:t>
                      </a:r>
                      <a:endParaRPr lang="ru-RU" sz="1400" kern="1200" dirty="0">
                        <a:solidFill>
                          <a:schemeClr val="accent2">
                            <a:lumMod val="75000"/>
                          </a:schemeClr>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457200" rtl="0" eaLnBrk="1" latinLnBrk="0" hangingPunct="1">
                        <a:spcAft>
                          <a:spcPts val="0"/>
                        </a:spcAft>
                      </a:pPr>
                      <a:r>
                        <a:rPr lang="ru-RU" sz="1400" kern="1200" dirty="0">
                          <a:solidFill>
                            <a:schemeClr val="accent2">
                              <a:lumMod val="75000"/>
                            </a:schemeClr>
                          </a:solidFill>
                          <a:effectLst/>
                        </a:rPr>
                        <a:t>Кратковременно эксплуатируемые сооружения (от 1 до 5 лет): камеры, уступы, штреки</a:t>
                      </a:r>
                      <a:endParaRPr lang="ru-RU" sz="1400" kern="1200" dirty="0">
                        <a:solidFill>
                          <a:schemeClr val="accent2">
                            <a:lumMod val="75000"/>
                          </a:schemeClr>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457200" rtl="0" eaLnBrk="1" latinLnBrk="0" hangingPunct="1">
                        <a:spcAft>
                          <a:spcPts val="0"/>
                        </a:spcAft>
                      </a:pPr>
                      <a:r>
                        <a:rPr lang="en-US" sz="1400" kern="1200" dirty="0">
                          <a:solidFill>
                            <a:schemeClr val="accent2">
                              <a:lumMod val="75000"/>
                            </a:schemeClr>
                          </a:solidFill>
                          <a:effectLst/>
                        </a:rPr>
                        <a:t>0,0003</a:t>
                      </a:r>
                      <a:endParaRPr lang="ru-RU" sz="1400" kern="1200" dirty="0">
                        <a:solidFill>
                          <a:schemeClr val="accent2">
                            <a:lumMod val="75000"/>
                          </a:schemeClr>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2940049"/>
                  </a:ext>
                </a:extLst>
              </a:tr>
              <a:tr h="183984">
                <a:tc>
                  <a:txBody>
                    <a:bodyPr/>
                    <a:lstStyle/>
                    <a:p>
                      <a:pPr marL="0" algn="ctr" defTabSz="457200" rtl="0" eaLnBrk="1" latinLnBrk="0" hangingPunct="1">
                        <a:spcAft>
                          <a:spcPts val="0"/>
                        </a:spcAft>
                      </a:pPr>
                      <a:r>
                        <a:rPr lang="en-US" sz="1400" kern="1200" dirty="0">
                          <a:solidFill>
                            <a:schemeClr val="accent2">
                              <a:lumMod val="75000"/>
                            </a:schemeClr>
                          </a:solidFill>
                          <a:effectLst/>
                        </a:rPr>
                        <a:t>IV</a:t>
                      </a:r>
                      <a:endParaRPr lang="ru-RU" sz="1400" kern="1200" dirty="0">
                        <a:solidFill>
                          <a:schemeClr val="accent2">
                            <a:lumMod val="75000"/>
                          </a:schemeClr>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algn="ctr" defTabSz="457200" rtl="0" eaLnBrk="1" latinLnBrk="0" hangingPunct="1">
                        <a:spcAft>
                          <a:spcPts val="0"/>
                        </a:spcAft>
                      </a:pPr>
                      <a:r>
                        <a:rPr lang="ru-RU" sz="1400" kern="1200" dirty="0">
                          <a:solidFill>
                            <a:schemeClr val="accent2">
                              <a:lumMod val="75000"/>
                            </a:schemeClr>
                          </a:solidFill>
                          <a:effectLst/>
                        </a:rPr>
                        <a:t>Неответственные сооружения со сроком эксплуатации до 1 года</a:t>
                      </a:r>
                      <a:endParaRPr lang="ru-RU" sz="1400" kern="1200" dirty="0">
                        <a:solidFill>
                          <a:schemeClr val="accent2">
                            <a:lumMod val="75000"/>
                          </a:schemeClr>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algn="ctr" defTabSz="457200" rtl="0" eaLnBrk="1" latinLnBrk="0" hangingPunct="1">
                        <a:spcAft>
                          <a:spcPts val="0"/>
                        </a:spcAft>
                      </a:pPr>
                      <a:r>
                        <a:rPr lang="en-US" sz="1400" kern="1200" dirty="0">
                          <a:solidFill>
                            <a:schemeClr val="accent2">
                              <a:lumMod val="75000"/>
                            </a:schemeClr>
                          </a:solidFill>
                          <a:effectLst/>
                        </a:rPr>
                        <a:t>0,0005</a:t>
                      </a:r>
                      <a:endParaRPr lang="ru-RU" sz="1400" kern="1200" dirty="0">
                        <a:solidFill>
                          <a:schemeClr val="accent2">
                            <a:lumMod val="75000"/>
                          </a:schemeClr>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61972997"/>
                  </a:ext>
                </a:extLst>
              </a:tr>
            </a:tbl>
          </a:graphicData>
        </a:graphic>
      </p:graphicFrame>
      <p:sp>
        <p:nvSpPr>
          <p:cNvPr id="24" name="TextBox 23">
            <a:extLst>
              <a:ext uri="{FF2B5EF4-FFF2-40B4-BE49-F238E27FC236}">
                <a16:creationId xmlns:a16="http://schemas.microsoft.com/office/drawing/2014/main" id="{62016A78-9F3C-4B26-B9E1-23EB4F9317AD}"/>
              </a:ext>
            </a:extLst>
          </p:cNvPr>
          <p:cNvSpPr txBox="1"/>
          <p:nvPr/>
        </p:nvSpPr>
        <p:spPr>
          <a:xfrm>
            <a:off x="389314" y="6192123"/>
            <a:ext cx="10342896" cy="338554"/>
          </a:xfrm>
          <a:prstGeom prst="rect">
            <a:avLst/>
          </a:prstGeom>
          <a:noFill/>
        </p:spPr>
        <p:txBody>
          <a:bodyPr wrap="none" rtlCol="0">
            <a:spAutoFit/>
          </a:bodyPr>
          <a:lstStyle/>
          <a:p>
            <a:r>
              <a:rPr lang="ru-RU" sz="1600" dirty="0">
                <a:solidFill>
                  <a:schemeClr val="accent2">
                    <a:lumMod val="75000"/>
                  </a:schemeClr>
                </a:solidFill>
              </a:rPr>
              <a:t>* </a:t>
            </a:r>
            <a:r>
              <a:rPr lang="ru-RU" sz="1600" dirty="0" err="1">
                <a:solidFill>
                  <a:schemeClr val="accent2">
                    <a:lumMod val="75000"/>
                  </a:schemeClr>
                </a:solidFill>
              </a:rPr>
              <a:t>Мосинец</a:t>
            </a:r>
            <a:r>
              <a:rPr lang="ru-RU" sz="1600" dirty="0">
                <a:solidFill>
                  <a:schemeClr val="accent2">
                    <a:lumMod val="75000"/>
                  </a:schemeClr>
                </a:solidFill>
              </a:rPr>
              <a:t> В. Н. Дробящее и сейсмическое действие взрыва в горных породах. – М. : Недра, 1976. – 271 с.</a:t>
            </a:r>
          </a:p>
        </p:txBody>
      </p:sp>
    </p:spTree>
    <p:extLst>
      <p:ext uri="{BB962C8B-B14F-4D97-AF65-F5344CB8AC3E}">
        <p14:creationId xmlns:p14="http://schemas.microsoft.com/office/powerpoint/2010/main" val="1046044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FC8AFE9-290C-1436-1485-A1B60981EA1C}"/>
              </a:ext>
            </a:extLst>
          </p:cNvPr>
          <p:cNvSpPr>
            <a:spLocks noGrp="1"/>
          </p:cNvSpPr>
          <p:nvPr>
            <p:ph type="sldNum" sz="quarter" idx="4"/>
          </p:nvPr>
        </p:nvSpPr>
        <p:spPr/>
        <p:txBody>
          <a:bodyPr/>
          <a:lstStyle/>
          <a:p>
            <a:r>
              <a:rPr lang="en-US" sz="1600" dirty="0"/>
              <a:t>| </a:t>
            </a:r>
            <a:fld id="{F54BA9F3-CBAA-4DCF-AD2D-5ECAA0BE8875}" type="slidenum">
              <a:rPr lang="ru-RU" sz="1600" smtClean="0"/>
              <a:pPr/>
              <a:t>16</a:t>
            </a:fld>
            <a:endParaRPr lang="ru-RU" sz="1600" dirty="0"/>
          </a:p>
        </p:txBody>
      </p:sp>
      <p:sp>
        <p:nvSpPr>
          <p:cNvPr id="16" name="Текст 11">
            <a:extLst>
              <a:ext uri="{FF2B5EF4-FFF2-40B4-BE49-F238E27FC236}">
                <a16:creationId xmlns:a16="http://schemas.microsoft.com/office/drawing/2014/main" id="{72E298A4-1F10-233F-45B5-CB67BE268BB0}"/>
              </a:ext>
            </a:extLst>
          </p:cNvPr>
          <p:cNvSpPr>
            <a:spLocks noGrp="1"/>
          </p:cNvSpPr>
          <p:nvPr>
            <p:ph type="body" sz="quarter" idx="11"/>
          </p:nvPr>
        </p:nvSpPr>
        <p:spPr>
          <a:xfrm>
            <a:off x="476462" y="0"/>
            <a:ext cx="6615464" cy="360363"/>
          </a:xfrm>
          <a:prstGeom prst="rect">
            <a:avLst/>
          </a:prstGeom>
        </p:spPr>
        <p:txBody>
          <a:bodyPr/>
          <a:lstStyle/>
          <a:p>
            <a:r>
              <a:rPr lang="ru-RU" sz="1600" dirty="0">
                <a:solidFill>
                  <a:schemeClr val="accent2">
                    <a:lumMod val="75000"/>
                  </a:schemeClr>
                </a:solidFill>
              </a:rPr>
              <a:t>КРИТЕРИИ ДОПУСТИМОЙ СКОРОСТИ</a:t>
            </a:r>
          </a:p>
        </p:txBody>
      </p:sp>
      <p:pic>
        <p:nvPicPr>
          <p:cNvPr id="4" name="Рисунок 3"/>
          <p:cNvPicPr/>
          <p:nvPr/>
        </p:nvPicPr>
        <p:blipFill>
          <a:blip r:embed="rId3" cstate="screen">
            <a:extLst>
              <a:ext uri="{28A0092B-C50C-407E-A947-70E740481C1C}">
                <a14:useLocalDpi xmlns:a14="http://schemas.microsoft.com/office/drawing/2010/main"/>
              </a:ext>
            </a:extLst>
          </a:blip>
          <a:srcRect/>
          <a:stretch>
            <a:fillRect/>
          </a:stretch>
        </p:blipFill>
        <p:spPr bwMode="auto">
          <a:xfrm>
            <a:off x="2062998" y="841237"/>
            <a:ext cx="7394492" cy="3813217"/>
          </a:xfrm>
          <a:prstGeom prst="rect">
            <a:avLst/>
          </a:prstGeom>
          <a:noFill/>
          <a:ln>
            <a:noFill/>
          </a:ln>
        </p:spPr>
      </p:pic>
      <p:sp>
        <p:nvSpPr>
          <p:cNvPr id="5" name="Прямоугольник 4">
            <a:extLst>
              <a:ext uri="{FF2B5EF4-FFF2-40B4-BE49-F238E27FC236}">
                <a16:creationId xmlns:a16="http://schemas.microsoft.com/office/drawing/2014/main" id="{B0E5AE17-1417-5ECA-97F4-41D227A6734C}"/>
              </a:ext>
            </a:extLst>
          </p:cNvPr>
          <p:cNvSpPr/>
          <p:nvPr/>
        </p:nvSpPr>
        <p:spPr>
          <a:xfrm>
            <a:off x="5" y="4654454"/>
            <a:ext cx="11520483" cy="1825722"/>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6" name="Прямоугольник 5"/>
          <p:cNvSpPr/>
          <p:nvPr/>
        </p:nvSpPr>
        <p:spPr>
          <a:xfrm>
            <a:off x="209007" y="4791199"/>
            <a:ext cx="8307976" cy="1685077"/>
          </a:xfrm>
          <a:prstGeom prst="rect">
            <a:avLst/>
          </a:prstGeom>
        </p:spPr>
        <p:txBody>
          <a:bodyPr wrap="square">
            <a:spAutoFit/>
          </a:bodyPr>
          <a:lstStyle/>
          <a:p>
            <a:pPr algn="just">
              <a:spcAft>
                <a:spcPts val="283"/>
              </a:spcAft>
            </a:pPr>
            <a:r>
              <a:rPr lang="ru-RU" sz="1600" dirty="0">
                <a:solidFill>
                  <a:schemeClr val="bg1"/>
                </a:solidFill>
                <a:latin typeface="Tahoma" panose="020B0604030504040204" pitchFamily="34" charset="0"/>
                <a:ea typeface="Tahoma" panose="020B0604030504040204" pitchFamily="34" charset="0"/>
                <a:cs typeface="Tahoma" panose="020B0604030504040204" pitchFamily="34" charset="0"/>
              </a:rPr>
              <a:t>Значения скоростей V</a:t>
            </a:r>
            <a:r>
              <a:rPr lang="en-US" sz="1600" baseline="-25000" dirty="0">
                <a:solidFill>
                  <a:schemeClr val="bg1"/>
                </a:solidFill>
                <a:latin typeface="Tahoma" panose="020B0604030504040204" pitchFamily="34" charset="0"/>
                <a:ea typeface="Tahoma" panose="020B0604030504040204" pitchFamily="34" charset="0"/>
                <a:cs typeface="Tahoma" panose="020B0604030504040204" pitchFamily="34" charset="0"/>
              </a:rPr>
              <a:t>x</a:t>
            </a:r>
            <a:r>
              <a:rPr lang="ru-RU" sz="1600" dirty="0">
                <a:solidFill>
                  <a:schemeClr val="bg1"/>
                </a:solidFill>
                <a:latin typeface="Tahoma" panose="020B0604030504040204" pitchFamily="34" charset="0"/>
                <a:ea typeface="Tahoma" panose="020B0604030504040204" pitchFamily="34" charset="0"/>
                <a:cs typeface="Tahoma" panose="020B0604030504040204" pitchFamily="34" charset="0"/>
              </a:rPr>
              <a:t>, V</a:t>
            </a:r>
            <a:r>
              <a:rPr lang="en-US" sz="1600" baseline="-25000" dirty="0">
                <a:solidFill>
                  <a:schemeClr val="bg1"/>
                </a:solidFill>
                <a:latin typeface="Tahoma" panose="020B0604030504040204" pitchFamily="34" charset="0"/>
                <a:ea typeface="Tahoma" panose="020B0604030504040204" pitchFamily="34" charset="0"/>
                <a:cs typeface="Tahoma" panose="020B0604030504040204" pitchFamily="34" charset="0"/>
              </a:rPr>
              <a:t>y</a:t>
            </a:r>
            <a:r>
              <a:rPr lang="ru-RU" sz="1600" dirty="0">
                <a:solidFill>
                  <a:schemeClr val="bg1"/>
                </a:solidFill>
                <a:latin typeface="Tahoma" panose="020B0604030504040204" pitchFamily="34" charset="0"/>
                <a:ea typeface="Tahoma" panose="020B0604030504040204" pitchFamily="34" charset="0"/>
                <a:cs typeface="Tahoma" panose="020B0604030504040204" pitchFamily="34" charset="0"/>
              </a:rPr>
              <a:t>, V</a:t>
            </a:r>
            <a:r>
              <a:rPr lang="en-US" sz="1600" baseline="-25000" dirty="0">
                <a:solidFill>
                  <a:schemeClr val="bg1"/>
                </a:solidFill>
                <a:latin typeface="Tahoma" panose="020B0604030504040204" pitchFamily="34" charset="0"/>
                <a:ea typeface="Tahoma" panose="020B0604030504040204" pitchFamily="34" charset="0"/>
                <a:cs typeface="Tahoma" panose="020B0604030504040204" pitchFamily="34" charset="0"/>
              </a:rPr>
              <a:t>z</a:t>
            </a:r>
            <a:r>
              <a:rPr lang="ru-RU" sz="1600" dirty="0">
                <a:solidFill>
                  <a:schemeClr val="bg1"/>
                </a:solidFill>
                <a:latin typeface="Tahoma" panose="020B0604030504040204" pitchFamily="34" charset="0"/>
                <a:ea typeface="Tahoma" panose="020B0604030504040204" pitchFamily="34" charset="0"/>
                <a:cs typeface="Tahoma" panose="020B0604030504040204" pitchFamily="34" charset="0"/>
              </a:rPr>
              <a:t> соответствуют максимальному значению векторной суммы </a:t>
            </a:r>
            <a:r>
              <a:rPr lang="en-US" sz="1600" dirty="0">
                <a:solidFill>
                  <a:schemeClr val="bg1"/>
                </a:solidFill>
                <a:latin typeface="Tahoma" panose="020B0604030504040204" pitchFamily="34" charset="0"/>
                <a:ea typeface="Tahoma" panose="020B0604030504040204" pitchFamily="34" charset="0"/>
                <a:cs typeface="Tahoma" panose="020B0604030504040204" pitchFamily="34" charset="0"/>
              </a:rPr>
              <a:t>PVS</a:t>
            </a:r>
            <a:endParaRPr lang="ru-RU" sz="16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algn="just">
              <a:spcAft>
                <a:spcPts val="283"/>
              </a:spcAft>
            </a:pPr>
            <a:r>
              <a:rPr lang="en-US" sz="1600" dirty="0">
                <a:solidFill>
                  <a:schemeClr val="bg1"/>
                </a:solidFill>
                <a:latin typeface="Tahoma" panose="020B0604030504040204" pitchFamily="34" charset="0"/>
                <a:ea typeface="Tahoma" panose="020B0604030504040204" pitchFamily="34" charset="0"/>
                <a:cs typeface="Tahoma" panose="020B0604030504040204" pitchFamily="34" charset="0"/>
              </a:rPr>
              <a:t>PP</a:t>
            </a:r>
            <a:r>
              <a:rPr lang="ru-RU" sz="1600" dirty="0">
                <a:solidFill>
                  <a:schemeClr val="bg1"/>
                </a:solidFill>
                <a:latin typeface="Tahoma" panose="020B0604030504040204" pitchFamily="34" charset="0"/>
                <a:ea typeface="Tahoma" panose="020B0604030504040204" pitchFamily="34" charset="0"/>
                <a:cs typeface="Tahoma" panose="020B0604030504040204" pitchFamily="34" charset="0"/>
              </a:rPr>
              <a:t>V</a:t>
            </a:r>
            <a:r>
              <a:rPr lang="en-US" sz="1600" baseline="-25000" dirty="0">
                <a:solidFill>
                  <a:schemeClr val="bg1"/>
                </a:solidFill>
                <a:latin typeface="Tahoma" panose="020B0604030504040204" pitchFamily="34" charset="0"/>
                <a:ea typeface="Tahoma" panose="020B0604030504040204" pitchFamily="34" charset="0"/>
                <a:cs typeface="Tahoma" panose="020B0604030504040204" pitchFamily="34" charset="0"/>
              </a:rPr>
              <a:t>X</a:t>
            </a:r>
            <a:r>
              <a:rPr lang="ru-RU" sz="1600" dirty="0">
                <a:solidFill>
                  <a:schemeClr val="bg1"/>
                </a:solidFill>
                <a:latin typeface="Tahoma" panose="020B0604030504040204" pitchFamily="34" charset="0"/>
                <a:ea typeface="Tahoma" panose="020B0604030504040204" pitchFamily="34" charset="0"/>
                <a:cs typeface="Tahoma" panose="020B0604030504040204" pitchFamily="34" charset="0"/>
              </a:rPr>
              <a:t> – максимальная скорость колебаний по направлению место взрыва – точка наблюдения</a:t>
            </a:r>
            <a:endParaRPr lang="en-US" sz="16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algn="just">
              <a:spcAft>
                <a:spcPts val="283"/>
              </a:spcAft>
            </a:pPr>
            <a:r>
              <a:rPr lang="en-US" sz="1600" dirty="0">
                <a:solidFill>
                  <a:schemeClr val="bg1"/>
                </a:solidFill>
                <a:latin typeface="Tahoma" panose="020B0604030504040204" pitchFamily="34" charset="0"/>
                <a:ea typeface="Tahoma" panose="020B0604030504040204" pitchFamily="34" charset="0"/>
                <a:cs typeface="Tahoma" panose="020B0604030504040204" pitchFamily="34" charset="0"/>
              </a:rPr>
              <a:t>PP</a:t>
            </a:r>
            <a:r>
              <a:rPr lang="ru-RU" sz="1600" dirty="0">
                <a:solidFill>
                  <a:schemeClr val="bg1"/>
                </a:solidFill>
                <a:latin typeface="Tahoma" panose="020B0604030504040204" pitchFamily="34" charset="0"/>
                <a:ea typeface="Tahoma" panose="020B0604030504040204" pitchFamily="34" charset="0"/>
                <a:cs typeface="Tahoma" panose="020B0604030504040204" pitchFamily="34" charset="0"/>
              </a:rPr>
              <a:t>V</a:t>
            </a:r>
            <a:r>
              <a:rPr lang="en-US" sz="1600" baseline="-25000" dirty="0">
                <a:solidFill>
                  <a:schemeClr val="bg1"/>
                </a:solidFill>
                <a:latin typeface="Tahoma" panose="020B0604030504040204" pitchFamily="34" charset="0"/>
                <a:ea typeface="Tahoma" panose="020B0604030504040204" pitchFamily="34" charset="0"/>
                <a:cs typeface="Tahoma" panose="020B0604030504040204" pitchFamily="34" charset="0"/>
              </a:rPr>
              <a:t>Y</a:t>
            </a:r>
            <a:r>
              <a:rPr lang="ru-RU" sz="1600" dirty="0">
                <a:solidFill>
                  <a:schemeClr val="bg1"/>
                </a:solidFill>
                <a:latin typeface="Tahoma" panose="020B0604030504040204" pitchFamily="34" charset="0"/>
                <a:ea typeface="Tahoma" panose="020B0604030504040204" pitchFamily="34" charset="0"/>
                <a:cs typeface="Tahoma" panose="020B0604030504040204" pitchFamily="34" charset="0"/>
              </a:rPr>
              <a:t> – максимальная скорость колебаний по направлению перпендикулярно V</a:t>
            </a:r>
            <a:r>
              <a:rPr lang="en-US" sz="1600" baseline="-25000" dirty="0">
                <a:solidFill>
                  <a:schemeClr val="bg1"/>
                </a:solidFill>
                <a:latin typeface="Tahoma" panose="020B0604030504040204" pitchFamily="34" charset="0"/>
                <a:ea typeface="Tahoma" panose="020B0604030504040204" pitchFamily="34" charset="0"/>
                <a:cs typeface="Tahoma" panose="020B0604030504040204" pitchFamily="34" charset="0"/>
              </a:rPr>
              <a:t>x</a:t>
            </a:r>
          </a:p>
          <a:p>
            <a:pPr algn="just">
              <a:spcAft>
                <a:spcPts val="283"/>
              </a:spcAft>
            </a:pPr>
            <a:r>
              <a:rPr lang="en-US" sz="1600" dirty="0">
                <a:solidFill>
                  <a:schemeClr val="bg1"/>
                </a:solidFill>
                <a:latin typeface="Tahoma" panose="020B0604030504040204" pitchFamily="34" charset="0"/>
                <a:ea typeface="Tahoma" panose="020B0604030504040204" pitchFamily="34" charset="0"/>
                <a:cs typeface="Tahoma" panose="020B0604030504040204" pitchFamily="34" charset="0"/>
              </a:rPr>
              <a:t>PP</a:t>
            </a:r>
            <a:r>
              <a:rPr lang="ru-RU" sz="1600" dirty="0">
                <a:solidFill>
                  <a:schemeClr val="bg1"/>
                </a:solidFill>
                <a:latin typeface="Tahoma" panose="020B0604030504040204" pitchFamily="34" charset="0"/>
                <a:ea typeface="Tahoma" panose="020B0604030504040204" pitchFamily="34" charset="0"/>
                <a:cs typeface="Tahoma" panose="020B0604030504040204" pitchFamily="34" charset="0"/>
              </a:rPr>
              <a:t>V</a:t>
            </a:r>
            <a:r>
              <a:rPr lang="en-US" sz="1600" baseline="-25000" dirty="0">
                <a:solidFill>
                  <a:schemeClr val="bg1"/>
                </a:solidFill>
                <a:latin typeface="Tahoma" panose="020B0604030504040204" pitchFamily="34" charset="0"/>
                <a:ea typeface="Tahoma" panose="020B0604030504040204" pitchFamily="34" charset="0"/>
                <a:cs typeface="Tahoma" panose="020B0604030504040204" pitchFamily="34" charset="0"/>
              </a:rPr>
              <a:t>Z</a:t>
            </a:r>
            <a:r>
              <a:rPr lang="ru-RU" sz="1600" dirty="0">
                <a:solidFill>
                  <a:schemeClr val="bg1"/>
                </a:solidFill>
                <a:latin typeface="Tahoma" panose="020B0604030504040204" pitchFamily="34" charset="0"/>
                <a:ea typeface="Tahoma" panose="020B0604030504040204" pitchFamily="34" charset="0"/>
                <a:cs typeface="Tahoma" panose="020B0604030504040204" pitchFamily="34" charset="0"/>
              </a:rPr>
              <a:t> – максимальная скорость колебаний по вертикальному направлению</a:t>
            </a:r>
            <a:endParaRPr lang="en-US" sz="16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mc:Choice xmlns:a14="http://schemas.microsoft.com/office/drawing/2010/main" Requires="a14">
          <p:sp>
            <p:nvSpPr>
              <p:cNvPr id="7" name="Текст 2"/>
              <p:cNvSpPr txBox="1">
                <a:spLocks/>
              </p:cNvSpPr>
              <p:nvPr/>
            </p:nvSpPr>
            <p:spPr>
              <a:xfrm>
                <a:off x="8171014" y="4959926"/>
                <a:ext cx="3238634" cy="1441933"/>
              </a:xfrm>
              <a:prstGeom prst="rect">
                <a:avLst/>
              </a:prstGeom>
              <a:noFill/>
            </p:spPr>
            <p:txBody>
              <a:bodyPr wrap="square">
                <a:spAutoFit/>
              </a:bodyPr>
              <a:lstStyle>
                <a:defPPr>
                  <a:defRPr lang="ru-RU"/>
                </a:defPPr>
                <a:lvl1pPr algn="ctr">
                  <a:defRPr sz="1200" b="1">
                    <a:latin typeface="Tahoma" panose="020B0604030504040204" pitchFamily="34" charset="0"/>
                    <a:cs typeface="Times New Roman" panose="02020603050405020304" pitchFamily="18" charset="0"/>
                  </a:defRPr>
                </a:lvl1pPr>
              </a:lstStyle>
              <a:p>
                <a:endParaRPr lang="en-US" sz="1600" b="0" i="1" dirty="0">
                  <a:cs typeface="Tahoma" panose="020B0604030504040204" pitchFamily="34" charset="0"/>
                </a:endParaRPr>
              </a:p>
              <a:p>
                <a:r>
                  <a:rPr lang="en-US" sz="1600" b="0" i="1" dirty="0">
                    <a:solidFill>
                      <a:schemeClr val="bg1"/>
                    </a:solidFill>
                    <a:cs typeface="Tahoma" panose="020B0604030504040204" pitchFamily="34" charset="0"/>
                  </a:rPr>
                  <a:t>PVS</a:t>
                </a:r>
                <a14:m>
                  <m:oMath xmlns:m="http://schemas.openxmlformats.org/officeDocument/2006/math">
                    <m:r>
                      <a:rPr lang="ru-RU" sz="1600" b="0" i="1">
                        <a:solidFill>
                          <a:schemeClr val="bg1"/>
                        </a:solidFill>
                        <a:latin typeface="Cambria Math" panose="02040503050406030204" pitchFamily="18" charset="0"/>
                      </a:rPr>
                      <m:t> </m:t>
                    </m:r>
                    <m:r>
                      <a:rPr lang="ru-RU" sz="1600">
                        <a:solidFill>
                          <a:schemeClr val="bg1"/>
                        </a:solidFill>
                        <a:latin typeface="Cambria Math" panose="02040503050406030204" pitchFamily="18" charset="0"/>
                      </a:rPr>
                      <m:t>=</m:t>
                    </m:r>
                    <m:rad>
                      <m:radPr>
                        <m:degHide m:val="on"/>
                        <m:ctrlPr>
                          <a:rPr lang="ru-RU" sz="1600" i="1">
                            <a:solidFill>
                              <a:schemeClr val="bg1"/>
                            </a:solidFill>
                            <a:latin typeface="Cambria Math" panose="02040503050406030204" pitchFamily="18" charset="0"/>
                          </a:rPr>
                        </m:ctrlPr>
                      </m:radPr>
                      <m:deg/>
                      <m:e>
                        <m:sSubSup>
                          <m:sSubSupPr>
                            <m:ctrlPr>
                              <a:rPr lang="ru-RU" sz="1600" i="1">
                                <a:solidFill>
                                  <a:schemeClr val="bg1"/>
                                </a:solidFill>
                                <a:latin typeface="Cambria Math" panose="02040503050406030204" pitchFamily="18" charset="0"/>
                              </a:rPr>
                            </m:ctrlPr>
                          </m:sSubSupPr>
                          <m:e>
                            <m:r>
                              <a:rPr lang="ru-RU" sz="1600">
                                <a:solidFill>
                                  <a:schemeClr val="bg1"/>
                                </a:solidFill>
                                <a:latin typeface="Cambria Math" panose="02040503050406030204" pitchFamily="18" charset="0"/>
                              </a:rPr>
                              <m:t>𝑉</m:t>
                            </m:r>
                          </m:e>
                          <m:sub>
                            <m:r>
                              <a:rPr lang="ru-RU" sz="1600">
                                <a:solidFill>
                                  <a:schemeClr val="bg1"/>
                                </a:solidFill>
                                <a:latin typeface="Cambria Math" panose="02040503050406030204" pitchFamily="18" charset="0"/>
                              </a:rPr>
                              <m:t>𝑍</m:t>
                            </m:r>
                          </m:sub>
                          <m:sup>
                            <m:r>
                              <a:rPr lang="ru-RU" sz="1600">
                                <a:solidFill>
                                  <a:schemeClr val="bg1"/>
                                </a:solidFill>
                                <a:latin typeface="Cambria Math" panose="02040503050406030204" pitchFamily="18" charset="0"/>
                              </a:rPr>
                              <m:t>2</m:t>
                            </m:r>
                          </m:sup>
                        </m:sSubSup>
                        <m:r>
                          <a:rPr lang="ru-RU" sz="1600">
                            <a:solidFill>
                              <a:schemeClr val="bg1"/>
                            </a:solidFill>
                            <a:latin typeface="Cambria Math" panose="02040503050406030204" pitchFamily="18" charset="0"/>
                          </a:rPr>
                          <m:t>+</m:t>
                        </m:r>
                        <m:sSubSup>
                          <m:sSubSupPr>
                            <m:ctrlPr>
                              <a:rPr lang="ru-RU" sz="1600" i="1">
                                <a:solidFill>
                                  <a:schemeClr val="bg1"/>
                                </a:solidFill>
                                <a:latin typeface="Cambria Math" panose="02040503050406030204" pitchFamily="18" charset="0"/>
                              </a:rPr>
                            </m:ctrlPr>
                          </m:sSubSupPr>
                          <m:e>
                            <m:r>
                              <a:rPr lang="ru-RU" sz="1600">
                                <a:solidFill>
                                  <a:schemeClr val="bg1"/>
                                </a:solidFill>
                                <a:latin typeface="Cambria Math" panose="02040503050406030204" pitchFamily="18" charset="0"/>
                              </a:rPr>
                              <m:t>𝑉</m:t>
                            </m:r>
                          </m:e>
                          <m:sub>
                            <m:r>
                              <a:rPr lang="ru-RU" sz="1600">
                                <a:solidFill>
                                  <a:schemeClr val="bg1"/>
                                </a:solidFill>
                                <a:latin typeface="Cambria Math" panose="02040503050406030204" pitchFamily="18" charset="0"/>
                              </a:rPr>
                              <m:t>𝑋</m:t>
                            </m:r>
                          </m:sub>
                          <m:sup>
                            <m:r>
                              <a:rPr lang="ru-RU" sz="1600">
                                <a:solidFill>
                                  <a:schemeClr val="bg1"/>
                                </a:solidFill>
                                <a:latin typeface="Cambria Math" panose="02040503050406030204" pitchFamily="18" charset="0"/>
                              </a:rPr>
                              <m:t>2</m:t>
                            </m:r>
                          </m:sup>
                        </m:sSubSup>
                        <m:r>
                          <a:rPr lang="ru-RU" sz="1600">
                            <a:solidFill>
                              <a:schemeClr val="bg1"/>
                            </a:solidFill>
                            <a:latin typeface="Cambria Math" panose="02040503050406030204" pitchFamily="18" charset="0"/>
                          </a:rPr>
                          <m:t>+</m:t>
                        </m:r>
                        <m:sSubSup>
                          <m:sSubSupPr>
                            <m:ctrlPr>
                              <a:rPr lang="ru-RU" sz="1600" i="1">
                                <a:solidFill>
                                  <a:schemeClr val="bg1"/>
                                </a:solidFill>
                                <a:latin typeface="Cambria Math" panose="02040503050406030204" pitchFamily="18" charset="0"/>
                              </a:rPr>
                            </m:ctrlPr>
                          </m:sSubSupPr>
                          <m:e>
                            <m:r>
                              <a:rPr lang="ru-RU" sz="1600">
                                <a:solidFill>
                                  <a:schemeClr val="bg1"/>
                                </a:solidFill>
                                <a:latin typeface="Cambria Math" panose="02040503050406030204" pitchFamily="18" charset="0"/>
                              </a:rPr>
                              <m:t>𝑉</m:t>
                            </m:r>
                          </m:e>
                          <m:sub>
                            <m:r>
                              <a:rPr lang="ru-RU" sz="1600">
                                <a:solidFill>
                                  <a:schemeClr val="bg1"/>
                                </a:solidFill>
                                <a:latin typeface="Cambria Math" panose="02040503050406030204" pitchFamily="18" charset="0"/>
                              </a:rPr>
                              <m:t>𝑌</m:t>
                            </m:r>
                          </m:sub>
                          <m:sup>
                            <m:r>
                              <a:rPr lang="ru-RU" sz="1600">
                                <a:solidFill>
                                  <a:schemeClr val="bg1"/>
                                </a:solidFill>
                                <a:latin typeface="Cambria Math" panose="02040503050406030204" pitchFamily="18" charset="0"/>
                              </a:rPr>
                              <m:t>2</m:t>
                            </m:r>
                          </m:sup>
                        </m:sSubSup>
                      </m:e>
                    </m:rad>
                  </m:oMath>
                </a14:m>
                <a:endParaRPr lang="en-US" sz="1600" dirty="0">
                  <a:solidFill>
                    <a:schemeClr val="bg1"/>
                  </a:solidFill>
                  <a:cs typeface="Tahoma" panose="020B0604030504040204" pitchFamily="34" charset="0"/>
                </a:endParaRPr>
              </a:p>
              <a:p>
                <a:endParaRPr lang="en-US" sz="1600" dirty="0">
                  <a:solidFill>
                    <a:schemeClr val="bg1"/>
                  </a:solidFill>
                  <a:cs typeface="Tahoma" panose="020B0604030504040204" pitchFamily="34" charset="0"/>
                </a:endParaRPr>
              </a:p>
              <a:p>
                <a14:m>
                  <m:oMath xmlns:m="http://schemas.openxmlformats.org/officeDocument/2006/math">
                    <m:sSub>
                      <m:sSubPr>
                        <m:ctrlPr>
                          <a:rPr lang="ru-RU" sz="1600" i="1">
                            <a:solidFill>
                              <a:schemeClr val="bg1"/>
                            </a:solidFill>
                            <a:latin typeface="Cambria Math" panose="02040503050406030204" pitchFamily="18" charset="0"/>
                          </a:rPr>
                        </m:ctrlPr>
                      </m:sSubPr>
                      <m:e>
                        <m:r>
                          <a:rPr lang="ru-RU" sz="1600">
                            <a:solidFill>
                              <a:schemeClr val="bg1"/>
                            </a:solidFill>
                            <a:latin typeface="Cambria Math" panose="02040503050406030204" pitchFamily="18" charset="0"/>
                          </a:rPr>
                          <m:t>𝑉</m:t>
                        </m:r>
                      </m:e>
                      <m:sub>
                        <m:r>
                          <a:rPr lang="ru-RU" sz="1600">
                            <a:solidFill>
                              <a:schemeClr val="bg1"/>
                            </a:solidFill>
                            <a:latin typeface="Cambria Math" panose="02040503050406030204" pitchFamily="18" charset="0"/>
                          </a:rPr>
                          <m:t>САД</m:t>
                        </m:r>
                      </m:sub>
                    </m:sSub>
                    <m:r>
                      <a:rPr lang="ru-RU" sz="1600">
                        <a:solidFill>
                          <a:schemeClr val="bg1"/>
                        </a:solidFill>
                        <a:latin typeface="Cambria Math" panose="02040503050406030204" pitchFamily="18" charset="0"/>
                      </a:rPr>
                      <m:t>=</m:t>
                    </m:r>
                    <m:rad>
                      <m:radPr>
                        <m:degHide m:val="on"/>
                        <m:ctrlPr>
                          <a:rPr lang="ru-RU" sz="1600" i="1">
                            <a:solidFill>
                              <a:schemeClr val="bg1"/>
                            </a:solidFill>
                            <a:latin typeface="Cambria Math" panose="02040503050406030204" pitchFamily="18" charset="0"/>
                          </a:rPr>
                        </m:ctrlPr>
                      </m:radPr>
                      <m:deg/>
                      <m:e>
                        <m:sSubSup>
                          <m:sSubSupPr>
                            <m:ctrlPr>
                              <a:rPr lang="ru-RU" sz="1600" i="1">
                                <a:solidFill>
                                  <a:schemeClr val="bg1"/>
                                </a:solidFill>
                                <a:latin typeface="Cambria Math" panose="02040503050406030204" pitchFamily="18" charset="0"/>
                              </a:rPr>
                            </m:ctrlPr>
                          </m:sSubSupPr>
                          <m:e>
                            <m:r>
                              <a:rPr lang="en-US" sz="1600">
                                <a:solidFill>
                                  <a:schemeClr val="bg1"/>
                                </a:solidFill>
                                <a:latin typeface="Cambria Math" panose="02040503050406030204" pitchFamily="18" charset="0"/>
                              </a:rPr>
                              <m:t>𝑃𝑃𝑉</m:t>
                            </m:r>
                          </m:e>
                          <m:sub>
                            <m:r>
                              <a:rPr lang="en-US" sz="1600">
                                <a:solidFill>
                                  <a:schemeClr val="bg1"/>
                                </a:solidFill>
                                <a:latin typeface="Cambria Math" panose="02040503050406030204" pitchFamily="18" charset="0"/>
                              </a:rPr>
                              <m:t>𝑋</m:t>
                            </m:r>
                          </m:sub>
                          <m:sup>
                            <m:r>
                              <a:rPr lang="ru-RU" sz="1600">
                                <a:solidFill>
                                  <a:schemeClr val="bg1"/>
                                </a:solidFill>
                                <a:latin typeface="Cambria Math" panose="02040503050406030204" pitchFamily="18" charset="0"/>
                              </a:rPr>
                              <m:t>2</m:t>
                            </m:r>
                          </m:sup>
                        </m:sSubSup>
                        <m:r>
                          <a:rPr lang="ru-RU" sz="1600">
                            <a:solidFill>
                              <a:schemeClr val="bg1"/>
                            </a:solidFill>
                            <a:latin typeface="Cambria Math" panose="02040503050406030204" pitchFamily="18" charset="0"/>
                          </a:rPr>
                          <m:t>+</m:t>
                        </m:r>
                        <m:sSubSup>
                          <m:sSubSupPr>
                            <m:ctrlPr>
                              <a:rPr lang="ru-RU" sz="1600" i="1">
                                <a:solidFill>
                                  <a:schemeClr val="bg1"/>
                                </a:solidFill>
                                <a:latin typeface="Cambria Math" panose="02040503050406030204" pitchFamily="18" charset="0"/>
                              </a:rPr>
                            </m:ctrlPr>
                          </m:sSubSupPr>
                          <m:e>
                            <m:r>
                              <a:rPr lang="en-US" sz="1600">
                                <a:solidFill>
                                  <a:schemeClr val="bg1"/>
                                </a:solidFill>
                                <a:latin typeface="Cambria Math" panose="02040503050406030204" pitchFamily="18" charset="0"/>
                              </a:rPr>
                              <m:t>𝑃𝑃</m:t>
                            </m:r>
                            <m:r>
                              <a:rPr lang="ru-RU" sz="1600">
                                <a:solidFill>
                                  <a:schemeClr val="bg1"/>
                                </a:solidFill>
                                <a:latin typeface="Cambria Math" panose="02040503050406030204" pitchFamily="18" charset="0"/>
                              </a:rPr>
                              <m:t>𝑉</m:t>
                            </m:r>
                          </m:e>
                          <m:sub>
                            <m:r>
                              <a:rPr lang="en-US" sz="1600">
                                <a:solidFill>
                                  <a:schemeClr val="bg1"/>
                                </a:solidFill>
                                <a:latin typeface="Cambria Math" panose="02040503050406030204" pitchFamily="18" charset="0"/>
                              </a:rPr>
                              <m:t>𝑌</m:t>
                            </m:r>
                          </m:sub>
                          <m:sup>
                            <m:r>
                              <a:rPr lang="ru-RU" sz="1600">
                                <a:solidFill>
                                  <a:schemeClr val="bg1"/>
                                </a:solidFill>
                                <a:latin typeface="Cambria Math" panose="02040503050406030204" pitchFamily="18" charset="0"/>
                              </a:rPr>
                              <m:t>2</m:t>
                            </m:r>
                          </m:sup>
                        </m:sSubSup>
                        <m:r>
                          <a:rPr lang="ru-RU" sz="1600">
                            <a:solidFill>
                              <a:schemeClr val="bg1"/>
                            </a:solidFill>
                            <a:latin typeface="Cambria Math" panose="02040503050406030204" pitchFamily="18" charset="0"/>
                          </a:rPr>
                          <m:t>+</m:t>
                        </m:r>
                        <m:r>
                          <m:rPr>
                            <m:sty m:val="p"/>
                          </m:rPr>
                          <a:rPr lang="en-US" sz="1600">
                            <a:solidFill>
                              <a:schemeClr val="bg1"/>
                            </a:solidFill>
                            <a:latin typeface="Cambria Math" panose="02040503050406030204" pitchFamily="18" charset="0"/>
                          </a:rPr>
                          <m:t>PP</m:t>
                        </m:r>
                        <m:sSubSup>
                          <m:sSubSupPr>
                            <m:ctrlPr>
                              <a:rPr lang="ru-RU" sz="1600" i="1">
                                <a:solidFill>
                                  <a:schemeClr val="bg1"/>
                                </a:solidFill>
                                <a:latin typeface="Cambria Math" panose="02040503050406030204" pitchFamily="18" charset="0"/>
                              </a:rPr>
                            </m:ctrlPr>
                          </m:sSubSupPr>
                          <m:e>
                            <m:r>
                              <a:rPr lang="ru-RU" sz="1600">
                                <a:solidFill>
                                  <a:schemeClr val="bg1"/>
                                </a:solidFill>
                                <a:latin typeface="Cambria Math" panose="02040503050406030204" pitchFamily="18" charset="0"/>
                              </a:rPr>
                              <m:t>𝑉</m:t>
                            </m:r>
                          </m:e>
                          <m:sub>
                            <m:r>
                              <a:rPr lang="en-US" sz="1600">
                                <a:solidFill>
                                  <a:schemeClr val="bg1"/>
                                </a:solidFill>
                                <a:latin typeface="Cambria Math" panose="02040503050406030204" pitchFamily="18" charset="0"/>
                              </a:rPr>
                              <m:t>𝑍</m:t>
                            </m:r>
                          </m:sub>
                          <m:sup>
                            <m:r>
                              <a:rPr lang="ru-RU" sz="1600">
                                <a:solidFill>
                                  <a:schemeClr val="bg1"/>
                                </a:solidFill>
                                <a:latin typeface="Cambria Math" panose="02040503050406030204" pitchFamily="18" charset="0"/>
                              </a:rPr>
                              <m:t>2</m:t>
                            </m:r>
                          </m:sup>
                        </m:sSubSup>
                      </m:e>
                    </m:rad>
                  </m:oMath>
                </a14:m>
                <a:r>
                  <a:rPr lang="ru-RU" sz="1600" dirty="0">
                    <a:solidFill>
                      <a:schemeClr val="bg1"/>
                    </a:solidFill>
                    <a:cs typeface="Tahoma" panose="020B0604030504040204" pitchFamily="34" charset="0"/>
                  </a:rPr>
                  <a:t> </a:t>
                </a:r>
                <a:endParaRPr lang="en-US" sz="1600" dirty="0">
                  <a:solidFill>
                    <a:schemeClr val="bg1"/>
                  </a:solidFill>
                  <a:cs typeface="Tahoma" panose="020B0604030504040204" pitchFamily="34" charset="0"/>
                </a:endParaRPr>
              </a:p>
              <a:p>
                <a:endParaRPr lang="en-US" sz="1600" dirty="0">
                  <a:solidFill>
                    <a:schemeClr val="bg1"/>
                  </a:solidFill>
                  <a:cs typeface="Tahoma" panose="020B0604030504040204" pitchFamily="34" charset="0"/>
                </a:endParaRPr>
              </a:p>
            </p:txBody>
          </p:sp>
        </mc:Choice>
        <mc:Fallback>
          <p:sp>
            <p:nvSpPr>
              <p:cNvPr id="7" name="Текст 2"/>
              <p:cNvSpPr txBox="1">
                <a:spLocks noRot="1" noChangeAspect="1" noMove="1" noResize="1" noEditPoints="1" noAdjustHandles="1" noChangeArrowheads="1" noChangeShapeType="1" noTextEdit="1"/>
              </p:cNvSpPr>
              <p:nvPr/>
            </p:nvSpPr>
            <p:spPr>
              <a:xfrm>
                <a:off x="8171014" y="4959926"/>
                <a:ext cx="3238634" cy="1441933"/>
              </a:xfrm>
              <a:prstGeom prst="rect">
                <a:avLst/>
              </a:prstGeom>
              <a:blipFill>
                <a:blip r:embed="rId4"/>
                <a:stretch>
                  <a:fillRect/>
                </a:stretch>
              </a:blipFill>
            </p:spPr>
            <p:txBody>
              <a:bodyPr/>
              <a:lstStyle/>
              <a:p>
                <a:r>
                  <a:rPr lang="ru-RU">
                    <a:noFill/>
                  </a:rPr>
                  <a:t> </a:t>
                </a:r>
              </a:p>
            </p:txBody>
          </p:sp>
        </mc:Fallback>
      </mc:AlternateContent>
    </p:spTree>
    <p:extLst>
      <p:ext uri="{BB962C8B-B14F-4D97-AF65-F5344CB8AC3E}">
        <p14:creationId xmlns:p14="http://schemas.microsoft.com/office/powerpoint/2010/main" val="1298627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FC8AFE9-290C-1436-1485-A1B60981EA1C}"/>
              </a:ext>
            </a:extLst>
          </p:cNvPr>
          <p:cNvSpPr>
            <a:spLocks noGrp="1"/>
          </p:cNvSpPr>
          <p:nvPr>
            <p:ph type="sldNum" sz="quarter" idx="4"/>
          </p:nvPr>
        </p:nvSpPr>
        <p:spPr/>
        <p:txBody>
          <a:bodyPr/>
          <a:lstStyle/>
          <a:p>
            <a:r>
              <a:rPr lang="en-US" dirty="0"/>
              <a:t>| </a:t>
            </a:r>
            <a:fld id="{F54BA9F3-CBAA-4DCF-AD2D-5ECAA0BE8875}" type="slidenum">
              <a:rPr lang="ru-RU" smtClean="0"/>
              <a:pPr/>
              <a:t>17</a:t>
            </a:fld>
            <a:endParaRPr lang="ru-RU" dirty="0"/>
          </a:p>
        </p:txBody>
      </p:sp>
      <p:sp>
        <p:nvSpPr>
          <p:cNvPr id="16" name="Текст 11">
            <a:extLst>
              <a:ext uri="{FF2B5EF4-FFF2-40B4-BE49-F238E27FC236}">
                <a16:creationId xmlns:a16="http://schemas.microsoft.com/office/drawing/2014/main" id="{72E298A4-1F10-233F-45B5-CB67BE268BB0}"/>
              </a:ext>
            </a:extLst>
          </p:cNvPr>
          <p:cNvSpPr>
            <a:spLocks noGrp="1"/>
          </p:cNvSpPr>
          <p:nvPr>
            <p:ph type="body" sz="quarter" idx="11"/>
          </p:nvPr>
        </p:nvSpPr>
        <p:spPr>
          <a:xfrm>
            <a:off x="476462" y="0"/>
            <a:ext cx="9007172" cy="360363"/>
          </a:xfrm>
          <a:prstGeom prst="rect">
            <a:avLst/>
          </a:prstGeom>
        </p:spPr>
        <p:txBody>
          <a:bodyPr/>
          <a:lstStyle/>
          <a:p>
            <a:r>
              <a:rPr lang="ru-RU" sz="1600" dirty="0">
                <a:solidFill>
                  <a:schemeClr val="accent2">
                    <a:lumMod val="75000"/>
                  </a:schemeClr>
                </a:solidFill>
              </a:rPr>
              <a:t>ЧАСТОТНЫЙ СОСТАВ СЕЙСМОВЗРЫВНЫХ ВОЛН</a:t>
            </a:r>
          </a:p>
        </p:txBody>
      </p:sp>
      <p:graphicFrame>
        <p:nvGraphicFramePr>
          <p:cNvPr id="25" name="Таблица 24"/>
          <p:cNvGraphicFramePr>
            <a:graphicFrameLocks noGrp="1"/>
          </p:cNvGraphicFramePr>
          <p:nvPr>
            <p:extLst>
              <p:ext uri="{D42A27DB-BD31-4B8C-83A1-F6EECF244321}">
                <p14:modId xmlns:p14="http://schemas.microsoft.com/office/powerpoint/2010/main" val="4116463044"/>
              </p:ext>
            </p:extLst>
          </p:nvPr>
        </p:nvGraphicFramePr>
        <p:xfrm>
          <a:off x="579386" y="1303766"/>
          <a:ext cx="6021394" cy="1510665"/>
        </p:xfrm>
        <a:graphic>
          <a:graphicData uri="http://schemas.openxmlformats.org/drawingml/2006/table">
            <a:tbl>
              <a:tblPr>
                <a:tableStyleId>{5C22544A-7EE6-4342-B048-85BDC9FD1C3A}</a:tableStyleId>
              </a:tblPr>
              <a:tblGrid>
                <a:gridCol w="2084553">
                  <a:extLst>
                    <a:ext uri="{9D8B030D-6E8A-4147-A177-3AD203B41FA5}">
                      <a16:colId xmlns:a16="http://schemas.microsoft.com/office/drawing/2014/main" val="971564073"/>
                    </a:ext>
                  </a:extLst>
                </a:gridCol>
                <a:gridCol w="1485450">
                  <a:extLst>
                    <a:ext uri="{9D8B030D-6E8A-4147-A177-3AD203B41FA5}">
                      <a16:colId xmlns:a16="http://schemas.microsoft.com/office/drawing/2014/main" val="611433173"/>
                    </a:ext>
                  </a:extLst>
                </a:gridCol>
                <a:gridCol w="2451391">
                  <a:extLst>
                    <a:ext uri="{9D8B030D-6E8A-4147-A177-3AD203B41FA5}">
                      <a16:colId xmlns:a16="http://schemas.microsoft.com/office/drawing/2014/main" val="3813301240"/>
                    </a:ext>
                  </a:extLst>
                </a:gridCol>
              </a:tblGrid>
              <a:tr h="381000">
                <a:tc gridSpan="2">
                  <a:txBody>
                    <a:bodyPr/>
                    <a:lstStyle/>
                    <a:p>
                      <a:pPr algn="ctr"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Место</a:t>
                      </a:r>
                      <a:r>
                        <a:rPr lang="ru-RU" sz="1600" u="none" strike="noStrike" baseline="0" dirty="0">
                          <a:effectLst/>
                          <a:latin typeface="Tahoma" panose="020B0604030504040204" pitchFamily="34" charset="0"/>
                          <a:ea typeface="Tahoma" panose="020B0604030504040204" pitchFamily="34" charset="0"/>
                          <a:cs typeface="Tahoma" panose="020B0604030504040204" pitchFamily="34" charset="0"/>
                        </a:rPr>
                        <a:t> ведения взрывных работ</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hMerge="1">
                  <a:txBody>
                    <a:bodyPr/>
                    <a:lstStyle/>
                    <a:p>
                      <a:endParaRPr lang="ru-RU"/>
                    </a:p>
                  </a:txBody>
                  <a:tcPr/>
                </a:tc>
                <a:tc>
                  <a:txBody>
                    <a:bodyPr/>
                    <a:lstStyle/>
                    <a:p>
                      <a:pPr algn="ctr"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Диапазон частот сейсмовзрывных волн, Гц</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065066003"/>
                  </a:ext>
                </a:extLst>
              </a:tr>
              <a:tr h="192413">
                <a:tc rowSpan="2">
                  <a:txBody>
                    <a:bodyPr/>
                    <a:lstStyle/>
                    <a:p>
                      <a:pPr algn="l"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Взрывные работы</a:t>
                      </a:r>
                      <a:r>
                        <a:rPr lang="ru-RU" sz="1600" u="none" strike="noStrike" baseline="0" dirty="0">
                          <a:effectLst/>
                          <a:latin typeface="Tahoma" panose="020B0604030504040204" pitchFamily="34" charset="0"/>
                          <a:ea typeface="Tahoma" panose="020B0604030504040204" pitchFamily="34" charset="0"/>
                          <a:cs typeface="Tahoma" panose="020B0604030504040204" pitchFamily="34" charset="0"/>
                        </a:rPr>
                        <a:t> на поверхности</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pPr algn="ctr"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Карьеры</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solidFill>
                      <a:schemeClr val="tx2">
                        <a:lumMod val="40000"/>
                        <a:lumOff val="60000"/>
                      </a:schemeClr>
                    </a:solidFill>
                  </a:tcPr>
                </a:tc>
                <a:tc>
                  <a:txBody>
                    <a:bodyPr/>
                    <a:lstStyle/>
                    <a:p>
                      <a:pPr algn="ctr"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10-60</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solidFill>
                      <a:schemeClr val="tx2">
                        <a:lumMod val="40000"/>
                        <a:lumOff val="60000"/>
                      </a:schemeClr>
                    </a:solidFill>
                  </a:tcPr>
                </a:tc>
                <a:extLst>
                  <a:ext uri="{0D108BD9-81ED-4DB2-BD59-A6C34878D82A}">
                    <a16:rowId xmlns:a16="http://schemas.microsoft.com/office/drawing/2014/main" val="2061379635"/>
                  </a:ext>
                </a:extLst>
              </a:tr>
              <a:tr h="192413">
                <a:tc vMerge="1">
                  <a:txBody>
                    <a:bodyPr/>
                    <a:lstStyle/>
                    <a:p>
                      <a:endParaRPr lang="ru-RU"/>
                    </a:p>
                  </a:txBody>
                  <a:tcPr/>
                </a:tc>
                <a:tc>
                  <a:txBody>
                    <a:bodyPr/>
                    <a:lstStyle/>
                    <a:p>
                      <a:pPr algn="ctr"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Стройка</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solidFill>
                      <a:schemeClr val="tx2">
                        <a:lumMod val="40000"/>
                        <a:lumOff val="60000"/>
                      </a:schemeClr>
                    </a:solidFill>
                  </a:tcPr>
                </a:tc>
                <a:tc>
                  <a:txBody>
                    <a:bodyPr/>
                    <a:lstStyle/>
                    <a:p>
                      <a:pPr algn="ctr"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40-100</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solidFill>
                      <a:schemeClr val="tx2">
                        <a:lumMod val="40000"/>
                        <a:lumOff val="60000"/>
                      </a:schemeClr>
                    </a:solidFill>
                  </a:tcPr>
                </a:tc>
                <a:extLst>
                  <a:ext uri="{0D108BD9-81ED-4DB2-BD59-A6C34878D82A}">
                    <a16:rowId xmlns:a16="http://schemas.microsoft.com/office/drawing/2014/main" val="4004318037"/>
                  </a:ext>
                </a:extLst>
              </a:tr>
              <a:tr h="192413">
                <a:tc rowSpan="2">
                  <a:txBody>
                    <a:bodyPr/>
                    <a:lstStyle/>
                    <a:p>
                      <a:pPr algn="l" fontAlgn="ctr"/>
                      <a:r>
                        <a:rPr lang="ru-RU" sz="1600" b="0" i="0" u="none" strike="noStrike" dirty="0">
                          <a:solidFill>
                            <a:schemeClr val="dk1"/>
                          </a:solidFill>
                          <a:effectLst/>
                          <a:latin typeface="Tahoma" panose="020B0604030504040204" pitchFamily="34" charset="0"/>
                          <a:ea typeface="Tahoma" panose="020B0604030504040204" pitchFamily="34" charset="0"/>
                          <a:cs typeface="Tahoma" panose="020B0604030504040204" pitchFamily="34" charset="0"/>
                        </a:rPr>
                        <a:t>Взрывные</a:t>
                      </a:r>
                      <a:r>
                        <a:rPr lang="ru-RU" sz="1600" b="0" i="0" u="none" strike="noStrike" baseline="0" dirty="0">
                          <a:solidFill>
                            <a:schemeClr val="dk1"/>
                          </a:solidFill>
                          <a:effectLst/>
                          <a:latin typeface="Tahoma" panose="020B0604030504040204" pitchFamily="34" charset="0"/>
                          <a:ea typeface="Tahoma" panose="020B0604030504040204" pitchFamily="34" charset="0"/>
                          <a:cs typeface="Tahoma" panose="020B0604030504040204" pitchFamily="34" charset="0"/>
                        </a:rPr>
                        <a:t> работы в подземных условиях</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Очистные </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solidFill>
                      <a:schemeClr val="bg1">
                        <a:lumMod val="85000"/>
                      </a:schemeClr>
                    </a:solidFill>
                  </a:tcPr>
                </a:tc>
                <a:tc>
                  <a:txBody>
                    <a:bodyPr/>
                    <a:lstStyle/>
                    <a:p>
                      <a:pPr algn="ctr"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30-100</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solidFill>
                      <a:schemeClr val="bg1">
                        <a:lumMod val="85000"/>
                      </a:schemeClr>
                    </a:solidFill>
                  </a:tcPr>
                </a:tc>
                <a:extLst>
                  <a:ext uri="{0D108BD9-81ED-4DB2-BD59-A6C34878D82A}">
                    <a16:rowId xmlns:a16="http://schemas.microsoft.com/office/drawing/2014/main" val="2800504865"/>
                  </a:ext>
                </a:extLst>
              </a:tr>
              <a:tr h="192413">
                <a:tc vMerge="1">
                  <a:txBody>
                    <a:bodyPr/>
                    <a:lstStyle/>
                    <a:p>
                      <a:endParaRPr lang="ru-RU"/>
                    </a:p>
                  </a:txBody>
                  <a:tcPr/>
                </a:tc>
                <a:tc>
                  <a:txBody>
                    <a:bodyPr/>
                    <a:lstStyle/>
                    <a:p>
                      <a:pPr algn="ctr"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Проходка</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60-300</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8423187"/>
                  </a:ext>
                </a:extLst>
              </a:tr>
            </a:tbl>
          </a:graphicData>
        </a:graphic>
      </p:graphicFrame>
      <p:graphicFrame>
        <p:nvGraphicFramePr>
          <p:cNvPr id="26" name="Таблица 25"/>
          <p:cNvGraphicFramePr>
            <a:graphicFrameLocks noGrp="1"/>
          </p:cNvGraphicFramePr>
          <p:nvPr>
            <p:extLst>
              <p:ext uri="{D42A27DB-BD31-4B8C-83A1-F6EECF244321}">
                <p14:modId xmlns:p14="http://schemas.microsoft.com/office/powerpoint/2010/main" val="2744125599"/>
              </p:ext>
            </p:extLst>
          </p:nvPr>
        </p:nvGraphicFramePr>
        <p:xfrm>
          <a:off x="579385" y="3524389"/>
          <a:ext cx="6008199" cy="2190792"/>
        </p:xfrm>
        <a:graphic>
          <a:graphicData uri="http://schemas.openxmlformats.org/drawingml/2006/table">
            <a:tbl>
              <a:tblPr>
                <a:tableStyleId>{5C22544A-7EE6-4342-B048-85BDC9FD1C3A}</a:tableStyleId>
              </a:tblPr>
              <a:tblGrid>
                <a:gridCol w="1584741">
                  <a:extLst>
                    <a:ext uri="{9D8B030D-6E8A-4147-A177-3AD203B41FA5}">
                      <a16:colId xmlns:a16="http://schemas.microsoft.com/office/drawing/2014/main" val="3645190706"/>
                    </a:ext>
                  </a:extLst>
                </a:gridCol>
                <a:gridCol w="2179699">
                  <a:extLst>
                    <a:ext uri="{9D8B030D-6E8A-4147-A177-3AD203B41FA5}">
                      <a16:colId xmlns:a16="http://schemas.microsoft.com/office/drawing/2014/main" val="2895064453"/>
                    </a:ext>
                  </a:extLst>
                </a:gridCol>
                <a:gridCol w="2243759">
                  <a:extLst>
                    <a:ext uri="{9D8B030D-6E8A-4147-A177-3AD203B41FA5}">
                      <a16:colId xmlns:a16="http://schemas.microsoft.com/office/drawing/2014/main" val="3173995564"/>
                    </a:ext>
                  </a:extLst>
                </a:gridCol>
              </a:tblGrid>
              <a:tr h="192413">
                <a:tc rowSpan="2">
                  <a:txBody>
                    <a:bodyPr/>
                    <a:lstStyle/>
                    <a:p>
                      <a:pPr algn="ctr"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Фактор</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tx2">
                        <a:lumMod val="40000"/>
                        <a:lumOff val="60000"/>
                      </a:schemeClr>
                    </a:solidFill>
                  </a:tcPr>
                </a:tc>
                <a:tc gridSpan="2">
                  <a:txBody>
                    <a:bodyPr/>
                    <a:lstStyle/>
                    <a:p>
                      <a:pPr algn="ctr" fontAlgn="b"/>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Частота</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2">
                        <a:lumMod val="40000"/>
                        <a:lumOff val="60000"/>
                      </a:schemeClr>
                    </a:solidFill>
                  </a:tcPr>
                </a:tc>
                <a:tc hMerge="1">
                  <a:txBody>
                    <a:bodyPr/>
                    <a:lstStyle/>
                    <a:p>
                      <a:endParaRPr lang="ru-RU"/>
                    </a:p>
                  </a:txBody>
                  <a:tcPr/>
                </a:tc>
                <a:extLst>
                  <a:ext uri="{0D108BD9-81ED-4DB2-BD59-A6C34878D82A}">
                    <a16:rowId xmlns:a16="http://schemas.microsoft.com/office/drawing/2014/main" val="489072961"/>
                  </a:ext>
                </a:extLst>
              </a:tr>
              <a:tr h="923967">
                <a:tc vMerge="1">
                  <a:txBody>
                    <a:bodyPr/>
                    <a:lstStyle/>
                    <a:p>
                      <a:endParaRPr lang="ru-RU"/>
                    </a:p>
                  </a:txBody>
                  <a:tcPr/>
                </a:tc>
                <a:tc>
                  <a:txBody>
                    <a:bodyPr/>
                    <a:lstStyle/>
                    <a:p>
                      <a:pPr algn="ctr" fontAlgn="ctr"/>
                      <a:r>
                        <a:rPr lang="ru-RU" sz="1600" b="1" u="none" strike="noStrike" dirty="0">
                          <a:effectLst/>
                          <a:latin typeface="Tahoma" panose="020B0604030504040204" pitchFamily="34" charset="0"/>
                          <a:ea typeface="Tahoma" panose="020B0604030504040204" pitchFamily="34" charset="0"/>
                          <a:cs typeface="Tahoma" panose="020B0604030504040204" pitchFamily="34" charset="0"/>
                        </a:rPr>
                        <a:t>Высокая (</a:t>
                      </a:r>
                      <a:r>
                        <a:rPr lang="en-US" sz="1600" b="1" u="none" strike="noStrike" dirty="0">
                          <a:effectLst/>
                          <a:latin typeface="Tahoma" panose="020B0604030504040204" pitchFamily="34" charset="0"/>
                          <a:ea typeface="Tahoma" panose="020B0604030504040204" pitchFamily="34" charset="0"/>
                          <a:cs typeface="Tahoma" panose="020B0604030504040204" pitchFamily="34" charset="0"/>
                        </a:rPr>
                        <a:t>&gt;</a:t>
                      </a:r>
                      <a:r>
                        <a:rPr lang="ru-RU" sz="1600" b="1" u="none" strike="noStrike" dirty="0">
                          <a:effectLst/>
                          <a:latin typeface="Tahoma" panose="020B0604030504040204" pitchFamily="34" charset="0"/>
                          <a:ea typeface="Tahoma" panose="020B0604030504040204" pitchFamily="34" charset="0"/>
                          <a:cs typeface="Tahoma" panose="020B0604030504040204" pitchFamily="34" charset="0"/>
                        </a:rPr>
                        <a:t>60 Гц)</a:t>
                      </a:r>
                    </a:p>
                  </a:txBody>
                  <a:tcPr marL="9525" marR="9525" marT="9525" marB="0">
                    <a:solidFill>
                      <a:schemeClr val="accent3">
                        <a:lumMod val="60000"/>
                        <a:lumOff val="40000"/>
                      </a:schemeClr>
                    </a:solidFill>
                  </a:tcPr>
                </a:tc>
                <a:tc>
                  <a:txBody>
                    <a:bodyPr/>
                    <a:lstStyle/>
                    <a:p>
                      <a:pPr algn="ctr" fontAlgn="ctr"/>
                      <a:r>
                        <a:rPr lang="ru-RU" sz="1600" b="1" u="none" strike="noStrike" dirty="0">
                          <a:effectLst/>
                          <a:latin typeface="Tahoma" panose="020B0604030504040204" pitchFamily="34" charset="0"/>
                          <a:ea typeface="Tahoma" panose="020B0604030504040204" pitchFamily="34" charset="0"/>
                          <a:cs typeface="Tahoma" panose="020B0604030504040204" pitchFamily="34" charset="0"/>
                        </a:rPr>
                        <a:t>Низкая (</a:t>
                      </a:r>
                      <a:r>
                        <a:rPr lang="en-US" sz="1600" b="1" u="none" strike="noStrike" dirty="0">
                          <a:effectLst/>
                          <a:latin typeface="Tahoma" panose="020B0604030504040204" pitchFamily="34" charset="0"/>
                          <a:ea typeface="Tahoma" panose="020B0604030504040204" pitchFamily="34" charset="0"/>
                          <a:cs typeface="Tahoma" panose="020B0604030504040204" pitchFamily="34" charset="0"/>
                        </a:rPr>
                        <a:t>&lt;60 </a:t>
                      </a:r>
                      <a:r>
                        <a:rPr lang="ru-RU" sz="1600" b="1" u="none" strike="noStrike" dirty="0">
                          <a:effectLst/>
                          <a:latin typeface="Tahoma" panose="020B0604030504040204" pitchFamily="34" charset="0"/>
                          <a:ea typeface="Tahoma" panose="020B0604030504040204" pitchFamily="34" charset="0"/>
                          <a:cs typeface="Tahoma" panose="020B0604030504040204" pitchFamily="34" charset="0"/>
                        </a:rPr>
                        <a:t>Гц)</a:t>
                      </a:r>
                    </a:p>
                  </a:txBody>
                  <a:tcPr marL="9525" marR="9525" marT="9525" marB="0">
                    <a:lnR w="12700" cap="flat" cmpd="sng" algn="ctr">
                      <a:solidFill>
                        <a:schemeClr val="tx1"/>
                      </a:solidFill>
                      <a:prstDash val="solid"/>
                      <a:round/>
                      <a:headEnd type="none" w="med" len="med"/>
                      <a:tailEnd type="none" w="med" len="med"/>
                    </a:lnR>
                    <a:solidFill>
                      <a:schemeClr val="accent2">
                        <a:lumMod val="60000"/>
                        <a:lumOff val="40000"/>
                      </a:schemeClr>
                    </a:solidFill>
                  </a:tcPr>
                </a:tc>
                <a:extLst>
                  <a:ext uri="{0D108BD9-81ED-4DB2-BD59-A6C34878D82A}">
                    <a16:rowId xmlns:a16="http://schemas.microsoft.com/office/drawing/2014/main" val="610092657"/>
                  </a:ext>
                </a:extLst>
              </a:tr>
              <a:tr h="192413">
                <a:tc>
                  <a:txBody>
                    <a:bodyPr/>
                    <a:lstStyle/>
                    <a:p>
                      <a:pPr algn="l"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Расстояние</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pPr algn="ctr"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Близко</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solidFill>
                      <a:schemeClr val="accent3">
                        <a:lumMod val="60000"/>
                        <a:lumOff val="40000"/>
                      </a:schemeClr>
                    </a:solidFill>
                  </a:tcPr>
                </a:tc>
                <a:tc>
                  <a:txBody>
                    <a:bodyPr/>
                    <a:lstStyle/>
                    <a:p>
                      <a:pPr algn="ctr"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Далеко</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solidFill>
                      <a:schemeClr val="accent2">
                        <a:lumMod val="60000"/>
                        <a:lumOff val="40000"/>
                      </a:schemeClr>
                    </a:solidFill>
                  </a:tcPr>
                </a:tc>
                <a:extLst>
                  <a:ext uri="{0D108BD9-81ED-4DB2-BD59-A6C34878D82A}">
                    <a16:rowId xmlns:a16="http://schemas.microsoft.com/office/drawing/2014/main" val="2735201779"/>
                  </a:ext>
                </a:extLst>
              </a:tr>
              <a:tr h="192413">
                <a:tc>
                  <a:txBody>
                    <a:bodyPr/>
                    <a:lstStyle/>
                    <a:p>
                      <a:pPr algn="l"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Размер заряда</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pPr algn="ctr"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Малый </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solidFill>
                      <a:schemeClr val="accent3">
                        <a:lumMod val="60000"/>
                        <a:lumOff val="40000"/>
                      </a:schemeClr>
                    </a:solidFill>
                  </a:tcPr>
                </a:tc>
                <a:tc>
                  <a:txBody>
                    <a:bodyPr/>
                    <a:lstStyle/>
                    <a:p>
                      <a:pPr algn="ctr"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Большой</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solidFill>
                      <a:schemeClr val="accent2">
                        <a:lumMod val="60000"/>
                        <a:lumOff val="40000"/>
                      </a:schemeClr>
                    </a:solidFill>
                  </a:tcPr>
                </a:tc>
                <a:extLst>
                  <a:ext uri="{0D108BD9-81ED-4DB2-BD59-A6C34878D82A}">
                    <a16:rowId xmlns:a16="http://schemas.microsoft.com/office/drawing/2014/main" val="2550361827"/>
                  </a:ext>
                </a:extLst>
              </a:tr>
              <a:tr h="192413">
                <a:tc>
                  <a:txBody>
                    <a:bodyPr/>
                    <a:lstStyle/>
                    <a:p>
                      <a:pPr algn="l"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Локация</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pPr algn="ctr"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Подземка</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solidFill>
                      <a:schemeClr val="accent3">
                        <a:lumMod val="60000"/>
                        <a:lumOff val="40000"/>
                      </a:schemeClr>
                    </a:solidFill>
                  </a:tcPr>
                </a:tc>
                <a:tc>
                  <a:txBody>
                    <a:bodyPr/>
                    <a:lstStyle/>
                    <a:p>
                      <a:pPr algn="ctr"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Поверхность</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solidFill>
                      <a:schemeClr val="accent2">
                        <a:lumMod val="60000"/>
                        <a:lumOff val="40000"/>
                      </a:schemeClr>
                    </a:solidFill>
                  </a:tcPr>
                </a:tc>
                <a:extLst>
                  <a:ext uri="{0D108BD9-81ED-4DB2-BD59-A6C34878D82A}">
                    <a16:rowId xmlns:a16="http://schemas.microsoft.com/office/drawing/2014/main" val="4091177463"/>
                  </a:ext>
                </a:extLst>
              </a:tr>
              <a:tr h="192413">
                <a:tc>
                  <a:txBody>
                    <a:bodyPr/>
                    <a:lstStyle/>
                    <a:p>
                      <a:pPr algn="l"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Тип грунта</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Крепкий</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algn="ctr" fontAlgn="ctr"/>
                      <a:r>
                        <a:rPr lang="ru-RU" sz="1600" u="none" strike="noStrike" dirty="0">
                          <a:effectLst/>
                          <a:latin typeface="Tahoma" panose="020B0604030504040204" pitchFamily="34" charset="0"/>
                          <a:ea typeface="Tahoma" panose="020B0604030504040204" pitchFamily="34" charset="0"/>
                          <a:cs typeface="Tahoma" panose="020B0604030504040204" pitchFamily="34" charset="0"/>
                        </a:rPr>
                        <a:t>Рыхлый</a:t>
                      </a:r>
                      <a:endParaRPr lang="ru-RU" sz="16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174431358"/>
                  </a:ext>
                </a:extLst>
              </a:tr>
            </a:tbl>
          </a:graphicData>
        </a:graphic>
      </p:graphicFrame>
      <p:pic>
        <p:nvPicPr>
          <p:cNvPr id="27" name="Рисунок 26"/>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664408" y="4029642"/>
            <a:ext cx="1072386" cy="612000"/>
          </a:xfrm>
          <a:prstGeom prst="rect">
            <a:avLst/>
          </a:prstGeom>
          <a:effectLst>
            <a:softEdge rad="31750"/>
          </a:effectLst>
        </p:spPr>
      </p:pic>
      <p:pic>
        <p:nvPicPr>
          <p:cNvPr id="28" name="Рисунок 27"/>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715549" y="4029642"/>
            <a:ext cx="1478548" cy="612000"/>
          </a:xfrm>
          <a:prstGeom prst="rect">
            <a:avLst/>
          </a:prstGeom>
          <a:effectLst>
            <a:softEdge rad="31750"/>
          </a:effectLst>
        </p:spPr>
      </p:pic>
      <p:pic>
        <p:nvPicPr>
          <p:cNvPr id="29" name="Рисунок 28"/>
          <p:cNvPicPr>
            <a:picLocks noChangeAspect="1"/>
          </p:cNvPicPr>
          <p:nvPr/>
        </p:nvPicPr>
        <p:blipFill rotWithShape="1">
          <a:blip r:embed="rId5" cstate="email">
            <a:extLst>
              <a:ext uri="{28A0092B-C50C-407E-A947-70E740481C1C}">
                <a14:useLocalDpi xmlns:a14="http://schemas.microsoft.com/office/drawing/2010/main"/>
              </a:ext>
            </a:extLst>
          </a:blip>
          <a:srcRect t="1070"/>
          <a:stretch/>
        </p:blipFill>
        <p:spPr>
          <a:xfrm>
            <a:off x="7472085" y="1108328"/>
            <a:ext cx="3308985" cy="5115848"/>
          </a:xfrm>
          <a:prstGeom prst="rect">
            <a:avLst/>
          </a:prstGeom>
        </p:spPr>
      </p:pic>
      <p:pic>
        <p:nvPicPr>
          <p:cNvPr id="31" name="Рисунок 30"/>
          <p:cNvPicPr/>
          <p:nvPr/>
        </p:nvPicPr>
        <p:blipFill rotWithShape="1">
          <a:blip r:embed="rId6" cstate="screen">
            <a:extLst>
              <a:ext uri="{28A0092B-C50C-407E-A947-70E740481C1C}">
                <a14:useLocalDpi xmlns:a14="http://schemas.microsoft.com/office/drawing/2010/main"/>
              </a:ext>
            </a:extLst>
          </a:blip>
          <a:srcRect l="29880" r="24166" b="70872"/>
          <a:stretch/>
        </p:blipFill>
        <p:spPr bwMode="auto">
          <a:xfrm>
            <a:off x="1162128" y="5792895"/>
            <a:ext cx="1559743" cy="640614"/>
          </a:xfrm>
          <a:prstGeom prst="rect">
            <a:avLst/>
          </a:prstGeom>
          <a:ln>
            <a:noFill/>
          </a:ln>
          <a:extLst>
            <a:ext uri="{53640926-AAD7-44D8-BBD7-CCE9431645EC}">
              <a14:shadowObscured xmlns:a14="http://schemas.microsoft.com/office/drawing/2010/main"/>
            </a:ext>
          </a:extLst>
        </p:spPr>
      </p:pic>
      <p:pic>
        <p:nvPicPr>
          <p:cNvPr id="32" name="Рисунок 31"/>
          <p:cNvPicPr/>
          <p:nvPr/>
        </p:nvPicPr>
        <p:blipFill rotWithShape="1">
          <a:blip r:embed="rId7" cstate="screen">
            <a:extLst>
              <a:ext uri="{28A0092B-C50C-407E-A947-70E740481C1C}">
                <a14:useLocalDpi xmlns:a14="http://schemas.microsoft.com/office/drawing/2010/main"/>
              </a:ext>
            </a:extLst>
          </a:blip>
          <a:srcRect b="65655"/>
          <a:stretch/>
        </p:blipFill>
        <p:spPr bwMode="auto">
          <a:xfrm>
            <a:off x="3177966" y="5792895"/>
            <a:ext cx="3329931" cy="718328"/>
          </a:xfrm>
          <a:prstGeom prst="rect">
            <a:avLst/>
          </a:prstGeom>
          <a:ln>
            <a:noFill/>
          </a:ln>
          <a:extLst>
            <a:ext uri="{53640926-AAD7-44D8-BBD7-CCE9431645EC}">
              <a14:shadowObscured xmlns:a14="http://schemas.microsoft.com/office/drawing/2010/main"/>
            </a:ext>
          </a:extLst>
        </p:spPr>
      </p:pic>
      <p:sp>
        <p:nvSpPr>
          <p:cNvPr id="33" name="Прямоугольник 32">
            <a:extLst>
              <a:ext uri="{FF2B5EF4-FFF2-40B4-BE49-F238E27FC236}">
                <a16:creationId xmlns:a16="http://schemas.microsoft.com/office/drawing/2014/main" id="{B0E5AE17-1417-5ECA-97F4-41D227A6734C}"/>
              </a:ext>
            </a:extLst>
          </p:cNvPr>
          <p:cNvSpPr/>
          <p:nvPr/>
        </p:nvSpPr>
        <p:spPr>
          <a:xfrm>
            <a:off x="579380" y="764994"/>
            <a:ext cx="6021394" cy="459865"/>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Частоты для разных видов ВР по Китайскому стандарту (GB6722-2014)</a:t>
            </a:r>
          </a:p>
        </p:txBody>
      </p:sp>
      <p:sp>
        <p:nvSpPr>
          <p:cNvPr id="34" name="Текст 16">
            <a:extLst>
              <a:ext uri="{FF2B5EF4-FFF2-40B4-BE49-F238E27FC236}">
                <a16:creationId xmlns:a16="http://schemas.microsoft.com/office/drawing/2014/main" id="{4D17250A-797F-5A57-7B8F-D3BFAB7F8561}"/>
              </a:ext>
            </a:extLst>
          </p:cNvPr>
          <p:cNvSpPr txBox="1">
            <a:spLocks/>
          </p:cNvSpPr>
          <p:nvPr/>
        </p:nvSpPr>
        <p:spPr>
          <a:xfrm>
            <a:off x="1689040" y="880825"/>
            <a:ext cx="4800298" cy="166305"/>
          </a:xfrm>
          <a:prstGeom prst="rect">
            <a:avLst/>
          </a:prstGeom>
        </p:spPr>
        <p:txBody>
          <a:bodyPr vert="horz" lIns="0" tIns="0" rIns="0" bIns="0" rtlCol="0" anchor="t" anchorCtr="0">
            <a:noAutofit/>
          </a:bodyPr>
          <a:lstStyle>
            <a:lvl1pPr marL="0" indent="0" algn="ctr" defTabSz="864017" rtl="0" eaLnBrk="1" latinLnBrk="0" hangingPunct="1">
              <a:lnSpc>
                <a:spcPct val="120000"/>
              </a:lnSpc>
              <a:spcBef>
                <a:spcPts val="0"/>
              </a:spcBef>
              <a:buFont typeface="Arial" panose="020B0604020202020204" pitchFamily="34" charset="0"/>
              <a:buNone/>
              <a:tabLst/>
              <a:defRPr sz="1000" kern="1200">
                <a:solidFill>
                  <a:srgbClr val="0077C8"/>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endParaRPr lang="ru-RU" sz="1100" dirty="0">
              <a:solidFill>
                <a:schemeClr val="bg1"/>
              </a:solidFill>
            </a:endParaRPr>
          </a:p>
        </p:txBody>
      </p:sp>
      <p:sp>
        <p:nvSpPr>
          <p:cNvPr id="35" name="TextBox 34"/>
          <p:cNvSpPr txBox="1"/>
          <p:nvPr/>
        </p:nvSpPr>
        <p:spPr>
          <a:xfrm>
            <a:off x="8621486" y="1450786"/>
            <a:ext cx="1998514" cy="584775"/>
          </a:xfrm>
          <a:prstGeom prst="rect">
            <a:avLst/>
          </a:prstGeom>
          <a:solidFill>
            <a:schemeClr val="bg1"/>
          </a:solidFill>
        </p:spPr>
        <p:txBody>
          <a:bodyPr wrap="square" rtlCol="0">
            <a:spAutoFit/>
          </a:bodyPr>
          <a:lstStyle/>
          <a:p>
            <a:r>
              <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Взрывы на угольных разрезах</a:t>
            </a:r>
          </a:p>
        </p:txBody>
      </p:sp>
      <p:sp>
        <p:nvSpPr>
          <p:cNvPr id="36" name="TextBox 35"/>
          <p:cNvSpPr txBox="1"/>
          <p:nvPr/>
        </p:nvSpPr>
        <p:spPr>
          <a:xfrm>
            <a:off x="8716184" y="2092333"/>
            <a:ext cx="1882117" cy="338554"/>
          </a:xfrm>
          <a:prstGeom prst="rect">
            <a:avLst/>
          </a:prstGeom>
          <a:solidFill>
            <a:schemeClr val="bg1"/>
          </a:solidFill>
        </p:spPr>
        <p:txBody>
          <a:bodyPr wrap="square" rtlCol="0">
            <a:spAutoFit/>
          </a:bodyPr>
          <a:lstStyle/>
          <a:p>
            <a:r>
              <a:rPr lang="en-US"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d</a:t>
            </a:r>
            <a:r>
              <a:rPr lang="ru-RU" sz="1600" dirty="0" err="1">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зар</a:t>
            </a:r>
            <a:r>
              <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a:t>
            </a:r>
            <a:r>
              <a:rPr lang="en-US"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200-380</a:t>
            </a:r>
            <a:r>
              <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мм</a:t>
            </a:r>
          </a:p>
        </p:txBody>
      </p:sp>
      <p:sp>
        <p:nvSpPr>
          <p:cNvPr id="37" name="TextBox 36"/>
          <p:cNvSpPr txBox="1"/>
          <p:nvPr/>
        </p:nvSpPr>
        <p:spPr>
          <a:xfrm>
            <a:off x="8782707" y="2927755"/>
            <a:ext cx="1603992" cy="584775"/>
          </a:xfrm>
          <a:prstGeom prst="rect">
            <a:avLst/>
          </a:prstGeom>
          <a:solidFill>
            <a:schemeClr val="bg1"/>
          </a:solidFill>
        </p:spPr>
        <p:txBody>
          <a:bodyPr wrap="square" rtlCol="0">
            <a:spAutoFit/>
          </a:bodyPr>
          <a:lstStyle/>
          <a:p>
            <a:r>
              <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Взрывы на карьере</a:t>
            </a:r>
          </a:p>
        </p:txBody>
      </p:sp>
      <p:sp>
        <p:nvSpPr>
          <p:cNvPr id="38" name="TextBox 37"/>
          <p:cNvSpPr txBox="1"/>
          <p:nvPr/>
        </p:nvSpPr>
        <p:spPr>
          <a:xfrm>
            <a:off x="8930740" y="3428011"/>
            <a:ext cx="1689260" cy="338554"/>
          </a:xfrm>
          <a:prstGeom prst="rect">
            <a:avLst/>
          </a:prstGeom>
          <a:solidFill>
            <a:schemeClr val="bg1"/>
          </a:solidFill>
        </p:spPr>
        <p:txBody>
          <a:bodyPr wrap="square" rtlCol="0">
            <a:spAutoFit/>
          </a:bodyPr>
          <a:lstStyle/>
          <a:p>
            <a:r>
              <a:rPr lang="en-US"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d</a:t>
            </a:r>
            <a:r>
              <a:rPr lang="ru-RU" sz="1600" dirty="0" err="1">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зар</a:t>
            </a:r>
            <a:r>
              <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=76</a:t>
            </a:r>
            <a:r>
              <a:rPr lang="en-US"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a:t>
            </a:r>
            <a:r>
              <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150мм</a:t>
            </a:r>
          </a:p>
        </p:txBody>
      </p:sp>
      <p:sp>
        <p:nvSpPr>
          <p:cNvPr id="39" name="TextBox 38"/>
          <p:cNvSpPr txBox="1"/>
          <p:nvPr/>
        </p:nvSpPr>
        <p:spPr>
          <a:xfrm>
            <a:off x="8482884" y="4458784"/>
            <a:ext cx="1882116" cy="584775"/>
          </a:xfrm>
          <a:prstGeom prst="rect">
            <a:avLst/>
          </a:prstGeom>
          <a:solidFill>
            <a:schemeClr val="bg1"/>
          </a:solidFill>
        </p:spPr>
        <p:txBody>
          <a:bodyPr wrap="square" rtlCol="0">
            <a:spAutoFit/>
          </a:bodyPr>
          <a:lstStyle/>
          <a:p>
            <a:r>
              <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Взрывы на стройплощадках</a:t>
            </a:r>
          </a:p>
        </p:txBody>
      </p:sp>
      <p:sp>
        <p:nvSpPr>
          <p:cNvPr id="40" name="TextBox 39"/>
          <p:cNvSpPr txBox="1"/>
          <p:nvPr/>
        </p:nvSpPr>
        <p:spPr>
          <a:xfrm>
            <a:off x="8909041" y="4970055"/>
            <a:ext cx="1689260" cy="338554"/>
          </a:xfrm>
          <a:prstGeom prst="rect">
            <a:avLst/>
          </a:prstGeom>
          <a:solidFill>
            <a:schemeClr val="bg1"/>
          </a:solidFill>
        </p:spPr>
        <p:txBody>
          <a:bodyPr wrap="square" rtlCol="0">
            <a:spAutoFit/>
          </a:bodyPr>
          <a:lstStyle/>
          <a:p>
            <a:r>
              <a:rPr lang="en-US"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d</a:t>
            </a:r>
            <a:r>
              <a:rPr lang="ru-RU" sz="1600" dirty="0" err="1">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зар</a:t>
            </a:r>
            <a:r>
              <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=25</a:t>
            </a:r>
            <a:r>
              <a:rPr lang="en-US"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a:t>
            </a:r>
            <a:r>
              <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76мм</a:t>
            </a:r>
          </a:p>
        </p:txBody>
      </p:sp>
      <p:sp>
        <p:nvSpPr>
          <p:cNvPr id="41" name="TextBox 40"/>
          <p:cNvSpPr txBox="1"/>
          <p:nvPr/>
        </p:nvSpPr>
        <p:spPr>
          <a:xfrm>
            <a:off x="7950174" y="6087608"/>
            <a:ext cx="2990934" cy="338554"/>
          </a:xfrm>
          <a:prstGeom prst="rect">
            <a:avLst/>
          </a:prstGeom>
          <a:solidFill>
            <a:schemeClr val="bg1"/>
          </a:solidFill>
        </p:spPr>
        <p:txBody>
          <a:bodyPr wrap="square" rtlCol="0">
            <a:spAutoFit/>
          </a:bodyPr>
          <a:lstStyle/>
          <a:p>
            <a:r>
              <a:rPr lang="ru-RU" sz="1600"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Преобладающая частота, Гц</a:t>
            </a:r>
          </a:p>
        </p:txBody>
      </p:sp>
      <p:sp>
        <p:nvSpPr>
          <p:cNvPr id="42" name="TextBox 41"/>
          <p:cNvSpPr txBox="1"/>
          <p:nvPr/>
        </p:nvSpPr>
        <p:spPr>
          <a:xfrm>
            <a:off x="7977482" y="671787"/>
            <a:ext cx="2642518" cy="584775"/>
          </a:xfrm>
          <a:prstGeom prst="rect">
            <a:avLst/>
          </a:prstGeom>
          <a:noFill/>
        </p:spPr>
        <p:txBody>
          <a:bodyPr wrap="square" rtlCol="0">
            <a:spAutoFit/>
          </a:bodyPr>
          <a:lstStyle/>
          <a:p>
            <a:pPr algn="ctr"/>
            <a:r>
              <a:rPr lang="ru-RU" sz="1600" b="1" dirty="0">
                <a:solidFill>
                  <a:schemeClr val="accent2">
                    <a:lumMod val="75000"/>
                  </a:schemeClr>
                </a:solidFill>
                <a:latin typeface="Tahoma" panose="020B0604030504040204" pitchFamily="34" charset="0"/>
                <a:ea typeface="Tahoma" panose="020B0604030504040204" pitchFamily="34" charset="0"/>
                <a:cs typeface="Tahoma" panose="020B0604030504040204" pitchFamily="34" charset="0"/>
              </a:rPr>
              <a:t>Исследования Горного Бюро США</a:t>
            </a:r>
          </a:p>
        </p:txBody>
      </p:sp>
      <p:sp>
        <p:nvSpPr>
          <p:cNvPr id="43" name="Прямоугольник 42">
            <a:extLst>
              <a:ext uri="{FF2B5EF4-FFF2-40B4-BE49-F238E27FC236}">
                <a16:creationId xmlns:a16="http://schemas.microsoft.com/office/drawing/2014/main" id="{B0E5AE17-1417-5ECA-97F4-41D227A6734C}"/>
              </a:ext>
            </a:extLst>
          </p:cNvPr>
          <p:cNvSpPr/>
          <p:nvPr/>
        </p:nvSpPr>
        <p:spPr>
          <a:xfrm>
            <a:off x="579385" y="2927755"/>
            <a:ext cx="6021389" cy="490426"/>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bg1"/>
                </a:solidFill>
              </a:rPr>
              <a:t>Факторы, определяющие частотный состав при взрыве одиночного заряда</a:t>
            </a:r>
          </a:p>
        </p:txBody>
      </p:sp>
    </p:spTree>
    <p:extLst>
      <p:ext uri="{BB962C8B-B14F-4D97-AF65-F5344CB8AC3E}">
        <p14:creationId xmlns:p14="http://schemas.microsoft.com/office/powerpoint/2010/main" val="2220921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10" name="Таблица 3">
                <a:extLst>
                  <a:ext uri="{FF2B5EF4-FFF2-40B4-BE49-F238E27FC236}">
                    <a16:creationId xmlns:a16="http://schemas.microsoft.com/office/drawing/2014/main" id="{2EC01953-3866-236C-9B89-D7044511B9A0}"/>
                  </a:ext>
                </a:extLst>
              </p:cNvPr>
              <p:cNvGraphicFramePr>
                <a:graphicFrameLocks noGrp="1"/>
              </p:cNvGraphicFramePr>
              <p:nvPr>
                <p:extLst>
                  <p:ext uri="{D42A27DB-BD31-4B8C-83A1-F6EECF244321}">
                    <p14:modId xmlns:p14="http://schemas.microsoft.com/office/powerpoint/2010/main" val="3228911405"/>
                  </p:ext>
                </p:extLst>
              </p:nvPr>
            </p:nvGraphicFramePr>
            <p:xfrm>
              <a:off x="385813" y="955975"/>
              <a:ext cx="10748862" cy="5256060"/>
            </p:xfrm>
            <a:graphic>
              <a:graphicData uri="http://schemas.openxmlformats.org/drawingml/2006/table">
                <a:tbl>
                  <a:tblPr firstRow="1" bandRow="1">
                    <a:tableStyleId>{5940675A-B579-460E-94D1-54222C63F5DA}</a:tableStyleId>
                  </a:tblPr>
                  <a:tblGrid>
                    <a:gridCol w="782672">
                      <a:extLst>
                        <a:ext uri="{9D8B030D-6E8A-4147-A177-3AD203B41FA5}">
                          <a16:colId xmlns:a16="http://schemas.microsoft.com/office/drawing/2014/main" val="1106284347"/>
                        </a:ext>
                      </a:extLst>
                    </a:gridCol>
                    <a:gridCol w="4997590">
                      <a:extLst>
                        <a:ext uri="{9D8B030D-6E8A-4147-A177-3AD203B41FA5}">
                          <a16:colId xmlns:a16="http://schemas.microsoft.com/office/drawing/2014/main" val="2523526885"/>
                        </a:ext>
                      </a:extLst>
                    </a:gridCol>
                    <a:gridCol w="4968600">
                      <a:extLst>
                        <a:ext uri="{9D8B030D-6E8A-4147-A177-3AD203B41FA5}">
                          <a16:colId xmlns:a16="http://schemas.microsoft.com/office/drawing/2014/main" val="1726859340"/>
                        </a:ext>
                      </a:extLst>
                    </a:gridCol>
                  </a:tblGrid>
                  <a:tr h="1168756">
                    <a:tc>
                      <a:txBody>
                        <a:bodyPr/>
                        <a:lstStyle/>
                        <a:p>
                          <a:pPr algn="ctr"/>
                          <a:r>
                            <a:rPr lang="ru-RU" sz="1600" dirty="0">
                              <a:solidFill>
                                <a:schemeClr val="tx2">
                                  <a:lumMod val="75000"/>
                                </a:schemeClr>
                              </a:solidFill>
                              <a:latin typeface="Tahoma" panose="020B0604030504040204" pitchFamily="34" charset="0"/>
                            </a:rPr>
                            <a:t>Горное дело</a:t>
                          </a:r>
                          <a:endParaRPr lang="en-US" sz="1600" dirty="0">
                            <a:solidFill>
                              <a:schemeClr val="tx2">
                                <a:lumMod val="75000"/>
                              </a:schemeClr>
                            </a:solidFill>
                            <a:latin typeface="Tahoma" panose="020B0604030504040204" pitchFamily="34" charset="0"/>
                          </a:endParaRPr>
                        </a:p>
                      </a:txBody>
                      <a:tcPr marL="86402" marR="86402" marT="43201" marB="43201" vert="vert270" anchor="ctr">
                        <a:lnL w="12700" cap="flat" cmpd="sng" algn="ctr">
                          <a:solidFill>
                            <a:srgbClr val="89B6C3"/>
                          </a:solidFill>
                          <a:prstDash val="solid"/>
                          <a:round/>
                          <a:headEnd type="none" w="med" len="med"/>
                          <a:tailEnd type="none" w="med" len="med"/>
                        </a:lnL>
                        <a:lnR w="12700" cap="flat" cmpd="sng" algn="ctr">
                          <a:solidFill>
                            <a:srgbClr val="89B6C3"/>
                          </a:solidFill>
                          <a:prstDash val="solid"/>
                          <a:round/>
                          <a:headEnd type="none" w="med" len="med"/>
                          <a:tailEnd type="none" w="med" len="med"/>
                        </a:lnR>
                        <a:lnT w="12700" cap="flat" cmpd="sng" algn="ctr">
                          <a:solidFill>
                            <a:srgbClr val="89B6C3"/>
                          </a:solidFill>
                          <a:prstDash val="solid"/>
                          <a:round/>
                          <a:headEnd type="none" w="med" len="med"/>
                          <a:tailEnd type="none" w="med" len="med"/>
                        </a:lnT>
                        <a:lnB w="12700" cap="flat" cmpd="sng" algn="ctr">
                          <a:solidFill>
                            <a:srgbClr val="89B6C3"/>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1600" b="1" i="0" kern="1200" dirty="0">
                              <a:solidFill>
                                <a:schemeClr val="tx2">
                                  <a:lumMod val="75000"/>
                                </a:schemeClr>
                              </a:solidFill>
                              <a:effectLst/>
                              <a:latin typeface="Tahoma" panose="020B0604030504040204" pitchFamily="34" charset="0"/>
                              <a:ea typeface="+mn-ea"/>
                              <a:cs typeface="+mn-cs"/>
                            </a:rPr>
                            <a:t>Формула М.А. Садовского</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ru-RU" sz="1600" i="1" kern="1200" smtClean="0">
                                    <a:solidFill>
                                      <a:schemeClr val="tx2">
                                        <a:lumMod val="75000"/>
                                      </a:schemeClr>
                                    </a:solidFill>
                                    <a:effectLst/>
                                    <a:latin typeface="Cambria Math" panose="02040503050406030204" pitchFamily="18" charset="0"/>
                                    <a:ea typeface="+mn-ea"/>
                                    <a:cs typeface="+mn-cs"/>
                                  </a:rPr>
                                  <m:t>𝑉</m:t>
                                </m:r>
                                <m:r>
                                  <a:rPr lang="ru-RU" sz="1600" i="1" kern="1200" smtClean="0">
                                    <a:solidFill>
                                      <a:schemeClr val="tx2">
                                        <a:lumMod val="75000"/>
                                      </a:schemeClr>
                                    </a:solidFill>
                                    <a:effectLst/>
                                    <a:latin typeface="Cambria Math" panose="02040503050406030204" pitchFamily="18" charset="0"/>
                                    <a:ea typeface="+mn-ea"/>
                                    <a:cs typeface="+mn-cs"/>
                                  </a:rPr>
                                  <m:t>=</m:t>
                                </m:r>
                                <m:r>
                                  <a:rPr lang="ru-RU" sz="1600" i="1" kern="1200" smtClean="0">
                                    <a:solidFill>
                                      <a:schemeClr val="tx2">
                                        <a:lumMod val="75000"/>
                                      </a:schemeClr>
                                    </a:solidFill>
                                    <a:effectLst/>
                                    <a:latin typeface="Cambria Math" panose="02040503050406030204" pitchFamily="18" charset="0"/>
                                    <a:ea typeface="+mn-ea"/>
                                    <a:cs typeface="+mn-cs"/>
                                  </a:rPr>
                                  <m:t>𝐾</m:t>
                                </m:r>
                                <m:r>
                                  <a:rPr lang="ru-RU" sz="1600" i="1" kern="1200" smtClean="0">
                                    <a:solidFill>
                                      <a:schemeClr val="tx2">
                                        <a:lumMod val="75000"/>
                                      </a:schemeClr>
                                    </a:solidFill>
                                    <a:effectLst/>
                                    <a:latin typeface="Cambria Math" panose="02040503050406030204" pitchFamily="18" charset="0"/>
                                    <a:ea typeface="+mn-ea"/>
                                    <a:cs typeface="+mn-cs"/>
                                  </a:rPr>
                                  <m:t>∙</m:t>
                                </m:r>
                                <m:sSup>
                                  <m:sSupPr>
                                    <m:ctrlPr>
                                      <a:rPr lang="ru-RU" sz="1600" i="1" kern="1200" smtClean="0">
                                        <a:solidFill>
                                          <a:schemeClr val="tx2">
                                            <a:lumMod val="75000"/>
                                          </a:schemeClr>
                                        </a:solidFill>
                                        <a:effectLst/>
                                        <a:latin typeface="Cambria Math" panose="02040503050406030204" pitchFamily="18" charset="0"/>
                                        <a:ea typeface="+mn-ea"/>
                                        <a:cs typeface="+mn-cs"/>
                                      </a:rPr>
                                    </m:ctrlPr>
                                  </m:sSupPr>
                                  <m:e>
                                    <m:d>
                                      <m:dPr>
                                        <m:ctrlPr>
                                          <a:rPr lang="ru-RU" sz="1600" b="0" i="1" kern="1200" smtClean="0">
                                            <a:solidFill>
                                              <a:schemeClr val="tx2">
                                                <a:lumMod val="75000"/>
                                              </a:schemeClr>
                                            </a:solidFill>
                                            <a:effectLst/>
                                            <a:latin typeface="Cambria Math" panose="02040503050406030204" pitchFamily="18" charset="0"/>
                                            <a:ea typeface="+mn-ea"/>
                                            <a:cs typeface="+mn-cs"/>
                                          </a:rPr>
                                        </m:ctrlPr>
                                      </m:dPr>
                                      <m:e>
                                        <m:f>
                                          <m:fPr>
                                            <m:ctrlPr>
                                              <a:rPr lang="en-US" sz="1600" i="1" kern="1200">
                                                <a:solidFill>
                                                  <a:schemeClr val="tx2">
                                                    <a:lumMod val="75000"/>
                                                  </a:schemeClr>
                                                </a:solidFill>
                                                <a:effectLst/>
                                                <a:latin typeface="Cambria Math" panose="02040503050406030204" pitchFamily="18" charset="0"/>
                                                <a:ea typeface="+mn-ea"/>
                                                <a:cs typeface="+mn-cs"/>
                                              </a:rPr>
                                            </m:ctrlPr>
                                          </m:fPr>
                                          <m:num>
                                            <m:r>
                                              <a:rPr lang="en-US" sz="1600" i="1" kern="1200">
                                                <a:solidFill>
                                                  <a:schemeClr val="tx2">
                                                    <a:lumMod val="75000"/>
                                                  </a:schemeClr>
                                                </a:solidFill>
                                                <a:effectLst/>
                                                <a:latin typeface="Cambria Math" panose="02040503050406030204" pitchFamily="18" charset="0"/>
                                                <a:ea typeface="+mn-ea"/>
                                                <a:cs typeface="+mn-cs"/>
                                              </a:rPr>
                                              <m:t>𝑟</m:t>
                                            </m:r>
                                          </m:num>
                                          <m:den>
                                            <m:rad>
                                              <m:radPr>
                                                <m:ctrlPr>
                                                  <a:rPr lang="en-US" sz="1600" i="1" kern="1200">
                                                    <a:solidFill>
                                                      <a:schemeClr val="tx2">
                                                        <a:lumMod val="75000"/>
                                                      </a:schemeClr>
                                                    </a:solidFill>
                                                    <a:effectLst/>
                                                    <a:latin typeface="Cambria Math" panose="02040503050406030204" pitchFamily="18" charset="0"/>
                                                    <a:ea typeface="+mn-ea"/>
                                                    <a:cs typeface="+mn-cs"/>
                                                  </a:rPr>
                                                </m:ctrlPr>
                                              </m:radPr>
                                              <m:deg>
                                                <m:r>
                                                  <a:rPr lang="ru-RU" sz="1600" i="1" kern="1200">
                                                    <a:solidFill>
                                                      <a:schemeClr val="tx2">
                                                        <a:lumMod val="75000"/>
                                                      </a:schemeClr>
                                                    </a:solidFill>
                                                    <a:effectLst/>
                                                    <a:latin typeface="Cambria Math" panose="02040503050406030204" pitchFamily="18" charset="0"/>
                                                    <a:ea typeface="+mn-ea"/>
                                                    <a:cs typeface="+mn-cs"/>
                                                  </a:rPr>
                                                  <m:t>3</m:t>
                                                </m:r>
                                              </m:deg>
                                              <m:e>
                                                <m:r>
                                                  <a:rPr lang="ru-RU" sz="1600" i="1" kern="1200">
                                                    <a:solidFill>
                                                      <a:schemeClr val="tx2">
                                                        <a:lumMod val="75000"/>
                                                      </a:schemeClr>
                                                    </a:solidFill>
                                                    <a:effectLst/>
                                                    <a:latin typeface="Cambria Math" panose="02040503050406030204" pitchFamily="18" charset="0"/>
                                                    <a:ea typeface="+mn-ea"/>
                                                    <a:cs typeface="+mn-cs"/>
                                                  </a:rPr>
                                                  <m:t>𝑄</m:t>
                                                </m:r>
                                              </m:e>
                                            </m:rad>
                                          </m:den>
                                        </m:f>
                                      </m:e>
                                    </m:d>
                                  </m:e>
                                  <m:sup>
                                    <m:r>
                                      <a:rPr lang="ru-RU" sz="1600" i="1" kern="1200" smtClean="0">
                                        <a:solidFill>
                                          <a:schemeClr val="tx2">
                                            <a:lumMod val="75000"/>
                                          </a:schemeClr>
                                        </a:solidFill>
                                        <a:effectLst/>
                                        <a:latin typeface="Cambria Math" panose="02040503050406030204" pitchFamily="18" charset="0"/>
                                        <a:ea typeface="+mn-ea"/>
                                        <a:cs typeface="+mn-cs"/>
                                      </a:rPr>
                                      <m:t>−</m:t>
                                    </m:r>
                                    <m:r>
                                      <a:rPr lang="en-US" sz="1600" i="1" kern="1200">
                                        <a:solidFill>
                                          <a:schemeClr val="tx2">
                                            <a:lumMod val="75000"/>
                                          </a:schemeClr>
                                        </a:solidFill>
                                        <a:effectLst/>
                                        <a:latin typeface="Cambria Math" panose="02040503050406030204" pitchFamily="18" charset="0"/>
                                        <a:ea typeface="+mn-ea"/>
                                        <a:cs typeface="+mn-cs"/>
                                      </a:rPr>
                                      <m:t>𝑛</m:t>
                                    </m:r>
                                  </m:sup>
                                </m:sSup>
                              </m:oMath>
                            </m:oMathPara>
                          </a14:m>
                          <a:endParaRPr lang="en-US" sz="1600" dirty="0">
                            <a:solidFill>
                              <a:schemeClr val="tx2">
                                <a:lumMod val="75000"/>
                              </a:schemeClr>
                            </a:solidFill>
                            <a:latin typeface="Tahoma" panose="020B0604030504040204" pitchFamily="34" charset="0"/>
                          </a:endParaRPr>
                        </a:p>
                      </a:txBody>
                      <a:tcPr marL="86402" marR="86402" marT="43201" marB="43201" anchor="ctr">
                        <a:lnL w="12700" cap="flat" cmpd="sng" algn="ctr">
                          <a:solidFill>
                            <a:srgbClr val="89B6C3"/>
                          </a:solidFill>
                          <a:prstDash val="solid"/>
                          <a:round/>
                          <a:headEnd type="none" w="med" len="med"/>
                          <a:tailEnd type="none" w="med" len="med"/>
                        </a:lnL>
                        <a:lnR w="12700" cap="flat" cmpd="sng" algn="ctr">
                          <a:solidFill>
                            <a:srgbClr val="89B6C3"/>
                          </a:solidFill>
                          <a:prstDash val="solid"/>
                          <a:round/>
                          <a:headEnd type="none" w="med" len="med"/>
                          <a:tailEnd type="none" w="med" len="med"/>
                        </a:lnR>
                        <a:lnT w="12700" cap="flat" cmpd="sng" algn="ctr">
                          <a:solidFill>
                            <a:srgbClr val="89B6C3"/>
                          </a:solidFill>
                          <a:prstDash val="solid"/>
                          <a:round/>
                          <a:headEnd type="none" w="med" len="med"/>
                          <a:tailEnd type="none" w="med" len="med"/>
                        </a:lnT>
                        <a:lnB w="12700" cap="flat" cmpd="sng" algn="ctr">
                          <a:solidFill>
                            <a:srgbClr val="89B6C3"/>
                          </a:solidFill>
                          <a:prstDash val="solid"/>
                          <a:round/>
                          <a:headEnd type="none" w="med" len="med"/>
                          <a:tailEnd type="none" w="med" len="med"/>
                        </a:lnB>
                      </a:tcPr>
                    </a:tc>
                    <a:tc>
                      <a:txBody>
                        <a:bodyPr/>
                        <a:lstStyle/>
                        <a:p>
                          <a:pPr algn="l"/>
                          <a14:m>
                            <m:oMath xmlns:m="http://schemas.openxmlformats.org/officeDocument/2006/math">
                              <m:r>
                                <a:rPr lang="ru-RU" sz="1600" i="1" kern="1200" smtClean="0">
                                  <a:solidFill>
                                    <a:schemeClr val="tx2">
                                      <a:lumMod val="75000"/>
                                    </a:schemeClr>
                                  </a:solidFill>
                                  <a:effectLst/>
                                  <a:latin typeface="Cambria Math" panose="02040503050406030204" pitchFamily="18" charset="0"/>
                                  <a:ea typeface="+mn-ea"/>
                                  <a:cs typeface="+mn-cs"/>
                                </a:rPr>
                                <m:t>𝑉</m:t>
                              </m:r>
                            </m:oMath>
                          </a14:m>
                          <a:r>
                            <a:rPr lang="ru-RU" sz="1600" kern="1200" dirty="0">
                              <a:solidFill>
                                <a:schemeClr val="tx2">
                                  <a:lumMod val="75000"/>
                                </a:schemeClr>
                              </a:solidFill>
                              <a:effectLst/>
                              <a:latin typeface="Tahoma" panose="020B0604030504040204" pitchFamily="34" charset="0"/>
                              <a:ea typeface="+mn-ea"/>
                              <a:cs typeface="+mn-cs"/>
                            </a:rPr>
                            <a:t> - скорость смещения;</a:t>
                          </a:r>
                        </a:p>
                        <a:p>
                          <a:pPr algn="l"/>
                          <a14:m>
                            <m:oMath xmlns:m="http://schemas.openxmlformats.org/officeDocument/2006/math">
                              <m:r>
                                <a:rPr lang="ru-RU" sz="1600" i="1" kern="1200" smtClean="0">
                                  <a:solidFill>
                                    <a:schemeClr val="tx2">
                                      <a:lumMod val="75000"/>
                                    </a:schemeClr>
                                  </a:solidFill>
                                  <a:effectLst/>
                                  <a:latin typeface="Cambria Math" panose="02040503050406030204" pitchFamily="18" charset="0"/>
                                  <a:ea typeface="+mn-ea"/>
                                  <a:cs typeface="+mn-cs"/>
                                </a:rPr>
                                <m:t>𝐾</m:t>
                              </m:r>
                              <m:r>
                                <a:rPr lang="en-US" sz="1600" b="0" i="1" kern="1200" smtClean="0">
                                  <a:solidFill>
                                    <a:schemeClr val="tx2">
                                      <a:lumMod val="75000"/>
                                    </a:schemeClr>
                                  </a:solidFill>
                                  <a:effectLst/>
                                  <a:latin typeface="Cambria Math" panose="02040503050406030204" pitchFamily="18" charset="0"/>
                                  <a:ea typeface="+mn-ea"/>
                                  <a:cs typeface="+mn-cs"/>
                                </a:rPr>
                                <m:t>,</m:t>
                              </m:r>
                              <m:r>
                                <a:rPr lang="en-US" sz="1600" i="1" kern="1200" smtClean="0">
                                  <a:solidFill>
                                    <a:schemeClr val="tx2">
                                      <a:lumMod val="75000"/>
                                    </a:schemeClr>
                                  </a:solidFill>
                                  <a:effectLst/>
                                  <a:latin typeface="Cambria Math" panose="02040503050406030204" pitchFamily="18" charset="0"/>
                                  <a:ea typeface="+mn-ea"/>
                                  <a:cs typeface="+mn-cs"/>
                                </a:rPr>
                                <m:t>𝑛</m:t>
                              </m:r>
                            </m:oMath>
                          </a14:m>
                          <a:r>
                            <a:rPr lang="ru-RU" sz="1600" kern="1200" dirty="0">
                              <a:solidFill>
                                <a:schemeClr val="tx2">
                                  <a:lumMod val="75000"/>
                                </a:schemeClr>
                              </a:solidFill>
                              <a:effectLst/>
                              <a:latin typeface="Tahoma" panose="020B0604030504040204" pitchFamily="34" charset="0"/>
                              <a:ea typeface="+mn-ea"/>
                              <a:cs typeface="+mn-cs"/>
                            </a:rPr>
                            <a:t>- коэффициенты сейсмичности;</a:t>
                          </a:r>
                        </a:p>
                        <a:p>
                          <a:pPr algn="l"/>
                          <a14:m>
                            <m:oMath xmlns:m="http://schemas.openxmlformats.org/officeDocument/2006/math">
                              <m:r>
                                <a:rPr lang="en-US" sz="1600" i="1" kern="1200" smtClean="0">
                                  <a:solidFill>
                                    <a:schemeClr val="tx2">
                                      <a:lumMod val="75000"/>
                                    </a:schemeClr>
                                  </a:solidFill>
                                  <a:effectLst/>
                                  <a:latin typeface="Cambria Math" panose="02040503050406030204" pitchFamily="18" charset="0"/>
                                  <a:ea typeface="+mn-ea"/>
                                  <a:cs typeface="+mn-cs"/>
                                </a:rPr>
                                <m:t>𝑟</m:t>
                              </m:r>
                            </m:oMath>
                          </a14:m>
                          <a:r>
                            <a:rPr lang="ru-RU" sz="1600" kern="1200" dirty="0">
                              <a:solidFill>
                                <a:schemeClr val="tx2">
                                  <a:lumMod val="75000"/>
                                </a:schemeClr>
                              </a:solidFill>
                              <a:effectLst/>
                              <a:latin typeface="Tahoma" panose="020B0604030504040204" pitchFamily="34" charset="0"/>
                              <a:ea typeface="+mn-ea"/>
                              <a:cs typeface="+mn-cs"/>
                            </a:rPr>
                            <a:t> - кратчайшее расстояние от взрыва до здания;</a:t>
                          </a:r>
                        </a:p>
                        <a:p>
                          <a:pPr algn="l"/>
                          <a14:m>
                            <m:oMath xmlns:m="http://schemas.openxmlformats.org/officeDocument/2006/math">
                              <m:r>
                                <a:rPr lang="ru-RU" sz="1600" i="1" kern="1200" smtClean="0">
                                  <a:solidFill>
                                    <a:schemeClr val="tx2">
                                      <a:lumMod val="75000"/>
                                    </a:schemeClr>
                                  </a:solidFill>
                                  <a:effectLst/>
                                  <a:latin typeface="Cambria Math" panose="02040503050406030204" pitchFamily="18" charset="0"/>
                                  <a:ea typeface="+mn-ea"/>
                                  <a:cs typeface="+mn-cs"/>
                                </a:rPr>
                                <m:t>𝑄</m:t>
                              </m:r>
                            </m:oMath>
                          </a14:m>
                          <a:r>
                            <a:rPr lang="ru-RU" sz="1600" kern="1200" dirty="0">
                              <a:solidFill>
                                <a:schemeClr val="tx2">
                                  <a:lumMod val="75000"/>
                                </a:schemeClr>
                              </a:solidFill>
                              <a:effectLst/>
                              <a:latin typeface="Tahoma" panose="020B0604030504040204" pitchFamily="34" charset="0"/>
                              <a:ea typeface="+mn-ea"/>
                              <a:cs typeface="+mn-cs"/>
                            </a:rPr>
                            <a:t> </a:t>
                          </a:r>
                          <a:r>
                            <a:rPr lang="en-US" sz="1600" kern="1200" dirty="0">
                              <a:solidFill>
                                <a:schemeClr val="tx2">
                                  <a:lumMod val="75000"/>
                                </a:schemeClr>
                              </a:solidFill>
                              <a:effectLst/>
                              <a:latin typeface="Tahoma" panose="020B0604030504040204" pitchFamily="34" charset="0"/>
                              <a:ea typeface="+mn-ea"/>
                              <a:cs typeface="+mn-cs"/>
                            </a:rPr>
                            <a:t>-</a:t>
                          </a:r>
                          <a:r>
                            <a:rPr lang="ru-RU" sz="1600" kern="1200" dirty="0">
                              <a:solidFill>
                                <a:schemeClr val="tx2">
                                  <a:lumMod val="75000"/>
                                </a:schemeClr>
                              </a:solidFill>
                              <a:effectLst/>
                              <a:latin typeface="Tahoma" panose="020B0604030504040204" pitchFamily="34" charset="0"/>
                              <a:ea typeface="+mn-ea"/>
                              <a:cs typeface="+mn-cs"/>
                            </a:rPr>
                            <a:t> масса единовременно взрываемого заряда, кг</a:t>
                          </a:r>
                          <a:r>
                            <a:rPr lang="en-US" sz="1600" kern="1200" dirty="0">
                              <a:solidFill>
                                <a:schemeClr val="tx2">
                                  <a:lumMod val="75000"/>
                                </a:schemeClr>
                              </a:solidFill>
                              <a:effectLst/>
                              <a:latin typeface="Tahoma" panose="020B0604030504040204" pitchFamily="34" charset="0"/>
                              <a:ea typeface="+mn-ea"/>
                              <a:cs typeface="+mn-cs"/>
                            </a:rPr>
                            <a:t>.</a:t>
                          </a:r>
                          <a:endParaRPr lang="en-US" sz="1600" dirty="0">
                            <a:solidFill>
                              <a:schemeClr val="tx2">
                                <a:lumMod val="75000"/>
                              </a:schemeClr>
                            </a:solidFill>
                            <a:latin typeface="Tahoma" panose="020B0604030504040204" pitchFamily="34" charset="0"/>
                          </a:endParaRPr>
                        </a:p>
                      </a:txBody>
                      <a:tcPr marL="86402" marR="86402" marT="43201" marB="43201" anchor="ctr">
                        <a:lnL w="12700" cap="flat" cmpd="sng" algn="ctr">
                          <a:solidFill>
                            <a:srgbClr val="89B6C3"/>
                          </a:solidFill>
                          <a:prstDash val="solid"/>
                          <a:round/>
                          <a:headEnd type="none" w="med" len="med"/>
                          <a:tailEnd type="none" w="med" len="med"/>
                        </a:lnL>
                        <a:lnR w="12700" cap="flat" cmpd="sng" algn="ctr">
                          <a:solidFill>
                            <a:srgbClr val="89B6C3"/>
                          </a:solidFill>
                          <a:prstDash val="solid"/>
                          <a:round/>
                          <a:headEnd type="none" w="med" len="med"/>
                          <a:tailEnd type="none" w="med" len="med"/>
                        </a:lnR>
                        <a:lnT w="12700" cap="flat" cmpd="sng" algn="ctr">
                          <a:solidFill>
                            <a:srgbClr val="89B6C3"/>
                          </a:solidFill>
                          <a:prstDash val="solid"/>
                          <a:round/>
                          <a:headEnd type="none" w="med" len="med"/>
                          <a:tailEnd type="none" w="med" len="med"/>
                        </a:lnT>
                        <a:lnB w="12700" cap="flat" cmpd="sng" algn="ctr">
                          <a:solidFill>
                            <a:srgbClr val="89B6C3"/>
                          </a:solidFill>
                          <a:prstDash val="solid"/>
                          <a:round/>
                          <a:headEnd type="none" w="med" len="med"/>
                          <a:tailEnd type="none" w="med" len="med"/>
                        </a:lnB>
                      </a:tcPr>
                    </a:tc>
                    <a:extLst>
                      <a:ext uri="{0D108BD9-81ED-4DB2-BD59-A6C34878D82A}">
                        <a16:rowId xmlns:a16="http://schemas.microsoft.com/office/drawing/2014/main" val="246253721"/>
                      </a:ext>
                    </a:extLst>
                  </a:tr>
                  <a:tr h="2048876">
                    <a:tc rowSpan="2">
                      <a:txBody>
                        <a:bodyPr/>
                        <a:lstStyle/>
                        <a:p>
                          <a:pPr algn="ctr"/>
                          <a:r>
                            <a:rPr lang="ru-RU" sz="1600" dirty="0">
                              <a:solidFill>
                                <a:schemeClr val="tx2">
                                  <a:lumMod val="75000"/>
                                </a:schemeClr>
                              </a:solidFill>
                              <a:latin typeface="Tahoma" panose="020B0604030504040204" pitchFamily="34" charset="0"/>
                            </a:rPr>
                            <a:t>Строительство</a:t>
                          </a:r>
                          <a:endParaRPr lang="en-US" sz="1600" dirty="0">
                            <a:solidFill>
                              <a:schemeClr val="tx2">
                                <a:lumMod val="75000"/>
                              </a:schemeClr>
                            </a:solidFill>
                            <a:latin typeface="Tahoma" panose="020B0604030504040204" pitchFamily="34" charset="0"/>
                          </a:endParaRPr>
                        </a:p>
                      </a:txBody>
                      <a:tcPr marL="86402" marR="86402" marT="43201" marB="43201" vert="vert270" anchor="ctr">
                        <a:lnL w="12700" cap="flat" cmpd="sng" algn="ctr">
                          <a:solidFill>
                            <a:srgbClr val="89B6C3"/>
                          </a:solidFill>
                          <a:prstDash val="solid"/>
                          <a:round/>
                          <a:headEnd type="none" w="med" len="med"/>
                          <a:tailEnd type="none" w="med" len="med"/>
                        </a:lnL>
                        <a:lnR w="12700" cap="flat" cmpd="sng" algn="ctr">
                          <a:solidFill>
                            <a:srgbClr val="89B6C3"/>
                          </a:solidFill>
                          <a:prstDash val="solid"/>
                          <a:round/>
                          <a:headEnd type="none" w="med" len="med"/>
                          <a:tailEnd type="none" w="med" len="med"/>
                        </a:lnR>
                        <a:lnT w="12700" cap="flat" cmpd="sng" algn="ctr">
                          <a:solidFill>
                            <a:srgbClr val="89B6C3"/>
                          </a:solidFill>
                          <a:prstDash val="solid"/>
                          <a:round/>
                          <a:headEnd type="none" w="med" len="med"/>
                          <a:tailEnd type="none" w="med" len="med"/>
                        </a:lnT>
                        <a:lnB w="12700" cap="flat" cmpd="sng" algn="ctr">
                          <a:solidFill>
                            <a:srgbClr val="89B6C3"/>
                          </a:solidFill>
                          <a:prstDash val="solid"/>
                          <a:round/>
                          <a:headEnd type="none" w="med" len="med"/>
                          <a:tailEnd type="none" w="med" len="med"/>
                        </a:lnB>
                      </a:tcPr>
                    </a:tc>
                    <a:tc>
                      <a:txBody>
                        <a:bodyPr/>
                        <a:lstStyle/>
                        <a:p>
                          <a:pPr algn="ctr"/>
                          <a:r>
                            <a:rPr lang="ru-RU" sz="1600" b="1" dirty="0">
                              <a:solidFill>
                                <a:schemeClr val="tx2">
                                  <a:lumMod val="75000"/>
                                </a:schemeClr>
                              </a:solidFill>
                              <a:latin typeface="Tahoma" panose="020B0604030504040204" pitchFamily="34" charset="0"/>
                            </a:rPr>
                            <a:t>Линейно-спектральная теория</a:t>
                          </a:r>
                        </a:p>
                        <a:p>
                          <a:pPr algn="ctr"/>
                          <a:endParaRPr lang="en-US" sz="1600" b="1" dirty="0">
                            <a:solidFill>
                              <a:schemeClr val="tx2">
                                <a:lumMod val="75000"/>
                              </a:schemeClr>
                            </a:solidFill>
                            <a:latin typeface="Tahoma" panose="020B0604030504040204" pitchFamily="34" charset="0"/>
                          </a:endParaRPr>
                        </a:p>
                        <a:p>
                          <a:pPr algn="ctr"/>
                          <a14:m>
                            <m:oMathPara xmlns:m="http://schemas.openxmlformats.org/officeDocument/2006/math">
                              <m:oMathParaPr>
                                <m:jc m:val="centerGroup"/>
                              </m:oMathParaPr>
                              <m:oMath xmlns:m="http://schemas.openxmlformats.org/officeDocument/2006/math">
                                <m:sSubSup>
                                  <m:sSubSupPr>
                                    <m:ctrlPr>
                                      <a:rPr lang="en-US" sz="1600" i="1" kern="1200" smtClean="0">
                                        <a:solidFill>
                                          <a:schemeClr val="tx2">
                                            <a:lumMod val="75000"/>
                                          </a:schemeClr>
                                        </a:solidFill>
                                        <a:effectLst/>
                                        <a:latin typeface="Cambria Math" panose="02040503050406030204" pitchFamily="18" charset="0"/>
                                        <a:ea typeface="+mn-ea"/>
                                        <a:cs typeface="+mn-cs"/>
                                      </a:rPr>
                                    </m:ctrlPr>
                                  </m:sSubSupPr>
                                  <m:e>
                                    <m:r>
                                      <a:rPr lang="en-US" sz="1600" i="1" kern="1200">
                                        <a:solidFill>
                                          <a:schemeClr val="tx2">
                                            <a:lumMod val="75000"/>
                                          </a:schemeClr>
                                        </a:solidFill>
                                        <a:effectLst/>
                                        <a:latin typeface="Cambria Math" panose="02040503050406030204" pitchFamily="18" charset="0"/>
                                        <a:ea typeface="+mn-ea"/>
                                        <a:cs typeface="+mn-cs"/>
                                      </a:rPr>
                                      <m:t>𝑆</m:t>
                                    </m:r>
                                  </m:e>
                                  <m:sub>
                                    <m:r>
                                      <a:rPr lang="ru-RU" sz="1600" i="1" kern="1200">
                                        <a:solidFill>
                                          <a:schemeClr val="tx2">
                                            <a:lumMod val="75000"/>
                                          </a:schemeClr>
                                        </a:solidFill>
                                        <a:effectLst/>
                                        <a:latin typeface="Cambria Math" panose="02040503050406030204" pitchFamily="18" charset="0"/>
                                        <a:ea typeface="+mn-ea"/>
                                        <a:cs typeface="+mn-cs"/>
                                      </a:rPr>
                                      <m:t>0</m:t>
                                    </m:r>
                                    <m:r>
                                      <a:rPr lang="ru-RU" sz="1600" i="1" kern="1200">
                                        <a:solidFill>
                                          <a:schemeClr val="tx2">
                                            <a:lumMod val="75000"/>
                                          </a:schemeClr>
                                        </a:solidFill>
                                        <a:effectLst/>
                                        <a:latin typeface="Cambria Math" panose="02040503050406030204" pitchFamily="18" charset="0"/>
                                        <a:ea typeface="+mn-ea"/>
                                        <a:cs typeface="+mn-cs"/>
                                      </a:rPr>
                                      <m:t>𝑖𝑘</m:t>
                                    </m:r>
                                  </m:sub>
                                  <m:sup>
                                    <m:r>
                                      <a:rPr lang="ru-RU" sz="1600" i="1" kern="1200">
                                        <a:solidFill>
                                          <a:schemeClr val="tx2">
                                            <a:lumMod val="75000"/>
                                          </a:schemeClr>
                                        </a:solidFill>
                                        <a:effectLst/>
                                        <a:latin typeface="Cambria Math" panose="02040503050406030204" pitchFamily="18" charset="0"/>
                                        <a:ea typeface="+mn-ea"/>
                                        <a:cs typeface="+mn-cs"/>
                                      </a:rPr>
                                      <m:t>𝑗</m:t>
                                    </m:r>
                                  </m:sup>
                                </m:sSubSup>
                                <m:r>
                                  <a:rPr lang="ru-RU" sz="1600" i="1" kern="1200">
                                    <a:solidFill>
                                      <a:schemeClr val="tx2">
                                        <a:lumMod val="75000"/>
                                      </a:schemeClr>
                                    </a:solidFill>
                                    <a:effectLst/>
                                    <a:latin typeface="Cambria Math" panose="02040503050406030204" pitchFamily="18" charset="0"/>
                                    <a:ea typeface="+mn-ea"/>
                                    <a:cs typeface="+mn-cs"/>
                                  </a:rPr>
                                  <m:t>=</m:t>
                                </m:r>
                                <m:sSubSup>
                                  <m:sSubSupPr>
                                    <m:ctrlPr>
                                      <a:rPr lang="en-US" sz="1600" i="1" kern="1200">
                                        <a:solidFill>
                                          <a:schemeClr val="tx2">
                                            <a:lumMod val="75000"/>
                                          </a:schemeClr>
                                        </a:solidFill>
                                        <a:effectLst/>
                                        <a:latin typeface="Cambria Math" panose="02040503050406030204" pitchFamily="18" charset="0"/>
                                        <a:ea typeface="+mn-ea"/>
                                        <a:cs typeface="+mn-cs"/>
                                      </a:rPr>
                                    </m:ctrlPr>
                                  </m:sSubSupPr>
                                  <m:e>
                                    <m:r>
                                      <a:rPr lang="en-US" sz="1600" i="1" kern="1200">
                                        <a:solidFill>
                                          <a:schemeClr val="tx2">
                                            <a:lumMod val="75000"/>
                                          </a:schemeClr>
                                        </a:solidFill>
                                        <a:effectLst/>
                                        <a:latin typeface="Cambria Math" panose="02040503050406030204" pitchFamily="18" charset="0"/>
                                        <a:ea typeface="+mn-ea"/>
                                        <a:cs typeface="+mn-cs"/>
                                      </a:rPr>
                                      <m:t>𝑚</m:t>
                                    </m:r>
                                  </m:e>
                                  <m:sub>
                                    <m:r>
                                      <a:rPr lang="en-US" sz="1600" i="1" kern="1200">
                                        <a:solidFill>
                                          <a:schemeClr val="tx2">
                                            <a:lumMod val="75000"/>
                                          </a:schemeClr>
                                        </a:solidFill>
                                        <a:effectLst/>
                                        <a:latin typeface="Cambria Math" panose="02040503050406030204" pitchFamily="18" charset="0"/>
                                        <a:ea typeface="+mn-ea"/>
                                        <a:cs typeface="+mn-cs"/>
                                      </a:rPr>
                                      <m:t>𝑘</m:t>
                                    </m:r>
                                  </m:sub>
                                  <m:sup>
                                    <m:r>
                                      <a:rPr lang="en-US" sz="1600" i="1" kern="1200">
                                        <a:solidFill>
                                          <a:schemeClr val="tx2">
                                            <a:lumMod val="75000"/>
                                          </a:schemeClr>
                                        </a:solidFill>
                                        <a:effectLst/>
                                        <a:latin typeface="Cambria Math" panose="02040503050406030204" pitchFamily="18" charset="0"/>
                                        <a:ea typeface="+mn-ea"/>
                                        <a:cs typeface="+mn-cs"/>
                                      </a:rPr>
                                      <m:t>𝑗</m:t>
                                    </m:r>
                                  </m:sup>
                                </m:sSubSup>
                                <m:r>
                                  <a:rPr lang="ru-RU" sz="1600" i="1" kern="1200">
                                    <a:solidFill>
                                      <a:schemeClr val="tx2">
                                        <a:lumMod val="75000"/>
                                      </a:schemeClr>
                                    </a:solidFill>
                                    <a:effectLst/>
                                    <a:latin typeface="Cambria Math" panose="02040503050406030204" pitchFamily="18" charset="0"/>
                                    <a:ea typeface="+mn-ea"/>
                                    <a:cs typeface="+mn-cs"/>
                                  </a:rPr>
                                  <m:t>𝐴</m:t>
                                </m:r>
                                <m:sSub>
                                  <m:sSubPr>
                                    <m:ctrlPr>
                                      <a:rPr lang="en-US" sz="1600" i="1" kern="1200">
                                        <a:solidFill>
                                          <a:schemeClr val="tx2">
                                            <a:lumMod val="75000"/>
                                          </a:schemeClr>
                                        </a:solidFill>
                                        <a:effectLst/>
                                        <a:latin typeface="Cambria Math" panose="02040503050406030204" pitchFamily="18" charset="0"/>
                                        <a:ea typeface="+mn-ea"/>
                                        <a:cs typeface="+mn-cs"/>
                                      </a:rPr>
                                    </m:ctrlPr>
                                  </m:sSubPr>
                                  <m:e>
                                    <m:r>
                                      <a:rPr lang="en-US" sz="1600" i="1" kern="1200">
                                        <a:solidFill>
                                          <a:schemeClr val="tx2">
                                            <a:lumMod val="75000"/>
                                          </a:schemeClr>
                                        </a:solidFill>
                                        <a:effectLst/>
                                        <a:latin typeface="Cambria Math" panose="02040503050406030204" pitchFamily="18" charset="0"/>
                                        <a:ea typeface="+mn-ea"/>
                                        <a:cs typeface="+mn-cs"/>
                                      </a:rPr>
                                      <m:t>𝛽</m:t>
                                    </m:r>
                                  </m:e>
                                  <m:sub>
                                    <m:r>
                                      <a:rPr lang="en-US" sz="1600" i="1" kern="1200">
                                        <a:solidFill>
                                          <a:schemeClr val="tx2">
                                            <a:lumMod val="75000"/>
                                          </a:schemeClr>
                                        </a:solidFill>
                                        <a:effectLst/>
                                        <a:latin typeface="Cambria Math" panose="02040503050406030204" pitchFamily="18" charset="0"/>
                                        <a:ea typeface="+mn-ea"/>
                                        <a:cs typeface="+mn-cs"/>
                                      </a:rPr>
                                      <m:t>𝑖</m:t>
                                    </m:r>
                                  </m:sub>
                                </m:sSub>
                                <m:sSub>
                                  <m:sSubPr>
                                    <m:ctrlPr>
                                      <a:rPr lang="en-US" sz="1600" i="1" kern="1200">
                                        <a:solidFill>
                                          <a:schemeClr val="tx2">
                                            <a:lumMod val="75000"/>
                                          </a:schemeClr>
                                        </a:solidFill>
                                        <a:effectLst/>
                                        <a:latin typeface="Cambria Math" panose="02040503050406030204" pitchFamily="18" charset="0"/>
                                        <a:ea typeface="+mn-ea"/>
                                        <a:cs typeface="+mn-cs"/>
                                      </a:rPr>
                                    </m:ctrlPr>
                                  </m:sSubPr>
                                  <m:e>
                                    <m:r>
                                      <a:rPr lang="en-US" sz="1600" i="1" kern="1200">
                                        <a:solidFill>
                                          <a:schemeClr val="tx2">
                                            <a:lumMod val="75000"/>
                                          </a:schemeClr>
                                        </a:solidFill>
                                        <a:effectLst/>
                                        <a:latin typeface="Cambria Math" panose="02040503050406030204" pitchFamily="18" charset="0"/>
                                        <a:ea typeface="+mn-ea"/>
                                        <a:cs typeface="+mn-cs"/>
                                      </a:rPr>
                                      <m:t>𝐾</m:t>
                                    </m:r>
                                  </m:e>
                                  <m:sub>
                                    <m:r>
                                      <a:rPr lang="en-US" sz="1600" i="1" kern="1200">
                                        <a:solidFill>
                                          <a:schemeClr val="tx2">
                                            <a:lumMod val="75000"/>
                                          </a:schemeClr>
                                        </a:solidFill>
                                        <a:effectLst/>
                                        <a:latin typeface="Cambria Math" panose="02040503050406030204" pitchFamily="18" charset="0"/>
                                        <a:ea typeface="+mn-ea"/>
                                        <a:cs typeface="+mn-cs"/>
                                      </a:rPr>
                                      <m:t>𝜓</m:t>
                                    </m:r>
                                  </m:sub>
                                </m:sSub>
                                <m:sSubSup>
                                  <m:sSubSupPr>
                                    <m:ctrlPr>
                                      <a:rPr lang="en-US" sz="1600" i="1" kern="1200">
                                        <a:solidFill>
                                          <a:schemeClr val="tx2">
                                            <a:lumMod val="75000"/>
                                          </a:schemeClr>
                                        </a:solidFill>
                                        <a:effectLst/>
                                        <a:latin typeface="Cambria Math" panose="02040503050406030204" pitchFamily="18" charset="0"/>
                                        <a:ea typeface="+mn-ea"/>
                                        <a:cs typeface="+mn-cs"/>
                                      </a:rPr>
                                    </m:ctrlPr>
                                  </m:sSubSupPr>
                                  <m:e>
                                    <m:r>
                                      <a:rPr lang="en-US" sz="1600" i="1" kern="1200">
                                        <a:solidFill>
                                          <a:schemeClr val="tx2">
                                            <a:lumMod val="75000"/>
                                          </a:schemeClr>
                                        </a:solidFill>
                                        <a:effectLst/>
                                        <a:latin typeface="Cambria Math" panose="02040503050406030204" pitchFamily="18" charset="0"/>
                                        <a:ea typeface="+mn-ea"/>
                                        <a:cs typeface="+mn-cs"/>
                                      </a:rPr>
                                      <m:t>𝜁</m:t>
                                    </m:r>
                                  </m:e>
                                  <m:sub>
                                    <m:r>
                                      <a:rPr lang="en-US" sz="1600" i="1" kern="1200">
                                        <a:solidFill>
                                          <a:schemeClr val="tx2">
                                            <a:lumMod val="75000"/>
                                          </a:schemeClr>
                                        </a:solidFill>
                                        <a:effectLst/>
                                        <a:latin typeface="Cambria Math" panose="02040503050406030204" pitchFamily="18" charset="0"/>
                                        <a:ea typeface="+mn-ea"/>
                                        <a:cs typeface="+mn-cs"/>
                                      </a:rPr>
                                      <m:t>𝑖𝑘</m:t>
                                    </m:r>
                                  </m:sub>
                                  <m:sup>
                                    <m:r>
                                      <a:rPr lang="en-US" sz="1600" i="1" kern="1200">
                                        <a:solidFill>
                                          <a:schemeClr val="tx2">
                                            <a:lumMod val="75000"/>
                                          </a:schemeClr>
                                        </a:solidFill>
                                        <a:effectLst/>
                                        <a:latin typeface="Cambria Math" panose="02040503050406030204" pitchFamily="18" charset="0"/>
                                        <a:ea typeface="+mn-ea"/>
                                        <a:cs typeface="+mn-cs"/>
                                      </a:rPr>
                                      <m:t>𝐽</m:t>
                                    </m:r>
                                  </m:sup>
                                </m:sSubSup>
                              </m:oMath>
                            </m:oMathPara>
                          </a14:m>
                          <a:endParaRPr lang="ru-RU" sz="1600" dirty="0">
                            <a:solidFill>
                              <a:schemeClr val="tx2">
                                <a:lumMod val="75000"/>
                              </a:schemeClr>
                            </a:solidFill>
                            <a:latin typeface="Tahoma" panose="020B0604030504040204" pitchFamily="34" charset="0"/>
                          </a:endParaRPr>
                        </a:p>
                      </a:txBody>
                      <a:tcPr marL="86402" marR="86402" marT="43201" marB="43201" anchor="ctr">
                        <a:lnL w="12700" cap="flat" cmpd="sng" algn="ctr">
                          <a:solidFill>
                            <a:srgbClr val="89B6C3"/>
                          </a:solidFill>
                          <a:prstDash val="solid"/>
                          <a:round/>
                          <a:headEnd type="none" w="med" len="med"/>
                          <a:tailEnd type="none" w="med" len="med"/>
                        </a:lnL>
                        <a:lnR w="12700" cap="flat" cmpd="sng" algn="ctr">
                          <a:solidFill>
                            <a:srgbClr val="89B6C3"/>
                          </a:solidFill>
                          <a:prstDash val="solid"/>
                          <a:round/>
                          <a:headEnd type="none" w="med" len="med"/>
                          <a:tailEnd type="none" w="med" len="med"/>
                        </a:lnR>
                        <a:lnT w="12700" cap="flat" cmpd="sng" algn="ctr">
                          <a:solidFill>
                            <a:srgbClr val="89B6C3"/>
                          </a:solidFill>
                          <a:prstDash val="solid"/>
                          <a:round/>
                          <a:headEnd type="none" w="med" len="med"/>
                          <a:tailEnd type="none" w="med" len="med"/>
                        </a:lnT>
                        <a:lnB w="12700" cap="flat" cmpd="sng" algn="ctr">
                          <a:solidFill>
                            <a:srgbClr val="89B6C3"/>
                          </a:solidFill>
                          <a:prstDash val="solid"/>
                          <a:round/>
                          <a:headEnd type="none" w="med" len="med"/>
                          <a:tailEnd type="none" w="med" len="med"/>
                        </a:lnB>
                      </a:tcPr>
                    </a:tc>
                    <a:tc>
                      <a:txBody>
                        <a:bodyPr/>
                        <a:lstStyle/>
                        <a:p>
                          <a14:m>
                            <m:oMath xmlns:m="http://schemas.openxmlformats.org/officeDocument/2006/math">
                              <m:sSubSup>
                                <m:sSubSupPr>
                                  <m:ctrlPr>
                                    <a:rPr lang="en-US" sz="1600" i="1" kern="1200" smtClean="0">
                                      <a:solidFill>
                                        <a:schemeClr val="tx2">
                                          <a:lumMod val="75000"/>
                                        </a:schemeClr>
                                      </a:solidFill>
                                      <a:effectLst/>
                                      <a:latin typeface="Cambria Math" panose="02040503050406030204" pitchFamily="18" charset="0"/>
                                      <a:ea typeface="+mn-ea"/>
                                      <a:cs typeface="+mn-cs"/>
                                    </a:rPr>
                                  </m:ctrlPr>
                                </m:sSubSupPr>
                                <m:e>
                                  <m:r>
                                    <a:rPr lang="en-US" sz="1600" i="1" kern="1200">
                                      <a:solidFill>
                                        <a:schemeClr val="tx2">
                                          <a:lumMod val="75000"/>
                                        </a:schemeClr>
                                      </a:solidFill>
                                      <a:effectLst/>
                                      <a:latin typeface="Cambria Math" panose="02040503050406030204" pitchFamily="18" charset="0"/>
                                      <a:ea typeface="+mn-ea"/>
                                      <a:cs typeface="+mn-cs"/>
                                    </a:rPr>
                                    <m:t>𝑆</m:t>
                                  </m:r>
                                </m:e>
                                <m:sub>
                                  <m:r>
                                    <a:rPr lang="ru-RU" sz="1600" i="1" kern="1200">
                                      <a:solidFill>
                                        <a:schemeClr val="tx2">
                                          <a:lumMod val="75000"/>
                                        </a:schemeClr>
                                      </a:solidFill>
                                      <a:effectLst/>
                                      <a:latin typeface="Cambria Math" panose="02040503050406030204" pitchFamily="18" charset="0"/>
                                      <a:ea typeface="+mn-ea"/>
                                      <a:cs typeface="+mn-cs"/>
                                    </a:rPr>
                                    <m:t>0</m:t>
                                  </m:r>
                                  <m:r>
                                    <a:rPr lang="ru-RU" sz="1600" i="1" kern="1200">
                                      <a:solidFill>
                                        <a:schemeClr val="tx2">
                                          <a:lumMod val="75000"/>
                                        </a:schemeClr>
                                      </a:solidFill>
                                      <a:effectLst/>
                                      <a:latin typeface="Cambria Math" panose="02040503050406030204" pitchFamily="18" charset="0"/>
                                      <a:ea typeface="+mn-ea"/>
                                      <a:cs typeface="+mn-cs"/>
                                    </a:rPr>
                                    <m:t>𝑖𝑘</m:t>
                                  </m:r>
                                </m:sub>
                                <m:sup>
                                  <m:r>
                                    <a:rPr lang="ru-RU" sz="1600" i="1" kern="1200">
                                      <a:solidFill>
                                        <a:schemeClr val="tx2">
                                          <a:lumMod val="75000"/>
                                        </a:schemeClr>
                                      </a:solidFill>
                                      <a:effectLst/>
                                      <a:latin typeface="Cambria Math" panose="02040503050406030204" pitchFamily="18" charset="0"/>
                                      <a:ea typeface="+mn-ea"/>
                                      <a:cs typeface="+mn-cs"/>
                                    </a:rPr>
                                    <m:t>𝑗</m:t>
                                  </m:r>
                                </m:sup>
                              </m:sSubSup>
                            </m:oMath>
                          </a14:m>
                          <a:r>
                            <a:rPr lang="ru-RU" sz="1600" b="0" i="1" u="none" strike="noStrike" kern="1200" baseline="0" dirty="0">
                              <a:solidFill>
                                <a:schemeClr val="tx2">
                                  <a:lumMod val="75000"/>
                                </a:schemeClr>
                              </a:solidFill>
                              <a:latin typeface="Cambria Math" panose="02040503050406030204" pitchFamily="18" charset="0"/>
                              <a:ea typeface="+mn-ea"/>
                              <a:cs typeface="+mn-cs"/>
                            </a:rPr>
                            <a:t> </a:t>
                          </a:r>
                          <a:r>
                            <a:rPr lang="ru-RU" sz="1600" b="0" i="0" u="none" strike="noStrike" kern="1200" baseline="0" dirty="0">
                              <a:solidFill>
                                <a:schemeClr val="tx2">
                                  <a:lumMod val="75000"/>
                                </a:schemeClr>
                              </a:solidFill>
                              <a:latin typeface="Tahoma" panose="020B0604030504040204" pitchFamily="34" charset="0"/>
                              <a:ea typeface="+mn-ea"/>
                              <a:cs typeface="+mn-cs"/>
                            </a:rPr>
                            <a:t>- сейсмическая нагрузка</a:t>
                          </a:r>
                          <a:r>
                            <a:rPr lang="en-US" sz="1600" b="0" i="0" u="none" strike="noStrike" kern="1200" baseline="0" dirty="0">
                              <a:solidFill>
                                <a:schemeClr val="tx2">
                                  <a:lumMod val="75000"/>
                                </a:schemeClr>
                              </a:solidFill>
                              <a:latin typeface="Tahoma" panose="020B0604030504040204" pitchFamily="34" charset="0"/>
                              <a:ea typeface="+mn-ea"/>
                              <a:cs typeface="+mn-cs"/>
                            </a:rPr>
                            <a:t> </a:t>
                          </a:r>
                          <a14:m>
                            <m:oMath xmlns:m="http://schemas.openxmlformats.org/officeDocument/2006/math">
                              <m:r>
                                <a:rPr lang="ru-RU" sz="1600" i="1" kern="1200" smtClean="0">
                                  <a:solidFill>
                                    <a:schemeClr val="tx2">
                                      <a:lumMod val="75000"/>
                                    </a:schemeClr>
                                  </a:solidFill>
                                  <a:effectLst/>
                                  <a:latin typeface="Cambria Math" panose="02040503050406030204" pitchFamily="18" charset="0"/>
                                  <a:ea typeface="+mn-ea"/>
                                  <a:cs typeface="+mn-cs"/>
                                </a:rPr>
                                <m:t>𝑖</m:t>
                              </m:r>
                            </m:oMath>
                          </a14:m>
                          <a:r>
                            <a:rPr lang="en-US" sz="1600" b="0" i="0" u="none" strike="noStrike" kern="1200" baseline="0" dirty="0">
                              <a:solidFill>
                                <a:schemeClr val="tx2">
                                  <a:lumMod val="75000"/>
                                </a:schemeClr>
                              </a:solidFill>
                              <a:latin typeface="Tahoma" panose="020B0604030504040204" pitchFamily="34" charset="0"/>
                              <a:ea typeface="+mn-ea"/>
                              <a:cs typeface="+mn-cs"/>
                            </a:rPr>
                            <a:t>-</a:t>
                          </a:r>
                          <a:r>
                            <a:rPr lang="ru-RU" sz="1600" b="0" i="0" u="none" strike="noStrike" kern="1200" baseline="0" dirty="0">
                              <a:solidFill>
                                <a:schemeClr val="tx2">
                                  <a:lumMod val="75000"/>
                                </a:schemeClr>
                              </a:solidFill>
                              <a:latin typeface="Tahoma" panose="020B0604030504040204" pitchFamily="34" charset="0"/>
                              <a:ea typeface="+mn-ea"/>
                              <a:cs typeface="+mn-cs"/>
                            </a:rPr>
                            <a:t>й формы колебаний;</a:t>
                          </a:r>
                        </a:p>
                        <a:p>
                          <a14:m>
                            <m:oMath xmlns:m="http://schemas.openxmlformats.org/officeDocument/2006/math">
                              <m:sSubSup>
                                <m:sSubSupPr>
                                  <m:ctrlPr>
                                    <a:rPr lang="ru-RU" sz="1600" b="0" i="1" u="none" strike="noStrike" kern="1200" baseline="0" smtClean="0">
                                      <a:solidFill>
                                        <a:schemeClr val="tx2">
                                          <a:lumMod val="75000"/>
                                        </a:schemeClr>
                                      </a:solidFill>
                                      <a:latin typeface="Cambria Math" panose="02040503050406030204" pitchFamily="18" charset="0"/>
                                      <a:ea typeface="+mn-ea"/>
                                      <a:cs typeface="+mn-cs"/>
                                    </a:rPr>
                                  </m:ctrlPr>
                                </m:sSubSupPr>
                                <m:e>
                                  <m:r>
                                    <a:rPr lang="en-US" sz="1600" b="0" i="1" u="none" strike="noStrike" kern="1200" baseline="0" smtClean="0">
                                      <a:solidFill>
                                        <a:schemeClr val="tx2">
                                          <a:lumMod val="75000"/>
                                        </a:schemeClr>
                                      </a:solidFill>
                                      <a:latin typeface="Cambria Math" panose="02040503050406030204" pitchFamily="18" charset="0"/>
                                      <a:ea typeface="+mn-ea"/>
                                      <a:cs typeface="+mn-cs"/>
                                    </a:rPr>
                                    <m:t>𝑚</m:t>
                                  </m:r>
                                </m:e>
                                <m:sub>
                                  <m:r>
                                    <a:rPr lang="en-US" sz="1600" b="0" i="1" u="none" strike="noStrike" kern="1200" baseline="0" smtClean="0">
                                      <a:solidFill>
                                        <a:schemeClr val="tx2">
                                          <a:lumMod val="75000"/>
                                        </a:schemeClr>
                                      </a:solidFill>
                                      <a:latin typeface="Cambria Math" panose="02040503050406030204" pitchFamily="18" charset="0"/>
                                      <a:ea typeface="+mn-ea"/>
                                      <a:cs typeface="+mn-cs"/>
                                    </a:rPr>
                                    <m:t>𝑘</m:t>
                                  </m:r>
                                </m:sub>
                                <m:sup>
                                  <m:r>
                                    <a:rPr lang="en-US" sz="1600" b="0" i="1" u="none" strike="noStrike" kern="1200" baseline="0" smtClean="0">
                                      <a:solidFill>
                                        <a:schemeClr val="tx2">
                                          <a:lumMod val="75000"/>
                                        </a:schemeClr>
                                      </a:solidFill>
                                      <a:latin typeface="Cambria Math" panose="02040503050406030204" pitchFamily="18" charset="0"/>
                                      <a:ea typeface="+mn-ea"/>
                                      <a:cs typeface="+mn-cs"/>
                                    </a:rPr>
                                    <m:t>𝑗</m:t>
                                  </m:r>
                                </m:sup>
                              </m:sSubSup>
                            </m:oMath>
                          </a14:m>
                          <a:r>
                            <a:rPr lang="en-US" sz="1600" b="0" i="0" u="none" strike="noStrike" kern="1200" baseline="0" dirty="0">
                              <a:solidFill>
                                <a:schemeClr val="tx2">
                                  <a:lumMod val="75000"/>
                                </a:schemeClr>
                              </a:solidFill>
                              <a:latin typeface="Tahoma" panose="020B0604030504040204" pitchFamily="34" charset="0"/>
                              <a:ea typeface="+mn-ea"/>
                              <a:cs typeface="+mn-cs"/>
                            </a:rPr>
                            <a:t> - </a:t>
                          </a:r>
                          <a:r>
                            <a:rPr lang="ru-RU" sz="1600" b="0" i="0" u="none" strike="noStrike" kern="1200" baseline="0" dirty="0">
                              <a:solidFill>
                                <a:schemeClr val="tx2">
                                  <a:lumMod val="75000"/>
                                </a:schemeClr>
                              </a:solidFill>
                              <a:latin typeface="Tahoma" panose="020B0604030504040204" pitchFamily="34" charset="0"/>
                              <a:ea typeface="+mn-ea"/>
                              <a:cs typeface="+mn-cs"/>
                            </a:rPr>
                            <a:t>масса</a:t>
                          </a:r>
                          <a:r>
                            <a:rPr lang="en-US" sz="1600" b="0" i="0" u="none" strike="noStrike" kern="1200" baseline="0" dirty="0">
                              <a:solidFill>
                                <a:schemeClr val="tx2">
                                  <a:lumMod val="75000"/>
                                </a:schemeClr>
                              </a:solidFill>
                              <a:latin typeface="Tahoma" panose="020B0604030504040204" pitchFamily="34" charset="0"/>
                              <a:ea typeface="+mn-ea"/>
                              <a:cs typeface="+mn-cs"/>
                            </a:rPr>
                            <a:t> </a:t>
                          </a:r>
                          <a:r>
                            <a:rPr lang="ru-RU" sz="1600" b="0" i="0" u="none" strike="noStrike" kern="1200" baseline="0" dirty="0">
                              <a:solidFill>
                                <a:schemeClr val="tx2">
                                  <a:lumMod val="75000"/>
                                </a:schemeClr>
                              </a:solidFill>
                              <a:latin typeface="Tahoma" panose="020B0604030504040204" pitchFamily="34" charset="0"/>
                              <a:ea typeface="+mn-ea"/>
                              <a:cs typeface="+mn-cs"/>
                            </a:rPr>
                            <a:t>здания, отнесенная к точке </a:t>
                          </a:r>
                          <a:r>
                            <a:rPr lang="en-US" sz="1600" b="0" i="1" u="none" strike="noStrike" kern="1200" baseline="0" dirty="0">
                              <a:solidFill>
                                <a:schemeClr val="tx2">
                                  <a:lumMod val="75000"/>
                                </a:schemeClr>
                              </a:solidFill>
                              <a:latin typeface="Tahoma" panose="020B0604030504040204" pitchFamily="34" charset="0"/>
                              <a:ea typeface="+mn-ea"/>
                              <a:cs typeface="+mn-cs"/>
                            </a:rPr>
                            <a:t>k</a:t>
                          </a:r>
                          <a:r>
                            <a:rPr lang="ru-RU" sz="1600" b="0" i="1" u="none" strike="noStrike" kern="1200" baseline="0" dirty="0">
                              <a:solidFill>
                                <a:schemeClr val="tx2">
                                  <a:lumMod val="75000"/>
                                </a:schemeClr>
                              </a:solidFill>
                              <a:latin typeface="Tahoma" panose="020B0604030504040204" pitchFamily="34" charset="0"/>
                              <a:ea typeface="+mn-ea"/>
                              <a:cs typeface="+mn-cs"/>
                            </a:rPr>
                            <a:t> </a:t>
                          </a:r>
                          <a:r>
                            <a:rPr lang="ru-RU" sz="1600" b="0" i="0" u="none" strike="noStrike" kern="1200" baseline="0" dirty="0">
                              <a:solidFill>
                                <a:schemeClr val="tx2">
                                  <a:lumMod val="75000"/>
                                </a:schemeClr>
                              </a:solidFill>
                              <a:latin typeface="Tahoma" panose="020B0604030504040204" pitchFamily="34" charset="0"/>
                              <a:ea typeface="+mn-ea"/>
                              <a:cs typeface="+mn-cs"/>
                            </a:rPr>
                            <a:t>по координате</a:t>
                          </a:r>
                          <a:r>
                            <a:rPr lang="ru-RU" sz="1600" b="0" i="1" u="none" strike="noStrike" kern="1200" baseline="0" dirty="0">
                              <a:solidFill>
                                <a:schemeClr val="tx2">
                                  <a:lumMod val="75000"/>
                                </a:schemeClr>
                              </a:solidFill>
                              <a:latin typeface="Tahoma" panose="020B0604030504040204" pitchFamily="34" charset="0"/>
                              <a:ea typeface="+mn-ea"/>
                              <a:cs typeface="+mn-cs"/>
                            </a:rPr>
                            <a:t> </a:t>
                          </a:r>
                          <a:r>
                            <a:rPr lang="en-US" sz="1600" b="0" i="1" u="none" strike="noStrike" kern="1200" baseline="0" dirty="0">
                              <a:solidFill>
                                <a:schemeClr val="tx2">
                                  <a:lumMod val="75000"/>
                                </a:schemeClr>
                              </a:solidFill>
                              <a:latin typeface="Tahoma" panose="020B0604030504040204" pitchFamily="34" charset="0"/>
                              <a:ea typeface="+mn-ea"/>
                              <a:cs typeface="+mn-cs"/>
                            </a:rPr>
                            <a:t>j;</a:t>
                          </a:r>
                          <a:endParaRPr lang="ru-RU" sz="1600" b="0" i="1" u="none" strike="noStrike" kern="1200" baseline="0" dirty="0">
                            <a:solidFill>
                              <a:schemeClr val="tx2">
                                <a:lumMod val="75000"/>
                              </a:schemeClr>
                            </a:solidFill>
                            <a:latin typeface="Tahoma" panose="020B0604030504040204" pitchFamily="34" charset="0"/>
                            <a:ea typeface="+mn-ea"/>
                            <a:cs typeface="+mn-cs"/>
                          </a:endParaRPr>
                        </a:p>
                        <a:p>
                          <a:r>
                            <a:rPr lang="en-US" sz="1600" b="0" i="1" u="none" strike="noStrike" kern="1200" baseline="0" dirty="0">
                              <a:solidFill>
                                <a:schemeClr val="tx2">
                                  <a:lumMod val="75000"/>
                                </a:schemeClr>
                              </a:solidFill>
                              <a:latin typeface="Tahoma" panose="020B0604030504040204" pitchFamily="34" charset="0"/>
                              <a:ea typeface="+mn-ea"/>
                              <a:cs typeface="+mn-cs"/>
                            </a:rPr>
                            <a:t>A –</a:t>
                          </a:r>
                          <a:r>
                            <a:rPr lang="en-US" sz="1600" b="0" i="0" u="none" strike="noStrike" kern="1200" baseline="0" dirty="0">
                              <a:solidFill>
                                <a:schemeClr val="tx2">
                                  <a:lumMod val="75000"/>
                                </a:schemeClr>
                              </a:solidFill>
                              <a:latin typeface="Tahoma" panose="020B0604030504040204" pitchFamily="34" charset="0"/>
                              <a:ea typeface="+mn-ea"/>
                              <a:cs typeface="+mn-cs"/>
                            </a:rPr>
                            <a:t> </a:t>
                          </a:r>
                          <a:r>
                            <a:rPr lang="ru-RU" sz="1600" b="0" i="0" u="none" strike="noStrike" kern="1200" baseline="0" dirty="0">
                              <a:solidFill>
                                <a:schemeClr val="tx2">
                                  <a:lumMod val="75000"/>
                                </a:schemeClr>
                              </a:solidFill>
                              <a:latin typeface="Tahoma" panose="020B0604030504040204" pitchFamily="34" charset="0"/>
                              <a:ea typeface="+mn-ea"/>
                              <a:cs typeface="+mn-cs"/>
                            </a:rPr>
                            <a:t>значение ускорения;</a:t>
                          </a:r>
                        </a:p>
                        <a:p>
                          <a14:m>
                            <m:oMath xmlns:m="http://schemas.openxmlformats.org/officeDocument/2006/math">
                              <m:sSub>
                                <m:sSubPr>
                                  <m:ctrlPr>
                                    <a:rPr lang="en-US" sz="1600" i="1" smtClean="0">
                                      <a:solidFill>
                                        <a:schemeClr val="tx2">
                                          <a:lumMod val="75000"/>
                                        </a:schemeClr>
                                      </a:solidFill>
                                      <a:latin typeface="Cambria Math" panose="02040503050406030204" pitchFamily="18" charset="0"/>
                                    </a:rPr>
                                  </m:ctrlPr>
                                </m:sSubPr>
                                <m:e>
                                  <m:r>
                                    <a:rPr lang="en-US" sz="1600" i="1" smtClean="0">
                                      <a:solidFill>
                                        <a:schemeClr val="tx2">
                                          <a:lumMod val="75000"/>
                                        </a:schemeClr>
                                      </a:solidFill>
                                      <a:latin typeface="Cambria Math" panose="02040503050406030204" pitchFamily="18" charset="0"/>
                                      <a:ea typeface="Cambria Math" panose="02040503050406030204" pitchFamily="18" charset="0"/>
                                    </a:rPr>
                                    <m:t>𝛽</m:t>
                                  </m:r>
                                </m:e>
                                <m:sub>
                                  <m:r>
                                    <a:rPr lang="en-US" sz="1600" b="0" i="1" smtClean="0">
                                      <a:solidFill>
                                        <a:schemeClr val="tx2">
                                          <a:lumMod val="75000"/>
                                        </a:schemeClr>
                                      </a:solidFill>
                                      <a:latin typeface="Cambria Math" panose="02040503050406030204" pitchFamily="18" charset="0"/>
                                    </a:rPr>
                                    <m:t>𝑖</m:t>
                                  </m:r>
                                </m:sub>
                              </m:sSub>
                            </m:oMath>
                          </a14:m>
                          <a:r>
                            <a:rPr lang="en-US" sz="1600" i="1" dirty="0">
                              <a:solidFill>
                                <a:schemeClr val="tx2">
                                  <a:lumMod val="75000"/>
                                </a:schemeClr>
                              </a:solidFill>
                              <a:latin typeface="Tahoma" panose="020B0604030504040204" pitchFamily="34" charset="0"/>
                            </a:rPr>
                            <a:t> - </a:t>
                          </a:r>
                          <a:r>
                            <a:rPr lang="ru-RU" sz="1600" i="0" dirty="0">
                              <a:solidFill>
                                <a:schemeClr val="tx2">
                                  <a:lumMod val="75000"/>
                                </a:schemeClr>
                              </a:solidFill>
                              <a:latin typeface="Tahoma" panose="020B0604030504040204" pitchFamily="34" charset="0"/>
                            </a:rPr>
                            <a:t>коэффициент</a:t>
                          </a:r>
                          <a:r>
                            <a:rPr lang="ru-RU" sz="1600" i="0" baseline="0" dirty="0">
                              <a:solidFill>
                                <a:schemeClr val="tx2">
                                  <a:lumMod val="75000"/>
                                </a:schemeClr>
                              </a:solidFill>
                              <a:latin typeface="Tahoma" panose="020B0604030504040204" pitchFamily="34" charset="0"/>
                            </a:rPr>
                            <a:t> динамичности;</a:t>
                          </a:r>
                        </a:p>
                        <a:p>
                          <a14:m>
                            <m:oMath xmlns:m="http://schemas.openxmlformats.org/officeDocument/2006/math">
                              <m:sSub>
                                <m:sSubPr>
                                  <m:ctrlPr>
                                    <a:rPr lang="en-US" sz="1600" i="1" smtClean="0">
                                      <a:solidFill>
                                        <a:schemeClr val="tx2">
                                          <a:lumMod val="75000"/>
                                        </a:schemeClr>
                                      </a:solidFill>
                                      <a:latin typeface="Cambria Math" panose="02040503050406030204" pitchFamily="18" charset="0"/>
                                    </a:rPr>
                                  </m:ctrlPr>
                                </m:sSubPr>
                                <m:e>
                                  <m:r>
                                    <a:rPr lang="en-US" sz="1600" b="0" i="1" smtClean="0">
                                      <a:solidFill>
                                        <a:schemeClr val="tx2">
                                          <a:lumMod val="75000"/>
                                        </a:schemeClr>
                                      </a:solidFill>
                                      <a:latin typeface="Cambria Math" panose="02040503050406030204" pitchFamily="18" charset="0"/>
                                    </a:rPr>
                                    <m:t>𝐾</m:t>
                                  </m:r>
                                </m:e>
                                <m:sub>
                                  <m:r>
                                    <a:rPr lang="en-US" sz="1600" i="1" smtClean="0">
                                      <a:solidFill>
                                        <a:schemeClr val="tx2">
                                          <a:lumMod val="75000"/>
                                        </a:schemeClr>
                                      </a:solidFill>
                                      <a:latin typeface="Cambria Math" panose="02040503050406030204" pitchFamily="18" charset="0"/>
                                      <a:ea typeface="Cambria Math" panose="02040503050406030204" pitchFamily="18" charset="0"/>
                                    </a:rPr>
                                    <m:t>𝜓</m:t>
                                  </m:r>
                                </m:sub>
                              </m:sSub>
                            </m:oMath>
                          </a14:m>
                          <a:r>
                            <a:rPr lang="en-US" sz="1600" i="1" dirty="0">
                              <a:solidFill>
                                <a:schemeClr val="tx2">
                                  <a:lumMod val="75000"/>
                                </a:schemeClr>
                              </a:solidFill>
                              <a:latin typeface="Tahoma" panose="020B0604030504040204" pitchFamily="34" charset="0"/>
                            </a:rPr>
                            <a:t> - </a:t>
                          </a:r>
                          <a:r>
                            <a:rPr lang="ru-RU" sz="1600" i="0" dirty="0">
                              <a:solidFill>
                                <a:schemeClr val="tx2">
                                  <a:lumMod val="75000"/>
                                </a:schemeClr>
                              </a:solidFill>
                              <a:latin typeface="Tahoma" panose="020B0604030504040204" pitchFamily="34" charset="0"/>
                            </a:rPr>
                            <a:t>коэффициент</a:t>
                          </a:r>
                          <a:r>
                            <a:rPr lang="ru-RU" sz="1600" i="0" baseline="0" dirty="0">
                              <a:solidFill>
                                <a:schemeClr val="tx2">
                                  <a:lumMod val="75000"/>
                                </a:schemeClr>
                              </a:solidFill>
                              <a:latin typeface="Tahoma" panose="020B0604030504040204" pitchFamily="34" charset="0"/>
                            </a:rPr>
                            <a:t> диссипации энергии;</a:t>
                          </a:r>
                        </a:p>
                        <a:p>
                          <a14:m>
                            <m:oMath xmlns:m="http://schemas.openxmlformats.org/officeDocument/2006/math">
                              <m:sSubSup>
                                <m:sSubSupPr>
                                  <m:ctrlPr>
                                    <a:rPr lang="en-US" sz="1600" i="1" smtClean="0">
                                      <a:solidFill>
                                        <a:schemeClr val="tx2">
                                          <a:lumMod val="75000"/>
                                        </a:schemeClr>
                                      </a:solidFill>
                                      <a:latin typeface="Cambria Math" panose="02040503050406030204" pitchFamily="18" charset="0"/>
                                    </a:rPr>
                                  </m:ctrlPr>
                                </m:sSubSupPr>
                                <m:e>
                                  <m:r>
                                    <a:rPr lang="en-US" sz="1600" i="1" smtClean="0">
                                      <a:solidFill>
                                        <a:schemeClr val="tx2">
                                          <a:lumMod val="75000"/>
                                        </a:schemeClr>
                                      </a:solidFill>
                                      <a:latin typeface="Cambria Math" panose="02040503050406030204" pitchFamily="18" charset="0"/>
                                      <a:ea typeface="Cambria Math" panose="02040503050406030204" pitchFamily="18" charset="0"/>
                                    </a:rPr>
                                    <m:t>𝜁</m:t>
                                  </m:r>
                                </m:e>
                                <m:sub>
                                  <m:r>
                                    <a:rPr lang="en-US" sz="1600" b="0" i="1" smtClean="0">
                                      <a:solidFill>
                                        <a:schemeClr val="tx2">
                                          <a:lumMod val="75000"/>
                                        </a:schemeClr>
                                      </a:solidFill>
                                      <a:latin typeface="Cambria Math" panose="02040503050406030204" pitchFamily="18" charset="0"/>
                                    </a:rPr>
                                    <m:t>𝑖𝑘</m:t>
                                  </m:r>
                                </m:sub>
                                <m:sup>
                                  <m:r>
                                    <a:rPr lang="en-US" sz="1600" b="0" i="1" smtClean="0">
                                      <a:solidFill>
                                        <a:schemeClr val="tx2">
                                          <a:lumMod val="75000"/>
                                        </a:schemeClr>
                                      </a:solidFill>
                                      <a:latin typeface="Cambria Math" panose="02040503050406030204" pitchFamily="18" charset="0"/>
                                    </a:rPr>
                                    <m:t>𝐽</m:t>
                                  </m:r>
                                </m:sup>
                              </m:sSubSup>
                            </m:oMath>
                          </a14:m>
                          <a:r>
                            <a:rPr lang="en-US" sz="1600" i="1" dirty="0">
                              <a:solidFill>
                                <a:schemeClr val="tx2">
                                  <a:lumMod val="75000"/>
                                </a:schemeClr>
                              </a:solidFill>
                              <a:latin typeface="Tahoma" panose="020B0604030504040204" pitchFamily="34" charset="0"/>
                            </a:rPr>
                            <a:t> - </a:t>
                          </a:r>
                          <a:r>
                            <a:rPr lang="ru-RU" sz="1600" i="0" dirty="0">
                              <a:solidFill>
                                <a:schemeClr val="tx2">
                                  <a:lumMod val="75000"/>
                                </a:schemeClr>
                              </a:solidFill>
                              <a:latin typeface="Tahoma" panose="020B0604030504040204" pitchFamily="34" charset="0"/>
                            </a:rPr>
                            <a:t>коэффициент</a:t>
                          </a:r>
                          <a:r>
                            <a:rPr lang="ru-RU" sz="1600" i="0" baseline="0" dirty="0">
                              <a:solidFill>
                                <a:schemeClr val="tx2">
                                  <a:lumMod val="75000"/>
                                </a:schemeClr>
                              </a:solidFill>
                              <a:latin typeface="Tahoma" panose="020B0604030504040204" pitchFamily="34" charset="0"/>
                            </a:rPr>
                            <a:t> формы</a:t>
                          </a:r>
                          <a:r>
                            <a:rPr lang="en-US" sz="1600" i="0" baseline="0" dirty="0">
                              <a:solidFill>
                                <a:schemeClr val="tx2">
                                  <a:lumMod val="75000"/>
                                </a:schemeClr>
                              </a:solidFill>
                              <a:latin typeface="Tahoma" panose="020B0604030504040204" pitchFamily="34" charset="0"/>
                            </a:rPr>
                            <a:t>.</a:t>
                          </a:r>
                          <a:endParaRPr lang="en-US" sz="1600" i="0" dirty="0">
                            <a:solidFill>
                              <a:schemeClr val="tx2">
                                <a:lumMod val="75000"/>
                              </a:schemeClr>
                            </a:solidFill>
                            <a:latin typeface="Tahoma" panose="020B0604030504040204" pitchFamily="34" charset="0"/>
                          </a:endParaRPr>
                        </a:p>
                      </a:txBody>
                      <a:tcPr marL="86402" marR="86402" marT="43201" marB="43201" anchor="ctr">
                        <a:lnL w="12700" cap="flat" cmpd="sng" algn="ctr">
                          <a:solidFill>
                            <a:srgbClr val="89B6C3"/>
                          </a:solidFill>
                          <a:prstDash val="solid"/>
                          <a:round/>
                          <a:headEnd type="none" w="med" len="med"/>
                          <a:tailEnd type="none" w="med" len="med"/>
                        </a:lnL>
                        <a:lnR w="12700" cap="flat" cmpd="sng" algn="ctr">
                          <a:solidFill>
                            <a:srgbClr val="89B6C3"/>
                          </a:solidFill>
                          <a:prstDash val="solid"/>
                          <a:round/>
                          <a:headEnd type="none" w="med" len="med"/>
                          <a:tailEnd type="none" w="med" len="med"/>
                        </a:lnR>
                        <a:lnT w="12700" cap="flat" cmpd="sng" algn="ctr">
                          <a:solidFill>
                            <a:srgbClr val="89B6C3"/>
                          </a:solidFill>
                          <a:prstDash val="solid"/>
                          <a:round/>
                          <a:headEnd type="none" w="med" len="med"/>
                          <a:tailEnd type="none" w="med" len="med"/>
                        </a:lnT>
                        <a:lnB w="12700" cap="flat" cmpd="sng" algn="ctr">
                          <a:solidFill>
                            <a:srgbClr val="89B6C3"/>
                          </a:solidFill>
                          <a:prstDash val="solid"/>
                          <a:round/>
                          <a:headEnd type="none" w="med" len="med"/>
                          <a:tailEnd type="none" w="med" len="med"/>
                        </a:lnB>
                      </a:tcPr>
                    </a:tc>
                    <a:extLst>
                      <a:ext uri="{0D108BD9-81ED-4DB2-BD59-A6C34878D82A}">
                        <a16:rowId xmlns:a16="http://schemas.microsoft.com/office/drawing/2014/main" val="3360003295"/>
                      </a:ext>
                    </a:extLst>
                  </a:tr>
                  <a:tr h="1866730">
                    <a:tc vMerge="1">
                      <a:txBody>
                        <a:bodyPr/>
                        <a:lstStyle/>
                        <a:p>
                          <a:pPr algn="ctr"/>
                          <a:endParaRPr lang="en-US" dirty="0">
                            <a:solidFill>
                              <a:schemeClr val="tx2">
                                <a:lumMod val="75000"/>
                              </a:schemeClr>
                            </a:solidFill>
                            <a:latin typeface="PT Sans" panose="020B0503020203020204" pitchFamily="34" charset="-52"/>
                          </a:endParaRPr>
                        </a:p>
                      </a:txBody>
                      <a:tcPr anchor="b"/>
                    </a:tc>
                    <a:tc>
                      <a:txBody>
                        <a:bodyPr/>
                        <a:lstStyle/>
                        <a:p>
                          <a:pPr algn="ctr"/>
                          <a:r>
                            <a:rPr lang="ru-RU" sz="1600" b="1" dirty="0">
                              <a:solidFill>
                                <a:schemeClr val="tx2">
                                  <a:lumMod val="75000"/>
                                </a:schemeClr>
                              </a:solidFill>
                              <a:latin typeface="Tahoma" panose="020B0604030504040204" pitchFamily="34" charset="0"/>
                            </a:rPr>
                            <a:t>Прямой динамический расчет</a:t>
                          </a:r>
                          <a:endParaRPr lang="en-US" sz="1600" b="1" dirty="0">
                            <a:solidFill>
                              <a:schemeClr val="tx2">
                                <a:lumMod val="75000"/>
                              </a:schemeClr>
                            </a:solidFill>
                            <a:latin typeface="Tahoma" panose="020B0604030504040204" pitchFamily="34" charset="0"/>
                          </a:endParaRPr>
                        </a:p>
                        <a:p>
                          <a:pPr algn="ctr"/>
                          <a:endParaRPr lang="ru-RU" sz="1600" dirty="0">
                            <a:solidFill>
                              <a:schemeClr val="tx2">
                                <a:lumMod val="75000"/>
                              </a:schemeClr>
                            </a:solidFill>
                            <a:latin typeface="Tahoma" panose="020B0604030504040204" pitchFamily="34" charset="0"/>
                          </a:endParaRPr>
                        </a:p>
                        <a:p>
                          <a:pPr algn="ctr"/>
                          <a14:m>
                            <m:oMathPara xmlns:m="http://schemas.openxmlformats.org/officeDocument/2006/math">
                              <m:oMathParaPr>
                                <m:jc m:val="centerGroup"/>
                              </m:oMathParaPr>
                              <m:oMath xmlns:m="http://schemas.openxmlformats.org/officeDocument/2006/math">
                                <m:r>
                                  <a:rPr lang="en-US" sz="1600" i="1" kern="1200" smtClean="0">
                                    <a:solidFill>
                                      <a:schemeClr val="tx2">
                                        <a:lumMod val="75000"/>
                                      </a:schemeClr>
                                    </a:solidFill>
                                    <a:effectLst/>
                                    <a:latin typeface="Cambria Math" panose="02040503050406030204" pitchFamily="18" charset="0"/>
                                    <a:ea typeface="+mn-ea"/>
                                    <a:cs typeface="+mn-cs"/>
                                  </a:rPr>
                                  <m:t>𝑀</m:t>
                                </m:r>
                                <m:r>
                                  <a:rPr lang="en-US" sz="1600" i="1" kern="1200" smtClean="0">
                                    <a:solidFill>
                                      <a:schemeClr val="tx2">
                                        <a:lumMod val="75000"/>
                                      </a:schemeClr>
                                    </a:solidFill>
                                    <a:effectLst/>
                                    <a:latin typeface="Cambria Math" panose="02040503050406030204" pitchFamily="18" charset="0"/>
                                    <a:ea typeface="+mn-ea"/>
                                    <a:cs typeface="+mn-cs"/>
                                  </a:rPr>
                                  <m:t>∙</m:t>
                                </m:r>
                                <m:acc>
                                  <m:accPr>
                                    <m:chr m:val="̈"/>
                                    <m:ctrlPr>
                                      <a:rPr lang="en-US" sz="1600" i="1" kern="1200">
                                        <a:solidFill>
                                          <a:schemeClr val="tx2">
                                            <a:lumMod val="75000"/>
                                          </a:schemeClr>
                                        </a:solidFill>
                                        <a:effectLst/>
                                        <a:latin typeface="Cambria Math" panose="02040503050406030204" pitchFamily="18" charset="0"/>
                                        <a:ea typeface="+mn-ea"/>
                                        <a:cs typeface="+mn-cs"/>
                                      </a:rPr>
                                    </m:ctrlPr>
                                  </m:accPr>
                                  <m:e>
                                    <m:r>
                                      <a:rPr lang="en-US" sz="1600" b="0" i="1" kern="1200" smtClean="0">
                                        <a:solidFill>
                                          <a:schemeClr val="tx2">
                                            <a:lumMod val="75000"/>
                                          </a:schemeClr>
                                        </a:solidFill>
                                        <a:effectLst/>
                                        <a:latin typeface="Cambria Math" panose="02040503050406030204" pitchFamily="18" charset="0"/>
                                        <a:ea typeface="+mn-ea"/>
                                        <a:cs typeface="+mn-cs"/>
                                      </a:rPr>
                                      <m:t>𝑢</m:t>
                                    </m:r>
                                  </m:e>
                                </m:acc>
                                <m:r>
                                  <a:rPr lang="en-US" sz="1600" b="0" i="1" kern="1200" smtClean="0">
                                    <a:solidFill>
                                      <a:schemeClr val="tx2">
                                        <a:lumMod val="75000"/>
                                      </a:schemeClr>
                                    </a:solidFill>
                                    <a:effectLst/>
                                    <a:latin typeface="Cambria Math" panose="02040503050406030204" pitchFamily="18" charset="0"/>
                                    <a:ea typeface="+mn-ea"/>
                                    <a:cs typeface="+mn-cs"/>
                                  </a:rPr>
                                  <m:t>(</m:t>
                                </m:r>
                                <m:r>
                                  <a:rPr lang="en-US" sz="1600" b="0" i="1" kern="1200" smtClean="0">
                                    <a:solidFill>
                                      <a:schemeClr val="tx2">
                                        <a:lumMod val="75000"/>
                                      </a:schemeClr>
                                    </a:solidFill>
                                    <a:effectLst/>
                                    <a:latin typeface="Cambria Math" panose="02040503050406030204" pitchFamily="18" charset="0"/>
                                    <a:ea typeface="+mn-ea"/>
                                    <a:cs typeface="+mn-cs"/>
                                  </a:rPr>
                                  <m:t>𝑡</m:t>
                                </m:r>
                                <m:r>
                                  <a:rPr lang="en-US" sz="1600" b="0" i="1" kern="1200" smtClean="0">
                                    <a:solidFill>
                                      <a:schemeClr val="tx2">
                                        <a:lumMod val="75000"/>
                                      </a:schemeClr>
                                    </a:solidFill>
                                    <a:effectLst/>
                                    <a:latin typeface="Cambria Math" panose="02040503050406030204" pitchFamily="18" charset="0"/>
                                    <a:ea typeface="+mn-ea"/>
                                    <a:cs typeface="+mn-cs"/>
                                  </a:rPr>
                                  <m:t>)+</m:t>
                                </m:r>
                                <m:r>
                                  <a:rPr lang="en-US" sz="1600" i="1" kern="1200">
                                    <a:solidFill>
                                      <a:schemeClr val="tx2">
                                        <a:lumMod val="75000"/>
                                      </a:schemeClr>
                                    </a:solidFill>
                                    <a:effectLst/>
                                    <a:latin typeface="Cambria Math" panose="02040503050406030204" pitchFamily="18" charset="0"/>
                                    <a:ea typeface="+mn-ea"/>
                                    <a:cs typeface="+mn-cs"/>
                                  </a:rPr>
                                  <m:t>𝐶</m:t>
                                </m:r>
                                <m:r>
                                  <a:rPr lang="en-US" sz="1600" i="1" kern="1200">
                                    <a:solidFill>
                                      <a:schemeClr val="tx2">
                                        <a:lumMod val="75000"/>
                                      </a:schemeClr>
                                    </a:solidFill>
                                    <a:effectLst/>
                                    <a:latin typeface="Cambria Math" panose="02040503050406030204" pitchFamily="18" charset="0"/>
                                    <a:ea typeface="+mn-ea"/>
                                    <a:cs typeface="+mn-cs"/>
                                  </a:rPr>
                                  <m:t>∙</m:t>
                                </m:r>
                                <m:acc>
                                  <m:accPr>
                                    <m:chr m:val="̇"/>
                                    <m:ctrlPr>
                                      <a:rPr lang="en-US" sz="1600" i="1" kern="1200">
                                        <a:solidFill>
                                          <a:schemeClr val="tx2">
                                            <a:lumMod val="75000"/>
                                          </a:schemeClr>
                                        </a:solidFill>
                                        <a:effectLst/>
                                        <a:latin typeface="Cambria Math" panose="02040503050406030204" pitchFamily="18" charset="0"/>
                                        <a:ea typeface="+mn-ea"/>
                                        <a:cs typeface="+mn-cs"/>
                                      </a:rPr>
                                    </m:ctrlPr>
                                  </m:accPr>
                                  <m:e>
                                    <m:r>
                                      <a:rPr lang="en-US" sz="1600" b="0" i="1" kern="1200" smtClean="0">
                                        <a:solidFill>
                                          <a:schemeClr val="tx2">
                                            <a:lumMod val="75000"/>
                                          </a:schemeClr>
                                        </a:solidFill>
                                        <a:effectLst/>
                                        <a:latin typeface="Cambria Math" panose="02040503050406030204" pitchFamily="18" charset="0"/>
                                        <a:ea typeface="+mn-ea"/>
                                        <a:cs typeface="+mn-cs"/>
                                      </a:rPr>
                                      <m:t>𝑢</m:t>
                                    </m:r>
                                  </m:e>
                                </m:acc>
                                <m:r>
                                  <a:rPr lang="en-US" sz="1600" b="0" i="1" kern="1200" smtClean="0">
                                    <a:solidFill>
                                      <a:schemeClr val="tx2">
                                        <a:lumMod val="75000"/>
                                      </a:schemeClr>
                                    </a:solidFill>
                                    <a:effectLst/>
                                    <a:latin typeface="Cambria Math" panose="02040503050406030204" pitchFamily="18" charset="0"/>
                                    <a:ea typeface="+mn-ea"/>
                                    <a:cs typeface="+mn-cs"/>
                                  </a:rPr>
                                  <m:t>(</m:t>
                                </m:r>
                                <m:r>
                                  <a:rPr lang="en-US" sz="1600" b="0" i="1" kern="1200" smtClean="0">
                                    <a:solidFill>
                                      <a:schemeClr val="tx2">
                                        <a:lumMod val="75000"/>
                                      </a:schemeClr>
                                    </a:solidFill>
                                    <a:effectLst/>
                                    <a:latin typeface="Cambria Math" panose="02040503050406030204" pitchFamily="18" charset="0"/>
                                    <a:ea typeface="+mn-ea"/>
                                    <a:cs typeface="+mn-cs"/>
                                  </a:rPr>
                                  <m:t>𝑡</m:t>
                                </m:r>
                                <m:r>
                                  <a:rPr lang="en-US" sz="1600" b="0" i="1" kern="1200" smtClean="0">
                                    <a:solidFill>
                                      <a:schemeClr val="tx2">
                                        <a:lumMod val="75000"/>
                                      </a:schemeClr>
                                    </a:solidFill>
                                    <a:effectLst/>
                                    <a:latin typeface="Cambria Math" panose="02040503050406030204" pitchFamily="18" charset="0"/>
                                    <a:ea typeface="+mn-ea"/>
                                    <a:cs typeface="+mn-cs"/>
                                  </a:rPr>
                                  <m:t>)+</m:t>
                                </m:r>
                                <m:r>
                                  <a:rPr lang="en-US" sz="1600" i="1" kern="1200">
                                    <a:solidFill>
                                      <a:schemeClr val="tx2">
                                        <a:lumMod val="75000"/>
                                      </a:schemeClr>
                                    </a:solidFill>
                                    <a:effectLst/>
                                    <a:latin typeface="Cambria Math" panose="02040503050406030204" pitchFamily="18" charset="0"/>
                                    <a:ea typeface="+mn-ea"/>
                                    <a:cs typeface="+mn-cs"/>
                                  </a:rPr>
                                  <m:t>𝐾</m:t>
                                </m:r>
                                <m:r>
                                  <a:rPr lang="en-US" sz="1600" i="1" kern="1200">
                                    <a:solidFill>
                                      <a:schemeClr val="tx2">
                                        <a:lumMod val="75000"/>
                                      </a:schemeClr>
                                    </a:solidFill>
                                    <a:effectLst/>
                                    <a:latin typeface="Cambria Math" panose="02040503050406030204" pitchFamily="18" charset="0"/>
                                    <a:ea typeface="+mn-ea"/>
                                    <a:cs typeface="+mn-cs"/>
                                  </a:rPr>
                                  <m:t>∙</m:t>
                                </m:r>
                                <m:r>
                                  <a:rPr lang="en-US" sz="1600" b="0" i="1" kern="1200" smtClean="0">
                                    <a:solidFill>
                                      <a:schemeClr val="tx2">
                                        <a:lumMod val="75000"/>
                                      </a:schemeClr>
                                    </a:solidFill>
                                    <a:effectLst/>
                                    <a:latin typeface="Cambria Math" panose="02040503050406030204" pitchFamily="18" charset="0"/>
                                    <a:ea typeface="+mn-ea"/>
                                    <a:cs typeface="+mn-cs"/>
                                  </a:rPr>
                                  <m:t>𝑢</m:t>
                                </m:r>
                                <m:r>
                                  <a:rPr lang="en-US" sz="1600" b="0" i="1" kern="1200" smtClean="0">
                                    <a:solidFill>
                                      <a:schemeClr val="tx2">
                                        <a:lumMod val="75000"/>
                                      </a:schemeClr>
                                    </a:solidFill>
                                    <a:effectLst/>
                                    <a:latin typeface="Cambria Math" panose="02040503050406030204" pitchFamily="18" charset="0"/>
                                    <a:ea typeface="+mn-ea"/>
                                    <a:cs typeface="+mn-cs"/>
                                  </a:rPr>
                                  <m:t>(</m:t>
                                </m:r>
                                <m:r>
                                  <a:rPr lang="en-US" sz="1600" b="0" i="1" kern="1200" smtClean="0">
                                    <a:solidFill>
                                      <a:schemeClr val="tx2">
                                        <a:lumMod val="75000"/>
                                      </a:schemeClr>
                                    </a:solidFill>
                                    <a:effectLst/>
                                    <a:latin typeface="Cambria Math" panose="02040503050406030204" pitchFamily="18" charset="0"/>
                                    <a:ea typeface="+mn-ea"/>
                                    <a:cs typeface="+mn-cs"/>
                                  </a:rPr>
                                  <m:t>𝑡</m:t>
                                </m:r>
                                <m:r>
                                  <a:rPr lang="en-US" sz="1600" b="0" i="1" kern="1200" smtClean="0">
                                    <a:solidFill>
                                      <a:schemeClr val="tx2">
                                        <a:lumMod val="75000"/>
                                      </a:schemeClr>
                                    </a:solidFill>
                                    <a:effectLst/>
                                    <a:latin typeface="Cambria Math" panose="02040503050406030204" pitchFamily="18" charset="0"/>
                                    <a:ea typeface="+mn-ea"/>
                                    <a:cs typeface="+mn-cs"/>
                                  </a:rPr>
                                  <m:t>)=−</m:t>
                                </m:r>
                                <m:r>
                                  <a:rPr lang="en-US" sz="1600" i="1" kern="1200">
                                    <a:solidFill>
                                      <a:schemeClr val="tx2">
                                        <a:lumMod val="75000"/>
                                      </a:schemeClr>
                                    </a:solidFill>
                                    <a:effectLst/>
                                    <a:latin typeface="Cambria Math" panose="02040503050406030204" pitchFamily="18" charset="0"/>
                                    <a:ea typeface="+mn-ea"/>
                                    <a:cs typeface="+mn-cs"/>
                                  </a:rPr>
                                  <m:t>𝑀</m:t>
                                </m:r>
                                <m:r>
                                  <a:rPr lang="en-US" sz="1600" i="1" kern="1200" smtClean="0">
                                    <a:solidFill>
                                      <a:schemeClr val="tx2">
                                        <a:lumMod val="75000"/>
                                      </a:schemeClr>
                                    </a:solidFill>
                                    <a:effectLst/>
                                    <a:latin typeface="Cambria Math" panose="02040503050406030204" pitchFamily="18" charset="0"/>
                                    <a:ea typeface="Cambria Math" panose="02040503050406030204" pitchFamily="18" charset="0"/>
                                    <a:cs typeface="+mn-cs"/>
                                  </a:rPr>
                                  <m:t>𝛾</m:t>
                                </m:r>
                                <m:acc>
                                  <m:accPr>
                                    <m:chr m:val="̈"/>
                                    <m:ctrlPr>
                                      <a:rPr lang="en-US" sz="1600" i="1" kern="1200" smtClean="0">
                                        <a:solidFill>
                                          <a:schemeClr val="tx2">
                                            <a:lumMod val="75000"/>
                                          </a:schemeClr>
                                        </a:solidFill>
                                        <a:effectLst/>
                                        <a:latin typeface="Cambria Math" panose="02040503050406030204" pitchFamily="18" charset="0"/>
                                        <a:ea typeface="Cambria Math" panose="02040503050406030204" pitchFamily="18" charset="0"/>
                                        <a:cs typeface="+mn-cs"/>
                                      </a:rPr>
                                    </m:ctrlPr>
                                  </m:accPr>
                                  <m:e>
                                    <m:r>
                                      <a:rPr lang="en-US" sz="1600" b="0" i="1" kern="1200" smtClean="0">
                                        <a:solidFill>
                                          <a:schemeClr val="tx2">
                                            <a:lumMod val="75000"/>
                                          </a:schemeClr>
                                        </a:solidFill>
                                        <a:effectLst/>
                                        <a:latin typeface="Cambria Math" panose="02040503050406030204" pitchFamily="18" charset="0"/>
                                        <a:ea typeface="Cambria Math" panose="02040503050406030204" pitchFamily="18" charset="0"/>
                                        <a:cs typeface="+mn-cs"/>
                                      </a:rPr>
                                      <m:t>𝑠</m:t>
                                    </m:r>
                                  </m:e>
                                </m:acc>
                                <m:d>
                                  <m:dPr>
                                    <m:ctrlPr>
                                      <a:rPr lang="en-US" sz="1600" i="1" kern="1200">
                                        <a:solidFill>
                                          <a:schemeClr val="tx2">
                                            <a:lumMod val="75000"/>
                                          </a:schemeClr>
                                        </a:solidFill>
                                        <a:effectLst/>
                                        <a:latin typeface="Cambria Math" panose="02040503050406030204" pitchFamily="18" charset="0"/>
                                        <a:ea typeface="+mn-ea"/>
                                        <a:cs typeface="+mn-cs"/>
                                      </a:rPr>
                                    </m:ctrlPr>
                                  </m:dPr>
                                  <m:e>
                                    <m:r>
                                      <a:rPr lang="en-US" sz="1600" i="1" kern="1200">
                                        <a:solidFill>
                                          <a:schemeClr val="tx2">
                                            <a:lumMod val="75000"/>
                                          </a:schemeClr>
                                        </a:solidFill>
                                        <a:effectLst/>
                                        <a:latin typeface="Cambria Math" panose="02040503050406030204" pitchFamily="18" charset="0"/>
                                        <a:ea typeface="+mn-ea"/>
                                        <a:cs typeface="+mn-cs"/>
                                      </a:rPr>
                                      <m:t>𝑡</m:t>
                                    </m:r>
                                  </m:e>
                                </m:d>
                              </m:oMath>
                            </m:oMathPara>
                          </a14:m>
                          <a:endParaRPr lang="ru-RU" sz="1600" i="1" kern="1200" dirty="0">
                            <a:solidFill>
                              <a:schemeClr val="tx2">
                                <a:lumMod val="75000"/>
                              </a:schemeClr>
                            </a:solidFill>
                            <a:effectLst/>
                            <a:latin typeface="Tahoma" panose="020B0604030504040204" pitchFamily="34" charset="0"/>
                            <a:ea typeface="+mn-ea"/>
                            <a:cs typeface="+mn-cs"/>
                          </a:endParaRPr>
                        </a:p>
                      </a:txBody>
                      <a:tcPr marL="86402" marR="86402" marT="43201" marB="43201" anchor="ctr">
                        <a:lnL w="12700" cap="flat" cmpd="sng" algn="ctr">
                          <a:solidFill>
                            <a:srgbClr val="89B6C3"/>
                          </a:solidFill>
                          <a:prstDash val="solid"/>
                          <a:round/>
                          <a:headEnd type="none" w="med" len="med"/>
                          <a:tailEnd type="none" w="med" len="med"/>
                        </a:lnL>
                        <a:lnR w="12700" cap="flat" cmpd="sng" algn="ctr">
                          <a:solidFill>
                            <a:srgbClr val="89B6C3"/>
                          </a:solidFill>
                          <a:prstDash val="solid"/>
                          <a:round/>
                          <a:headEnd type="none" w="med" len="med"/>
                          <a:tailEnd type="none" w="med" len="med"/>
                        </a:lnR>
                        <a:lnT w="12700" cap="flat" cmpd="sng" algn="ctr">
                          <a:solidFill>
                            <a:srgbClr val="89B6C3"/>
                          </a:solidFill>
                          <a:prstDash val="solid"/>
                          <a:round/>
                          <a:headEnd type="none" w="med" len="med"/>
                          <a:tailEnd type="none" w="med" len="med"/>
                        </a:lnT>
                        <a:lnB w="12700" cap="flat" cmpd="sng" algn="ctr">
                          <a:solidFill>
                            <a:srgbClr val="89B6C3"/>
                          </a:solidFill>
                          <a:prstDash val="solid"/>
                          <a:round/>
                          <a:headEnd type="none" w="med" len="med"/>
                          <a:tailEnd type="none" w="med" len="med"/>
                        </a:lnB>
                      </a:tcPr>
                    </a:tc>
                    <a:tc>
                      <a:txBody>
                        <a:bodyPr/>
                        <a:lstStyle/>
                        <a:p>
                          <a14:m>
                            <m:oMath xmlns:m="http://schemas.openxmlformats.org/officeDocument/2006/math">
                              <m:r>
                                <a:rPr lang="en-US" sz="1600" b="0" i="1" kern="1200" smtClean="0">
                                  <a:solidFill>
                                    <a:schemeClr val="tx2">
                                      <a:lumMod val="75000"/>
                                    </a:schemeClr>
                                  </a:solidFill>
                                  <a:effectLst/>
                                  <a:latin typeface="Cambria Math" panose="02040503050406030204" pitchFamily="18" charset="0"/>
                                  <a:ea typeface="+mn-ea"/>
                                  <a:cs typeface="+mn-cs"/>
                                </a:rPr>
                                <m:t>𝑢</m:t>
                              </m:r>
                              <m:r>
                                <a:rPr lang="en-US" sz="1600" b="0" i="1" kern="1200" smtClean="0">
                                  <a:solidFill>
                                    <a:schemeClr val="tx2">
                                      <a:lumMod val="75000"/>
                                    </a:schemeClr>
                                  </a:solidFill>
                                  <a:effectLst/>
                                  <a:latin typeface="Cambria Math" panose="02040503050406030204" pitchFamily="18" charset="0"/>
                                  <a:ea typeface="+mn-ea"/>
                                  <a:cs typeface="+mn-cs"/>
                                </a:rPr>
                                <m:t>(</m:t>
                              </m:r>
                              <m:r>
                                <a:rPr lang="en-US" sz="1600" b="0" i="1" kern="1200" smtClean="0">
                                  <a:solidFill>
                                    <a:schemeClr val="tx2">
                                      <a:lumMod val="75000"/>
                                    </a:schemeClr>
                                  </a:solidFill>
                                  <a:effectLst/>
                                  <a:latin typeface="Cambria Math" panose="02040503050406030204" pitchFamily="18" charset="0"/>
                                  <a:ea typeface="+mn-ea"/>
                                  <a:cs typeface="+mn-cs"/>
                                </a:rPr>
                                <m:t>𝑡</m:t>
                              </m:r>
                              <m:r>
                                <a:rPr lang="en-US" sz="1600" b="0" i="1" kern="1200" smtClean="0">
                                  <a:solidFill>
                                    <a:schemeClr val="tx2">
                                      <a:lumMod val="75000"/>
                                    </a:schemeClr>
                                  </a:solidFill>
                                  <a:effectLst/>
                                  <a:latin typeface="Cambria Math" panose="02040503050406030204" pitchFamily="18" charset="0"/>
                                  <a:ea typeface="+mn-ea"/>
                                  <a:cs typeface="+mn-cs"/>
                                </a:rPr>
                                <m:t>)</m:t>
                              </m:r>
                            </m:oMath>
                          </a14:m>
                          <a:r>
                            <a:rPr lang="en-US" sz="1600" b="0" i="0" u="none" strike="noStrike" kern="1200" baseline="0" dirty="0">
                              <a:solidFill>
                                <a:schemeClr val="tx2">
                                  <a:lumMod val="75000"/>
                                </a:schemeClr>
                              </a:solidFill>
                              <a:latin typeface="Tahoma" panose="020B0604030504040204" pitchFamily="34" charset="0"/>
                              <a:ea typeface="+mn-ea"/>
                              <a:cs typeface="+mn-cs"/>
                            </a:rPr>
                            <a:t> – </a:t>
                          </a:r>
                          <a:r>
                            <a:rPr lang="ru-RU" sz="1600" b="0" i="0" u="none" strike="noStrike" kern="1200" baseline="0" dirty="0">
                              <a:solidFill>
                                <a:schemeClr val="tx2">
                                  <a:lumMod val="75000"/>
                                </a:schemeClr>
                              </a:solidFill>
                              <a:latin typeface="Tahoma" panose="020B0604030504040204" pitchFamily="34" charset="0"/>
                              <a:ea typeface="+mn-ea"/>
                              <a:cs typeface="+mn-cs"/>
                            </a:rPr>
                            <a:t>искомый вектор перемещений;</a:t>
                          </a:r>
                        </a:p>
                        <a:p>
                          <a14:m>
                            <m:oMath xmlns:m="http://schemas.openxmlformats.org/officeDocument/2006/math">
                              <m:r>
                                <a:rPr lang="en-US" sz="1600" i="1" kern="1200" smtClean="0">
                                  <a:solidFill>
                                    <a:schemeClr val="tx2">
                                      <a:lumMod val="75000"/>
                                    </a:schemeClr>
                                  </a:solidFill>
                                  <a:effectLst/>
                                  <a:latin typeface="Cambria Math" panose="02040503050406030204" pitchFamily="18" charset="0"/>
                                  <a:ea typeface="+mn-ea"/>
                                  <a:cs typeface="+mn-cs"/>
                                </a:rPr>
                                <m:t>𝑀</m:t>
                              </m:r>
                            </m:oMath>
                          </a14:m>
                          <a:r>
                            <a:rPr lang="ru-RU" sz="1600" b="0" i="0" u="none" strike="noStrike" kern="1200" baseline="0" dirty="0">
                              <a:solidFill>
                                <a:schemeClr val="tx2">
                                  <a:lumMod val="75000"/>
                                </a:schemeClr>
                              </a:solidFill>
                              <a:latin typeface="Tahoma" panose="020B0604030504040204" pitchFamily="34" charset="0"/>
                              <a:ea typeface="+mn-ea"/>
                              <a:cs typeface="+mn-cs"/>
                            </a:rPr>
                            <a:t> - матрица масс;</a:t>
                          </a:r>
                        </a:p>
                        <a:p>
                          <a14:m>
                            <m:oMath xmlns:m="http://schemas.openxmlformats.org/officeDocument/2006/math">
                              <m:r>
                                <a:rPr lang="en-US" sz="1600" i="1" kern="1200" smtClean="0">
                                  <a:solidFill>
                                    <a:schemeClr val="tx2">
                                      <a:lumMod val="75000"/>
                                    </a:schemeClr>
                                  </a:solidFill>
                                  <a:effectLst/>
                                  <a:latin typeface="Cambria Math" panose="02040503050406030204" pitchFamily="18" charset="0"/>
                                  <a:ea typeface="+mn-ea"/>
                                  <a:cs typeface="+mn-cs"/>
                                </a:rPr>
                                <m:t>𝐶</m:t>
                              </m:r>
                            </m:oMath>
                          </a14:m>
                          <a:r>
                            <a:rPr lang="ru-RU" sz="1600" b="0" i="0" u="none" strike="noStrike" kern="1200" baseline="0" dirty="0">
                              <a:solidFill>
                                <a:schemeClr val="tx2">
                                  <a:lumMod val="75000"/>
                                </a:schemeClr>
                              </a:solidFill>
                              <a:latin typeface="Tahoma" panose="020B0604030504040204" pitchFamily="34" charset="0"/>
                              <a:ea typeface="+mn-ea"/>
                              <a:cs typeface="+mn-cs"/>
                            </a:rPr>
                            <a:t> - матрица демпфирования;</a:t>
                          </a:r>
                        </a:p>
                        <a:p>
                          <a14:m>
                            <m:oMath xmlns:m="http://schemas.openxmlformats.org/officeDocument/2006/math">
                              <m:r>
                                <a:rPr lang="en-US" sz="1600" i="1" kern="1200" smtClean="0">
                                  <a:solidFill>
                                    <a:schemeClr val="tx2">
                                      <a:lumMod val="75000"/>
                                    </a:schemeClr>
                                  </a:solidFill>
                                  <a:effectLst/>
                                  <a:latin typeface="Cambria Math" panose="02040503050406030204" pitchFamily="18" charset="0"/>
                                  <a:ea typeface="+mn-ea"/>
                                  <a:cs typeface="+mn-cs"/>
                                </a:rPr>
                                <m:t>𝐾</m:t>
                              </m:r>
                            </m:oMath>
                          </a14:m>
                          <a:r>
                            <a:rPr lang="ru-RU" sz="1600" b="0" i="0" u="none" strike="noStrike" kern="1200" baseline="0" dirty="0">
                              <a:solidFill>
                                <a:schemeClr val="tx2">
                                  <a:lumMod val="75000"/>
                                </a:schemeClr>
                              </a:solidFill>
                              <a:latin typeface="Tahoma" panose="020B0604030504040204" pitchFamily="34" charset="0"/>
                              <a:ea typeface="+mn-ea"/>
                              <a:cs typeface="+mn-cs"/>
                            </a:rPr>
                            <a:t> - матрица жесткостей;</a:t>
                          </a:r>
                          <a:endParaRPr lang="en-US" sz="1600" b="0" i="0" u="none" strike="noStrike" kern="1200" baseline="0" dirty="0">
                            <a:solidFill>
                              <a:schemeClr val="tx2">
                                <a:lumMod val="75000"/>
                              </a:schemeClr>
                            </a:solidFill>
                            <a:latin typeface="Tahoma" panose="020B0604030504040204" pitchFamily="34" charset="0"/>
                            <a:ea typeface="+mn-ea"/>
                            <a:cs typeface="+mn-cs"/>
                          </a:endParaRPr>
                        </a:p>
                        <a:p>
                          <a14:m>
                            <m:oMath xmlns:m="http://schemas.openxmlformats.org/officeDocument/2006/math">
                              <m:r>
                                <a:rPr lang="en-US" sz="1600" i="1" kern="1200" smtClean="0">
                                  <a:solidFill>
                                    <a:schemeClr val="tx2">
                                      <a:lumMod val="75000"/>
                                    </a:schemeClr>
                                  </a:solidFill>
                                  <a:effectLst/>
                                  <a:latin typeface="Cambria Math" panose="02040503050406030204" pitchFamily="18" charset="0"/>
                                  <a:ea typeface="Cambria Math" panose="02040503050406030204" pitchFamily="18" charset="0"/>
                                  <a:cs typeface="+mn-cs"/>
                                </a:rPr>
                                <m:t>𝛾</m:t>
                              </m:r>
                            </m:oMath>
                          </a14:m>
                          <a:r>
                            <a:rPr lang="en-US" sz="1600" b="0" i="0" u="none" strike="noStrike" kern="1200" baseline="0" dirty="0">
                              <a:solidFill>
                                <a:schemeClr val="tx2">
                                  <a:lumMod val="75000"/>
                                </a:schemeClr>
                              </a:solidFill>
                              <a:latin typeface="Tahoma" panose="020B0604030504040204" pitchFamily="34" charset="0"/>
                              <a:ea typeface="+mn-ea"/>
                              <a:cs typeface="+mn-cs"/>
                            </a:rPr>
                            <a:t> </a:t>
                          </a:r>
                          <a:r>
                            <a:rPr lang="ru-RU" sz="1600" b="0" i="0" u="none" strike="noStrike" kern="1200" baseline="0" dirty="0">
                              <a:solidFill>
                                <a:schemeClr val="tx2">
                                  <a:lumMod val="75000"/>
                                </a:schemeClr>
                              </a:solidFill>
                              <a:latin typeface="Tahoma" panose="020B0604030504040204" pitchFamily="34" charset="0"/>
                              <a:ea typeface="+mn-ea"/>
                              <a:cs typeface="+mn-cs"/>
                            </a:rPr>
                            <a:t>- вектор направляющих косинусов воздействия; </a:t>
                          </a:r>
                          <a:endParaRPr lang="ru-RU" sz="1600" i="1" kern="1200" baseline="0" dirty="0">
                            <a:solidFill>
                              <a:schemeClr val="tx2">
                                <a:lumMod val="75000"/>
                              </a:schemeClr>
                            </a:solidFill>
                            <a:effectLst/>
                            <a:latin typeface="Cambria Math" panose="02040503050406030204" pitchFamily="18" charset="0"/>
                            <a:ea typeface="Cambria Math" panose="02040503050406030204" pitchFamily="18" charset="0"/>
                            <a:cs typeface="+mn-cs"/>
                          </a:endParaRPr>
                        </a:p>
                        <a:p>
                          <a14:m>
                            <m:oMath xmlns:m="http://schemas.openxmlformats.org/officeDocument/2006/math">
                              <m:r>
                                <a:rPr lang="en-US" sz="1600" b="0" i="1" kern="1200" baseline="0" smtClean="0">
                                  <a:solidFill>
                                    <a:schemeClr val="tx2">
                                      <a:lumMod val="75000"/>
                                    </a:schemeClr>
                                  </a:solidFill>
                                  <a:effectLst/>
                                  <a:latin typeface="Cambria Math" panose="02040503050406030204" pitchFamily="18" charset="0"/>
                                  <a:ea typeface="+mn-ea"/>
                                  <a:cs typeface="+mn-cs"/>
                                </a:rPr>
                                <m:t>𝑠</m:t>
                              </m:r>
                              <m:d>
                                <m:dPr>
                                  <m:ctrlPr>
                                    <a:rPr lang="en-US" sz="1600" i="1" kern="1200" baseline="0">
                                      <a:solidFill>
                                        <a:schemeClr val="tx2">
                                          <a:lumMod val="75000"/>
                                        </a:schemeClr>
                                      </a:solidFill>
                                      <a:effectLst/>
                                      <a:latin typeface="Cambria Math" panose="02040503050406030204" pitchFamily="18" charset="0"/>
                                      <a:ea typeface="+mn-ea"/>
                                      <a:cs typeface="+mn-cs"/>
                                    </a:rPr>
                                  </m:ctrlPr>
                                </m:dPr>
                                <m:e>
                                  <m:r>
                                    <a:rPr lang="en-US" sz="1600" i="1" kern="1200" baseline="0">
                                      <a:solidFill>
                                        <a:schemeClr val="tx2">
                                          <a:lumMod val="75000"/>
                                        </a:schemeClr>
                                      </a:solidFill>
                                      <a:effectLst/>
                                      <a:latin typeface="Cambria Math" panose="02040503050406030204" pitchFamily="18" charset="0"/>
                                      <a:ea typeface="+mn-ea"/>
                                      <a:cs typeface="+mn-cs"/>
                                    </a:rPr>
                                    <m:t>𝑡</m:t>
                                  </m:r>
                                </m:e>
                              </m:d>
                            </m:oMath>
                          </a14:m>
                          <a:r>
                            <a:rPr lang="ru-RU" sz="1600" b="0" i="0" u="none" strike="noStrike" kern="1200" baseline="0" dirty="0">
                              <a:solidFill>
                                <a:schemeClr val="tx2">
                                  <a:lumMod val="75000"/>
                                </a:schemeClr>
                              </a:solidFill>
                              <a:latin typeface="Tahoma" panose="020B0604030504040204" pitchFamily="34" charset="0"/>
                              <a:ea typeface="+mn-ea"/>
                              <a:cs typeface="+mn-cs"/>
                            </a:rPr>
                            <a:t> - сейсмограмма воздействия.</a:t>
                          </a:r>
                        </a:p>
                      </a:txBody>
                      <a:tcPr marL="86402" marR="86402" marT="43201" marB="43201" anchor="ctr">
                        <a:lnL w="12700" cap="flat" cmpd="sng" algn="ctr">
                          <a:solidFill>
                            <a:srgbClr val="89B6C3"/>
                          </a:solidFill>
                          <a:prstDash val="solid"/>
                          <a:round/>
                          <a:headEnd type="none" w="med" len="med"/>
                          <a:tailEnd type="none" w="med" len="med"/>
                        </a:lnL>
                        <a:lnR w="12700" cap="flat" cmpd="sng" algn="ctr">
                          <a:solidFill>
                            <a:srgbClr val="89B6C3"/>
                          </a:solidFill>
                          <a:prstDash val="solid"/>
                          <a:round/>
                          <a:headEnd type="none" w="med" len="med"/>
                          <a:tailEnd type="none" w="med" len="med"/>
                        </a:lnR>
                        <a:lnT w="12700" cap="flat" cmpd="sng" algn="ctr">
                          <a:solidFill>
                            <a:srgbClr val="89B6C3"/>
                          </a:solidFill>
                          <a:prstDash val="solid"/>
                          <a:round/>
                          <a:headEnd type="none" w="med" len="med"/>
                          <a:tailEnd type="none" w="med" len="med"/>
                        </a:lnT>
                        <a:lnB w="12700" cap="flat" cmpd="sng" algn="ctr">
                          <a:solidFill>
                            <a:srgbClr val="89B6C3"/>
                          </a:solidFill>
                          <a:prstDash val="solid"/>
                          <a:round/>
                          <a:headEnd type="none" w="med" len="med"/>
                          <a:tailEnd type="none" w="med" len="med"/>
                        </a:lnB>
                      </a:tcPr>
                    </a:tc>
                    <a:extLst>
                      <a:ext uri="{0D108BD9-81ED-4DB2-BD59-A6C34878D82A}">
                        <a16:rowId xmlns:a16="http://schemas.microsoft.com/office/drawing/2014/main" val="2320361023"/>
                      </a:ext>
                    </a:extLst>
                  </a:tr>
                </a:tbl>
              </a:graphicData>
            </a:graphic>
          </p:graphicFrame>
        </mc:Choice>
        <mc:Fallback>
          <p:graphicFrame>
            <p:nvGraphicFramePr>
              <p:cNvPr id="10" name="Таблица 3">
                <a:extLst>
                  <a:ext uri="{FF2B5EF4-FFF2-40B4-BE49-F238E27FC236}">
                    <a16:creationId xmlns:a16="http://schemas.microsoft.com/office/drawing/2014/main" id="{2EC01953-3866-236C-9B89-D7044511B9A0}"/>
                  </a:ext>
                </a:extLst>
              </p:cNvPr>
              <p:cNvGraphicFramePr>
                <a:graphicFrameLocks noGrp="1"/>
              </p:cNvGraphicFramePr>
              <p:nvPr>
                <p:extLst>
                  <p:ext uri="{D42A27DB-BD31-4B8C-83A1-F6EECF244321}">
                    <p14:modId xmlns:p14="http://schemas.microsoft.com/office/powerpoint/2010/main" val="3228911405"/>
                  </p:ext>
                </p:extLst>
              </p:nvPr>
            </p:nvGraphicFramePr>
            <p:xfrm>
              <a:off x="385813" y="955975"/>
              <a:ext cx="10748862" cy="5256060"/>
            </p:xfrm>
            <a:graphic>
              <a:graphicData uri="http://schemas.openxmlformats.org/drawingml/2006/table">
                <a:tbl>
                  <a:tblPr firstRow="1" bandRow="1">
                    <a:tableStyleId>{5940675A-B579-460E-94D1-54222C63F5DA}</a:tableStyleId>
                  </a:tblPr>
                  <a:tblGrid>
                    <a:gridCol w="782672">
                      <a:extLst>
                        <a:ext uri="{9D8B030D-6E8A-4147-A177-3AD203B41FA5}">
                          <a16:colId xmlns:a16="http://schemas.microsoft.com/office/drawing/2014/main" val="1106284347"/>
                        </a:ext>
                      </a:extLst>
                    </a:gridCol>
                    <a:gridCol w="4997590">
                      <a:extLst>
                        <a:ext uri="{9D8B030D-6E8A-4147-A177-3AD203B41FA5}">
                          <a16:colId xmlns:a16="http://schemas.microsoft.com/office/drawing/2014/main" val="2523526885"/>
                        </a:ext>
                      </a:extLst>
                    </a:gridCol>
                    <a:gridCol w="4968600">
                      <a:extLst>
                        <a:ext uri="{9D8B030D-6E8A-4147-A177-3AD203B41FA5}">
                          <a16:colId xmlns:a16="http://schemas.microsoft.com/office/drawing/2014/main" val="1726859340"/>
                        </a:ext>
                      </a:extLst>
                    </a:gridCol>
                  </a:tblGrid>
                  <a:tr h="1168756">
                    <a:tc>
                      <a:txBody>
                        <a:bodyPr/>
                        <a:lstStyle/>
                        <a:p>
                          <a:pPr algn="ctr"/>
                          <a:r>
                            <a:rPr lang="ru-RU" sz="1600" dirty="0">
                              <a:solidFill>
                                <a:schemeClr val="tx2">
                                  <a:lumMod val="75000"/>
                                </a:schemeClr>
                              </a:solidFill>
                              <a:latin typeface="Tahoma" panose="020B0604030504040204" pitchFamily="34" charset="0"/>
                            </a:rPr>
                            <a:t>Горное дело</a:t>
                          </a:r>
                          <a:endParaRPr lang="en-US" sz="1600" dirty="0">
                            <a:solidFill>
                              <a:schemeClr val="tx2">
                                <a:lumMod val="75000"/>
                              </a:schemeClr>
                            </a:solidFill>
                            <a:latin typeface="Tahoma" panose="020B0604030504040204" pitchFamily="34" charset="0"/>
                          </a:endParaRPr>
                        </a:p>
                      </a:txBody>
                      <a:tcPr marL="86402" marR="86402" marT="43201" marB="43201" vert="vert270" anchor="ctr">
                        <a:lnL w="12700" cap="flat" cmpd="sng" algn="ctr">
                          <a:solidFill>
                            <a:srgbClr val="89B6C3"/>
                          </a:solidFill>
                          <a:prstDash val="solid"/>
                          <a:round/>
                          <a:headEnd type="none" w="med" len="med"/>
                          <a:tailEnd type="none" w="med" len="med"/>
                        </a:lnL>
                        <a:lnR w="12700" cap="flat" cmpd="sng" algn="ctr">
                          <a:solidFill>
                            <a:srgbClr val="89B6C3"/>
                          </a:solidFill>
                          <a:prstDash val="solid"/>
                          <a:round/>
                          <a:headEnd type="none" w="med" len="med"/>
                          <a:tailEnd type="none" w="med" len="med"/>
                        </a:lnR>
                        <a:lnT w="12700" cap="flat" cmpd="sng" algn="ctr">
                          <a:solidFill>
                            <a:srgbClr val="89B6C3"/>
                          </a:solidFill>
                          <a:prstDash val="solid"/>
                          <a:round/>
                          <a:headEnd type="none" w="med" len="med"/>
                          <a:tailEnd type="none" w="med" len="med"/>
                        </a:lnT>
                        <a:lnB w="12700" cap="flat" cmpd="sng" algn="ctr">
                          <a:solidFill>
                            <a:srgbClr val="89B6C3"/>
                          </a:solidFill>
                          <a:prstDash val="solid"/>
                          <a:round/>
                          <a:headEnd type="none" w="med" len="med"/>
                          <a:tailEnd type="none" w="med" len="med"/>
                        </a:lnB>
                      </a:tcPr>
                    </a:tc>
                    <a:tc>
                      <a:txBody>
                        <a:bodyPr/>
                        <a:lstStyle/>
                        <a:p>
                          <a:endParaRPr lang="ru-RU"/>
                        </a:p>
                      </a:txBody>
                      <a:tcPr marL="86402" marR="86402" marT="43201" marB="43201" anchor="ctr">
                        <a:lnL w="12700" cap="flat" cmpd="sng" algn="ctr">
                          <a:solidFill>
                            <a:srgbClr val="89B6C3"/>
                          </a:solidFill>
                          <a:prstDash val="solid"/>
                          <a:round/>
                          <a:headEnd type="none" w="med" len="med"/>
                          <a:tailEnd type="none" w="med" len="med"/>
                        </a:lnL>
                        <a:lnR w="12700" cap="flat" cmpd="sng" algn="ctr">
                          <a:solidFill>
                            <a:srgbClr val="89B6C3"/>
                          </a:solidFill>
                          <a:prstDash val="solid"/>
                          <a:round/>
                          <a:headEnd type="none" w="med" len="med"/>
                          <a:tailEnd type="none" w="med" len="med"/>
                        </a:lnR>
                        <a:lnT w="12700" cap="flat" cmpd="sng" algn="ctr">
                          <a:solidFill>
                            <a:srgbClr val="89B6C3"/>
                          </a:solidFill>
                          <a:prstDash val="solid"/>
                          <a:round/>
                          <a:headEnd type="none" w="med" len="med"/>
                          <a:tailEnd type="none" w="med" len="med"/>
                        </a:lnT>
                        <a:lnB w="12700" cap="flat" cmpd="sng" algn="ctr">
                          <a:solidFill>
                            <a:srgbClr val="89B6C3"/>
                          </a:solidFill>
                          <a:prstDash val="solid"/>
                          <a:round/>
                          <a:headEnd type="none" w="med" len="med"/>
                          <a:tailEnd type="none" w="med" len="med"/>
                        </a:lnB>
                        <a:blipFill>
                          <a:blip r:embed="rId3"/>
                          <a:stretch>
                            <a:fillRect l="-15713" t="-521" r="-99513" b="-351042"/>
                          </a:stretch>
                        </a:blipFill>
                      </a:tcPr>
                    </a:tc>
                    <a:tc>
                      <a:txBody>
                        <a:bodyPr/>
                        <a:lstStyle/>
                        <a:p>
                          <a:endParaRPr lang="ru-RU"/>
                        </a:p>
                      </a:txBody>
                      <a:tcPr marL="86402" marR="86402" marT="43201" marB="43201" anchor="ctr">
                        <a:lnL w="12700" cap="flat" cmpd="sng" algn="ctr">
                          <a:solidFill>
                            <a:srgbClr val="89B6C3"/>
                          </a:solidFill>
                          <a:prstDash val="solid"/>
                          <a:round/>
                          <a:headEnd type="none" w="med" len="med"/>
                          <a:tailEnd type="none" w="med" len="med"/>
                        </a:lnL>
                        <a:lnR w="12700" cap="flat" cmpd="sng" algn="ctr">
                          <a:solidFill>
                            <a:srgbClr val="89B6C3"/>
                          </a:solidFill>
                          <a:prstDash val="solid"/>
                          <a:round/>
                          <a:headEnd type="none" w="med" len="med"/>
                          <a:tailEnd type="none" w="med" len="med"/>
                        </a:lnR>
                        <a:lnT w="12700" cap="flat" cmpd="sng" algn="ctr">
                          <a:solidFill>
                            <a:srgbClr val="89B6C3"/>
                          </a:solidFill>
                          <a:prstDash val="solid"/>
                          <a:round/>
                          <a:headEnd type="none" w="med" len="med"/>
                          <a:tailEnd type="none" w="med" len="med"/>
                        </a:lnT>
                        <a:lnB w="12700" cap="flat" cmpd="sng" algn="ctr">
                          <a:solidFill>
                            <a:srgbClr val="89B6C3"/>
                          </a:solidFill>
                          <a:prstDash val="solid"/>
                          <a:round/>
                          <a:headEnd type="none" w="med" len="med"/>
                          <a:tailEnd type="none" w="med" len="med"/>
                        </a:lnB>
                        <a:blipFill>
                          <a:blip r:embed="rId3"/>
                          <a:stretch>
                            <a:fillRect l="-116564" t="-521" r="-245" b="-351042"/>
                          </a:stretch>
                        </a:blipFill>
                      </a:tcPr>
                    </a:tc>
                    <a:extLst>
                      <a:ext uri="{0D108BD9-81ED-4DB2-BD59-A6C34878D82A}">
                        <a16:rowId xmlns:a16="http://schemas.microsoft.com/office/drawing/2014/main" val="246253721"/>
                      </a:ext>
                    </a:extLst>
                  </a:tr>
                  <a:tr h="2220574">
                    <a:tc rowSpan="2">
                      <a:txBody>
                        <a:bodyPr/>
                        <a:lstStyle/>
                        <a:p>
                          <a:pPr algn="ctr"/>
                          <a:r>
                            <a:rPr lang="ru-RU" sz="1600" dirty="0">
                              <a:solidFill>
                                <a:schemeClr val="tx2">
                                  <a:lumMod val="75000"/>
                                </a:schemeClr>
                              </a:solidFill>
                              <a:latin typeface="Tahoma" panose="020B0604030504040204" pitchFamily="34" charset="0"/>
                            </a:rPr>
                            <a:t>Строительство</a:t>
                          </a:r>
                          <a:endParaRPr lang="en-US" sz="1600" dirty="0">
                            <a:solidFill>
                              <a:schemeClr val="tx2">
                                <a:lumMod val="75000"/>
                              </a:schemeClr>
                            </a:solidFill>
                            <a:latin typeface="Tahoma" panose="020B0604030504040204" pitchFamily="34" charset="0"/>
                          </a:endParaRPr>
                        </a:p>
                      </a:txBody>
                      <a:tcPr marL="86402" marR="86402" marT="43201" marB="43201" vert="vert270" anchor="ctr">
                        <a:lnL w="12700" cap="flat" cmpd="sng" algn="ctr">
                          <a:solidFill>
                            <a:srgbClr val="89B6C3"/>
                          </a:solidFill>
                          <a:prstDash val="solid"/>
                          <a:round/>
                          <a:headEnd type="none" w="med" len="med"/>
                          <a:tailEnd type="none" w="med" len="med"/>
                        </a:lnL>
                        <a:lnR w="12700" cap="flat" cmpd="sng" algn="ctr">
                          <a:solidFill>
                            <a:srgbClr val="89B6C3"/>
                          </a:solidFill>
                          <a:prstDash val="solid"/>
                          <a:round/>
                          <a:headEnd type="none" w="med" len="med"/>
                          <a:tailEnd type="none" w="med" len="med"/>
                        </a:lnR>
                        <a:lnT w="12700" cap="flat" cmpd="sng" algn="ctr">
                          <a:solidFill>
                            <a:srgbClr val="89B6C3"/>
                          </a:solidFill>
                          <a:prstDash val="solid"/>
                          <a:round/>
                          <a:headEnd type="none" w="med" len="med"/>
                          <a:tailEnd type="none" w="med" len="med"/>
                        </a:lnT>
                        <a:lnB w="12700" cap="flat" cmpd="sng" algn="ctr">
                          <a:solidFill>
                            <a:srgbClr val="89B6C3"/>
                          </a:solidFill>
                          <a:prstDash val="solid"/>
                          <a:round/>
                          <a:headEnd type="none" w="med" len="med"/>
                          <a:tailEnd type="none" w="med" len="med"/>
                        </a:lnB>
                      </a:tcPr>
                    </a:tc>
                    <a:tc>
                      <a:txBody>
                        <a:bodyPr/>
                        <a:lstStyle/>
                        <a:p>
                          <a:endParaRPr lang="ru-RU"/>
                        </a:p>
                      </a:txBody>
                      <a:tcPr marL="86402" marR="86402" marT="43201" marB="43201" anchor="ctr">
                        <a:lnL w="12700" cap="flat" cmpd="sng" algn="ctr">
                          <a:solidFill>
                            <a:srgbClr val="89B6C3"/>
                          </a:solidFill>
                          <a:prstDash val="solid"/>
                          <a:round/>
                          <a:headEnd type="none" w="med" len="med"/>
                          <a:tailEnd type="none" w="med" len="med"/>
                        </a:lnL>
                        <a:lnR w="12700" cap="flat" cmpd="sng" algn="ctr">
                          <a:solidFill>
                            <a:srgbClr val="89B6C3"/>
                          </a:solidFill>
                          <a:prstDash val="solid"/>
                          <a:round/>
                          <a:headEnd type="none" w="med" len="med"/>
                          <a:tailEnd type="none" w="med" len="med"/>
                        </a:lnR>
                        <a:lnT w="12700" cap="flat" cmpd="sng" algn="ctr">
                          <a:solidFill>
                            <a:srgbClr val="89B6C3"/>
                          </a:solidFill>
                          <a:prstDash val="solid"/>
                          <a:round/>
                          <a:headEnd type="none" w="med" len="med"/>
                          <a:tailEnd type="none" w="med" len="med"/>
                        </a:lnT>
                        <a:lnB w="12700" cap="flat" cmpd="sng" algn="ctr">
                          <a:solidFill>
                            <a:srgbClr val="89B6C3"/>
                          </a:solidFill>
                          <a:prstDash val="solid"/>
                          <a:round/>
                          <a:headEnd type="none" w="med" len="med"/>
                          <a:tailEnd type="none" w="med" len="med"/>
                        </a:lnB>
                        <a:blipFill>
                          <a:blip r:embed="rId3"/>
                          <a:stretch>
                            <a:fillRect l="-15713" t="-52877" r="-99513" b="-84658"/>
                          </a:stretch>
                        </a:blipFill>
                      </a:tcPr>
                    </a:tc>
                    <a:tc>
                      <a:txBody>
                        <a:bodyPr/>
                        <a:lstStyle/>
                        <a:p>
                          <a:endParaRPr lang="ru-RU"/>
                        </a:p>
                      </a:txBody>
                      <a:tcPr marL="86402" marR="86402" marT="43201" marB="43201" anchor="ctr">
                        <a:lnL w="12700" cap="flat" cmpd="sng" algn="ctr">
                          <a:solidFill>
                            <a:srgbClr val="89B6C3"/>
                          </a:solidFill>
                          <a:prstDash val="solid"/>
                          <a:round/>
                          <a:headEnd type="none" w="med" len="med"/>
                          <a:tailEnd type="none" w="med" len="med"/>
                        </a:lnL>
                        <a:lnR w="12700" cap="flat" cmpd="sng" algn="ctr">
                          <a:solidFill>
                            <a:srgbClr val="89B6C3"/>
                          </a:solidFill>
                          <a:prstDash val="solid"/>
                          <a:round/>
                          <a:headEnd type="none" w="med" len="med"/>
                          <a:tailEnd type="none" w="med" len="med"/>
                        </a:lnR>
                        <a:lnT w="12700" cap="flat" cmpd="sng" algn="ctr">
                          <a:solidFill>
                            <a:srgbClr val="89B6C3"/>
                          </a:solidFill>
                          <a:prstDash val="solid"/>
                          <a:round/>
                          <a:headEnd type="none" w="med" len="med"/>
                          <a:tailEnd type="none" w="med" len="med"/>
                        </a:lnT>
                        <a:lnB w="12700" cap="flat" cmpd="sng" algn="ctr">
                          <a:solidFill>
                            <a:srgbClr val="89B6C3"/>
                          </a:solidFill>
                          <a:prstDash val="solid"/>
                          <a:round/>
                          <a:headEnd type="none" w="med" len="med"/>
                          <a:tailEnd type="none" w="med" len="med"/>
                        </a:lnB>
                        <a:blipFill>
                          <a:blip r:embed="rId3"/>
                          <a:stretch>
                            <a:fillRect l="-116564" t="-52877" r="-245" b="-84658"/>
                          </a:stretch>
                        </a:blipFill>
                      </a:tcPr>
                    </a:tc>
                    <a:extLst>
                      <a:ext uri="{0D108BD9-81ED-4DB2-BD59-A6C34878D82A}">
                        <a16:rowId xmlns:a16="http://schemas.microsoft.com/office/drawing/2014/main" val="3360003295"/>
                      </a:ext>
                    </a:extLst>
                  </a:tr>
                  <a:tr h="1866730">
                    <a:tc vMerge="1">
                      <a:txBody>
                        <a:bodyPr/>
                        <a:lstStyle/>
                        <a:p>
                          <a:pPr algn="ctr"/>
                          <a:endParaRPr lang="en-US" dirty="0">
                            <a:solidFill>
                              <a:schemeClr val="tx2">
                                <a:lumMod val="75000"/>
                              </a:schemeClr>
                            </a:solidFill>
                            <a:latin typeface="PT Sans" panose="020B0503020203020204" pitchFamily="34" charset="-52"/>
                          </a:endParaRPr>
                        </a:p>
                      </a:txBody>
                      <a:tcPr anchor="b"/>
                    </a:tc>
                    <a:tc>
                      <a:txBody>
                        <a:bodyPr/>
                        <a:lstStyle/>
                        <a:p>
                          <a:endParaRPr lang="ru-RU"/>
                        </a:p>
                      </a:txBody>
                      <a:tcPr marL="86402" marR="86402" marT="43201" marB="43201" anchor="ctr">
                        <a:lnL w="12700" cap="flat" cmpd="sng" algn="ctr">
                          <a:solidFill>
                            <a:srgbClr val="89B6C3"/>
                          </a:solidFill>
                          <a:prstDash val="solid"/>
                          <a:round/>
                          <a:headEnd type="none" w="med" len="med"/>
                          <a:tailEnd type="none" w="med" len="med"/>
                        </a:lnL>
                        <a:lnR w="12700" cap="flat" cmpd="sng" algn="ctr">
                          <a:solidFill>
                            <a:srgbClr val="89B6C3"/>
                          </a:solidFill>
                          <a:prstDash val="solid"/>
                          <a:round/>
                          <a:headEnd type="none" w="med" len="med"/>
                          <a:tailEnd type="none" w="med" len="med"/>
                        </a:lnR>
                        <a:lnT w="12700" cap="flat" cmpd="sng" algn="ctr">
                          <a:solidFill>
                            <a:srgbClr val="89B6C3"/>
                          </a:solidFill>
                          <a:prstDash val="solid"/>
                          <a:round/>
                          <a:headEnd type="none" w="med" len="med"/>
                          <a:tailEnd type="none" w="med" len="med"/>
                        </a:lnT>
                        <a:lnB w="12700" cap="flat" cmpd="sng" algn="ctr">
                          <a:solidFill>
                            <a:srgbClr val="89B6C3"/>
                          </a:solidFill>
                          <a:prstDash val="solid"/>
                          <a:round/>
                          <a:headEnd type="none" w="med" len="med"/>
                          <a:tailEnd type="none" w="med" len="med"/>
                        </a:lnB>
                        <a:blipFill>
                          <a:blip r:embed="rId3"/>
                          <a:stretch>
                            <a:fillRect l="-15713" t="-181759" r="-99513" b="-651"/>
                          </a:stretch>
                        </a:blipFill>
                      </a:tcPr>
                    </a:tc>
                    <a:tc>
                      <a:txBody>
                        <a:bodyPr/>
                        <a:lstStyle/>
                        <a:p>
                          <a:endParaRPr lang="ru-RU"/>
                        </a:p>
                      </a:txBody>
                      <a:tcPr marL="86402" marR="86402" marT="43201" marB="43201" anchor="ctr">
                        <a:lnL w="12700" cap="flat" cmpd="sng" algn="ctr">
                          <a:solidFill>
                            <a:srgbClr val="89B6C3"/>
                          </a:solidFill>
                          <a:prstDash val="solid"/>
                          <a:round/>
                          <a:headEnd type="none" w="med" len="med"/>
                          <a:tailEnd type="none" w="med" len="med"/>
                        </a:lnL>
                        <a:lnR w="12700" cap="flat" cmpd="sng" algn="ctr">
                          <a:solidFill>
                            <a:srgbClr val="89B6C3"/>
                          </a:solidFill>
                          <a:prstDash val="solid"/>
                          <a:round/>
                          <a:headEnd type="none" w="med" len="med"/>
                          <a:tailEnd type="none" w="med" len="med"/>
                        </a:lnR>
                        <a:lnT w="12700" cap="flat" cmpd="sng" algn="ctr">
                          <a:solidFill>
                            <a:srgbClr val="89B6C3"/>
                          </a:solidFill>
                          <a:prstDash val="solid"/>
                          <a:round/>
                          <a:headEnd type="none" w="med" len="med"/>
                          <a:tailEnd type="none" w="med" len="med"/>
                        </a:lnT>
                        <a:lnB w="12700" cap="flat" cmpd="sng" algn="ctr">
                          <a:solidFill>
                            <a:srgbClr val="89B6C3"/>
                          </a:solidFill>
                          <a:prstDash val="solid"/>
                          <a:round/>
                          <a:headEnd type="none" w="med" len="med"/>
                          <a:tailEnd type="none" w="med" len="med"/>
                        </a:lnB>
                        <a:blipFill>
                          <a:blip r:embed="rId3"/>
                          <a:stretch>
                            <a:fillRect l="-116564" t="-181759" r="-245" b="-651"/>
                          </a:stretch>
                        </a:blipFill>
                      </a:tcPr>
                    </a:tc>
                    <a:extLst>
                      <a:ext uri="{0D108BD9-81ED-4DB2-BD59-A6C34878D82A}">
                        <a16:rowId xmlns:a16="http://schemas.microsoft.com/office/drawing/2014/main" val="2320361023"/>
                      </a:ext>
                    </a:extLst>
                  </a:tr>
                </a:tbl>
              </a:graphicData>
            </a:graphic>
          </p:graphicFrame>
        </mc:Fallback>
      </mc:AlternateContent>
      <p:sp>
        <p:nvSpPr>
          <p:cNvPr id="47" name="Заголовок 3">
            <a:extLst>
              <a:ext uri="{FF2B5EF4-FFF2-40B4-BE49-F238E27FC236}">
                <a16:creationId xmlns:a16="http://schemas.microsoft.com/office/drawing/2014/main" id="{DCEC43A8-9B04-A56C-93E9-E53184129A95}"/>
              </a:ext>
            </a:extLst>
          </p:cNvPr>
          <p:cNvSpPr txBox="1">
            <a:spLocks/>
          </p:cNvSpPr>
          <p:nvPr/>
        </p:nvSpPr>
        <p:spPr>
          <a:xfrm>
            <a:off x="1249835" y="194066"/>
            <a:ext cx="9020816" cy="623833"/>
          </a:xfrm>
          <a:prstGeom prst="rect">
            <a:avLst/>
          </a:prstGeom>
        </p:spPr>
        <p:txBody>
          <a:bodyPr vert="horz" lIns="86402" tIns="43201" rIns="86402" bIns="43201"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ru-RU" sz="3402" b="1" i="1" dirty="0">
              <a:solidFill>
                <a:schemeClr val="tx2">
                  <a:lumMod val="75000"/>
                </a:schemeClr>
              </a:solidFill>
              <a:latin typeface="Tahoma" panose="020B0604030504040204" pitchFamily="34" charset="0"/>
              <a:cs typeface="Proxy 9" panose="00000400000000000000" pitchFamily="2" charset="0"/>
            </a:endParaRPr>
          </a:p>
        </p:txBody>
      </p:sp>
      <p:sp>
        <p:nvSpPr>
          <p:cNvPr id="5" name="Текст 11">
            <a:extLst>
              <a:ext uri="{FF2B5EF4-FFF2-40B4-BE49-F238E27FC236}">
                <a16:creationId xmlns:a16="http://schemas.microsoft.com/office/drawing/2014/main" id="{C6FFEE17-40D9-4E3B-8843-AAFB323EE9B0}"/>
              </a:ext>
            </a:extLst>
          </p:cNvPr>
          <p:cNvSpPr txBox="1">
            <a:spLocks/>
          </p:cNvSpPr>
          <p:nvPr/>
        </p:nvSpPr>
        <p:spPr>
          <a:xfrm>
            <a:off x="476462" y="0"/>
            <a:ext cx="9007172" cy="36036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600" b="1" cap="all" dirty="0">
                <a:solidFill>
                  <a:schemeClr val="accent2">
                    <a:lumMod val="75000"/>
                  </a:schemeClr>
                </a:solidFill>
              </a:rPr>
              <a:t>Модели сейсмических воздействий</a:t>
            </a:r>
          </a:p>
        </p:txBody>
      </p:sp>
    </p:spTree>
    <p:extLst>
      <p:ext uri="{BB962C8B-B14F-4D97-AF65-F5344CB8AC3E}">
        <p14:creationId xmlns:p14="http://schemas.microsoft.com/office/powerpoint/2010/main" val="345985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TextBox 2">
            <a:extLst>
              <a:ext uri="{FF2B5EF4-FFF2-40B4-BE49-F238E27FC236}">
                <a16:creationId xmlns:a16="http://schemas.microsoft.com/office/drawing/2014/main" id="{5EA011F6-B241-D8D2-6D5E-32B64AA52270}"/>
              </a:ext>
            </a:extLst>
          </p:cNvPr>
          <p:cNvGraphicFramePr/>
          <p:nvPr>
            <p:extLst>
              <p:ext uri="{D42A27DB-BD31-4B8C-83A1-F6EECF244321}">
                <p14:modId xmlns:p14="http://schemas.microsoft.com/office/powerpoint/2010/main" val="2723331565"/>
              </p:ext>
            </p:extLst>
          </p:nvPr>
        </p:nvGraphicFramePr>
        <p:xfrm>
          <a:off x="89" y="-35908"/>
          <a:ext cx="11065390" cy="54020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80A87654-7940-A901-FF01-F5AC24921085}"/>
              </a:ext>
            </a:extLst>
          </p:cNvPr>
          <p:cNvSpPr txBox="1"/>
          <p:nvPr/>
        </p:nvSpPr>
        <p:spPr>
          <a:xfrm>
            <a:off x="2196242" y="4522199"/>
            <a:ext cx="7462128" cy="1328023"/>
          </a:xfrm>
          <a:prstGeom prst="roundRect">
            <a:avLst/>
          </a:prstGeom>
          <a:noFill/>
          <a:ln>
            <a:noFill/>
          </a:ln>
        </p:spPr>
        <p:txBody>
          <a:bodyPr wrap="square">
            <a:spAutoFit/>
          </a:bodyPr>
          <a:lstStyle/>
          <a:p>
            <a:pPr algn="just"/>
            <a:r>
              <a:rPr lang="ru-RU" dirty="0">
                <a:solidFill>
                  <a:schemeClr val="tx2">
                    <a:lumMod val="75000"/>
                  </a:schemeClr>
                </a:solidFill>
                <a:latin typeface="Tahoma" panose="020B0604030504040204" pitchFamily="34" charset="0"/>
                <a:ea typeface="Calibri" panose="020F0502020204030204" pitchFamily="34" charset="0"/>
                <a:cs typeface="Tahoma" panose="020B0604030504040204" pitchFamily="34" charset="0"/>
              </a:rPr>
              <a:t>Обработка инструментальных записей:</a:t>
            </a:r>
          </a:p>
          <a:p>
            <a:pPr marL="270005" indent="-270005" algn="just">
              <a:buFont typeface="Arial" panose="020B0604020202020204" pitchFamily="34" charset="0"/>
              <a:buChar char="•"/>
            </a:pPr>
            <a:r>
              <a:rPr lang="ru-RU" dirty="0">
                <a:solidFill>
                  <a:schemeClr val="tx2">
                    <a:lumMod val="75000"/>
                  </a:schemeClr>
                </a:solidFill>
                <a:latin typeface="Tahoma" panose="020B0604030504040204" pitchFamily="34" charset="0"/>
                <a:cs typeface="Tahoma" panose="020B0604030504040204" pitchFamily="34" charset="0"/>
              </a:rPr>
              <a:t>Нормативная документация – нет рекомендаций;</a:t>
            </a:r>
          </a:p>
          <a:p>
            <a:pPr marL="270005" indent="-270005" algn="just">
              <a:buFont typeface="Arial" panose="020B0604020202020204" pitchFamily="34" charset="0"/>
              <a:buChar char="•"/>
            </a:pPr>
            <a:r>
              <a:rPr lang="ru-RU" dirty="0">
                <a:solidFill>
                  <a:schemeClr val="tx2">
                    <a:lumMod val="75000"/>
                  </a:schemeClr>
                </a:solidFill>
                <a:latin typeface="Tahoma" panose="020B0604030504040204" pitchFamily="34" charset="0"/>
                <a:ea typeface="Calibri" panose="020F0502020204030204" pitchFamily="34" charset="0"/>
                <a:cs typeface="Tahoma" panose="020B0604030504040204" pitchFamily="34" charset="0"/>
              </a:rPr>
              <a:t>Ю. Л. </a:t>
            </a:r>
            <a:r>
              <a:rPr lang="ru-RU" dirty="0" err="1">
                <a:solidFill>
                  <a:schemeClr val="tx2">
                    <a:lumMod val="75000"/>
                  </a:schemeClr>
                </a:solidFill>
                <a:latin typeface="Tahoma" panose="020B0604030504040204" pitchFamily="34" charset="0"/>
                <a:ea typeface="Calibri" panose="020F0502020204030204" pitchFamily="34" charset="0"/>
                <a:cs typeface="Tahoma" panose="020B0604030504040204" pitchFamily="34" charset="0"/>
              </a:rPr>
              <a:t>Рутман</a:t>
            </a:r>
            <a:r>
              <a:rPr lang="ru-RU" dirty="0">
                <a:solidFill>
                  <a:schemeClr val="tx2">
                    <a:lumMod val="75000"/>
                  </a:schemeClr>
                </a:solidFill>
                <a:latin typeface="Tahoma" panose="020B0604030504040204" pitchFamily="34" charset="0"/>
                <a:ea typeface="Calibri" panose="020F0502020204030204" pitchFamily="34" charset="0"/>
                <a:cs typeface="Tahoma" panose="020B0604030504040204" pitchFamily="34" charset="0"/>
              </a:rPr>
              <a:t>,  А. Н. </a:t>
            </a:r>
            <a:r>
              <a:rPr lang="ru-RU" dirty="0" err="1">
                <a:solidFill>
                  <a:schemeClr val="tx2">
                    <a:lumMod val="75000"/>
                  </a:schemeClr>
                </a:solidFill>
                <a:latin typeface="Tahoma" panose="020B0604030504040204" pitchFamily="34" charset="0"/>
                <a:ea typeface="Calibri" panose="020F0502020204030204" pitchFamily="34" charset="0"/>
                <a:cs typeface="Tahoma" panose="020B0604030504040204" pitchFamily="34" charset="0"/>
              </a:rPr>
              <a:t>Бирбраер</a:t>
            </a:r>
            <a:r>
              <a:rPr lang="ru-RU" dirty="0">
                <a:solidFill>
                  <a:schemeClr val="tx2">
                    <a:lumMod val="75000"/>
                  </a:schemeClr>
                </a:solidFill>
                <a:latin typeface="Tahoma" panose="020B0604030504040204" pitchFamily="34" charset="0"/>
                <a:ea typeface="Calibri" panose="020F0502020204030204" pitchFamily="34" charset="0"/>
                <a:cs typeface="Tahoma" panose="020B0604030504040204" pitchFamily="34" charset="0"/>
              </a:rPr>
              <a:t> </a:t>
            </a:r>
            <a:r>
              <a:rPr lang="ru-RU" dirty="0">
                <a:solidFill>
                  <a:schemeClr val="tx2">
                    <a:lumMod val="75000"/>
                  </a:schemeClr>
                </a:solidFill>
                <a:latin typeface="Tahoma" panose="020B0604030504040204" pitchFamily="34" charset="0"/>
                <a:cs typeface="Tahoma" panose="020B0604030504040204" pitchFamily="34" charset="0"/>
              </a:rPr>
              <a:t>– верхняя граница фильтрации 33 Гц при сейсмических воздействиях.</a:t>
            </a:r>
            <a:endParaRPr lang="en-US" dirty="0">
              <a:solidFill>
                <a:schemeClr val="tx2">
                  <a:lumMod val="75000"/>
                </a:schemeClr>
              </a:solidFill>
              <a:latin typeface="Tahoma" panose="020B0604030504040204" pitchFamily="34" charset="0"/>
              <a:cs typeface="Tahoma" panose="020B0604030504040204" pitchFamily="34" charset="0"/>
            </a:endParaRPr>
          </a:p>
        </p:txBody>
      </p:sp>
      <p:sp>
        <p:nvSpPr>
          <p:cNvPr id="3" name="Заголовок 3">
            <a:extLst>
              <a:ext uri="{FF2B5EF4-FFF2-40B4-BE49-F238E27FC236}">
                <a16:creationId xmlns:a16="http://schemas.microsoft.com/office/drawing/2014/main" id="{885F1955-ADF5-16C1-BB84-BA8937560582}"/>
              </a:ext>
            </a:extLst>
          </p:cNvPr>
          <p:cNvSpPr txBox="1">
            <a:spLocks/>
          </p:cNvSpPr>
          <p:nvPr/>
        </p:nvSpPr>
        <p:spPr>
          <a:xfrm>
            <a:off x="742132" y="194066"/>
            <a:ext cx="10370348" cy="623833"/>
          </a:xfrm>
          <a:prstGeom prst="rect">
            <a:avLst/>
          </a:prstGeom>
        </p:spPr>
        <p:txBody>
          <a:bodyPr vert="horz" lIns="86402" tIns="43201" rIns="86402" bIns="43201"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ru-RU" sz="3402" b="1" i="1" dirty="0">
              <a:solidFill>
                <a:schemeClr val="tx2">
                  <a:lumMod val="75000"/>
                </a:schemeClr>
              </a:solidFill>
              <a:latin typeface="Tahoma" panose="020B0604030504040204" pitchFamily="34" charset="0"/>
            </a:endParaRPr>
          </a:p>
        </p:txBody>
      </p:sp>
      <p:sp>
        <p:nvSpPr>
          <p:cNvPr id="6" name="Текст 11">
            <a:extLst>
              <a:ext uri="{FF2B5EF4-FFF2-40B4-BE49-F238E27FC236}">
                <a16:creationId xmlns:a16="http://schemas.microsoft.com/office/drawing/2014/main" id="{0F8BC7C5-8BFB-4238-AEC1-D46412C9D3B0}"/>
              </a:ext>
            </a:extLst>
          </p:cNvPr>
          <p:cNvSpPr txBox="1">
            <a:spLocks/>
          </p:cNvSpPr>
          <p:nvPr/>
        </p:nvSpPr>
        <p:spPr>
          <a:xfrm>
            <a:off x="476462" y="0"/>
            <a:ext cx="9007172" cy="36036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600" b="1" cap="all" dirty="0">
                <a:solidFill>
                  <a:schemeClr val="accent2">
                    <a:lumMod val="75000"/>
                  </a:schemeClr>
                </a:solidFill>
              </a:rPr>
              <a:t>Сейсмический мониторинг</a:t>
            </a:r>
          </a:p>
        </p:txBody>
      </p:sp>
    </p:spTree>
    <p:extLst>
      <p:ext uri="{BB962C8B-B14F-4D97-AF65-F5344CB8AC3E}">
        <p14:creationId xmlns:p14="http://schemas.microsoft.com/office/powerpoint/2010/main" val="40171060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Таблица 10">
            <a:extLst>
              <a:ext uri="{FF2B5EF4-FFF2-40B4-BE49-F238E27FC236}">
                <a16:creationId xmlns:a16="http://schemas.microsoft.com/office/drawing/2014/main" id="{3A9444B6-691A-A47F-28FE-32CE021289BC}"/>
              </a:ext>
            </a:extLst>
          </p:cNvPr>
          <p:cNvGraphicFramePr>
            <a:graphicFrameLocks noGrp="1"/>
          </p:cNvGraphicFramePr>
          <p:nvPr>
            <p:extLst>
              <p:ext uri="{D42A27DB-BD31-4B8C-83A1-F6EECF244321}">
                <p14:modId xmlns:p14="http://schemas.microsoft.com/office/powerpoint/2010/main" val="3320293340"/>
              </p:ext>
            </p:extLst>
          </p:nvPr>
        </p:nvGraphicFramePr>
        <p:xfrm>
          <a:off x="1089937" y="1130707"/>
          <a:ext cx="9455164" cy="4422169"/>
        </p:xfrm>
        <a:graphic>
          <a:graphicData uri="http://schemas.openxmlformats.org/drawingml/2006/table">
            <a:tbl>
              <a:tblPr firstRow="1" bandRow="1">
                <a:tableStyleId>{2D5ABB26-0587-4C30-8999-92F81FD0307C}</a:tableStyleId>
              </a:tblPr>
              <a:tblGrid>
                <a:gridCol w="9455164">
                  <a:extLst>
                    <a:ext uri="{9D8B030D-6E8A-4147-A177-3AD203B41FA5}">
                      <a16:colId xmlns:a16="http://schemas.microsoft.com/office/drawing/2014/main" val="3399617898"/>
                    </a:ext>
                  </a:extLst>
                </a:gridCol>
              </a:tblGrid>
              <a:tr h="8504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2400" u="sng" dirty="0">
                          <a:solidFill>
                            <a:schemeClr val="tx2">
                              <a:lumMod val="75000"/>
                            </a:schemeClr>
                          </a:solidFill>
                          <a:effectLst/>
                          <a:latin typeface="Tahoma" panose="020B0604030504040204" pitchFamily="34" charset="0"/>
                          <a:ea typeface="Calibri" panose="020F0502020204030204" pitchFamily="34" charset="0"/>
                          <a:cs typeface="Tahoma" panose="020B0604030504040204" pitchFamily="34" charset="0"/>
                        </a:rPr>
                        <a:t>1. Построение амплитудно-частотной характеристики</a:t>
                      </a:r>
                      <a:endParaRPr lang="en-US" sz="2400" dirty="0"/>
                    </a:p>
                  </a:txBody>
                  <a:tcPr marL="86402" marR="86402" marT="43201" marB="432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7587009"/>
                  </a:ext>
                </a:extLst>
              </a:tr>
              <a:tr h="340167">
                <a:tc>
                  <a:txBody>
                    <a:bodyPr/>
                    <a:lstStyle/>
                    <a:p>
                      <a:pPr algn="ctr"/>
                      <a:endParaRPr lang="en-US" sz="1400" dirty="0"/>
                    </a:p>
                  </a:txBody>
                  <a:tcPr marL="86402" marR="86402" marT="43201" marB="432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92206597"/>
                  </a:ext>
                </a:extLst>
              </a:tr>
              <a:tr h="850417">
                <a:tc>
                  <a:txBody>
                    <a:bodyPr/>
                    <a:lstStyle/>
                    <a:p>
                      <a:pPr algn="ctr"/>
                      <a:r>
                        <a:rPr lang="ru-RU" sz="2400" u="sng" dirty="0">
                          <a:solidFill>
                            <a:schemeClr val="tx2">
                              <a:lumMod val="75000"/>
                            </a:schemeClr>
                          </a:solidFill>
                          <a:latin typeface="Tahoma" panose="020B0604030504040204" pitchFamily="34" charset="0"/>
                          <a:cs typeface="Tahoma" panose="020B0604030504040204" pitchFamily="34" charset="0"/>
                        </a:rPr>
                        <a:t>2. Фильтрация </a:t>
                      </a:r>
                    </a:p>
                    <a:p>
                      <a:pPr algn="ctr"/>
                      <a:r>
                        <a:rPr lang="ru-RU" sz="2000" dirty="0">
                          <a:solidFill>
                            <a:schemeClr val="tx2">
                              <a:lumMod val="75000"/>
                            </a:schemeClr>
                          </a:solidFill>
                          <a:effectLst/>
                          <a:latin typeface="Tahoma" panose="020B0604030504040204" pitchFamily="34" charset="0"/>
                          <a:ea typeface="Calibri" panose="020F0502020204030204" pitchFamily="34" charset="0"/>
                          <a:cs typeface="Tahoma" panose="020B0604030504040204" pitchFamily="34" charset="0"/>
                        </a:rPr>
                        <a:t>с учетом рабочего диапазона оборудования</a:t>
                      </a:r>
                      <a:endParaRPr lang="en-US" sz="2000" dirty="0"/>
                    </a:p>
                  </a:txBody>
                  <a:tcPr marL="86402" marR="86402" marT="43201" marB="432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59772559"/>
                  </a:ext>
                </a:extLst>
              </a:tr>
              <a:tr h="340167">
                <a:tc>
                  <a:txBody>
                    <a:bodyPr/>
                    <a:lstStyle/>
                    <a:p>
                      <a:pPr algn="ctr"/>
                      <a:endParaRPr lang="en-US" sz="1400" dirty="0"/>
                    </a:p>
                  </a:txBody>
                  <a:tcPr marL="86402" marR="86402" marT="43201" marB="432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92891674"/>
                  </a:ext>
                </a:extLst>
              </a:tr>
              <a:tr h="8504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2400" u="sng" dirty="0">
                          <a:solidFill>
                            <a:schemeClr val="tx2">
                              <a:lumMod val="75000"/>
                            </a:schemeClr>
                          </a:solidFill>
                          <a:latin typeface="Tahoma" panose="020B0604030504040204" pitchFamily="34" charset="0"/>
                          <a:cs typeface="Tahoma" panose="020B0604030504040204" pitchFamily="34" charset="0"/>
                        </a:rPr>
                        <a:t>3. Исключение трендов</a:t>
                      </a:r>
                      <a:endParaRPr lang="en-US" sz="2400" dirty="0"/>
                    </a:p>
                  </a:txBody>
                  <a:tcPr marL="86402" marR="86402" marT="43201" marB="432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129818"/>
                  </a:ext>
                </a:extLst>
              </a:tr>
              <a:tr h="340167">
                <a:tc>
                  <a:txBody>
                    <a:bodyPr/>
                    <a:lstStyle/>
                    <a:p>
                      <a:pPr algn="ctr"/>
                      <a:endParaRPr lang="en-US" sz="1400" dirty="0"/>
                    </a:p>
                  </a:txBody>
                  <a:tcPr marL="86402" marR="86402" marT="43201" marB="432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76969504"/>
                  </a:ext>
                </a:extLst>
              </a:tr>
              <a:tr h="850417">
                <a:tc>
                  <a:txBody>
                    <a:bodyPr/>
                    <a:lstStyle/>
                    <a:p>
                      <a:pPr algn="ctr"/>
                      <a:r>
                        <a:rPr lang="ru-RU" sz="2400" u="sng" dirty="0">
                          <a:solidFill>
                            <a:schemeClr val="tx2">
                              <a:lumMod val="75000"/>
                            </a:schemeClr>
                          </a:solidFill>
                          <a:latin typeface="Tahoma" panose="020B0604030504040204" pitchFamily="34" charset="0"/>
                          <a:cs typeface="Tahoma" panose="020B0604030504040204" pitchFamily="34" charset="0"/>
                        </a:rPr>
                        <a:t>4. Интегрирование</a:t>
                      </a:r>
                      <a:r>
                        <a:rPr lang="ru-RU" sz="2400" u="sng" dirty="0">
                          <a:solidFill>
                            <a:schemeClr val="tx2">
                              <a:lumMod val="75000"/>
                            </a:schemeClr>
                          </a:solidFill>
                          <a:latin typeface="Tahoma" panose="020B0604030504040204" pitchFamily="34" charset="0"/>
                          <a:cs typeface="Arial" panose="020B0604020202020204" pitchFamily="34" charset="0"/>
                        </a:rPr>
                        <a:t> </a:t>
                      </a:r>
                    </a:p>
                    <a:p>
                      <a:pPr algn="ctr"/>
                      <a:r>
                        <a:rPr lang="ru-RU" sz="2000" dirty="0">
                          <a:solidFill>
                            <a:schemeClr val="tx2">
                              <a:lumMod val="75000"/>
                            </a:schemeClr>
                          </a:solidFill>
                          <a:latin typeface="Tahoma" panose="020B0604030504040204" pitchFamily="34" charset="0"/>
                          <a:cs typeface="Arial" panose="020B0604020202020204" pitchFamily="34" charset="0"/>
                        </a:rPr>
                        <a:t>до сейсмограммы</a:t>
                      </a:r>
                      <a:endParaRPr lang="en-US" sz="2000" dirty="0"/>
                    </a:p>
                  </a:txBody>
                  <a:tcPr marL="86402" marR="86402" marT="43201" marB="432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90588753"/>
                  </a:ext>
                </a:extLst>
              </a:tr>
            </a:tbl>
          </a:graphicData>
        </a:graphic>
      </p:graphicFrame>
      <p:sp>
        <p:nvSpPr>
          <p:cNvPr id="6" name="Стрелка: вправо с вырезом 5">
            <a:extLst>
              <a:ext uri="{FF2B5EF4-FFF2-40B4-BE49-F238E27FC236}">
                <a16:creationId xmlns:a16="http://schemas.microsoft.com/office/drawing/2014/main" id="{A32C75B6-9499-DF59-FE89-0E421CCABA32}"/>
              </a:ext>
            </a:extLst>
          </p:cNvPr>
          <p:cNvSpPr/>
          <p:nvPr/>
        </p:nvSpPr>
        <p:spPr>
          <a:xfrm rot="5400000">
            <a:off x="5514997" y="1935084"/>
            <a:ext cx="490492" cy="331685"/>
          </a:xfrm>
          <a:prstGeom prst="notchedRightArrow">
            <a:avLst/>
          </a:prstGeom>
          <a:noFill/>
          <a:ln>
            <a:solidFill>
              <a:srgbClr val="89B6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1">
              <a:solidFill>
                <a:schemeClr val="tx2">
                  <a:lumMod val="75000"/>
                </a:schemeClr>
              </a:solidFill>
            </a:endParaRPr>
          </a:p>
        </p:txBody>
      </p:sp>
      <p:sp>
        <p:nvSpPr>
          <p:cNvPr id="11" name="Стрелка: вправо с вырезом 10">
            <a:extLst>
              <a:ext uri="{FF2B5EF4-FFF2-40B4-BE49-F238E27FC236}">
                <a16:creationId xmlns:a16="http://schemas.microsoft.com/office/drawing/2014/main" id="{4D4763DF-4B85-5123-35B1-AF8B43B77185}"/>
              </a:ext>
            </a:extLst>
          </p:cNvPr>
          <p:cNvSpPr/>
          <p:nvPr/>
        </p:nvSpPr>
        <p:spPr>
          <a:xfrm rot="5400000">
            <a:off x="5514997" y="3319113"/>
            <a:ext cx="490492" cy="331685"/>
          </a:xfrm>
          <a:prstGeom prst="notchedRightArrow">
            <a:avLst/>
          </a:prstGeom>
          <a:noFill/>
          <a:ln>
            <a:solidFill>
              <a:srgbClr val="89B6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1">
              <a:solidFill>
                <a:schemeClr val="tx2">
                  <a:lumMod val="75000"/>
                </a:schemeClr>
              </a:solidFill>
            </a:endParaRPr>
          </a:p>
        </p:txBody>
      </p:sp>
      <p:sp>
        <p:nvSpPr>
          <p:cNvPr id="12" name="Стрелка: вправо с вырезом 11">
            <a:extLst>
              <a:ext uri="{FF2B5EF4-FFF2-40B4-BE49-F238E27FC236}">
                <a16:creationId xmlns:a16="http://schemas.microsoft.com/office/drawing/2014/main" id="{58C2761E-D2AF-26FA-ED52-D8E954CB7015}"/>
              </a:ext>
            </a:extLst>
          </p:cNvPr>
          <p:cNvSpPr/>
          <p:nvPr/>
        </p:nvSpPr>
        <p:spPr>
          <a:xfrm rot="5400000">
            <a:off x="5514997" y="4348244"/>
            <a:ext cx="490492" cy="331685"/>
          </a:xfrm>
          <a:prstGeom prst="notchedRightArrow">
            <a:avLst/>
          </a:prstGeom>
          <a:noFill/>
          <a:ln>
            <a:solidFill>
              <a:srgbClr val="89B6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1">
              <a:solidFill>
                <a:schemeClr val="tx2">
                  <a:lumMod val="75000"/>
                </a:schemeClr>
              </a:solidFill>
            </a:endParaRPr>
          </a:p>
        </p:txBody>
      </p:sp>
      <p:sp>
        <p:nvSpPr>
          <p:cNvPr id="8" name="Текст 11">
            <a:extLst>
              <a:ext uri="{FF2B5EF4-FFF2-40B4-BE49-F238E27FC236}">
                <a16:creationId xmlns:a16="http://schemas.microsoft.com/office/drawing/2014/main" id="{1BCF8634-C036-4AC0-A82C-0284811636EE}"/>
              </a:ext>
            </a:extLst>
          </p:cNvPr>
          <p:cNvSpPr txBox="1">
            <a:spLocks/>
          </p:cNvSpPr>
          <p:nvPr/>
        </p:nvSpPr>
        <p:spPr>
          <a:xfrm>
            <a:off x="476462" y="0"/>
            <a:ext cx="9007172" cy="36036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600" b="1" cap="all" dirty="0">
                <a:solidFill>
                  <a:schemeClr val="accent2">
                    <a:lumMod val="75000"/>
                  </a:schemeClr>
                </a:solidFill>
              </a:rPr>
              <a:t>применяемая методика обработки записей</a:t>
            </a:r>
          </a:p>
        </p:txBody>
      </p:sp>
    </p:spTree>
    <p:extLst>
      <p:ext uri="{BB962C8B-B14F-4D97-AF65-F5344CB8AC3E}">
        <p14:creationId xmlns:p14="http://schemas.microsoft.com/office/powerpoint/2010/main" val="31360548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Заголовок 3">
            <a:extLst>
              <a:ext uri="{FF2B5EF4-FFF2-40B4-BE49-F238E27FC236}">
                <a16:creationId xmlns:a16="http://schemas.microsoft.com/office/drawing/2014/main" id="{2F56AA76-43BC-45BF-B85B-FDF852F1452F}"/>
              </a:ext>
            </a:extLst>
          </p:cNvPr>
          <p:cNvSpPr txBox="1">
            <a:spLocks/>
          </p:cNvSpPr>
          <p:nvPr/>
        </p:nvSpPr>
        <p:spPr>
          <a:xfrm>
            <a:off x="710294" y="709166"/>
            <a:ext cx="10332014" cy="623833"/>
          </a:xfrm>
          <a:prstGeom prst="rect">
            <a:avLst/>
          </a:prstGeom>
        </p:spPr>
        <p:txBody>
          <a:bodyPr vert="horz" lIns="86402" tIns="43201" rIns="86402" bIns="43201"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ru-RU" sz="3402" b="1" i="1" dirty="0">
              <a:solidFill>
                <a:schemeClr val="tx2">
                  <a:lumMod val="75000"/>
                </a:schemeClr>
              </a:solidFill>
              <a:latin typeface="Tahoma" panose="020B0604030504040204" pitchFamily="34" charset="0"/>
              <a:cs typeface="Tahoma" panose="020B0604030504040204" pitchFamily="34" charset="0"/>
            </a:endParaRPr>
          </a:p>
        </p:txBody>
      </p:sp>
      <p:sp>
        <p:nvSpPr>
          <p:cNvPr id="22" name="TextBox 21">
            <a:extLst>
              <a:ext uri="{FF2B5EF4-FFF2-40B4-BE49-F238E27FC236}">
                <a16:creationId xmlns:a16="http://schemas.microsoft.com/office/drawing/2014/main" id="{5D3F73BF-7B20-3480-DCB6-CAF1052DDA35}"/>
              </a:ext>
            </a:extLst>
          </p:cNvPr>
          <p:cNvSpPr txBox="1"/>
          <p:nvPr/>
        </p:nvSpPr>
        <p:spPr>
          <a:xfrm>
            <a:off x="875561" y="937668"/>
            <a:ext cx="5868358" cy="1546577"/>
          </a:xfrm>
          <a:prstGeom prst="rect">
            <a:avLst/>
          </a:prstGeom>
          <a:noFill/>
        </p:spPr>
        <p:txBody>
          <a:bodyPr wrap="square">
            <a:spAutoFit/>
          </a:bodyPr>
          <a:lstStyle/>
          <a:p>
            <a:r>
              <a:rPr lang="ru-RU" sz="1890" dirty="0">
                <a:solidFill>
                  <a:schemeClr val="tx2">
                    <a:lumMod val="75000"/>
                  </a:schemeClr>
                </a:solidFill>
                <a:latin typeface="Tahoma" panose="020B0604030504040204" pitchFamily="34" charset="0"/>
                <a:cs typeface="Tahoma" panose="020B0604030504040204" pitchFamily="34" charset="0"/>
              </a:rPr>
              <a:t>Одноэтажное здание подстанции на высоком ростверке:</a:t>
            </a:r>
          </a:p>
          <a:p>
            <a:pPr marL="324006" indent="-324006">
              <a:buFont typeface="Arial" panose="020B0604020202020204" pitchFamily="34" charset="0"/>
              <a:buChar char="•"/>
            </a:pPr>
            <a:r>
              <a:rPr lang="ru-RU" sz="1890" dirty="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Бетон В15; кирпич М75, раствор М50;</a:t>
            </a:r>
          </a:p>
          <a:p>
            <a:pPr marL="324006" indent="-324006">
              <a:buFont typeface="Arial" panose="020B0604020202020204" pitchFamily="34" charset="0"/>
              <a:buChar char="•"/>
            </a:pPr>
            <a:r>
              <a:rPr lang="ru-RU" sz="1890" dirty="0">
                <a:solidFill>
                  <a:schemeClr val="tx2">
                    <a:lumMod val="75000"/>
                  </a:schemeClr>
                </a:solidFill>
                <a:latin typeface="Tahoma" panose="020B0604030504040204" pitchFamily="34" charset="0"/>
                <a:ea typeface="Tahoma" panose="020B0604030504040204" pitchFamily="34" charset="0"/>
              </a:rPr>
              <a:t>Ограниченно-работоспособное</a:t>
            </a:r>
            <a:r>
              <a:rPr lang="ru-RU" sz="1890" dirty="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 состояние </a:t>
            </a:r>
            <a:br>
              <a:rPr lang="ru-RU" sz="1890" dirty="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br>
            <a:r>
              <a:rPr lang="ru-RU" sz="1890" dirty="0">
                <a:solidFill>
                  <a:schemeClr val="tx2">
                    <a:lumMod val="75000"/>
                  </a:schemeClr>
                </a:solidFill>
                <a:latin typeface="Tahoma" panose="020B0604030504040204" pitchFamily="34" charset="0"/>
                <a:ea typeface="Tahoma" panose="020B0604030504040204" pitchFamily="34" charset="0"/>
                <a:cs typeface="Tahoma" panose="020B0604030504040204" pitchFamily="34" charset="0"/>
              </a:rPr>
              <a:t>ж/б конструкций.</a:t>
            </a:r>
          </a:p>
        </p:txBody>
      </p:sp>
      <p:pic>
        <p:nvPicPr>
          <p:cNvPr id="3" name="Рисунок 2">
            <a:extLst>
              <a:ext uri="{FF2B5EF4-FFF2-40B4-BE49-F238E27FC236}">
                <a16:creationId xmlns:a16="http://schemas.microsoft.com/office/drawing/2014/main" id="{89DA3E4D-72F0-313E-DB57-2665BF375A6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6129"/>
          <a:stretch/>
        </p:blipFill>
        <p:spPr bwMode="auto">
          <a:xfrm>
            <a:off x="945734" y="2858944"/>
            <a:ext cx="4814511" cy="3065196"/>
          </a:xfrm>
          <a:prstGeom prst="rect">
            <a:avLst/>
          </a:prstGeom>
          <a:noFill/>
          <a:ln>
            <a:noFill/>
          </a:ln>
        </p:spPr>
      </p:pic>
      <p:pic>
        <p:nvPicPr>
          <p:cNvPr id="4" name="Рисунок 3">
            <a:extLst>
              <a:ext uri="{FF2B5EF4-FFF2-40B4-BE49-F238E27FC236}">
                <a16:creationId xmlns:a16="http://schemas.microsoft.com/office/drawing/2014/main" id="{FF4ED9D4-D432-68AB-025F-49117C08D975}"/>
              </a:ext>
            </a:extLst>
          </p:cNvPr>
          <p:cNvPicPr>
            <a:picLocks noChangeAspect="1"/>
          </p:cNvPicPr>
          <p:nvPr/>
        </p:nvPicPr>
        <p:blipFill rotWithShape="1">
          <a:blip r:embed="rId4"/>
          <a:srcRect t="6725"/>
          <a:stretch/>
        </p:blipFill>
        <p:spPr bwMode="auto">
          <a:xfrm>
            <a:off x="6458215" y="948516"/>
            <a:ext cx="4271991" cy="2310378"/>
          </a:xfrm>
          <a:prstGeom prst="rect">
            <a:avLst/>
          </a:prstGeom>
          <a:ln>
            <a:noFill/>
          </a:ln>
          <a:extLst>
            <a:ext uri="{53640926-AAD7-44D8-BBD7-CCE9431645EC}">
              <a14:shadowObscured xmlns:a14="http://schemas.microsoft.com/office/drawing/2010/main"/>
            </a:ext>
          </a:extLst>
        </p:spPr>
      </p:pic>
      <p:pic>
        <p:nvPicPr>
          <p:cNvPr id="6" name="Рисунок 5">
            <a:extLst>
              <a:ext uri="{FF2B5EF4-FFF2-40B4-BE49-F238E27FC236}">
                <a16:creationId xmlns:a16="http://schemas.microsoft.com/office/drawing/2014/main" id="{21544E95-B50D-A5AD-04A9-4258B09925BD}"/>
              </a:ext>
            </a:extLst>
          </p:cNvPr>
          <p:cNvPicPr>
            <a:picLocks noChangeAspect="1"/>
          </p:cNvPicPr>
          <p:nvPr/>
        </p:nvPicPr>
        <p:blipFill rotWithShape="1">
          <a:blip r:embed="rId5"/>
          <a:srcRect l="2924" t="4513"/>
          <a:stretch/>
        </p:blipFill>
        <p:spPr bwMode="auto">
          <a:xfrm>
            <a:off x="6458215" y="3665754"/>
            <a:ext cx="4271991" cy="2275346"/>
          </a:xfrm>
          <a:prstGeom prst="rect">
            <a:avLst/>
          </a:prstGeom>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B5946B59-A663-9381-CFF0-B20EE9BB40FA}"/>
              </a:ext>
            </a:extLst>
          </p:cNvPr>
          <p:cNvSpPr txBox="1"/>
          <p:nvPr/>
        </p:nvSpPr>
        <p:spPr>
          <a:xfrm>
            <a:off x="945733" y="5941100"/>
            <a:ext cx="5250914" cy="354071"/>
          </a:xfrm>
          <a:prstGeom prst="rect">
            <a:avLst/>
          </a:prstGeom>
          <a:noFill/>
        </p:spPr>
        <p:txBody>
          <a:bodyPr wrap="square">
            <a:spAutoFit/>
          </a:bodyPr>
          <a:lstStyle/>
          <a:p>
            <a:pPr algn="ctr"/>
            <a:r>
              <a:rPr lang="ru-RU" sz="1701" dirty="0">
                <a:solidFill>
                  <a:schemeClr val="tx2">
                    <a:lumMod val="75000"/>
                  </a:schemeClr>
                </a:solidFill>
                <a:latin typeface="Tahoma" panose="020B0604030504040204" pitchFamily="34" charset="0"/>
                <a:cs typeface="Proxy 9" panose="00000400000000000000" pitchFamily="2" charset="0"/>
              </a:rPr>
              <a:t>Здание подстанции</a:t>
            </a:r>
            <a:endParaRPr lang="en-US" sz="1701" b="1" dirty="0">
              <a:solidFill>
                <a:schemeClr val="tx2">
                  <a:lumMod val="75000"/>
                </a:schemeClr>
              </a:solidFill>
              <a:latin typeface="Tahoma" panose="020B0604030504040204" pitchFamily="34" charset="0"/>
              <a:cs typeface="Proxy 9" panose="00000400000000000000" pitchFamily="2" charset="0"/>
            </a:endParaRPr>
          </a:p>
        </p:txBody>
      </p:sp>
      <p:sp>
        <p:nvSpPr>
          <p:cNvPr id="8" name="TextBox 7">
            <a:extLst>
              <a:ext uri="{FF2B5EF4-FFF2-40B4-BE49-F238E27FC236}">
                <a16:creationId xmlns:a16="http://schemas.microsoft.com/office/drawing/2014/main" id="{E4A814A7-AEFB-C4AC-39B5-AA844F8ACA0D}"/>
              </a:ext>
            </a:extLst>
          </p:cNvPr>
          <p:cNvSpPr txBox="1"/>
          <p:nvPr/>
        </p:nvSpPr>
        <p:spPr>
          <a:xfrm>
            <a:off x="5972625" y="3258895"/>
            <a:ext cx="5250914" cy="354071"/>
          </a:xfrm>
          <a:prstGeom prst="rect">
            <a:avLst/>
          </a:prstGeom>
          <a:noFill/>
        </p:spPr>
        <p:txBody>
          <a:bodyPr wrap="square">
            <a:spAutoFit/>
          </a:bodyPr>
          <a:lstStyle/>
          <a:p>
            <a:pPr algn="ctr"/>
            <a:r>
              <a:rPr lang="ru-RU" sz="1701" dirty="0">
                <a:solidFill>
                  <a:schemeClr val="tx2">
                    <a:lumMod val="75000"/>
                  </a:schemeClr>
                </a:solidFill>
                <a:latin typeface="Tahoma" panose="020B0604030504040204" pitchFamily="34" charset="0"/>
                <a:cs typeface="Proxy 9" panose="00000400000000000000" pitchFamily="2" charset="0"/>
              </a:rPr>
              <a:t>Схема расположения фундаментов</a:t>
            </a:r>
            <a:endParaRPr lang="en-US" sz="1701" b="1" dirty="0">
              <a:solidFill>
                <a:schemeClr val="tx2">
                  <a:lumMod val="75000"/>
                </a:schemeClr>
              </a:solidFill>
              <a:latin typeface="Tahoma" panose="020B0604030504040204" pitchFamily="34" charset="0"/>
              <a:cs typeface="Proxy 9" panose="00000400000000000000" pitchFamily="2" charset="0"/>
            </a:endParaRPr>
          </a:p>
        </p:txBody>
      </p:sp>
      <p:sp>
        <p:nvSpPr>
          <p:cNvPr id="9" name="TextBox 8">
            <a:extLst>
              <a:ext uri="{FF2B5EF4-FFF2-40B4-BE49-F238E27FC236}">
                <a16:creationId xmlns:a16="http://schemas.microsoft.com/office/drawing/2014/main" id="{68D5FCAC-BA3D-CE99-348F-5054CA26EF27}"/>
              </a:ext>
            </a:extLst>
          </p:cNvPr>
          <p:cNvSpPr txBox="1"/>
          <p:nvPr/>
        </p:nvSpPr>
        <p:spPr>
          <a:xfrm>
            <a:off x="5972625" y="5979972"/>
            <a:ext cx="5250914" cy="354071"/>
          </a:xfrm>
          <a:prstGeom prst="rect">
            <a:avLst/>
          </a:prstGeom>
          <a:noFill/>
        </p:spPr>
        <p:txBody>
          <a:bodyPr wrap="square">
            <a:spAutoFit/>
          </a:bodyPr>
          <a:lstStyle/>
          <a:p>
            <a:pPr algn="ctr"/>
            <a:r>
              <a:rPr lang="ru-RU" sz="1701" dirty="0">
                <a:solidFill>
                  <a:schemeClr val="tx2">
                    <a:lumMod val="75000"/>
                  </a:schemeClr>
                </a:solidFill>
                <a:latin typeface="Tahoma" panose="020B0604030504040204" pitchFamily="34" charset="0"/>
                <a:cs typeface="Proxy 9" panose="00000400000000000000" pitchFamily="2" charset="0"/>
              </a:rPr>
              <a:t>План на отм. 0,000 м</a:t>
            </a:r>
            <a:endParaRPr lang="en-US" sz="1701" b="1" dirty="0">
              <a:solidFill>
                <a:schemeClr val="tx2">
                  <a:lumMod val="75000"/>
                </a:schemeClr>
              </a:solidFill>
              <a:latin typeface="Tahoma" panose="020B0604030504040204" pitchFamily="34" charset="0"/>
              <a:cs typeface="Proxy 9" panose="00000400000000000000" pitchFamily="2" charset="0"/>
            </a:endParaRPr>
          </a:p>
        </p:txBody>
      </p:sp>
      <p:sp>
        <p:nvSpPr>
          <p:cNvPr id="13" name="Текст 11">
            <a:extLst>
              <a:ext uri="{FF2B5EF4-FFF2-40B4-BE49-F238E27FC236}">
                <a16:creationId xmlns:a16="http://schemas.microsoft.com/office/drawing/2014/main" id="{8BE744BA-3680-411F-988E-288F34944ED5}"/>
              </a:ext>
            </a:extLst>
          </p:cNvPr>
          <p:cNvSpPr txBox="1">
            <a:spLocks/>
          </p:cNvSpPr>
          <p:nvPr/>
        </p:nvSpPr>
        <p:spPr>
          <a:xfrm>
            <a:off x="476462" y="0"/>
            <a:ext cx="9007172" cy="36036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600" b="1" cap="all" dirty="0">
                <a:solidFill>
                  <a:schemeClr val="accent2">
                    <a:lumMod val="75000"/>
                  </a:schemeClr>
                </a:solidFill>
              </a:rPr>
              <a:t>Практическое применение разработанного алгоритма </a:t>
            </a:r>
          </a:p>
        </p:txBody>
      </p:sp>
    </p:spTree>
    <p:extLst>
      <p:ext uri="{BB962C8B-B14F-4D97-AF65-F5344CB8AC3E}">
        <p14:creationId xmlns:p14="http://schemas.microsoft.com/office/powerpoint/2010/main" val="3173509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Рисунок 10">
            <a:extLst>
              <a:ext uri="{FF2B5EF4-FFF2-40B4-BE49-F238E27FC236}">
                <a16:creationId xmlns:a16="http://schemas.microsoft.com/office/drawing/2014/main" id="{1C235BEF-E169-B3FC-3952-BDD6C19731BB}"/>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r="10996"/>
          <a:stretch/>
        </p:blipFill>
        <p:spPr>
          <a:xfrm>
            <a:off x="1188331" y="2745307"/>
            <a:ext cx="5147821" cy="3186025"/>
          </a:xfrm>
          <a:prstGeom prst="rect">
            <a:avLst/>
          </a:prstGeom>
        </p:spPr>
      </p:pic>
      <p:sp>
        <p:nvSpPr>
          <p:cNvPr id="14" name="TextBox 13">
            <a:extLst>
              <a:ext uri="{FF2B5EF4-FFF2-40B4-BE49-F238E27FC236}">
                <a16:creationId xmlns:a16="http://schemas.microsoft.com/office/drawing/2014/main" id="{0A5C73C8-9B3F-9EC3-45CA-179E5B2E4575}"/>
              </a:ext>
            </a:extLst>
          </p:cNvPr>
          <p:cNvSpPr txBox="1"/>
          <p:nvPr/>
        </p:nvSpPr>
        <p:spPr>
          <a:xfrm>
            <a:off x="1054089" y="1016664"/>
            <a:ext cx="5282062" cy="1754326"/>
          </a:xfrm>
          <a:prstGeom prst="rect">
            <a:avLst/>
          </a:prstGeom>
          <a:noFill/>
        </p:spPr>
        <p:txBody>
          <a:bodyPr wrap="square">
            <a:spAutoFit/>
          </a:bodyPr>
          <a:lstStyle/>
          <a:p>
            <a:pPr fontAlgn="base"/>
            <a:r>
              <a:rPr lang="ru-RU" dirty="0">
                <a:solidFill>
                  <a:schemeClr val="tx2">
                    <a:lumMod val="75000"/>
                  </a:schemeClr>
                </a:solidFill>
                <a:latin typeface="Tahoma" panose="020B0604030504040204" pitchFamily="34" charset="0"/>
                <a:cs typeface="Tahoma" panose="020B0604030504040204" pitchFamily="34" charset="0"/>
              </a:rPr>
              <a:t>ГОСТ Р 52892-2007 </a:t>
            </a:r>
            <a:br>
              <a:rPr lang="ru-RU" dirty="0">
                <a:solidFill>
                  <a:schemeClr val="tx2">
                    <a:lumMod val="75000"/>
                  </a:schemeClr>
                </a:solidFill>
                <a:latin typeface="Tahoma" panose="020B0604030504040204" pitchFamily="34" charset="0"/>
                <a:cs typeface="Tahoma" panose="020B0604030504040204" pitchFamily="34" charset="0"/>
              </a:rPr>
            </a:br>
            <a:r>
              <a:rPr lang="ru-RU" dirty="0">
                <a:solidFill>
                  <a:schemeClr val="tx2">
                    <a:lumMod val="75000"/>
                  </a:schemeClr>
                </a:solidFill>
                <a:latin typeface="Tahoma" panose="020B0604030504040204" pitchFamily="34" charset="0"/>
                <a:cs typeface="Tahoma" panose="020B0604030504040204" pitchFamily="34" charset="0"/>
              </a:rPr>
              <a:t>«Вибрация и удар. Вибрация зданий…»</a:t>
            </a:r>
          </a:p>
          <a:p>
            <a:pPr fontAlgn="base"/>
            <a:endParaRPr lang="ru-RU" dirty="0">
              <a:solidFill>
                <a:schemeClr val="tx2">
                  <a:lumMod val="75000"/>
                </a:schemeClr>
              </a:solidFill>
              <a:latin typeface="Tahoma" panose="020B0604030504040204" pitchFamily="34" charset="0"/>
              <a:cs typeface="Tahoma" panose="020B0604030504040204" pitchFamily="34" charset="0"/>
            </a:endParaRPr>
          </a:p>
          <a:p>
            <a:pPr fontAlgn="base"/>
            <a:r>
              <a:rPr lang="ru-RU" dirty="0">
                <a:solidFill>
                  <a:schemeClr val="tx2">
                    <a:lumMod val="75000"/>
                  </a:schemeClr>
                </a:solidFill>
                <a:latin typeface="Tahoma" panose="020B0604030504040204" pitchFamily="34" charset="0"/>
                <a:ea typeface="Calibri" panose="020F0502020204030204" pitchFamily="34" charset="0"/>
                <a:cs typeface="Tahoma" panose="020B0604030504040204" pitchFamily="34" charset="0"/>
              </a:rPr>
              <a:t>Акселерометр ZET 7152-N: </a:t>
            </a:r>
            <a:endParaRPr lang="en-US" dirty="0">
              <a:solidFill>
                <a:schemeClr val="tx2">
                  <a:lumMod val="75000"/>
                </a:schemeClr>
              </a:solidFill>
              <a:latin typeface="Tahoma" panose="020B0604030504040204" pitchFamily="34" charset="0"/>
              <a:ea typeface="Calibri" panose="020F0502020204030204" pitchFamily="34" charset="0"/>
              <a:cs typeface="Tahoma" panose="020B0604030504040204" pitchFamily="34" charset="0"/>
            </a:endParaRPr>
          </a:p>
          <a:p>
            <a:pPr fontAlgn="base"/>
            <a:r>
              <a:rPr lang="ru-RU" b="1" dirty="0">
                <a:solidFill>
                  <a:schemeClr val="tx2">
                    <a:lumMod val="75000"/>
                  </a:schemeClr>
                </a:solidFill>
                <a:latin typeface="Tahoma" panose="020B0604030504040204" pitchFamily="34" charset="0"/>
                <a:ea typeface="Calibri" panose="020F0502020204030204" pitchFamily="34" charset="0"/>
                <a:cs typeface="Tahoma" panose="020B0604030504040204" pitchFamily="34" charset="0"/>
              </a:rPr>
              <a:t>рабочий диапазон 3 – </a:t>
            </a:r>
            <a:r>
              <a:rPr lang="en-US" b="1" dirty="0">
                <a:solidFill>
                  <a:schemeClr val="tx2">
                    <a:lumMod val="75000"/>
                  </a:schemeClr>
                </a:solidFill>
                <a:latin typeface="Tahoma" panose="020B0604030504040204" pitchFamily="34" charset="0"/>
                <a:ea typeface="Calibri" panose="020F0502020204030204" pitchFamily="34" charset="0"/>
                <a:cs typeface="Tahoma" panose="020B0604030504040204" pitchFamily="34" charset="0"/>
              </a:rPr>
              <a:t>15</a:t>
            </a:r>
            <a:r>
              <a:rPr lang="ru-RU" b="1" dirty="0">
                <a:solidFill>
                  <a:schemeClr val="tx2">
                    <a:lumMod val="75000"/>
                  </a:schemeClr>
                </a:solidFill>
                <a:latin typeface="Tahoma" panose="020B0604030504040204" pitchFamily="34" charset="0"/>
                <a:ea typeface="Calibri" panose="020F0502020204030204" pitchFamily="34" charset="0"/>
                <a:cs typeface="Tahoma" panose="020B0604030504040204" pitchFamily="34" charset="0"/>
              </a:rPr>
              <a:t>0 Гц, </a:t>
            </a:r>
            <a:endParaRPr lang="en-US" b="1" dirty="0">
              <a:solidFill>
                <a:schemeClr val="tx2">
                  <a:lumMod val="75000"/>
                </a:schemeClr>
              </a:solidFill>
              <a:latin typeface="Tahoma" panose="020B0604030504040204" pitchFamily="34" charset="0"/>
              <a:ea typeface="Calibri" panose="020F0502020204030204" pitchFamily="34" charset="0"/>
              <a:cs typeface="Tahoma" panose="020B0604030504040204" pitchFamily="34" charset="0"/>
            </a:endParaRPr>
          </a:p>
          <a:p>
            <a:pPr fontAlgn="base"/>
            <a:r>
              <a:rPr lang="ru-RU" b="1" dirty="0">
                <a:solidFill>
                  <a:schemeClr val="tx2">
                    <a:lumMod val="75000"/>
                  </a:schemeClr>
                </a:solidFill>
                <a:latin typeface="Tahoma" panose="020B0604030504040204" pitchFamily="34" charset="0"/>
                <a:ea typeface="Calibri" panose="020F0502020204030204" pitchFamily="34" charset="0"/>
                <a:cs typeface="Tahoma" panose="020B0604030504040204" pitchFamily="34" charset="0"/>
              </a:rPr>
              <a:t>шаг дискретизации 1 мс.</a:t>
            </a:r>
            <a:endParaRPr lang="en-US" b="1" dirty="0">
              <a:solidFill>
                <a:schemeClr val="tx2">
                  <a:lumMod val="75000"/>
                </a:schemeClr>
              </a:solidFill>
              <a:latin typeface="Tahoma" panose="020B0604030504040204" pitchFamily="34" charset="0"/>
              <a:cs typeface="Tahoma" panose="020B0604030504040204" pitchFamily="34" charset="0"/>
            </a:endParaRPr>
          </a:p>
        </p:txBody>
      </p:sp>
      <p:graphicFrame>
        <p:nvGraphicFramePr>
          <p:cNvPr id="16" name="Объект 15">
            <a:extLst>
              <a:ext uri="{FF2B5EF4-FFF2-40B4-BE49-F238E27FC236}">
                <a16:creationId xmlns:a16="http://schemas.microsoft.com/office/drawing/2014/main" id="{3794DEDB-FE4C-773D-D756-CFD69948AE94}"/>
              </a:ext>
            </a:extLst>
          </p:cNvPr>
          <p:cNvGraphicFramePr>
            <a:graphicFrameLocks noChangeAspect="1"/>
          </p:cNvGraphicFramePr>
          <p:nvPr>
            <p:extLst/>
          </p:nvPr>
        </p:nvGraphicFramePr>
        <p:xfrm>
          <a:off x="6724566" y="1024315"/>
          <a:ext cx="3741833" cy="1569761"/>
        </p:xfrm>
        <a:graphic>
          <a:graphicData uri="http://schemas.openxmlformats.org/presentationml/2006/ole">
            <mc:AlternateContent xmlns:mc="http://schemas.openxmlformats.org/markup-compatibility/2006">
              <mc:Choice xmlns:v="urn:schemas-microsoft-com:vml" Requires="v">
                <p:oleObj spid="_x0000_s1122" name="Точечный рисунок" r:id="rId5" imgW="4190332" imgH="5622441" progId="Paint.Picture">
                  <p:embed/>
                </p:oleObj>
              </mc:Choice>
              <mc:Fallback>
                <p:oleObj name="Точечный рисунок" r:id="rId5" imgW="4190332" imgH="5622441" progId="Paint.Picture">
                  <p:embed/>
                  <p:pic>
                    <p:nvPicPr>
                      <p:cNvPr id="16" name="Объект 15">
                        <a:extLst>
                          <a:ext uri="{FF2B5EF4-FFF2-40B4-BE49-F238E27FC236}">
                            <a16:creationId xmlns:a16="http://schemas.microsoft.com/office/drawing/2014/main" id="{3794DEDB-FE4C-773D-D756-CFD69948AE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b="68915"/>
                      <a:stretch>
                        <a:fillRect/>
                      </a:stretch>
                    </p:blipFill>
                    <p:spPr bwMode="auto">
                      <a:xfrm>
                        <a:off x="6724566" y="1024315"/>
                        <a:ext cx="3741833" cy="1569761"/>
                      </a:xfrm>
                      <a:prstGeom prst="rect">
                        <a:avLst/>
                      </a:prstGeom>
                      <a:noFill/>
                    </p:spPr>
                  </p:pic>
                </p:oleObj>
              </mc:Fallback>
            </mc:AlternateContent>
          </a:graphicData>
        </a:graphic>
      </p:graphicFrame>
      <p:pic>
        <p:nvPicPr>
          <p:cNvPr id="17" name="Рисунок 16">
            <a:extLst>
              <a:ext uri="{FF2B5EF4-FFF2-40B4-BE49-F238E27FC236}">
                <a16:creationId xmlns:a16="http://schemas.microsoft.com/office/drawing/2014/main" id="{2C9D9376-C3B7-A20F-494F-05A07A430DB1}"/>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b="68565"/>
          <a:stretch/>
        </p:blipFill>
        <p:spPr bwMode="auto">
          <a:xfrm>
            <a:off x="6724566" y="2697284"/>
            <a:ext cx="3741833" cy="1570846"/>
          </a:xfrm>
          <a:prstGeom prst="rect">
            <a:avLst/>
          </a:prstGeom>
          <a:noFill/>
          <a:ln>
            <a:noFill/>
          </a:ln>
          <a:extLst>
            <a:ext uri="{53640926-AAD7-44D8-BBD7-CCE9431645EC}">
              <a14:shadowObscured xmlns:a14="http://schemas.microsoft.com/office/drawing/2010/main"/>
            </a:ext>
          </a:extLst>
        </p:spPr>
      </p:pic>
      <p:graphicFrame>
        <p:nvGraphicFramePr>
          <p:cNvPr id="19" name="Объект 18">
            <a:extLst>
              <a:ext uri="{FF2B5EF4-FFF2-40B4-BE49-F238E27FC236}">
                <a16:creationId xmlns:a16="http://schemas.microsoft.com/office/drawing/2014/main" id="{ED27C6C5-89AF-539C-7E41-81C58B102B4A}"/>
              </a:ext>
            </a:extLst>
          </p:cNvPr>
          <p:cNvGraphicFramePr>
            <a:graphicFrameLocks noChangeAspect="1"/>
          </p:cNvGraphicFramePr>
          <p:nvPr>
            <p:extLst/>
          </p:nvPr>
        </p:nvGraphicFramePr>
        <p:xfrm>
          <a:off x="6687738" y="4371339"/>
          <a:ext cx="3741833" cy="1569761"/>
        </p:xfrm>
        <a:graphic>
          <a:graphicData uri="http://schemas.openxmlformats.org/presentationml/2006/ole">
            <mc:AlternateContent xmlns:mc="http://schemas.openxmlformats.org/markup-compatibility/2006">
              <mc:Choice xmlns:v="urn:schemas-microsoft-com:vml" Requires="v">
                <p:oleObj spid="_x0000_s1123" name="Точечный рисунок" r:id="rId8" imgW="4190332" imgH="5622441" progId="Paint.Picture">
                  <p:embed/>
                </p:oleObj>
              </mc:Choice>
              <mc:Fallback>
                <p:oleObj name="Точечный рисунок" r:id="rId8" imgW="4190332" imgH="5622441" progId="Paint.Picture">
                  <p:embed/>
                  <p:pic>
                    <p:nvPicPr>
                      <p:cNvPr id="19" name="Объект 18">
                        <a:extLst>
                          <a:ext uri="{FF2B5EF4-FFF2-40B4-BE49-F238E27FC236}">
                            <a16:creationId xmlns:a16="http://schemas.microsoft.com/office/drawing/2014/main" id="{ED27C6C5-89AF-539C-7E41-81C58B102B4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b="68680"/>
                      <a:stretch>
                        <a:fillRect/>
                      </a:stretch>
                    </p:blipFill>
                    <p:spPr bwMode="auto">
                      <a:xfrm>
                        <a:off x="6687738" y="4371339"/>
                        <a:ext cx="3741833" cy="1569761"/>
                      </a:xfrm>
                      <a:prstGeom prst="rect">
                        <a:avLst/>
                      </a:prstGeom>
                      <a:noFill/>
                    </p:spPr>
                  </p:pic>
                </p:oleObj>
              </mc:Fallback>
            </mc:AlternateContent>
          </a:graphicData>
        </a:graphic>
      </p:graphicFrame>
      <p:graphicFrame>
        <p:nvGraphicFramePr>
          <p:cNvPr id="20" name="Таблица 20">
            <a:extLst>
              <a:ext uri="{FF2B5EF4-FFF2-40B4-BE49-F238E27FC236}">
                <a16:creationId xmlns:a16="http://schemas.microsoft.com/office/drawing/2014/main" id="{665FB9AB-E4FE-6F55-3F51-423FA2635DBE}"/>
              </a:ext>
            </a:extLst>
          </p:cNvPr>
          <p:cNvGraphicFramePr>
            <a:graphicFrameLocks noGrp="1"/>
          </p:cNvGraphicFramePr>
          <p:nvPr>
            <p:extLst/>
          </p:nvPr>
        </p:nvGraphicFramePr>
        <p:xfrm>
          <a:off x="6336151" y="951926"/>
          <a:ext cx="570369" cy="4855146"/>
        </p:xfrm>
        <a:graphic>
          <a:graphicData uri="http://schemas.openxmlformats.org/drawingml/2006/table">
            <a:tbl>
              <a:tblPr firstRow="1" bandRow="1">
                <a:tableStyleId>{2D5ABB26-0587-4C30-8999-92F81FD0307C}</a:tableStyleId>
              </a:tblPr>
              <a:tblGrid>
                <a:gridCol w="570369">
                  <a:extLst>
                    <a:ext uri="{9D8B030D-6E8A-4147-A177-3AD203B41FA5}">
                      <a16:colId xmlns:a16="http://schemas.microsoft.com/office/drawing/2014/main" val="2174108372"/>
                    </a:ext>
                  </a:extLst>
                </a:gridCol>
              </a:tblGrid>
              <a:tr h="1618382">
                <a:tc>
                  <a:txBody>
                    <a:bodyPr/>
                    <a:lstStyle/>
                    <a:p>
                      <a:pPr algn="ctr"/>
                      <a:r>
                        <a:rPr lang="en-US" sz="1900" b="1" dirty="0">
                          <a:solidFill>
                            <a:schemeClr val="tx2">
                              <a:lumMod val="75000"/>
                            </a:schemeClr>
                          </a:solidFill>
                          <a:latin typeface="Tahoma" panose="020B0604030504040204" pitchFamily="34" charset="0"/>
                        </a:rPr>
                        <a:t>X</a:t>
                      </a:r>
                    </a:p>
                  </a:txBody>
                  <a:tcPr marL="86402" marR="86402" marT="43201" marB="43201" anchor="ctr"/>
                </a:tc>
                <a:extLst>
                  <a:ext uri="{0D108BD9-81ED-4DB2-BD59-A6C34878D82A}">
                    <a16:rowId xmlns:a16="http://schemas.microsoft.com/office/drawing/2014/main" val="167069202"/>
                  </a:ext>
                </a:extLst>
              </a:tr>
              <a:tr h="1618382">
                <a:tc>
                  <a:txBody>
                    <a:bodyPr/>
                    <a:lstStyle/>
                    <a:p>
                      <a:pPr algn="ctr"/>
                      <a:r>
                        <a:rPr lang="en-US" sz="1900" b="1" dirty="0">
                          <a:solidFill>
                            <a:schemeClr val="tx2">
                              <a:lumMod val="75000"/>
                            </a:schemeClr>
                          </a:solidFill>
                          <a:latin typeface="Tahoma" panose="020B0604030504040204" pitchFamily="34" charset="0"/>
                        </a:rPr>
                        <a:t>Y</a:t>
                      </a:r>
                    </a:p>
                  </a:txBody>
                  <a:tcPr marL="86402" marR="86402" marT="43201" marB="43201" anchor="ctr"/>
                </a:tc>
                <a:extLst>
                  <a:ext uri="{0D108BD9-81ED-4DB2-BD59-A6C34878D82A}">
                    <a16:rowId xmlns:a16="http://schemas.microsoft.com/office/drawing/2014/main" val="1369495781"/>
                  </a:ext>
                </a:extLst>
              </a:tr>
              <a:tr h="1618382">
                <a:tc>
                  <a:txBody>
                    <a:bodyPr/>
                    <a:lstStyle/>
                    <a:p>
                      <a:pPr algn="ctr"/>
                      <a:r>
                        <a:rPr lang="en-US" sz="1900" b="1" dirty="0">
                          <a:solidFill>
                            <a:schemeClr val="tx2">
                              <a:lumMod val="75000"/>
                            </a:schemeClr>
                          </a:solidFill>
                          <a:latin typeface="Tahoma" panose="020B0604030504040204" pitchFamily="34" charset="0"/>
                        </a:rPr>
                        <a:t>Z</a:t>
                      </a:r>
                    </a:p>
                  </a:txBody>
                  <a:tcPr marL="86402" marR="86402" marT="43201" marB="43201" anchor="ctr"/>
                </a:tc>
                <a:extLst>
                  <a:ext uri="{0D108BD9-81ED-4DB2-BD59-A6C34878D82A}">
                    <a16:rowId xmlns:a16="http://schemas.microsoft.com/office/drawing/2014/main" val="2039761943"/>
                  </a:ext>
                </a:extLst>
              </a:tr>
            </a:tbl>
          </a:graphicData>
        </a:graphic>
      </p:graphicFrame>
      <p:sp>
        <p:nvSpPr>
          <p:cNvPr id="2" name="TextBox 1">
            <a:extLst>
              <a:ext uri="{FF2B5EF4-FFF2-40B4-BE49-F238E27FC236}">
                <a16:creationId xmlns:a16="http://schemas.microsoft.com/office/drawing/2014/main" id="{96957FEB-4BE5-026E-E6B2-3EED18C405C0}"/>
              </a:ext>
            </a:extLst>
          </p:cNvPr>
          <p:cNvSpPr txBox="1"/>
          <p:nvPr/>
        </p:nvSpPr>
        <p:spPr>
          <a:xfrm>
            <a:off x="945733" y="5941100"/>
            <a:ext cx="5250914" cy="354071"/>
          </a:xfrm>
          <a:prstGeom prst="rect">
            <a:avLst/>
          </a:prstGeom>
          <a:noFill/>
        </p:spPr>
        <p:txBody>
          <a:bodyPr wrap="square">
            <a:spAutoFit/>
          </a:bodyPr>
          <a:lstStyle/>
          <a:p>
            <a:pPr algn="ctr"/>
            <a:r>
              <a:rPr lang="ru-RU" sz="1701" dirty="0">
                <a:solidFill>
                  <a:schemeClr val="tx2">
                    <a:lumMod val="75000"/>
                  </a:schemeClr>
                </a:solidFill>
                <a:latin typeface="Tahoma" panose="020B0604030504040204" pitchFamily="34" charset="0"/>
                <a:cs typeface="Proxy 9" panose="00000400000000000000" pitchFamily="2" charset="0"/>
              </a:rPr>
              <a:t>Установка сейсмографа </a:t>
            </a:r>
            <a:r>
              <a:rPr lang="en-US" sz="1701" dirty="0">
                <a:solidFill>
                  <a:schemeClr val="tx2">
                    <a:lumMod val="75000"/>
                  </a:schemeClr>
                </a:solidFill>
                <a:latin typeface="Tahoma" panose="020B0604030504040204" pitchFamily="34" charset="0"/>
                <a:cs typeface="Proxy 9" panose="00000400000000000000" pitchFamily="2" charset="0"/>
              </a:rPr>
              <a:t>ZET7152N</a:t>
            </a:r>
            <a:endParaRPr lang="en-US" sz="1701" b="1" dirty="0">
              <a:solidFill>
                <a:schemeClr val="tx2">
                  <a:lumMod val="75000"/>
                </a:schemeClr>
              </a:solidFill>
              <a:latin typeface="Tahoma" panose="020B0604030504040204" pitchFamily="34" charset="0"/>
              <a:cs typeface="Proxy 9" panose="00000400000000000000" pitchFamily="2" charset="0"/>
            </a:endParaRPr>
          </a:p>
        </p:txBody>
      </p:sp>
      <p:sp>
        <p:nvSpPr>
          <p:cNvPr id="3" name="TextBox 2">
            <a:extLst>
              <a:ext uri="{FF2B5EF4-FFF2-40B4-BE49-F238E27FC236}">
                <a16:creationId xmlns:a16="http://schemas.microsoft.com/office/drawing/2014/main" id="{02138B8D-CE58-B491-3003-4CCF1CDE62A8}"/>
              </a:ext>
            </a:extLst>
          </p:cNvPr>
          <p:cNvSpPr txBox="1"/>
          <p:nvPr/>
        </p:nvSpPr>
        <p:spPr>
          <a:xfrm>
            <a:off x="5933197" y="5934844"/>
            <a:ext cx="5250914" cy="354071"/>
          </a:xfrm>
          <a:prstGeom prst="rect">
            <a:avLst/>
          </a:prstGeom>
          <a:noFill/>
        </p:spPr>
        <p:txBody>
          <a:bodyPr wrap="square">
            <a:spAutoFit/>
          </a:bodyPr>
          <a:lstStyle/>
          <a:p>
            <a:pPr algn="ctr"/>
            <a:r>
              <a:rPr lang="ru-RU" sz="1701" dirty="0">
                <a:solidFill>
                  <a:schemeClr val="tx2">
                    <a:lumMod val="75000"/>
                  </a:schemeClr>
                </a:solidFill>
                <a:latin typeface="Tahoma" panose="020B0604030504040204" pitchFamily="34" charset="0"/>
                <a:cs typeface="Proxy 9" panose="00000400000000000000" pitchFamily="2" charset="0"/>
              </a:rPr>
              <a:t>Инструментальные записи</a:t>
            </a:r>
            <a:endParaRPr lang="en-US" sz="1701" b="1" dirty="0">
              <a:solidFill>
                <a:schemeClr val="tx2">
                  <a:lumMod val="75000"/>
                </a:schemeClr>
              </a:solidFill>
              <a:latin typeface="Tahoma" panose="020B0604030504040204" pitchFamily="34" charset="0"/>
              <a:cs typeface="Proxy 9" panose="00000400000000000000" pitchFamily="2" charset="0"/>
            </a:endParaRPr>
          </a:p>
        </p:txBody>
      </p:sp>
      <p:sp>
        <p:nvSpPr>
          <p:cNvPr id="12" name="Текст 11">
            <a:extLst>
              <a:ext uri="{FF2B5EF4-FFF2-40B4-BE49-F238E27FC236}">
                <a16:creationId xmlns:a16="http://schemas.microsoft.com/office/drawing/2014/main" id="{C0998D45-353B-4931-B5E8-3BEB66942BAA}"/>
              </a:ext>
            </a:extLst>
          </p:cNvPr>
          <p:cNvSpPr txBox="1">
            <a:spLocks/>
          </p:cNvSpPr>
          <p:nvPr/>
        </p:nvSpPr>
        <p:spPr>
          <a:xfrm>
            <a:off x="476462" y="0"/>
            <a:ext cx="9007172" cy="36036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600" b="1" cap="all" dirty="0">
                <a:solidFill>
                  <a:schemeClr val="accent2">
                    <a:lumMod val="75000"/>
                  </a:schemeClr>
                </a:solidFill>
              </a:rPr>
              <a:t>Запись </a:t>
            </a:r>
            <a:r>
              <a:rPr lang="ru-RU" sz="1600" b="1" cap="all" dirty="0" err="1">
                <a:solidFill>
                  <a:schemeClr val="accent2">
                    <a:lumMod val="75000"/>
                  </a:schemeClr>
                </a:solidFill>
              </a:rPr>
              <a:t>акселерограмм</a:t>
            </a:r>
            <a:r>
              <a:rPr lang="ru-RU" sz="1600" b="1" cap="all" dirty="0">
                <a:solidFill>
                  <a:schemeClr val="accent2">
                    <a:lumMod val="75000"/>
                  </a:schemeClr>
                </a:solidFill>
              </a:rPr>
              <a:t> во время взрывных работ</a:t>
            </a:r>
          </a:p>
        </p:txBody>
      </p:sp>
    </p:spTree>
    <p:extLst>
      <p:ext uri="{BB962C8B-B14F-4D97-AF65-F5344CB8AC3E}">
        <p14:creationId xmlns:p14="http://schemas.microsoft.com/office/powerpoint/2010/main" val="41347303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3">
            <a:extLst>
              <a:ext uri="{FF2B5EF4-FFF2-40B4-BE49-F238E27FC236}">
                <a16:creationId xmlns:a16="http://schemas.microsoft.com/office/drawing/2014/main" id="{35E6B74B-ABF1-0858-629F-E0A3CF0964E7}"/>
              </a:ext>
            </a:extLst>
          </p:cNvPr>
          <p:cNvSpPr txBox="1">
            <a:spLocks/>
          </p:cNvSpPr>
          <p:nvPr/>
        </p:nvSpPr>
        <p:spPr>
          <a:xfrm>
            <a:off x="478181" y="194066"/>
            <a:ext cx="10634300" cy="623833"/>
          </a:xfrm>
          <a:prstGeom prst="rect">
            <a:avLst/>
          </a:prstGeom>
        </p:spPr>
        <p:txBody>
          <a:bodyPr vert="horz" lIns="86402" tIns="43201" rIns="86402" bIns="43201"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ru-RU" sz="3402" b="1" i="1" dirty="0">
              <a:solidFill>
                <a:schemeClr val="tx2">
                  <a:lumMod val="75000"/>
                </a:schemeClr>
              </a:solidFill>
              <a:latin typeface="Tahoma" panose="020B0604030504040204" pitchFamily="34" charset="0"/>
            </a:endParaRPr>
          </a:p>
        </p:txBody>
      </p:sp>
      <p:sp>
        <p:nvSpPr>
          <p:cNvPr id="14" name="TextBox 13">
            <a:extLst>
              <a:ext uri="{FF2B5EF4-FFF2-40B4-BE49-F238E27FC236}">
                <a16:creationId xmlns:a16="http://schemas.microsoft.com/office/drawing/2014/main" id="{0A5C73C8-9B3F-9EC3-45CA-179E5B2E4575}"/>
              </a:ext>
            </a:extLst>
          </p:cNvPr>
          <p:cNvSpPr txBox="1"/>
          <p:nvPr/>
        </p:nvSpPr>
        <p:spPr>
          <a:xfrm>
            <a:off x="1894727" y="979981"/>
            <a:ext cx="8061551" cy="383182"/>
          </a:xfrm>
          <a:prstGeom prst="rect">
            <a:avLst/>
          </a:prstGeom>
          <a:noFill/>
        </p:spPr>
        <p:txBody>
          <a:bodyPr wrap="square">
            <a:spAutoFit/>
          </a:bodyPr>
          <a:lstStyle/>
          <a:p>
            <a:pPr algn="ctr" fontAlgn="base"/>
            <a:r>
              <a:rPr lang="ru-RU" sz="1890" dirty="0">
                <a:solidFill>
                  <a:schemeClr val="tx2">
                    <a:lumMod val="75000"/>
                  </a:schemeClr>
                </a:solidFill>
                <a:latin typeface="Tahoma" panose="020B0604030504040204" pitchFamily="34" charset="0"/>
                <a:ea typeface="Calibri" panose="020F0502020204030204" pitchFamily="34" charset="0"/>
                <a:cs typeface="Tahoma" panose="020B0604030504040204" pitchFamily="34" charset="0"/>
              </a:rPr>
              <a:t>Акселерометр ZET 7152-N: </a:t>
            </a:r>
            <a:r>
              <a:rPr lang="ru-RU" sz="1890" b="1" dirty="0">
                <a:solidFill>
                  <a:schemeClr val="tx2">
                    <a:lumMod val="75000"/>
                  </a:schemeClr>
                </a:solidFill>
                <a:latin typeface="Tahoma" panose="020B0604030504040204" pitchFamily="34" charset="0"/>
                <a:ea typeface="Calibri" panose="020F0502020204030204" pitchFamily="34" charset="0"/>
                <a:cs typeface="Tahoma" panose="020B0604030504040204" pitchFamily="34" charset="0"/>
              </a:rPr>
              <a:t>рабочий диапазон 3 – 150 Гц.</a:t>
            </a:r>
          </a:p>
        </p:txBody>
      </p:sp>
      <p:sp>
        <p:nvSpPr>
          <p:cNvPr id="13" name="TextBox 12">
            <a:extLst>
              <a:ext uri="{FF2B5EF4-FFF2-40B4-BE49-F238E27FC236}">
                <a16:creationId xmlns:a16="http://schemas.microsoft.com/office/drawing/2014/main" id="{F3F6089A-7326-A9D4-1290-6002AB2F46D2}"/>
              </a:ext>
            </a:extLst>
          </p:cNvPr>
          <p:cNvSpPr txBox="1"/>
          <p:nvPr/>
        </p:nvSpPr>
        <p:spPr>
          <a:xfrm>
            <a:off x="2124569" y="5288451"/>
            <a:ext cx="2961239" cy="354071"/>
          </a:xfrm>
          <a:prstGeom prst="rect">
            <a:avLst/>
          </a:prstGeom>
          <a:noFill/>
        </p:spPr>
        <p:txBody>
          <a:bodyPr wrap="square">
            <a:spAutoFit/>
          </a:bodyPr>
          <a:lstStyle/>
          <a:p>
            <a:pPr algn="ctr"/>
            <a:r>
              <a:rPr lang="ru-RU" sz="1701" b="1" dirty="0">
                <a:solidFill>
                  <a:schemeClr val="tx2">
                    <a:lumMod val="75000"/>
                  </a:schemeClr>
                </a:solidFill>
                <a:latin typeface="Tahoma" panose="020B0604030504040204" pitchFamily="34" charset="0"/>
              </a:rPr>
              <a:t>До фильтрации</a:t>
            </a:r>
            <a:endParaRPr lang="en-US" sz="1701" b="1" dirty="0">
              <a:solidFill>
                <a:schemeClr val="tx2">
                  <a:lumMod val="75000"/>
                </a:schemeClr>
              </a:solidFill>
              <a:latin typeface="Tahoma" panose="020B0604030504040204" pitchFamily="34" charset="0"/>
            </a:endParaRPr>
          </a:p>
        </p:txBody>
      </p:sp>
      <p:sp>
        <p:nvSpPr>
          <p:cNvPr id="2" name="TextBox 1">
            <a:extLst>
              <a:ext uri="{FF2B5EF4-FFF2-40B4-BE49-F238E27FC236}">
                <a16:creationId xmlns:a16="http://schemas.microsoft.com/office/drawing/2014/main" id="{FC698753-F701-AA15-4EA8-09F021AC1692}"/>
              </a:ext>
            </a:extLst>
          </p:cNvPr>
          <p:cNvSpPr txBox="1"/>
          <p:nvPr/>
        </p:nvSpPr>
        <p:spPr>
          <a:xfrm>
            <a:off x="6607487" y="5288451"/>
            <a:ext cx="3348791" cy="354071"/>
          </a:xfrm>
          <a:prstGeom prst="rect">
            <a:avLst/>
          </a:prstGeom>
          <a:noFill/>
        </p:spPr>
        <p:txBody>
          <a:bodyPr wrap="square">
            <a:spAutoFit/>
          </a:bodyPr>
          <a:lstStyle/>
          <a:p>
            <a:pPr algn="ctr"/>
            <a:r>
              <a:rPr lang="ru-RU" sz="1701" b="1" dirty="0">
                <a:solidFill>
                  <a:schemeClr val="tx2">
                    <a:lumMod val="75000"/>
                  </a:schemeClr>
                </a:solidFill>
                <a:latin typeface="Tahoma" panose="020B0604030504040204" pitchFamily="34" charset="0"/>
                <a:cs typeface="Proxy 9" panose="00000400000000000000" pitchFamily="2" charset="0"/>
              </a:rPr>
              <a:t>После</a:t>
            </a:r>
            <a:r>
              <a:rPr lang="ru-RU" sz="1701" b="1" dirty="0">
                <a:solidFill>
                  <a:schemeClr val="tx2">
                    <a:lumMod val="75000"/>
                  </a:schemeClr>
                </a:solidFill>
                <a:latin typeface="Tahoma" panose="020B0604030504040204" pitchFamily="34" charset="0"/>
              </a:rPr>
              <a:t> фильтрации</a:t>
            </a:r>
            <a:endParaRPr lang="en-US" sz="1701" b="1" dirty="0">
              <a:solidFill>
                <a:schemeClr val="tx2">
                  <a:lumMod val="75000"/>
                </a:schemeClr>
              </a:solidFill>
              <a:latin typeface="Tahoma" panose="020B0604030504040204" pitchFamily="34" charset="0"/>
            </a:endParaRPr>
          </a:p>
        </p:txBody>
      </p:sp>
      <p:pic>
        <p:nvPicPr>
          <p:cNvPr id="9" name="Рисунок 8">
            <a:extLst>
              <a:ext uri="{FF2B5EF4-FFF2-40B4-BE49-F238E27FC236}">
                <a16:creationId xmlns:a16="http://schemas.microsoft.com/office/drawing/2014/main" id="{390E6EDC-A405-064F-218B-8C9C9574C8A0}"/>
              </a:ext>
            </a:extLst>
          </p:cNvPr>
          <p:cNvPicPr>
            <a:picLocks noChangeAspect="1"/>
          </p:cNvPicPr>
          <p:nvPr/>
        </p:nvPicPr>
        <p:blipFill>
          <a:blip r:embed="rId3"/>
          <a:stretch>
            <a:fillRect/>
          </a:stretch>
        </p:blipFill>
        <p:spPr>
          <a:xfrm>
            <a:off x="1894727" y="1553925"/>
            <a:ext cx="3420922" cy="1700833"/>
          </a:xfrm>
          <a:prstGeom prst="rect">
            <a:avLst/>
          </a:prstGeom>
        </p:spPr>
      </p:pic>
      <p:pic>
        <p:nvPicPr>
          <p:cNvPr id="11" name="Рисунок 10">
            <a:extLst>
              <a:ext uri="{FF2B5EF4-FFF2-40B4-BE49-F238E27FC236}">
                <a16:creationId xmlns:a16="http://schemas.microsoft.com/office/drawing/2014/main" id="{BF31CFA5-6CE9-77AE-0EE8-745BB97972AA}"/>
              </a:ext>
            </a:extLst>
          </p:cNvPr>
          <p:cNvPicPr>
            <a:picLocks noChangeAspect="1"/>
          </p:cNvPicPr>
          <p:nvPr/>
        </p:nvPicPr>
        <p:blipFill>
          <a:blip r:embed="rId4"/>
          <a:stretch>
            <a:fillRect/>
          </a:stretch>
        </p:blipFill>
        <p:spPr>
          <a:xfrm>
            <a:off x="2124570" y="3421188"/>
            <a:ext cx="3407966" cy="1700833"/>
          </a:xfrm>
          <a:prstGeom prst="rect">
            <a:avLst/>
          </a:prstGeom>
        </p:spPr>
      </p:pic>
      <p:pic>
        <p:nvPicPr>
          <p:cNvPr id="15" name="Рисунок 14">
            <a:extLst>
              <a:ext uri="{FF2B5EF4-FFF2-40B4-BE49-F238E27FC236}">
                <a16:creationId xmlns:a16="http://schemas.microsoft.com/office/drawing/2014/main" id="{89C62EEB-E8EE-4CAE-D25D-9D4D03501626}"/>
              </a:ext>
            </a:extLst>
          </p:cNvPr>
          <p:cNvPicPr>
            <a:picLocks noChangeAspect="1"/>
          </p:cNvPicPr>
          <p:nvPr/>
        </p:nvPicPr>
        <p:blipFill>
          <a:blip r:embed="rId5"/>
          <a:stretch>
            <a:fillRect/>
          </a:stretch>
        </p:blipFill>
        <p:spPr>
          <a:xfrm>
            <a:off x="6607487" y="1539254"/>
            <a:ext cx="3364148" cy="1700833"/>
          </a:xfrm>
          <a:prstGeom prst="rect">
            <a:avLst/>
          </a:prstGeom>
        </p:spPr>
      </p:pic>
      <p:pic>
        <p:nvPicPr>
          <p:cNvPr id="17" name="Рисунок 16">
            <a:extLst>
              <a:ext uri="{FF2B5EF4-FFF2-40B4-BE49-F238E27FC236}">
                <a16:creationId xmlns:a16="http://schemas.microsoft.com/office/drawing/2014/main" id="{A63374A0-AA37-E0CB-5153-952B20401F73}"/>
              </a:ext>
            </a:extLst>
          </p:cNvPr>
          <p:cNvPicPr>
            <a:picLocks noChangeAspect="1"/>
          </p:cNvPicPr>
          <p:nvPr/>
        </p:nvPicPr>
        <p:blipFill>
          <a:blip r:embed="rId6"/>
          <a:stretch>
            <a:fillRect/>
          </a:stretch>
        </p:blipFill>
        <p:spPr>
          <a:xfrm>
            <a:off x="6512323" y="3425537"/>
            <a:ext cx="3554476" cy="1700833"/>
          </a:xfrm>
          <a:prstGeom prst="rect">
            <a:avLst/>
          </a:prstGeom>
        </p:spPr>
      </p:pic>
      <p:sp>
        <p:nvSpPr>
          <p:cNvPr id="18" name="Прямоугольник 17">
            <a:extLst>
              <a:ext uri="{FF2B5EF4-FFF2-40B4-BE49-F238E27FC236}">
                <a16:creationId xmlns:a16="http://schemas.microsoft.com/office/drawing/2014/main" id="{179C76F5-DEC3-9A01-B804-8F0BAD52BEE0}"/>
              </a:ext>
            </a:extLst>
          </p:cNvPr>
          <p:cNvSpPr/>
          <p:nvPr/>
        </p:nvSpPr>
        <p:spPr>
          <a:xfrm>
            <a:off x="3605188" y="4153203"/>
            <a:ext cx="862294" cy="687291"/>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1"/>
          </a:p>
        </p:txBody>
      </p:sp>
      <p:sp>
        <p:nvSpPr>
          <p:cNvPr id="19" name="Прямоугольник 18">
            <a:extLst>
              <a:ext uri="{FF2B5EF4-FFF2-40B4-BE49-F238E27FC236}">
                <a16:creationId xmlns:a16="http://schemas.microsoft.com/office/drawing/2014/main" id="{12611C04-D7B4-3FFD-4A7D-ABD534087910}"/>
              </a:ext>
            </a:extLst>
          </p:cNvPr>
          <p:cNvSpPr/>
          <p:nvPr/>
        </p:nvSpPr>
        <p:spPr>
          <a:xfrm>
            <a:off x="8066185" y="4243811"/>
            <a:ext cx="862294" cy="687291"/>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1"/>
          </a:p>
        </p:txBody>
      </p:sp>
      <p:sp>
        <p:nvSpPr>
          <p:cNvPr id="16" name="Текст 11">
            <a:extLst>
              <a:ext uri="{FF2B5EF4-FFF2-40B4-BE49-F238E27FC236}">
                <a16:creationId xmlns:a16="http://schemas.microsoft.com/office/drawing/2014/main" id="{FD7CCEC8-75E0-46EA-8D0A-9493CB50F587}"/>
              </a:ext>
            </a:extLst>
          </p:cNvPr>
          <p:cNvSpPr txBox="1">
            <a:spLocks/>
          </p:cNvSpPr>
          <p:nvPr/>
        </p:nvSpPr>
        <p:spPr>
          <a:xfrm>
            <a:off x="476462" y="0"/>
            <a:ext cx="9007172" cy="36036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600" b="1" cap="all" dirty="0">
                <a:solidFill>
                  <a:schemeClr val="accent2">
                    <a:lumMod val="75000"/>
                  </a:schemeClr>
                </a:solidFill>
              </a:rPr>
              <a:t>Полосовая фильтрация записи</a:t>
            </a:r>
          </a:p>
        </p:txBody>
      </p:sp>
    </p:spTree>
    <p:extLst>
      <p:ext uri="{BB962C8B-B14F-4D97-AF65-F5344CB8AC3E}">
        <p14:creationId xmlns:p14="http://schemas.microsoft.com/office/powerpoint/2010/main" val="14253601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a:extLst>
              <a:ext uri="{FF2B5EF4-FFF2-40B4-BE49-F238E27FC236}">
                <a16:creationId xmlns:a16="http://schemas.microsoft.com/office/drawing/2014/main" id="{A6B1443E-4623-485E-8FF1-B207297514B1}"/>
              </a:ext>
            </a:extLst>
          </p:cNvPr>
          <p:cNvGraphicFramePr>
            <a:graphicFrameLocks noGrp="1"/>
          </p:cNvGraphicFramePr>
          <p:nvPr>
            <p:extLst/>
          </p:nvPr>
        </p:nvGraphicFramePr>
        <p:xfrm>
          <a:off x="1018801" y="633899"/>
          <a:ext cx="9918807" cy="5342395"/>
        </p:xfrm>
        <a:graphic>
          <a:graphicData uri="http://schemas.openxmlformats.org/drawingml/2006/table">
            <a:tbl>
              <a:tblPr firstRow="1" firstCol="1" bandRow="1">
                <a:tableStyleId>{2D5ABB26-0587-4C30-8999-92F81FD0307C}</a:tableStyleId>
              </a:tblPr>
              <a:tblGrid>
                <a:gridCol w="3303088">
                  <a:extLst>
                    <a:ext uri="{9D8B030D-6E8A-4147-A177-3AD203B41FA5}">
                      <a16:colId xmlns:a16="http://schemas.microsoft.com/office/drawing/2014/main" val="310242079"/>
                    </a:ext>
                  </a:extLst>
                </a:gridCol>
                <a:gridCol w="3313691">
                  <a:extLst>
                    <a:ext uri="{9D8B030D-6E8A-4147-A177-3AD203B41FA5}">
                      <a16:colId xmlns:a16="http://schemas.microsoft.com/office/drawing/2014/main" val="634394956"/>
                    </a:ext>
                  </a:extLst>
                </a:gridCol>
                <a:gridCol w="3302028">
                  <a:extLst>
                    <a:ext uri="{9D8B030D-6E8A-4147-A177-3AD203B41FA5}">
                      <a16:colId xmlns:a16="http://schemas.microsoft.com/office/drawing/2014/main" val="122165466"/>
                    </a:ext>
                  </a:extLst>
                </a:gridCol>
              </a:tblGrid>
              <a:tr h="304338">
                <a:tc>
                  <a:txBody>
                    <a:bodyPr/>
                    <a:lstStyle/>
                    <a:p>
                      <a:pPr marL="0" indent="0" algn="ctr">
                        <a:lnSpc>
                          <a:spcPct val="100000"/>
                        </a:lnSpc>
                        <a:spcAft>
                          <a:spcPts val="300"/>
                        </a:spcAft>
                      </a:pPr>
                      <a:r>
                        <a:rPr lang="en-US" sz="1900" b="1" dirty="0">
                          <a:solidFill>
                            <a:schemeClr val="tx2">
                              <a:lumMod val="75000"/>
                            </a:schemeClr>
                          </a:solidFill>
                          <a:effectLst/>
                          <a:latin typeface="Tahoma" panose="020B0604030504040204" pitchFamily="34" charset="0"/>
                        </a:rPr>
                        <a:t>X</a:t>
                      </a:r>
                      <a:endParaRPr lang="en-US" sz="1900" b="1" dirty="0">
                        <a:solidFill>
                          <a:schemeClr val="tx2">
                            <a:lumMod val="75000"/>
                          </a:schemeClr>
                        </a:solidFill>
                        <a:effectLst/>
                        <a:latin typeface="Tahoma" panose="020B0604030504040204" pitchFamily="34" charset="0"/>
                        <a:ea typeface="Tahoma" panose="020B0604030504040204" pitchFamily="34" charset="0"/>
                      </a:endParaRPr>
                    </a:p>
                  </a:txBody>
                  <a:tcPr marL="57848" marR="57848" marT="0" marB="0" anchor="ctr"/>
                </a:tc>
                <a:tc>
                  <a:txBody>
                    <a:bodyPr/>
                    <a:lstStyle/>
                    <a:p>
                      <a:pPr marL="0" indent="0" algn="ctr">
                        <a:lnSpc>
                          <a:spcPct val="100000"/>
                        </a:lnSpc>
                        <a:spcAft>
                          <a:spcPts val="300"/>
                        </a:spcAft>
                      </a:pPr>
                      <a:r>
                        <a:rPr lang="en-US" sz="1900" b="1" dirty="0">
                          <a:solidFill>
                            <a:schemeClr val="tx2">
                              <a:lumMod val="75000"/>
                            </a:schemeClr>
                          </a:solidFill>
                          <a:effectLst/>
                          <a:latin typeface="Tahoma" panose="020B0604030504040204" pitchFamily="34" charset="0"/>
                        </a:rPr>
                        <a:t>Y</a:t>
                      </a:r>
                      <a:endParaRPr lang="en-US" sz="1900" b="1" dirty="0">
                        <a:solidFill>
                          <a:schemeClr val="tx2">
                            <a:lumMod val="75000"/>
                          </a:schemeClr>
                        </a:solidFill>
                        <a:effectLst/>
                        <a:latin typeface="Tahoma" panose="020B0604030504040204" pitchFamily="34" charset="0"/>
                        <a:ea typeface="Tahoma" panose="020B0604030504040204" pitchFamily="34" charset="0"/>
                      </a:endParaRPr>
                    </a:p>
                  </a:txBody>
                  <a:tcPr marL="57848" marR="57848" marT="0" marB="0" anchor="ctr"/>
                </a:tc>
                <a:tc>
                  <a:txBody>
                    <a:bodyPr/>
                    <a:lstStyle/>
                    <a:p>
                      <a:pPr marL="0" indent="0" algn="ctr">
                        <a:lnSpc>
                          <a:spcPct val="100000"/>
                        </a:lnSpc>
                        <a:spcAft>
                          <a:spcPts val="300"/>
                        </a:spcAft>
                      </a:pPr>
                      <a:r>
                        <a:rPr lang="en-US" sz="1900" b="1" dirty="0">
                          <a:solidFill>
                            <a:schemeClr val="tx2">
                              <a:lumMod val="75000"/>
                            </a:schemeClr>
                          </a:solidFill>
                          <a:effectLst/>
                          <a:latin typeface="Tahoma" panose="020B0604030504040204" pitchFamily="34" charset="0"/>
                        </a:rPr>
                        <a:t>Z</a:t>
                      </a:r>
                      <a:endParaRPr lang="en-US" sz="1900" b="1" dirty="0">
                        <a:solidFill>
                          <a:schemeClr val="tx2">
                            <a:lumMod val="75000"/>
                          </a:schemeClr>
                        </a:solidFill>
                        <a:effectLst/>
                        <a:latin typeface="Tahoma" panose="020B0604030504040204" pitchFamily="34" charset="0"/>
                        <a:ea typeface="Tahoma" panose="020B0604030504040204" pitchFamily="34" charset="0"/>
                      </a:endParaRPr>
                    </a:p>
                  </a:txBody>
                  <a:tcPr marL="57848" marR="57848" marT="0" marB="0"/>
                </a:tc>
                <a:extLst>
                  <a:ext uri="{0D108BD9-81ED-4DB2-BD59-A6C34878D82A}">
                    <a16:rowId xmlns:a16="http://schemas.microsoft.com/office/drawing/2014/main" val="1157517221"/>
                  </a:ext>
                </a:extLst>
              </a:tr>
              <a:tr h="3280507">
                <a:tc>
                  <a:txBody>
                    <a:bodyPr/>
                    <a:lstStyle/>
                    <a:p>
                      <a:pPr indent="450215" algn="ctr">
                        <a:lnSpc>
                          <a:spcPct val="100000"/>
                        </a:lnSpc>
                        <a:spcAft>
                          <a:spcPts val="300"/>
                        </a:spcAft>
                      </a:pPr>
                      <a:endParaRPr lang="ru-RU" sz="1900" dirty="0">
                        <a:solidFill>
                          <a:schemeClr val="tx2">
                            <a:lumMod val="75000"/>
                          </a:schemeClr>
                        </a:solidFill>
                        <a:effectLst/>
                        <a:latin typeface="Tahoma" panose="020B0604030504040204" pitchFamily="34" charset="0"/>
                        <a:ea typeface="Tahoma" panose="020B0604030504040204" pitchFamily="34" charset="0"/>
                      </a:endParaRPr>
                    </a:p>
                  </a:txBody>
                  <a:tcPr marL="57848" marR="57848" marT="0" marB="0" anchor="ctr"/>
                </a:tc>
                <a:tc>
                  <a:txBody>
                    <a:bodyPr/>
                    <a:lstStyle/>
                    <a:p>
                      <a:pPr algn="ctr">
                        <a:lnSpc>
                          <a:spcPct val="100000"/>
                        </a:lnSpc>
                        <a:spcBef>
                          <a:spcPts val="1000"/>
                        </a:spcBef>
                      </a:pPr>
                      <a:endParaRPr lang="ru-RU" sz="1900" dirty="0">
                        <a:solidFill>
                          <a:schemeClr val="tx2">
                            <a:lumMod val="75000"/>
                          </a:schemeClr>
                        </a:solidFill>
                        <a:effectLst/>
                        <a:latin typeface="Tahoma" panose="020B0604030504040204" pitchFamily="34" charset="0"/>
                      </a:endParaRPr>
                    </a:p>
                    <a:p>
                      <a:pPr indent="450215" algn="just">
                        <a:lnSpc>
                          <a:spcPct val="100000"/>
                        </a:lnSpc>
                        <a:spcAft>
                          <a:spcPts val="300"/>
                        </a:spcAft>
                      </a:pPr>
                      <a:r>
                        <a:rPr lang="en-US" sz="1900" dirty="0">
                          <a:solidFill>
                            <a:schemeClr val="tx2">
                              <a:lumMod val="75000"/>
                            </a:schemeClr>
                          </a:solidFill>
                          <a:effectLst/>
                          <a:latin typeface="Tahoma" panose="020B0604030504040204" pitchFamily="34" charset="0"/>
                        </a:rPr>
                        <a:t> </a:t>
                      </a:r>
                      <a:endParaRPr lang="en-US" sz="1900" dirty="0">
                        <a:solidFill>
                          <a:schemeClr val="tx2">
                            <a:lumMod val="75000"/>
                          </a:schemeClr>
                        </a:solidFill>
                        <a:effectLst/>
                        <a:latin typeface="Tahoma" panose="020B0604030504040204" pitchFamily="34" charset="0"/>
                        <a:ea typeface="Tahoma" panose="020B0604030504040204" pitchFamily="34" charset="0"/>
                        <a:cs typeface="Tahoma" panose="020B0604030504040204" pitchFamily="34" charset="0"/>
                      </a:endParaRPr>
                    </a:p>
                  </a:txBody>
                  <a:tcPr marL="57848" marR="57848" marT="0" marB="0" anchor="ctr"/>
                </a:tc>
                <a:tc>
                  <a:txBody>
                    <a:bodyPr/>
                    <a:lstStyle/>
                    <a:p>
                      <a:pPr algn="ctr">
                        <a:lnSpc>
                          <a:spcPct val="100000"/>
                        </a:lnSpc>
                        <a:spcBef>
                          <a:spcPts val="1000"/>
                        </a:spcBef>
                      </a:pPr>
                      <a:endParaRPr lang="ru-RU" sz="1900" dirty="0">
                        <a:solidFill>
                          <a:schemeClr val="tx2">
                            <a:lumMod val="75000"/>
                          </a:schemeClr>
                        </a:solidFill>
                        <a:effectLst/>
                        <a:latin typeface="Tahoma" panose="020B0604030504040204" pitchFamily="34" charset="0"/>
                        <a:ea typeface="Tahoma" panose="020B0604030504040204" pitchFamily="34" charset="0"/>
                        <a:cs typeface="Tahoma" panose="020B0604030504040204" pitchFamily="34" charset="0"/>
                      </a:endParaRPr>
                    </a:p>
                  </a:txBody>
                  <a:tcPr marL="57848" marR="57848" marT="0" marB="0"/>
                </a:tc>
                <a:extLst>
                  <a:ext uri="{0D108BD9-81ED-4DB2-BD59-A6C34878D82A}">
                    <a16:rowId xmlns:a16="http://schemas.microsoft.com/office/drawing/2014/main" val="4156766625"/>
                  </a:ext>
                </a:extLst>
              </a:tr>
              <a:tr h="1757550">
                <a:tc>
                  <a:txBody>
                    <a:bodyPr/>
                    <a:lstStyle/>
                    <a:p>
                      <a:pPr marL="0" indent="0" algn="ctr">
                        <a:lnSpc>
                          <a:spcPct val="100000"/>
                        </a:lnSpc>
                        <a:spcAft>
                          <a:spcPts val="300"/>
                        </a:spcAft>
                      </a:pPr>
                      <a:r>
                        <a:rPr lang="ru-RU" sz="1700" dirty="0">
                          <a:solidFill>
                            <a:schemeClr val="tx2">
                              <a:lumMod val="75000"/>
                            </a:schemeClr>
                          </a:solidFill>
                          <a:effectLst/>
                          <a:latin typeface="Tahoma" panose="020B0604030504040204" pitchFamily="34" charset="0"/>
                        </a:rPr>
                        <a:t>Исключение тренда:</a:t>
                      </a:r>
                      <a:endParaRPr lang="en-US" sz="1700" dirty="0">
                        <a:solidFill>
                          <a:schemeClr val="tx2">
                            <a:lumMod val="75000"/>
                          </a:schemeClr>
                        </a:solidFill>
                        <a:effectLst/>
                        <a:latin typeface="Tahoma" panose="020B0604030504040204" pitchFamily="34" charset="0"/>
                      </a:endParaRPr>
                    </a:p>
                    <a:p>
                      <a:pPr marL="0" indent="0" algn="l">
                        <a:lnSpc>
                          <a:spcPct val="100000"/>
                        </a:lnSpc>
                        <a:spcAft>
                          <a:spcPts val="300"/>
                        </a:spcAft>
                      </a:pPr>
                      <a:r>
                        <a:rPr lang="ru-RU" sz="1700" dirty="0">
                          <a:solidFill>
                            <a:schemeClr val="tx2">
                              <a:lumMod val="75000"/>
                            </a:schemeClr>
                          </a:solidFill>
                          <a:effectLst/>
                          <a:latin typeface="Tahoma" panose="020B0604030504040204" pitchFamily="34" charset="0"/>
                        </a:rPr>
                        <a:t>Акселерограмма – кубический;</a:t>
                      </a:r>
                      <a:endParaRPr lang="en-US" sz="1700" dirty="0">
                        <a:solidFill>
                          <a:schemeClr val="tx2">
                            <a:lumMod val="75000"/>
                          </a:schemeClr>
                        </a:solidFill>
                        <a:effectLst/>
                        <a:latin typeface="Tahoma" panose="020B0604030504040204" pitchFamily="34" charset="0"/>
                      </a:endParaRPr>
                    </a:p>
                    <a:p>
                      <a:pPr marL="0" indent="0" algn="l">
                        <a:lnSpc>
                          <a:spcPct val="100000"/>
                        </a:lnSpc>
                        <a:spcAft>
                          <a:spcPts val="300"/>
                        </a:spcAft>
                      </a:pPr>
                      <a:r>
                        <a:rPr lang="ru-RU" sz="1700" dirty="0">
                          <a:solidFill>
                            <a:schemeClr val="tx2">
                              <a:lumMod val="75000"/>
                            </a:schemeClr>
                          </a:solidFill>
                          <a:effectLst/>
                          <a:latin typeface="Tahoma" panose="020B0604030504040204" pitchFamily="34" charset="0"/>
                        </a:rPr>
                        <a:t>Велосиграмма – линейный;</a:t>
                      </a:r>
                      <a:endParaRPr lang="en-US" sz="1700" dirty="0">
                        <a:solidFill>
                          <a:schemeClr val="tx2">
                            <a:lumMod val="75000"/>
                          </a:schemeClr>
                        </a:solidFill>
                        <a:effectLst/>
                        <a:latin typeface="Tahoma" panose="020B0604030504040204" pitchFamily="34" charset="0"/>
                      </a:endParaRPr>
                    </a:p>
                    <a:p>
                      <a:pPr marL="0" indent="0" algn="l">
                        <a:lnSpc>
                          <a:spcPct val="100000"/>
                        </a:lnSpc>
                        <a:spcAft>
                          <a:spcPts val="300"/>
                        </a:spcAft>
                      </a:pPr>
                      <a:r>
                        <a:rPr lang="ru-RU" sz="1700" dirty="0">
                          <a:solidFill>
                            <a:schemeClr val="tx2">
                              <a:lumMod val="75000"/>
                            </a:schemeClr>
                          </a:solidFill>
                          <a:effectLst/>
                          <a:latin typeface="Tahoma" panose="020B0604030504040204" pitchFamily="34" charset="0"/>
                        </a:rPr>
                        <a:t>Сейсмограмма – нет.</a:t>
                      </a:r>
                      <a:endParaRPr lang="en-US" sz="1700" dirty="0">
                        <a:solidFill>
                          <a:schemeClr val="tx2">
                            <a:lumMod val="75000"/>
                          </a:schemeClr>
                        </a:solidFill>
                        <a:effectLst/>
                        <a:latin typeface="Tahoma" panose="020B0604030504040204" pitchFamily="34" charset="0"/>
                        <a:ea typeface="Tahoma" panose="020B0604030504040204" pitchFamily="34" charset="0"/>
                      </a:endParaRPr>
                    </a:p>
                  </a:txBody>
                  <a:tcPr marL="57848" marR="57848" marT="0" marB="0" anchor="b"/>
                </a:tc>
                <a:tc>
                  <a:txBody>
                    <a:bodyPr/>
                    <a:lstStyle/>
                    <a:p>
                      <a:pPr marL="0" indent="0" algn="ctr">
                        <a:lnSpc>
                          <a:spcPct val="100000"/>
                        </a:lnSpc>
                        <a:spcAft>
                          <a:spcPts val="300"/>
                        </a:spcAft>
                      </a:pPr>
                      <a:r>
                        <a:rPr lang="ru-RU" sz="1700" dirty="0">
                          <a:solidFill>
                            <a:schemeClr val="tx2">
                              <a:lumMod val="75000"/>
                            </a:schemeClr>
                          </a:solidFill>
                          <a:effectLst/>
                          <a:latin typeface="Tahoma" panose="020B0604030504040204" pitchFamily="34" charset="0"/>
                        </a:rPr>
                        <a:t>Исключение тренда:</a:t>
                      </a:r>
                      <a:endParaRPr lang="en-US" sz="1700" dirty="0">
                        <a:solidFill>
                          <a:schemeClr val="tx2">
                            <a:lumMod val="75000"/>
                          </a:schemeClr>
                        </a:solidFill>
                        <a:effectLst/>
                        <a:latin typeface="Tahoma" panose="020B0604030504040204" pitchFamily="34" charset="0"/>
                      </a:endParaRPr>
                    </a:p>
                    <a:p>
                      <a:pPr marL="0" indent="0" algn="l">
                        <a:lnSpc>
                          <a:spcPct val="100000"/>
                        </a:lnSpc>
                        <a:spcAft>
                          <a:spcPts val="300"/>
                        </a:spcAft>
                      </a:pPr>
                      <a:r>
                        <a:rPr lang="ru-RU" sz="1700" dirty="0">
                          <a:solidFill>
                            <a:schemeClr val="tx2">
                              <a:lumMod val="75000"/>
                            </a:schemeClr>
                          </a:solidFill>
                          <a:effectLst/>
                          <a:latin typeface="Tahoma" panose="020B0604030504040204" pitchFamily="34" charset="0"/>
                        </a:rPr>
                        <a:t>Акселерограмма – кубический;</a:t>
                      </a:r>
                      <a:endParaRPr lang="en-US" sz="1700" dirty="0">
                        <a:solidFill>
                          <a:schemeClr val="tx2">
                            <a:lumMod val="75000"/>
                          </a:schemeClr>
                        </a:solidFill>
                        <a:effectLst/>
                        <a:latin typeface="Tahoma" panose="020B0604030504040204" pitchFamily="34" charset="0"/>
                      </a:endParaRPr>
                    </a:p>
                    <a:p>
                      <a:pPr marL="0" indent="0" algn="l">
                        <a:lnSpc>
                          <a:spcPct val="100000"/>
                        </a:lnSpc>
                        <a:spcAft>
                          <a:spcPts val="300"/>
                        </a:spcAft>
                      </a:pPr>
                      <a:r>
                        <a:rPr lang="ru-RU" sz="1700" dirty="0">
                          <a:solidFill>
                            <a:schemeClr val="tx2">
                              <a:lumMod val="75000"/>
                            </a:schemeClr>
                          </a:solidFill>
                          <a:effectLst/>
                          <a:latin typeface="Tahoma" panose="020B0604030504040204" pitchFamily="34" charset="0"/>
                        </a:rPr>
                        <a:t>Велосиграмма – линейный;</a:t>
                      </a:r>
                      <a:endParaRPr lang="en-US" sz="1700" dirty="0">
                        <a:solidFill>
                          <a:schemeClr val="tx2">
                            <a:lumMod val="75000"/>
                          </a:schemeClr>
                        </a:solidFill>
                        <a:effectLst/>
                        <a:latin typeface="Tahoma" panose="020B0604030504040204" pitchFamily="34" charset="0"/>
                      </a:endParaRPr>
                    </a:p>
                    <a:p>
                      <a:pPr marL="0" indent="0" algn="l">
                        <a:lnSpc>
                          <a:spcPct val="100000"/>
                        </a:lnSpc>
                        <a:spcAft>
                          <a:spcPts val="300"/>
                        </a:spcAft>
                      </a:pPr>
                      <a:r>
                        <a:rPr lang="ru-RU" sz="1700" dirty="0">
                          <a:solidFill>
                            <a:schemeClr val="tx2">
                              <a:lumMod val="75000"/>
                            </a:schemeClr>
                          </a:solidFill>
                          <a:effectLst/>
                          <a:latin typeface="Tahoma" panose="020B0604030504040204" pitchFamily="34" charset="0"/>
                        </a:rPr>
                        <a:t>Сейсмограмма – нет.</a:t>
                      </a:r>
                      <a:endParaRPr lang="en-US" sz="1700" dirty="0">
                        <a:solidFill>
                          <a:schemeClr val="tx2">
                            <a:lumMod val="75000"/>
                          </a:schemeClr>
                        </a:solidFill>
                        <a:effectLst/>
                        <a:latin typeface="Tahoma" panose="020B0604030504040204" pitchFamily="34" charset="0"/>
                        <a:ea typeface="Tahoma" panose="020B0604030504040204" pitchFamily="34" charset="0"/>
                      </a:endParaRPr>
                    </a:p>
                  </a:txBody>
                  <a:tcPr marL="57848" marR="57848" marT="0" marB="0" anchor="b"/>
                </a:tc>
                <a:tc>
                  <a:txBody>
                    <a:bodyPr/>
                    <a:lstStyle/>
                    <a:p>
                      <a:pPr marL="0" indent="0" algn="ctr">
                        <a:lnSpc>
                          <a:spcPct val="100000"/>
                        </a:lnSpc>
                        <a:spcAft>
                          <a:spcPts val="300"/>
                        </a:spcAft>
                      </a:pPr>
                      <a:r>
                        <a:rPr lang="ru-RU" sz="1700" dirty="0">
                          <a:solidFill>
                            <a:schemeClr val="tx2">
                              <a:lumMod val="75000"/>
                            </a:schemeClr>
                          </a:solidFill>
                          <a:effectLst/>
                          <a:latin typeface="Tahoma" panose="020B0604030504040204" pitchFamily="34" charset="0"/>
                        </a:rPr>
                        <a:t>Исключение тренда:</a:t>
                      </a:r>
                      <a:endParaRPr lang="en-US" sz="1700" dirty="0">
                        <a:solidFill>
                          <a:schemeClr val="tx2">
                            <a:lumMod val="75000"/>
                          </a:schemeClr>
                        </a:solidFill>
                        <a:effectLst/>
                        <a:latin typeface="Tahoma" panose="020B0604030504040204" pitchFamily="34" charset="0"/>
                      </a:endParaRPr>
                    </a:p>
                    <a:p>
                      <a:pPr marL="0" indent="0" algn="l">
                        <a:lnSpc>
                          <a:spcPct val="100000"/>
                        </a:lnSpc>
                        <a:spcAft>
                          <a:spcPts val="300"/>
                        </a:spcAft>
                      </a:pPr>
                      <a:r>
                        <a:rPr lang="ru-RU" sz="1700" dirty="0">
                          <a:solidFill>
                            <a:schemeClr val="tx2">
                              <a:lumMod val="75000"/>
                            </a:schemeClr>
                          </a:solidFill>
                          <a:effectLst/>
                          <a:latin typeface="Tahoma" panose="020B0604030504040204" pitchFamily="34" charset="0"/>
                        </a:rPr>
                        <a:t>Акселерограмма – линейный;</a:t>
                      </a:r>
                      <a:endParaRPr lang="en-US" sz="1700" dirty="0">
                        <a:solidFill>
                          <a:schemeClr val="tx2">
                            <a:lumMod val="75000"/>
                          </a:schemeClr>
                        </a:solidFill>
                        <a:effectLst/>
                        <a:latin typeface="Tahoma" panose="020B0604030504040204" pitchFamily="34" charset="0"/>
                      </a:endParaRPr>
                    </a:p>
                    <a:p>
                      <a:pPr marL="0" indent="0" algn="l">
                        <a:lnSpc>
                          <a:spcPct val="100000"/>
                        </a:lnSpc>
                        <a:spcAft>
                          <a:spcPts val="300"/>
                        </a:spcAft>
                      </a:pPr>
                      <a:r>
                        <a:rPr lang="ru-RU" sz="1700" dirty="0">
                          <a:solidFill>
                            <a:schemeClr val="tx2">
                              <a:lumMod val="75000"/>
                            </a:schemeClr>
                          </a:solidFill>
                          <a:effectLst/>
                          <a:latin typeface="Tahoma" panose="020B0604030504040204" pitchFamily="34" charset="0"/>
                        </a:rPr>
                        <a:t>Велосиграмма – кубический;</a:t>
                      </a:r>
                      <a:endParaRPr lang="en-US" sz="1700" dirty="0">
                        <a:solidFill>
                          <a:schemeClr val="tx2">
                            <a:lumMod val="75000"/>
                          </a:schemeClr>
                        </a:solidFill>
                        <a:effectLst/>
                        <a:latin typeface="Tahoma" panose="020B0604030504040204" pitchFamily="34" charset="0"/>
                      </a:endParaRPr>
                    </a:p>
                    <a:p>
                      <a:pPr marL="0" indent="0" algn="l">
                        <a:lnSpc>
                          <a:spcPct val="100000"/>
                        </a:lnSpc>
                        <a:spcAft>
                          <a:spcPts val="300"/>
                        </a:spcAft>
                      </a:pPr>
                      <a:r>
                        <a:rPr lang="ru-RU" sz="1700" dirty="0">
                          <a:solidFill>
                            <a:schemeClr val="tx2">
                              <a:lumMod val="75000"/>
                            </a:schemeClr>
                          </a:solidFill>
                          <a:effectLst/>
                          <a:latin typeface="Tahoma" panose="020B0604030504040204" pitchFamily="34" charset="0"/>
                        </a:rPr>
                        <a:t>Сейсмограмма – нет.</a:t>
                      </a:r>
                      <a:endParaRPr lang="en-US" sz="1700" dirty="0">
                        <a:solidFill>
                          <a:schemeClr val="tx2">
                            <a:lumMod val="75000"/>
                          </a:schemeClr>
                        </a:solidFill>
                        <a:effectLst/>
                        <a:latin typeface="Tahoma" panose="020B0604030504040204" pitchFamily="34" charset="0"/>
                        <a:ea typeface="Tahoma" panose="020B0604030504040204" pitchFamily="34" charset="0"/>
                      </a:endParaRPr>
                    </a:p>
                  </a:txBody>
                  <a:tcPr marL="57848" marR="57848" marT="0" marB="0" anchor="b"/>
                </a:tc>
                <a:extLst>
                  <a:ext uri="{0D108BD9-81ED-4DB2-BD59-A6C34878D82A}">
                    <a16:rowId xmlns:a16="http://schemas.microsoft.com/office/drawing/2014/main" val="1924380567"/>
                  </a:ext>
                </a:extLst>
              </a:tr>
            </a:tbl>
          </a:graphicData>
        </a:graphic>
      </p:graphicFrame>
      <p:graphicFrame>
        <p:nvGraphicFramePr>
          <p:cNvPr id="4" name="Объект 3">
            <a:extLst>
              <a:ext uri="{FF2B5EF4-FFF2-40B4-BE49-F238E27FC236}">
                <a16:creationId xmlns:a16="http://schemas.microsoft.com/office/drawing/2014/main" id="{AF9CFFEE-1137-98F3-C175-B766735BD4AE}"/>
              </a:ext>
            </a:extLst>
          </p:cNvPr>
          <p:cNvGraphicFramePr>
            <a:graphicFrameLocks noChangeAspect="1"/>
          </p:cNvGraphicFramePr>
          <p:nvPr>
            <p:extLst/>
          </p:nvPr>
        </p:nvGraphicFramePr>
        <p:xfrm>
          <a:off x="1130595" y="936327"/>
          <a:ext cx="2864310" cy="3860486"/>
        </p:xfrm>
        <a:graphic>
          <a:graphicData uri="http://schemas.openxmlformats.org/presentationml/2006/ole">
            <mc:AlternateContent xmlns:mc="http://schemas.openxmlformats.org/markup-compatibility/2006">
              <mc:Choice xmlns:v="urn:schemas-microsoft-com:vml" Requires="v">
                <p:oleObj spid="_x0000_s2146" name="Точечный рисунок" r:id="rId4" imgW="4190332" imgH="5622441" progId="Paint.Picture">
                  <p:embed/>
                </p:oleObj>
              </mc:Choice>
              <mc:Fallback>
                <p:oleObj name="Точечный рисунок" r:id="rId4" imgW="4190332" imgH="5622441" progId="Paint.Picture">
                  <p:embed/>
                  <p:pic>
                    <p:nvPicPr>
                      <p:cNvPr id="4" name="Объект 3">
                        <a:extLst>
                          <a:ext uri="{FF2B5EF4-FFF2-40B4-BE49-F238E27FC236}">
                            <a16:creationId xmlns:a16="http://schemas.microsoft.com/office/drawing/2014/main" id="{AF9CFFEE-1137-98F3-C175-B766735BD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0595" y="936327"/>
                        <a:ext cx="2864310" cy="3860486"/>
                      </a:xfrm>
                      <a:prstGeom prst="rect">
                        <a:avLst/>
                      </a:prstGeom>
                      <a:noFill/>
                    </p:spPr>
                  </p:pic>
                </p:oleObj>
              </mc:Fallback>
            </mc:AlternateContent>
          </a:graphicData>
        </a:graphic>
      </p:graphicFrame>
      <p:pic>
        <p:nvPicPr>
          <p:cNvPr id="9218" name="Рисунок 6">
            <a:extLst>
              <a:ext uri="{FF2B5EF4-FFF2-40B4-BE49-F238E27FC236}">
                <a16:creationId xmlns:a16="http://schemas.microsoft.com/office/drawing/2014/main" id="{8DBB7111-B81E-A452-61A3-0FA9FC33EF5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57915" y="936326"/>
            <a:ext cx="2887842" cy="386089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Объект 4">
            <a:extLst>
              <a:ext uri="{FF2B5EF4-FFF2-40B4-BE49-F238E27FC236}">
                <a16:creationId xmlns:a16="http://schemas.microsoft.com/office/drawing/2014/main" id="{354A0C77-217B-8403-1C84-8E158D1BCFE2}"/>
              </a:ext>
            </a:extLst>
          </p:cNvPr>
          <p:cNvGraphicFramePr>
            <a:graphicFrameLocks noChangeAspect="1"/>
          </p:cNvGraphicFramePr>
          <p:nvPr>
            <p:extLst/>
          </p:nvPr>
        </p:nvGraphicFramePr>
        <p:xfrm>
          <a:off x="7808766" y="936326"/>
          <a:ext cx="2864611" cy="3860892"/>
        </p:xfrm>
        <a:graphic>
          <a:graphicData uri="http://schemas.openxmlformats.org/presentationml/2006/ole">
            <mc:AlternateContent xmlns:mc="http://schemas.openxmlformats.org/markup-compatibility/2006">
              <mc:Choice xmlns:v="urn:schemas-microsoft-com:vml" Requires="v">
                <p:oleObj spid="_x0000_s2147" name="Точечный рисунок" r:id="rId7" imgW="4190332" imgH="5622441" progId="Paint.Picture">
                  <p:embed/>
                </p:oleObj>
              </mc:Choice>
              <mc:Fallback>
                <p:oleObj name="Точечный рисунок" r:id="rId7" imgW="4190332" imgH="5622441" progId="Paint.Picture">
                  <p:embed/>
                  <p:pic>
                    <p:nvPicPr>
                      <p:cNvPr id="5" name="Объект 4">
                        <a:extLst>
                          <a:ext uri="{FF2B5EF4-FFF2-40B4-BE49-F238E27FC236}">
                            <a16:creationId xmlns:a16="http://schemas.microsoft.com/office/drawing/2014/main" id="{354A0C77-217B-8403-1C84-8E158D1BCFE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08766" y="936326"/>
                        <a:ext cx="2864611" cy="3860892"/>
                      </a:xfrm>
                      <a:prstGeom prst="rect">
                        <a:avLst/>
                      </a:prstGeom>
                      <a:noFill/>
                    </p:spPr>
                  </p:pic>
                </p:oleObj>
              </mc:Fallback>
            </mc:AlternateContent>
          </a:graphicData>
        </a:graphic>
      </p:graphicFrame>
      <p:sp>
        <p:nvSpPr>
          <p:cNvPr id="3" name="TextBox 2">
            <a:extLst>
              <a:ext uri="{FF2B5EF4-FFF2-40B4-BE49-F238E27FC236}">
                <a16:creationId xmlns:a16="http://schemas.microsoft.com/office/drawing/2014/main" id="{296FE096-6185-C7CC-A2C6-BC8E572D1317}"/>
              </a:ext>
            </a:extLst>
          </p:cNvPr>
          <p:cNvSpPr txBox="1"/>
          <p:nvPr/>
        </p:nvSpPr>
        <p:spPr>
          <a:xfrm>
            <a:off x="2699153" y="6033176"/>
            <a:ext cx="6558101" cy="354071"/>
          </a:xfrm>
          <a:prstGeom prst="rect">
            <a:avLst/>
          </a:prstGeom>
          <a:noFill/>
        </p:spPr>
        <p:txBody>
          <a:bodyPr wrap="square">
            <a:spAutoFit/>
          </a:bodyPr>
          <a:lstStyle/>
          <a:p>
            <a:pPr algn="ctr"/>
            <a:r>
              <a:rPr lang="ru-RU" sz="1701" dirty="0">
                <a:solidFill>
                  <a:schemeClr val="tx2">
                    <a:lumMod val="75000"/>
                  </a:schemeClr>
                </a:solidFill>
                <a:latin typeface="Tahoma" panose="020B0604030504040204" pitchFamily="34" charset="0"/>
                <a:cs typeface="Proxy 9" panose="00000400000000000000" pitchFamily="2" charset="0"/>
              </a:rPr>
              <a:t>Интегрирование инструментальных записей</a:t>
            </a:r>
            <a:endParaRPr lang="en-US" sz="1701" b="1" dirty="0">
              <a:solidFill>
                <a:schemeClr val="tx2">
                  <a:lumMod val="75000"/>
                </a:schemeClr>
              </a:solidFill>
              <a:latin typeface="Tahoma" panose="020B0604030504040204" pitchFamily="34" charset="0"/>
              <a:cs typeface="Proxy 9" panose="00000400000000000000" pitchFamily="2" charset="0"/>
            </a:endParaRPr>
          </a:p>
        </p:txBody>
      </p:sp>
      <p:sp>
        <p:nvSpPr>
          <p:cNvPr id="9" name="Текст 11">
            <a:extLst>
              <a:ext uri="{FF2B5EF4-FFF2-40B4-BE49-F238E27FC236}">
                <a16:creationId xmlns:a16="http://schemas.microsoft.com/office/drawing/2014/main" id="{EBB6ECE5-26FE-4690-8352-0AE915CAEEAD}"/>
              </a:ext>
            </a:extLst>
          </p:cNvPr>
          <p:cNvSpPr txBox="1">
            <a:spLocks/>
          </p:cNvSpPr>
          <p:nvPr/>
        </p:nvSpPr>
        <p:spPr>
          <a:xfrm>
            <a:off x="476462" y="0"/>
            <a:ext cx="9007172" cy="36036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600" b="1" cap="all" dirty="0">
                <a:solidFill>
                  <a:schemeClr val="accent2">
                    <a:lumMod val="75000"/>
                  </a:schemeClr>
                </a:solidFill>
              </a:rPr>
              <a:t>Исключение трендов и интегрирование записи</a:t>
            </a:r>
          </a:p>
        </p:txBody>
      </p:sp>
    </p:spTree>
    <p:extLst>
      <p:ext uri="{BB962C8B-B14F-4D97-AF65-F5344CB8AC3E}">
        <p14:creationId xmlns:p14="http://schemas.microsoft.com/office/powerpoint/2010/main" val="33442151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3">
            <a:extLst>
              <a:ext uri="{FF2B5EF4-FFF2-40B4-BE49-F238E27FC236}">
                <a16:creationId xmlns:a16="http://schemas.microsoft.com/office/drawing/2014/main" id="{35E6B74B-ABF1-0858-629F-E0A3CF0964E7}"/>
              </a:ext>
            </a:extLst>
          </p:cNvPr>
          <p:cNvSpPr txBox="1">
            <a:spLocks/>
          </p:cNvSpPr>
          <p:nvPr/>
        </p:nvSpPr>
        <p:spPr>
          <a:xfrm>
            <a:off x="478181" y="194066"/>
            <a:ext cx="10634300" cy="623833"/>
          </a:xfrm>
          <a:prstGeom prst="rect">
            <a:avLst/>
          </a:prstGeom>
        </p:spPr>
        <p:txBody>
          <a:bodyPr vert="horz" lIns="86402" tIns="43201" rIns="86402" bIns="43201"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ru-RU" sz="3402" b="1" i="1" dirty="0">
              <a:solidFill>
                <a:schemeClr val="tx2">
                  <a:lumMod val="75000"/>
                </a:schemeClr>
              </a:solidFill>
              <a:latin typeface="Tahoma" panose="020B0604030504040204" pitchFamily="34" charset="0"/>
            </a:endParaRPr>
          </a:p>
        </p:txBody>
      </p:sp>
      <p:pic>
        <p:nvPicPr>
          <p:cNvPr id="9" name="Рисунок 8">
            <a:extLst>
              <a:ext uri="{FF2B5EF4-FFF2-40B4-BE49-F238E27FC236}">
                <a16:creationId xmlns:a16="http://schemas.microsoft.com/office/drawing/2014/main" id="{18B31C53-234F-6FC8-953D-9F721D03EB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6754" y="3112287"/>
            <a:ext cx="4606324" cy="2919435"/>
          </a:xfrm>
          <a:prstGeom prst="rect">
            <a:avLst/>
          </a:prstGeom>
          <a:noFill/>
          <a:ln>
            <a:noFill/>
          </a:ln>
        </p:spPr>
      </p:pic>
      <p:pic>
        <p:nvPicPr>
          <p:cNvPr id="10" name="Рисунок 9">
            <a:extLst>
              <a:ext uri="{FF2B5EF4-FFF2-40B4-BE49-F238E27FC236}">
                <a16:creationId xmlns:a16="http://schemas.microsoft.com/office/drawing/2014/main" id="{54FF5FBE-38EF-6505-56E8-F2A270F55B9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80854" y="3146948"/>
            <a:ext cx="4911108" cy="2839184"/>
          </a:xfrm>
          <a:prstGeom prst="rect">
            <a:avLst/>
          </a:prstGeom>
          <a:noFill/>
          <a:ln>
            <a:noFill/>
          </a:ln>
        </p:spPr>
      </p:pic>
      <p:sp>
        <p:nvSpPr>
          <p:cNvPr id="11" name="TextBox 10">
            <a:extLst>
              <a:ext uri="{FF2B5EF4-FFF2-40B4-BE49-F238E27FC236}">
                <a16:creationId xmlns:a16="http://schemas.microsoft.com/office/drawing/2014/main" id="{F63C8F27-6F4E-03EC-6128-FA483F491CCD}"/>
              </a:ext>
            </a:extLst>
          </p:cNvPr>
          <p:cNvSpPr txBox="1"/>
          <p:nvPr/>
        </p:nvSpPr>
        <p:spPr>
          <a:xfrm>
            <a:off x="1306898" y="990370"/>
            <a:ext cx="3417405" cy="383182"/>
          </a:xfrm>
          <a:prstGeom prst="rect">
            <a:avLst/>
          </a:prstGeom>
          <a:noFill/>
        </p:spPr>
        <p:txBody>
          <a:bodyPr wrap="square">
            <a:spAutoFit/>
          </a:bodyPr>
          <a:lstStyle/>
          <a:p>
            <a:pPr algn="ctr"/>
            <a:r>
              <a:rPr lang="ru-RU" sz="1890" u="sng" dirty="0">
                <a:solidFill>
                  <a:schemeClr val="tx2">
                    <a:lumMod val="75000"/>
                  </a:schemeClr>
                </a:solidFill>
                <a:latin typeface="Tahoma" panose="020B0604030504040204" pitchFamily="34" charset="0"/>
                <a:ea typeface="Tahoma" panose="020B0604030504040204" pitchFamily="34" charset="0"/>
              </a:rPr>
              <a:t>Статический расчет</a:t>
            </a:r>
            <a:endParaRPr lang="en-US" sz="1890" u="sng" dirty="0">
              <a:solidFill>
                <a:schemeClr val="tx2">
                  <a:lumMod val="75000"/>
                </a:schemeClr>
              </a:solidFill>
              <a:latin typeface="Tahoma" panose="020B0604030504040204" pitchFamily="34" charset="0"/>
            </a:endParaRPr>
          </a:p>
        </p:txBody>
      </p:sp>
      <p:sp>
        <p:nvSpPr>
          <p:cNvPr id="12" name="TextBox 11">
            <a:extLst>
              <a:ext uri="{FF2B5EF4-FFF2-40B4-BE49-F238E27FC236}">
                <a16:creationId xmlns:a16="http://schemas.microsoft.com/office/drawing/2014/main" id="{36A2866E-CC47-DB05-FB71-201C1B24221D}"/>
              </a:ext>
            </a:extLst>
          </p:cNvPr>
          <p:cNvSpPr txBox="1"/>
          <p:nvPr/>
        </p:nvSpPr>
        <p:spPr>
          <a:xfrm>
            <a:off x="6575014" y="944780"/>
            <a:ext cx="4216949" cy="383182"/>
          </a:xfrm>
          <a:prstGeom prst="rect">
            <a:avLst/>
          </a:prstGeom>
          <a:noFill/>
        </p:spPr>
        <p:txBody>
          <a:bodyPr wrap="square">
            <a:spAutoFit/>
          </a:bodyPr>
          <a:lstStyle/>
          <a:p>
            <a:pPr algn="ctr"/>
            <a:r>
              <a:rPr lang="ru-RU" sz="1890" u="sng" dirty="0">
                <a:solidFill>
                  <a:schemeClr val="tx2">
                    <a:lumMod val="75000"/>
                  </a:schemeClr>
                </a:solidFill>
                <a:latin typeface="Tahoma" panose="020B0604030504040204" pitchFamily="34" charset="0"/>
                <a:ea typeface="Tahoma" panose="020B0604030504040204" pitchFamily="34" charset="0"/>
              </a:rPr>
              <a:t>Прямой динамический расчет</a:t>
            </a:r>
            <a:endParaRPr lang="en-US" sz="1890" u="sng" dirty="0">
              <a:solidFill>
                <a:schemeClr val="tx2">
                  <a:lumMod val="75000"/>
                </a:schemeClr>
              </a:solidFill>
              <a:latin typeface="Tahoma" panose="020B0604030504040204" pitchFamily="34" charset="0"/>
            </a:endParaRP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3BF7393D-1C7A-7CE9-7E18-A3102D225E64}"/>
                  </a:ext>
                </a:extLst>
              </p:cNvPr>
              <p:cNvSpPr txBox="1"/>
              <p:nvPr/>
            </p:nvSpPr>
            <p:spPr>
              <a:xfrm>
                <a:off x="1108072" y="1368437"/>
                <a:ext cx="4076157" cy="1864357"/>
              </a:xfrm>
              <a:prstGeom prst="rect">
                <a:avLst/>
              </a:prstGeom>
              <a:noFill/>
            </p:spPr>
            <p:txBody>
              <a:bodyPr wrap="square">
                <a:spAutoFit/>
              </a:bodyPr>
              <a:lstStyle/>
              <a:p>
                <a:pPr algn="ctr"/>
                <a:r>
                  <a:rPr lang="ru-RU" sz="1890" dirty="0">
                    <a:solidFill>
                      <a:schemeClr val="tx2">
                        <a:lumMod val="75000"/>
                      </a:schemeClr>
                    </a:solidFill>
                    <a:latin typeface="Tahoma" panose="020B0604030504040204" pitchFamily="34" charset="0"/>
                  </a:rPr>
                  <a:t>Железобетон: </a:t>
                </a:r>
                <a:endParaRPr lang="ru-RU" sz="1890" i="1" dirty="0">
                  <a:solidFill>
                    <a:schemeClr val="tx2">
                      <a:lumMod val="75000"/>
                    </a:schemeClr>
                  </a:solidFill>
                  <a:latin typeface="Tahoma" panose="020B0604030504040204" pitchFamily="34" charset="0"/>
                </a:endParaRPr>
              </a:p>
              <a:p>
                <a:pPr algn="ctr"/>
                <a14:m>
                  <m:oMathPara xmlns:m="http://schemas.openxmlformats.org/officeDocument/2006/math">
                    <m:oMathParaPr>
                      <m:jc m:val="centerGroup"/>
                    </m:oMathParaPr>
                    <m:oMath xmlns:m="http://schemas.openxmlformats.org/officeDocument/2006/math">
                      <m:sSub>
                        <m:sSubPr>
                          <m:ctrlPr>
                            <a:rPr lang="en-US" sz="1890" i="1">
                              <a:solidFill>
                                <a:schemeClr val="tx2">
                                  <a:lumMod val="75000"/>
                                </a:schemeClr>
                              </a:solidFill>
                              <a:latin typeface="Cambria Math" panose="02040503050406030204" pitchFamily="18" charset="0"/>
                            </a:rPr>
                          </m:ctrlPr>
                        </m:sSubPr>
                        <m:e>
                          <m:r>
                            <a:rPr lang="en-US" sz="1890" i="1">
                              <a:solidFill>
                                <a:schemeClr val="tx2">
                                  <a:lumMod val="75000"/>
                                </a:schemeClr>
                              </a:solidFill>
                              <a:latin typeface="Cambria Math" panose="02040503050406030204" pitchFamily="18" charset="0"/>
                            </a:rPr>
                            <m:t>𝐸</m:t>
                          </m:r>
                        </m:e>
                        <m:sub>
                          <m:r>
                            <a:rPr lang="en-US" sz="1890" i="1">
                              <a:solidFill>
                                <a:schemeClr val="tx2">
                                  <a:lumMod val="75000"/>
                                </a:schemeClr>
                              </a:solidFill>
                              <a:latin typeface="Cambria Math" panose="02040503050406030204" pitchFamily="18" charset="0"/>
                            </a:rPr>
                            <m:t>𝑏</m:t>
                          </m:r>
                        </m:sub>
                      </m:sSub>
                      <m:r>
                        <a:rPr lang="en-US" sz="1890">
                          <a:solidFill>
                            <a:schemeClr val="tx2">
                              <a:lumMod val="75000"/>
                            </a:schemeClr>
                          </a:solidFill>
                          <a:latin typeface="Cambria Math" panose="02040503050406030204" pitchFamily="18" charset="0"/>
                        </a:rPr>
                        <m:t>=</m:t>
                      </m:r>
                      <m:f>
                        <m:fPr>
                          <m:ctrlPr>
                            <a:rPr lang="en-US" sz="1890" i="1">
                              <a:solidFill>
                                <a:schemeClr val="tx2">
                                  <a:lumMod val="75000"/>
                                </a:schemeClr>
                              </a:solidFill>
                              <a:latin typeface="Cambria Math" panose="02040503050406030204" pitchFamily="18" charset="0"/>
                            </a:rPr>
                          </m:ctrlPr>
                        </m:fPr>
                        <m:num>
                          <m:sSub>
                            <m:sSubPr>
                              <m:ctrlPr>
                                <a:rPr lang="en-US" sz="1890" i="1">
                                  <a:solidFill>
                                    <a:schemeClr val="tx2">
                                      <a:lumMod val="75000"/>
                                    </a:schemeClr>
                                  </a:solidFill>
                                  <a:latin typeface="Cambria Math" panose="02040503050406030204" pitchFamily="18" charset="0"/>
                                </a:rPr>
                              </m:ctrlPr>
                            </m:sSubPr>
                            <m:e>
                              <m:r>
                                <a:rPr lang="en-US" sz="1890" i="1">
                                  <a:solidFill>
                                    <a:schemeClr val="tx2">
                                      <a:lumMod val="75000"/>
                                    </a:schemeClr>
                                  </a:solidFill>
                                  <a:latin typeface="Cambria Math" panose="02040503050406030204" pitchFamily="18" charset="0"/>
                                </a:rPr>
                                <m:t>𝐸</m:t>
                              </m:r>
                            </m:e>
                            <m:sub>
                              <m:r>
                                <a:rPr lang="en-US" sz="1890" i="1">
                                  <a:solidFill>
                                    <a:schemeClr val="tx2">
                                      <a:lumMod val="75000"/>
                                    </a:schemeClr>
                                  </a:solidFill>
                                  <a:latin typeface="Cambria Math" panose="02040503050406030204" pitchFamily="18" charset="0"/>
                                </a:rPr>
                                <m:t>𝑏</m:t>
                              </m:r>
                              <m:r>
                                <a:rPr lang="ru-RU" sz="1890" i="1">
                                  <a:solidFill>
                                    <a:schemeClr val="tx2">
                                      <a:lumMod val="75000"/>
                                    </a:schemeClr>
                                  </a:solidFill>
                                  <a:latin typeface="Cambria Math" panose="02040503050406030204" pitchFamily="18" charset="0"/>
                                </a:rPr>
                                <m:t>,0</m:t>
                              </m:r>
                            </m:sub>
                          </m:sSub>
                        </m:num>
                        <m:den>
                          <m:r>
                            <a:rPr lang="en-US" sz="1890">
                              <a:solidFill>
                                <a:schemeClr val="tx2">
                                  <a:lumMod val="75000"/>
                                </a:schemeClr>
                              </a:solidFill>
                              <a:latin typeface="Cambria Math" panose="02040503050406030204" pitchFamily="18" charset="0"/>
                            </a:rPr>
                            <m:t>1+</m:t>
                          </m:r>
                          <m:sSub>
                            <m:sSubPr>
                              <m:ctrlPr>
                                <a:rPr lang="en-US" sz="1890" i="1">
                                  <a:solidFill>
                                    <a:schemeClr val="tx2">
                                      <a:lumMod val="75000"/>
                                    </a:schemeClr>
                                  </a:solidFill>
                                  <a:latin typeface="Cambria Math" panose="02040503050406030204" pitchFamily="18" charset="0"/>
                                </a:rPr>
                              </m:ctrlPr>
                            </m:sSubPr>
                            <m:e>
                              <m:r>
                                <a:rPr lang="en-US" sz="1890" i="1">
                                  <a:solidFill>
                                    <a:schemeClr val="tx2">
                                      <a:lumMod val="75000"/>
                                    </a:schemeClr>
                                  </a:solidFill>
                                  <a:latin typeface="Cambria Math" panose="02040503050406030204" pitchFamily="18" charset="0"/>
                                </a:rPr>
                                <m:t>𝜑</m:t>
                              </m:r>
                            </m:e>
                            <m:sub>
                              <m:r>
                                <a:rPr lang="en-US" sz="1890" i="1">
                                  <a:solidFill>
                                    <a:schemeClr val="tx2">
                                      <a:lumMod val="75000"/>
                                    </a:schemeClr>
                                  </a:solidFill>
                                  <a:latin typeface="Cambria Math" panose="02040503050406030204" pitchFamily="18" charset="0"/>
                                </a:rPr>
                                <m:t>𝑏</m:t>
                              </m:r>
                              <m:r>
                                <a:rPr lang="en-US" sz="1890">
                                  <a:solidFill>
                                    <a:schemeClr val="tx2">
                                      <a:lumMod val="75000"/>
                                    </a:schemeClr>
                                  </a:solidFill>
                                  <a:latin typeface="Cambria Math" panose="02040503050406030204" pitchFamily="18" charset="0"/>
                                </a:rPr>
                                <m:t>,</m:t>
                              </m:r>
                              <m:r>
                                <a:rPr lang="en-US" sz="1890" i="1">
                                  <a:solidFill>
                                    <a:schemeClr val="tx2">
                                      <a:lumMod val="75000"/>
                                    </a:schemeClr>
                                  </a:solidFill>
                                  <a:latin typeface="Cambria Math" panose="02040503050406030204" pitchFamily="18" charset="0"/>
                                </a:rPr>
                                <m:t>𝑐𝑟</m:t>
                              </m:r>
                            </m:sub>
                          </m:sSub>
                        </m:den>
                      </m:f>
                      <m:r>
                        <a:rPr lang="ru-RU" sz="1890" i="1">
                          <a:solidFill>
                            <a:schemeClr val="tx2">
                              <a:lumMod val="75000"/>
                            </a:schemeClr>
                          </a:solidFill>
                          <a:latin typeface="Cambria Math" panose="02040503050406030204" pitchFamily="18" charset="0"/>
                        </a:rPr>
                        <m:t>=5455 МПа</m:t>
                      </m:r>
                    </m:oMath>
                  </m:oMathPara>
                </a14:m>
                <a:endParaRPr lang="ru-RU" sz="1890" dirty="0">
                  <a:solidFill>
                    <a:schemeClr val="tx2">
                      <a:lumMod val="75000"/>
                    </a:schemeClr>
                  </a:solidFill>
                  <a:latin typeface="Tahoma" panose="020B0604030504040204" pitchFamily="34" charset="0"/>
                </a:endParaRPr>
              </a:p>
              <a:p>
                <a:pPr algn="ctr"/>
                <a:r>
                  <a:rPr lang="ru-RU" sz="1890" dirty="0">
                    <a:solidFill>
                      <a:schemeClr val="tx2">
                        <a:lumMod val="75000"/>
                      </a:schemeClr>
                    </a:solidFill>
                    <a:latin typeface="Tahoma" panose="020B0604030504040204" pitchFamily="34" charset="0"/>
                  </a:rPr>
                  <a:t>Кирпичная кладка: </a:t>
                </a:r>
              </a:p>
              <a:p>
                <a:pPr algn="ctr"/>
                <a14:m>
                  <m:oMathPara xmlns:m="http://schemas.openxmlformats.org/officeDocument/2006/math">
                    <m:oMathParaPr>
                      <m:jc m:val="centerGroup"/>
                    </m:oMathParaPr>
                    <m:oMath xmlns:m="http://schemas.openxmlformats.org/officeDocument/2006/math">
                      <m:sSub>
                        <m:sSubPr>
                          <m:ctrlPr>
                            <a:rPr lang="en-US" sz="1890" i="1">
                              <a:solidFill>
                                <a:schemeClr val="tx2">
                                  <a:lumMod val="75000"/>
                                </a:schemeClr>
                              </a:solidFill>
                              <a:latin typeface="Cambria Math" panose="02040503050406030204" pitchFamily="18" charset="0"/>
                            </a:rPr>
                          </m:ctrlPr>
                        </m:sSubPr>
                        <m:e>
                          <m:r>
                            <a:rPr lang="en-US" sz="1890" i="1">
                              <a:solidFill>
                                <a:schemeClr val="tx2">
                                  <a:lumMod val="75000"/>
                                </a:schemeClr>
                              </a:solidFill>
                              <a:latin typeface="Cambria Math" panose="02040503050406030204" pitchFamily="18" charset="0"/>
                            </a:rPr>
                            <m:t>𝐸</m:t>
                          </m:r>
                        </m:e>
                        <m:sub>
                          <m:r>
                            <a:rPr lang="en-US" sz="1890" i="1">
                              <a:solidFill>
                                <a:schemeClr val="tx2">
                                  <a:lumMod val="75000"/>
                                </a:schemeClr>
                              </a:solidFill>
                              <a:latin typeface="Cambria Math" panose="02040503050406030204" pitchFamily="18" charset="0"/>
                            </a:rPr>
                            <m:t>𝑘</m:t>
                          </m:r>
                        </m:sub>
                      </m:sSub>
                      <m:r>
                        <a:rPr lang="en-US" sz="1890">
                          <a:solidFill>
                            <a:schemeClr val="tx2">
                              <a:lumMod val="75000"/>
                            </a:schemeClr>
                          </a:solidFill>
                          <a:latin typeface="Cambria Math" panose="02040503050406030204" pitchFamily="18" charset="0"/>
                        </a:rPr>
                        <m:t>=</m:t>
                      </m:r>
                      <m:f>
                        <m:fPr>
                          <m:ctrlPr>
                            <a:rPr lang="en-US" sz="1890" i="1">
                              <a:solidFill>
                                <a:schemeClr val="tx2">
                                  <a:lumMod val="75000"/>
                                </a:schemeClr>
                              </a:solidFill>
                              <a:latin typeface="Cambria Math" panose="02040503050406030204" pitchFamily="18" charset="0"/>
                            </a:rPr>
                          </m:ctrlPr>
                        </m:fPr>
                        <m:num>
                          <m:sSub>
                            <m:sSubPr>
                              <m:ctrlPr>
                                <a:rPr lang="en-US" sz="1890" i="1">
                                  <a:solidFill>
                                    <a:schemeClr val="tx2">
                                      <a:lumMod val="75000"/>
                                    </a:schemeClr>
                                  </a:solidFill>
                                  <a:latin typeface="Cambria Math" panose="02040503050406030204" pitchFamily="18" charset="0"/>
                                </a:rPr>
                              </m:ctrlPr>
                            </m:sSubPr>
                            <m:e>
                              <m:r>
                                <a:rPr lang="en-US" sz="1890" i="1">
                                  <a:solidFill>
                                    <a:schemeClr val="tx2">
                                      <a:lumMod val="75000"/>
                                    </a:schemeClr>
                                  </a:solidFill>
                                  <a:latin typeface="Cambria Math" panose="02040503050406030204" pitchFamily="18" charset="0"/>
                                </a:rPr>
                                <m:t>𝐸</m:t>
                              </m:r>
                            </m:e>
                            <m:sub>
                              <m:r>
                                <a:rPr lang="en-US" sz="1890" i="1">
                                  <a:solidFill>
                                    <a:schemeClr val="tx2">
                                      <a:lumMod val="75000"/>
                                    </a:schemeClr>
                                  </a:solidFill>
                                  <a:latin typeface="Cambria Math" panose="02040503050406030204" pitchFamily="18" charset="0"/>
                                </a:rPr>
                                <m:t>𝑘</m:t>
                              </m:r>
                              <m:r>
                                <a:rPr lang="en-US" sz="1890" i="1">
                                  <a:solidFill>
                                    <a:schemeClr val="tx2">
                                      <a:lumMod val="75000"/>
                                    </a:schemeClr>
                                  </a:solidFill>
                                  <a:latin typeface="Cambria Math" panose="02040503050406030204" pitchFamily="18" charset="0"/>
                                </a:rPr>
                                <m:t>,0</m:t>
                              </m:r>
                            </m:sub>
                          </m:sSub>
                        </m:num>
                        <m:den>
                          <m:r>
                            <a:rPr lang="en-US" sz="1890" i="1">
                              <a:solidFill>
                                <a:schemeClr val="tx2">
                                  <a:lumMod val="75000"/>
                                </a:schemeClr>
                              </a:solidFill>
                              <a:latin typeface="Cambria Math" panose="02040503050406030204" pitchFamily="18" charset="0"/>
                            </a:rPr>
                            <m:t>𝜈</m:t>
                          </m:r>
                        </m:den>
                      </m:f>
                      <m:r>
                        <a:rPr lang="en-US" sz="1890" i="1">
                          <a:solidFill>
                            <a:schemeClr val="tx2">
                              <a:lumMod val="75000"/>
                            </a:schemeClr>
                          </a:solidFill>
                          <a:latin typeface="Cambria Math" panose="02040503050406030204" pitchFamily="18" charset="0"/>
                          <a:ea typeface="Cambria Math" panose="02040503050406030204" pitchFamily="18" charset="0"/>
                        </a:rPr>
                        <m:t>→</m:t>
                      </m:r>
                      <m:m>
                        <m:mPr>
                          <m:mcs>
                            <m:mc>
                              <m:mcPr>
                                <m:count m:val="1"/>
                                <m:mcJc m:val="center"/>
                              </m:mcPr>
                            </m:mc>
                          </m:mcs>
                          <m:ctrlPr>
                            <a:rPr lang="en-US" sz="1890" i="1">
                              <a:solidFill>
                                <a:schemeClr val="tx2">
                                  <a:lumMod val="75000"/>
                                </a:schemeClr>
                              </a:solidFill>
                              <a:latin typeface="Cambria Math" panose="02040503050406030204" pitchFamily="18" charset="0"/>
                              <a:ea typeface="Cambria Math" panose="02040503050406030204" pitchFamily="18" charset="0"/>
                            </a:rPr>
                          </m:ctrlPr>
                        </m:mPr>
                        <m:mr>
                          <m:e>
                            <m:r>
                              <a:rPr lang="ru-RU" sz="1890" i="1">
                                <a:solidFill>
                                  <a:schemeClr val="tx2">
                                    <a:lumMod val="75000"/>
                                  </a:schemeClr>
                                </a:solidFill>
                                <a:latin typeface="Cambria Math" panose="02040503050406030204" pitchFamily="18" charset="0"/>
                              </a:rPr>
                              <m:t>1000 МПа (стены)</m:t>
                            </m:r>
                          </m:e>
                        </m:mr>
                        <m:mr>
                          <m:e>
                            <m:r>
                              <a:rPr lang="ru-RU" sz="1890" i="1">
                                <a:solidFill>
                                  <a:schemeClr val="tx2">
                                    <a:lumMod val="75000"/>
                                  </a:schemeClr>
                                </a:solidFill>
                                <a:latin typeface="Cambria Math" panose="02040503050406030204" pitchFamily="18" charset="0"/>
                                <a:ea typeface="Cambria Math" panose="02040503050406030204" pitchFamily="18" charset="0"/>
                              </a:rPr>
                              <m:t>1125 МПа (колонны)</m:t>
                            </m:r>
                          </m:e>
                        </m:mr>
                      </m:m>
                    </m:oMath>
                  </m:oMathPara>
                </a14:m>
                <a:endParaRPr lang="en-US" sz="1890" dirty="0">
                  <a:solidFill>
                    <a:schemeClr val="tx2">
                      <a:lumMod val="75000"/>
                    </a:schemeClr>
                  </a:solidFill>
                  <a:latin typeface="Tahoma" panose="020B0604030504040204" pitchFamily="34" charset="0"/>
                </a:endParaRPr>
              </a:p>
            </p:txBody>
          </p:sp>
        </mc:Choice>
        <mc:Fallback>
          <p:sp>
            <p:nvSpPr>
              <p:cNvPr id="18" name="TextBox 17">
                <a:extLst>
                  <a:ext uri="{FF2B5EF4-FFF2-40B4-BE49-F238E27FC236}">
                    <a16:creationId xmlns:a16="http://schemas.microsoft.com/office/drawing/2014/main" id="{3BF7393D-1C7A-7CE9-7E18-A3102D225E64}"/>
                  </a:ext>
                </a:extLst>
              </p:cNvPr>
              <p:cNvSpPr txBox="1">
                <a:spLocks noRot="1" noChangeAspect="1" noMove="1" noResize="1" noEditPoints="1" noAdjustHandles="1" noChangeArrowheads="1" noChangeShapeType="1" noTextEdit="1"/>
              </p:cNvSpPr>
              <p:nvPr/>
            </p:nvSpPr>
            <p:spPr>
              <a:xfrm>
                <a:off x="1108072" y="1368437"/>
                <a:ext cx="4076157" cy="1864357"/>
              </a:xfrm>
              <a:prstGeom prst="rect">
                <a:avLst/>
              </a:prstGeom>
              <a:blipFill>
                <a:blip r:embed="rId5"/>
                <a:stretch>
                  <a:fillRect t="-1307"/>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45068AEC-FEAF-2E24-95FF-5E704636E8FF}"/>
                  </a:ext>
                </a:extLst>
              </p:cNvPr>
              <p:cNvSpPr txBox="1"/>
              <p:nvPr/>
            </p:nvSpPr>
            <p:spPr>
              <a:xfrm>
                <a:off x="6160065" y="1324361"/>
                <a:ext cx="4631897" cy="1862946"/>
              </a:xfrm>
              <a:prstGeom prst="rect">
                <a:avLst/>
              </a:prstGeom>
              <a:noFill/>
            </p:spPr>
            <p:txBody>
              <a:bodyPr wrap="square">
                <a:spAutoFit/>
              </a:bodyPr>
              <a:lstStyle/>
              <a:p>
                <a:pPr algn="ctr"/>
                <a:r>
                  <a:rPr lang="ru-RU" sz="1890" dirty="0">
                    <a:solidFill>
                      <a:schemeClr val="tx2">
                        <a:lumMod val="75000"/>
                      </a:schemeClr>
                    </a:solidFill>
                    <a:latin typeface="Tahoma" panose="020B0604030504040204" pitchFamily="34" charset="0"/>
                  </a:rPr>
                  <a:t>Железобетон:</a:t>
                </a:r>
              </a:p>
              <a:p>
                <a:pPr algn="ctr"/>
                <a14:m>
                  <m:oMathPara xmlns:m="http://schemas.openxmlformats.org/officeDocument/2006/math">
                    <m:oMathParaPr>
                      <m:jc m:val="centerGroup"/>
                    </m:oMathParaPr>
                    <m:oMath xmlns:m="http://schemas.openxmlformats.org/officeDocument/2006/math">
                      <m:sSub>
                        <m:sSubPr>
                          <m:ctrlPr>
                            <a:rPr lang="en-US" sz="1890" i="1">
                              <a:solidFill>
                                <a:schemeClr val="tx2">
                                  <a:lumMod val="75000"/>
                                </a:schemeClr>
                              </a:solidFill>
                              <a:latin typeface="Cambria Math" panose="02040503050406030204" pitchFamily="18" charset="0"/>
                            </a:rPr>
                          </m:ctrlPr>
                        </m:sSubPr>
                        <m:e>
                          <m:r>
                            <a:rPr lang="en-US" sz="1890" i="1">
                              <a:solidFill>
                                <a:schemeClr val="tx2">
                                  <a:lumMod val="75000"/>
                                </a:schemeClr>
                              </a:solidFill>
                              <a:latin typeface="Cambria Math" panose="02040503050406030204" pitchFamily="18" charset="0"/>
                            </a:rPr>
                            <m:t>𝐸</m:t>
                          </m:r>
                        </m:e>
                        <m:sub>
                          <m:r>
                            <a:rPr lang="en-US" sz="1890" i="1">
                              <a:solidFill>
                                <a:schemeClr val="tx2">
                                  <a:lumMod val="75000"/>
                                </a:schemeClr>
                              </a:solidFill>
                              <a:latin typeface="Cambria Math" panose="02040503050406030204" pitchFamily="18" charset="0"/>
                            </a:rPr>
                            <m:t>𝑏</m:t>
                          </m:r>
                        </m:sub>
                      </m:sSub>
                      <m:r>
                        <a:rPr lang="ru-RU" sz="1890" i="1">
                          <a:solidFill>
                            <a:schemeClr val="tx2">
                              <a:lumMod val="75000"/>
                            </a:schemeClr>
                          </a:solidFill>
                          <a:latin typeface="Cambria Math" panose="02040503050406030204" pitchFamily="18" charset="0"/>
                        </a:rPr>
                        <m:t>=</m:t>
                      </m:r>
                      <m:sSub>
                        <m:sSubPr>
                          <m:ctrlPr>
                            <a:rPr lang="en-US" sz="1890" i="1">
                              <a:solidFill>
                                <a:schemeClr val="tx2">
                                  <a:lumMod val="75000"/>
                                </a:schemeClr>
                              </a:solidFill>
                              <a:latin typeface="Cambria Math" panose="02040503050406030204" pitchFamily="18" charset="0"/>
                            </a:rPr>
                          </m:ctrlPr>
                        </m:sSubPr>
                        <m:e>
                          <m:r>
                            <a:rPr lang="en-US" sz="1890" i="1">
                              <a:solidFill>
                                <a:schemeClr val="tx2">
                                  <a:lumMod val="75000"/>
                                </a:schemeClr>
                              </a:solidFill>
                              <a:latin typeface="Cambria Math" panose="02040503050406030204" pitchFamily="18" charset="0"/>
                            </a:rPr>
                            <m:t>𝐸</m:t>
                          </m:r>
                        </m:e>
                        <m:sub>
                          <m:r>
                            <a:rPr lang="en-US" sz="1890" i="1">
                              <a:solidFill>
                                <a:schemeClr val="tx2">
                                  <a:lumMod val="75000"/>
                                </a:schemeClr>
                              </a:solidFill>
                              <a:latin typeface="Cambria Math" panose="02040503050406030204" pitchFamily="18" charset="0"/>
                            </a:rPr>
                            <m:t>𝑏</m:t>
                          </m:r>
                          <m:r>
                            <a:rPr lang="ru-RU" sz="1890" i="1">
                              <a:solidFill>
                                <a:schemeClr val="tx2">
                                  <a:lumMod val="75000"/>
                                </a:schemeClr>
                              </a:solidFill>
                              <a:latin typeface="Cambria Math" panose="02040503050406030204" pitchFamily="18" charset="0"/>
                            </a:rPr>
                            <m:t>,0</m:t>
                          </m:r>
                        </m:sub>
                      </m:sSub>
                      <m:r>
                        <a:rPr lang="en-US" sz="1890" i="1">
                          <a:solidFill>
                            <a:schemeClr val="tx2">
                              <a:lumMod val="75000"/>
                            </a:schemeClr>
                          </a:solidFill>
                          <a:latin typeface="Cambria Math" panose="02040503050406030204" pitchFamily="18" charset="0"/>
                        </a:rPr>
                        <m:t>=</m:t>
                      </m:r>
                      <m:r>
                        <a:rPr lang="ru-RU" sz="1890" i="1">
                          <a:solidFill>
                            <a:schemeClr val="tx2">
                              <a:lumMod val="75000"/>
                            </a:schemeClr>
                          </a:solidFill>
                          <a:latin typeface="Cambria Math" panose="02040503050406030204" pitchFamily="18" charset="0"/>
                        </a:rPr>
                        <m:t>24000 МПа</m:t>
                      </m:r>
                    </m:oMath>
                  </m:oMathPara>
                </a14:m>
                <a:endParaRPr lang="ru-RU" sz="1890" dirty="0">
                  <a:solidFill>
                    <a:schemeClr val="tx2">
                      <a:lumMod val="75000"/>
                    </a:schemeClr>
                  </a:solidFill>
                  <a:latin typeface="Tahoma" panose="020B0604030504040204" pitchFamily="34" charset="0"/>
                </a:endParaRPr>
              </a:p>
              <a:p>
                <a:pPr algn="ctr"/>
                <a:r>
                  <a:rPr lang="ru-RU" sz="1890" dirty="0">
                    <a:solidFill>
                      <a:schemeClr val="tx2">
                        <a:lumMod val="75000"/>
                      </a:schemeClr>
                    </a:solidFill>
                    <a:latin typeface="Tahoma" panose="020B0604030504040204" pitchFamily="34" charset="0"/>
                  </a:rPr>
                  <a:t>Кирпичная кладка:</a:t>
                </a:r>
              </a:p>
              <a:p>
                <a:pPr algn="ctr"/>
                <a14:m>
                  <m:oMathPara xmlns:m="http://schemas.openxmlformats.org/officeDocument/2006/math">
                    <m:oMathParaPr>
                      <m:jc m:val="centerGroup"/>
                    </m:oMathParaPr>
                    <m:oMath xmlns:m="http://schemas.openxmlformats.org/officeDocument/2006/math">
                      <m:sSub>
                        <m:sSubPr>
                          <m:ctrlPr>
                            <a:rPr lang="en-US" sz="1890" i="1">
                              <a:solidFill>
                                <a:schemeClr val="tx2">
                                  <a:lumMod val="75000"/>
                                </a:schemeClr>
                              </a:solidFill>
                              <a:latin typeface="Cambria Math" panose="02040503050406030204" pitchFamily="18" charset="0"/>
                            </a:rPr>
                          </m:ctrlPr>
                        </m:sSubPr>
                        <m:e>
                          <m:r>
                            <a:rPr lang="en-US" sz="1890" i="1">
                              <a:solidFill>
                                <a:schemeClr val="tx2">
                                  <a:lumMod val="75000"/>
                                </a:schemeClr>
                              </a:solidFill>
                              <a:latin typeface="Cambria Math" panose="02040503050406030204" pitchFamily="18" charset="0"/>
                            </a:rPr>
                            <m:t>𝐸</m:t>
                          </m:r>
                        </m:e>
                        <m:sub>
                          <m:r>
                            <a:rPr lang="en-US" sz="1890" i="1">
                              <a:solidFill>
                                <a:schemeClr val="tx2">
                                  <a:lumMod val="75000"/>
                                </a:schemeClr>
                              </a:solidFill>
                              <a:latin typeface="Cambria Math" panose="02040503050406030204" pitchFamily="18" charset="0"/>
                            </a:rPr>
                            <m:t>𝑘</m:t>
                          </m:r>
                        </m:sub>
                      </m:sSub>
                      <m:r>
                        <a:rPr lang="en-US" sz="1890">
                          <a:solidFill>
                            <a:schemeClr val="tx2">
                              <a:lumMod val="75000"/>
                            </a:schemeClr>
                          </a:solidFill>
                          <a:latin typeface="Cambria Math" panose="02040503050406030204" pitchFamily="18" charset="0"/>
                        </a:rPr>
                        <m:t>=</m:t>
                      </m:r>
                      <m:r>
                        <a:rPr lang="ru-RU" sz="1890" i="1">
                          <a:solidFill>
                            <a:schemeClr val="tx2">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t>0,8∙</m:t>
                      </m:r>
                      <m:sSub>
                        <m:sSubPr>
                          <m:ctrlPr>
                            <a:rPr lang="en-US" sz="1890" i="1">
                              <a:solidFill>
                                <a:schemeClr val="tx2">
                                  <a:lumMod val="75000"/>
                                </a:schemeClr>
                              </a:solidFill>
                              <a:latin typeface="Cambria Math" panose="02040503050406030204" pitchFamily="18" charset="0"/>
                            </a:rPr>
                          </m:ctrlPr>
                        </m:sSubPr>
                        <m:e>
                          <m:r>
                            <a:rPr lang="ru-RU" sz="1890" i="1">
                              <a:solidFill>
                                <a:schemeClr val="tx2">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t>𝐸</m:t>
                          </m:r>
                        </m:e>
                        <m:sub>
                          <m:r>
                            <a:rPr lang="en-US" sz="1890" i="1">
                              <a:solidFill>
                                <a:schemeClr val="tx2">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t>𝑘</m:t>
                          </m:r>
                          <m:r>
                            <a:rPr lang="en-US" sz="1890" i="1">
                              <a:solidFill>
                                <a:schemeClr val="tx2">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t>,0</m:t>
                          </m:r>
                        </m:sub>
                      </m:sSub>
                      <m:r>
                        <a:rPr lang="ru-RU" sz="1890" i="1">
                          <a:solidFill>
                            <a:schemeClr val="tx2">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t>=0,8∙</m:t>
                      </m:r>
                      <m:r>
                        <a:rPr lang="ru-RU" sz="1890" i="1">
                          <a:solidFill>
                            <a:schemeClr val="tx2">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t>𝛼</m:t>
                      </m:r>
                      <m:r>
                        <a:rPr lang="ru-RU" sz="1890" i="1">
                          <a:solidFill>
                            <a:schemeClr val="tx2">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t>∙</m:t>
                      </m:r>
                      <m:r>
                        <a:rPr lang="ru-RU" sz="1890" i="1">
                          <a:solidFill>
                            <a:schemeClr val="tx2">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t>𝑘</m:t>
                      </m:r>
                      <m:r>
                        <a:rPr lang="ru-RU" sz="1890" i="1">
                          <a:solidFill>
                            <a:schemeClr val="tx2">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t>∙</m:t>
                      </m:r>
                      <m:r>
                        <a:rPr lang="ru-RU" sz="1890" i="1">
                          <a:solidFill>
                            <a:schemeClr val="tx2">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t>𝑅</m:t>
                      </m:r>
                      <m:r>
                        <a:rPr lang="ru-RU" sz="1890" i="1">
                          <a:solidFill>
                            <a:schemeClr val="tx2">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t>=1560 МПа</m:t>
                      </m:r>
                    </m:oMath>
                  </m:oMathPara>
                </a14:m>
                <a:endParaRPr lang="ru-RU" sz="1890" dirty="0">
                  <a:solidFill>
                    <a:schemeClr val="tx2">
                      <a:lumMod val="75000"/>
                    </a:schemeClr>
                  </a:solidFill>
                  <a:latin typeface="Tahoma" panose="020B0604030504040204" pitchFamily="34" charset="0"/>
                </a:endParaRPr>
              </a:p>
              <a:p>
                <a:pPr algn="ctr"/>
                <a:r>
                  <a:rPr lang="ru-RU" sz="1890" dirty="0">
                    <a:solidFill>
                      <a:schemeClr val="tx2">
                        <a:lumMod val="75000"/>
                      </a:schemeClr>
                    </a:solidFill>
                    <a:latin typeface="Tahoma" panose="020B0604030504040204" pitchFamily="34" charset="0"/>
                  </a:rPr>
                  <a:t>Модальный анализ:</a:t>
                </a:r>
              </a:p>
              <a:p>
                <a:pPr algn="ctr"/>
                <a14:m>
                  <m:oMath xmlns:m="http://schemas.openxmlformats.org/officeDocument/2006/math">
                    <m:sSub>
                      <m:sSubPr>
                        <m:ctrlPr>
                          <a:rPr lang="en-US" sz="1890" b="1" i="1">
                            <a:solidFill>
                              <a:schemeClr val="tx2">
                                <a:lumMod val="75000"/>
                              </a:schemeClr>
                            </a:solidFill>
                            <a:latin typeface="Cambria Math" panose="02040503050406030204" pitchFamily="18" charset="0"/>
                          </a:rPr>
                        </m:ctrlPr>
                      </m:sSubPr>
                      <m:e>
                        <m:r>
                          <a:rPr lang="ru-RU" sz="1890" b="1" i="1">
                            <a:solidFill>
                              <a:schemeClr val="tx2">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t>𝝎</m:t>
                        </m:r>
                      </m:e>
                      <m:sub>
                        <m:r>
                          <a:rPr lang="ru-RU" sz="1890" b="1" i="1">
                            <a:solidFill>
                              <a:schemeClr val="tx2">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t>𝟏</m:t>
                        </m:r>
                      </m:sub>
                    </m:sSub>
                    <m:r>
                      <a:rPr lang="ru-RU" sz="1890" b="1" i="1">
                        <a:solidFill>
                          <a:schemeClr val="tx2">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t>=</m:t>
                    </m:r>
                    <m:r>
                      <a:rPr lang="ru-RU" sz="1890" b="1" i="1">
                        <a:solidFill>
                          <a:schemeClr val="tx2">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t>𝟒</m:t>
                    </m:r>
                    <m:r>
                      <a:rPr lang="ru-RU" sz="1890" b="1" i="1">
                        <a:solidFill>
                          <a:schemeClr val="tx2">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t>,</m:t>
                    </m:r>
                    <m:r>
                      <a:rPr lang="ru-RU" sz="1890" b="1" i="1">
                        <a:solidFill>
                          <a:schemeClr val="tx2">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t>𝟖𝟖𝟒</m:t>
                    </m:r>
                    <m:r>
                      <a:rPr lang="ru-RU" sz="1890" b="1" i="1">
                        <a:solidFill>
                          <a:schemeClr val="tx2">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t> Гц</m:t>
                    </m:r>
                  </m:oMath>
                </a14:m>
                <a:r>
                  <a:rPr lang="ru-RU" sz="1890" b="1" dirty="0">
                    <a:solidFill>
                      <a:schemeClr val="tx2">
                        <a:lumMod val="75000"/>
                      </a:schemeClr>
                    </a:solidFill>
                    <a:latin typeface="Tahoma" panose="020B0604030504040204" pitchFamily="34" charset="0"/>
                  </a:rPr>
                  <a:t>, </a:t>
                </a:r>
                <a14:m>
                  <m:oMath xmlns:m="http://schemas.openxmlformats.org/officeDocument/2006/math">
                    <m:sSub>
                      <m:sSubPr>
                        <m:ctrlPr>
                          <a:rPr lang="en-US" sz="1890" b="1" i="1">
                            <a:solidFill>
                              <a:schemeClr val="tx2">
                                <a:lumMod val="75000"/>
                              </a:schemeClr>
                            </a:solidFill>
                            <a:latin typeface="Cambria Math" panose="02040503050406030204" pitchFamily="18" charset="0"/>
                          </a:rPr>
                        </m:ctrlPr>
                      </m:sSubPr>
                      <m:e>
                        <m:r>
                          <a:rPr lang="ru-RU" sz="1890" b="1" i="1">
                            <a:solidFill>
                              <a:schemeClr val="tx2">
                                <a:lumMod val="75000"/>
                              </a:schemeClr>
                            </a:solidFill>
                            <a:latin typeface="Cambria Math" panose="02040503050406030204" pitchFamily="18" charset="0"/>
                          </a:rPr>
                          <m:t>𝝎</m:t>
                        </m:r>
                      </m:e>
                      <m:sub>
                        <m:r>
                          <a:rPr lang="ru-RU" sz="1890" b="1" i="1">
                            <a:solidFill>
                              <a:schemeClr val="tx2">
                                <a:lumMod val="75000"/>
                              </a:schemeClr>
                            </a:solidFill>
                            <a:latin typeface="Cambria Math" panose="02040503050406030204" pitchFamily="18" charset="0"/>
                          </a:rPr>
                          <m:t>𝟐</m:t>
                        </m:r>
                      </m:sub>
                    </m:sSub>
                    <m:r>
                      <a:rPr lang="ru-RU" sz="1890" b="1" i="1">
                        <a:solidFill>
                          <a:schemeClr val="tx2">
                            <a:lumMod val="75000"/>
                          </a:schemeClr>
                        </a:solidFill>
                        <a:latin typeface="Cambria Math" panose="02040503050406030204" pitchFamily="18" charset="0"/>
                      </a:rPr>
                      <m:t>=</m:t>
                    </m:r>
                    <m:r>
                      <a:rPr lang="ru-RU" sz="1890" b="1" i="1">
                        <a:solidFill>
                          <a:schemeClr val="tx2">
                            <a:lumMod val="75000"/>
                          </a:schemeClr>
                        </a:solidFill>
                        <a:latin typeface="Cambria Math" panose="02040503050406030204" pitchFamily="18" charset="0"/>
                      </a:rPr>
                      <m:t>𝟕</m:t>
                    </m:r>
                    <m:r>
                      <a:rPr lang="ru-RU" sz="1890" b="1" i="1">
                        <a:solidFill>
                          <a:schemeClr val="tx2">
                            <a:lumMod val="75000"/>
                          </a:schemeClr>
                        </a:solidFill>
                        <a:latin typeface="Cambria Math" panose="02040503050406030204" pitchFamily="18" charset="0"/>
                      </a:rPr>
                      <m:t>,</m:t>
                    </m:r>
                    <m:r>
                      <a:rPr lang="ru-RU" sz="1890" b="1" i="1">
                        <a:solidFill>
                          <a:schemeClr val="tx2">
                            <a:lumMod val="75000"/>
                          </a:schemeClr>
                        </a:solidFill>
                        <a:latin typeface="Cambria Math" panose="02040503050406030204" pitchFamily="18" charset="0"/>
                      </a:rPr>
                      <m:t>𝟔𝟑𝟗</m:t>
                    </m:r>
                    <m:r>
                      <a:rPr lang="ru-RU" sz="1890" b="1" i="1">
                        <a:solidFill>
                          <a:schemeClr val="tx2">
                            <a:lumMod val="75000"/>
                          </a:schemeClr>
                        </a:solidFill>
                        <a:latin typeface="Cambria Math" panose="02040503050406030204" pitchFamily="18" charset="0"/>
                      </a:rPr>
                      <m:t> Гц</m:t>
                    </m:r>
                  </m:oMath>
                </a14:m>
                <a:endParaRPr lang="en-US" sz="1890" b="1" dirty="0">
                  <a:solidFill>
                    <a:schemeClr val="tx2">
                      <a:lumMod val="75000"/>
                    </a:schemeClr>
                  </a:solidFill>
                  <a:latin typeface="Tahoma" panose="020B0604030504040204" pitchFamily="34" charset="0"/>
                </a:endParaRPr>
              </a:p>
            </p:txBody>
          </p:sp>
        </mc:Choice>
        <mc:Fallback>
          <p:sp>
            <p:nvSpPr>
              <p:cNvPr id="21" name="TextBox 20">
                <a:extLst>
                  <a:ext uri="{FF2B5EF4-FFF2-40B4-BE49-F238E27FC236}">
                    <a16:creationId xmlns:a16="http://schemas.microsoft.com/office/drawing/2014/main" id="{45068AEC-FEAF-2E24-95FF-5E704636E8FF}"/>
                  </a:ext>
                </a:extLst>
              </p:cNvPr>
              <p:cNvSpPr txBox="1">
                <a:spLocks noRot="1" noChangeAspect="1" noMove="1" noResize="1" noEditPoints="1" noAdjustHandles="1" noChangeArrowheads="1" noChangeShapeType="1" noTextEdit="1"/>
              </p:cNvSpPr>
              <p:nvPr/>
            </p:nvSpPr>
            <p:spPr>
              <a:xfrm>
                <a:off x="6160065" y="1324361"/>
                <a:ext cx="4631897" cy="1862946"/>
              </a:xfrm>
              <a:prstGeom prst="rect">
                <a:avLst/>
              </a:prstGeom>
              <a:blipFill>
                <a:blip r:embed="rId6"/>
                <a:stretch>
                  <a:fillRect t="-1307" b="-4248"/>
                </a:stretch>
              </a:blipFill>
            </p:spPr>
            <p:txBody>
              <a:bodyPr/>
              <a:lstStyle/>
              <a:p>
                <a:r>
                  <a:rPr lang="ru-RU">
                    <a:noFill/>
                  </a:rPr>
                  <a:t> </a:t>
                </a:r>
              </a:p>
            </p:txBody>
          </p:sp>
        </mc:Fallback>
      </mc:AlternateContent>
      <p:sp>
        <p:nvSpPr>
          <p:cNvPr id="2" name="TextBox 1">
            <a:extLst>
              <a:ext uri="{FF2B5EF4-FFF2-40B4-BE49-F238E27FC236}">
                <a16:creationId xmlns:a16="http://schemas.microsoft.com/office/drawing/2014/main" id="{02199CD1-2631-1743-B459-1F79638BA801}"/>
              </a:ext>
            </a:extLst>
          </p:cNvPr>
          <p:cNvSpPr txBox="1"/>
          <p:nvPr/>
        </p:nvSpPr>
        <p:spPr>
          <a:xfrm>
            <a:off x="390144" y="6044531"/>
            <a:ext cx="5250914" cy="354071"/>
          </a:xfrm>
          <a:prstGeom prst="rect">
            <a:avLst/>
          </a:prstGeom>
          <a:noFill/>
        </p:spPr>
        <p:txBody>
          <a:bodyPr wrap="square">
            <a:spAutoFit/>
          </a:bodyPr>
          <a:lstStyle/>
          <a:p>
            <a:pPr algn="ctr"/>
            <a:r>
              <a:rPr lang="ru-RU" sz="1701" dirty="0">
                <a:solidFill>
                  <a:schemeClr val="tx2">
                    <a:lumMod val="75000"/>
                  </a:schemeClr>
                </a:solidFill>
                <a:latin typeface="Tahoma" panose="020B0604030504040204" pitchFamily="34" charset="0"/>
                <a:cs typeface="Proxy 9" panose="00000400000000000000" pitchFamily="2" charset="0"/>
              </a:rPr>
              <a:t>Расчетная модель здания</a:t>
            </a:r>
            <a:endParaRPr lang="en-US" sz="1701" b="1" dirty="0">
              <a:solidFill>
                <a:schemeClr val="tx2">
                  <a:lumMod val="75000"/>
                </a:schemeClr>
              </a:solidFill>
              <a:latin typeface="Tahoma" panose="020B0604030504040204" pitchFamily="34" charset="0"/>
              <a:cs typeface="Proxy 9" panose="00000400000000000000" pitchFamily="2" charset="0"/>
            </a:endParaRPr>
          </a:p>
        </p:txBody>
      </p:sp>
      <p:sp>
        <p:nvSpPr>
          <p:cNvPr id="3" name="TextBox 2">
            <a:extLst>
              <a:ext uri="{FF2B5EF4-FFF2-40B4-BE49-F238E27FC236}">
                <a16:creationId xmlns:a16="http://schemas.microsoft.com/office/drawing/2014/main" id="{3647B0C6-3EB5-BA99-DB14-A898BFC15646}"/>
              </a:ext>
            </a:extLst>
          </p:cNvPr>
          <p:cNvSpPr txBox="1"/>
          <p:nvPr/>
        </p:nvSpPr>
        <p:spPr>
          <a:xfrm>
            <a:off x="5327251" y="6027721"/>
            <a:ext cx="6297523" cy="354071"/>
          </a:xfrm>
          <a:prstGeom prst="rect">
            <a:avLst/>
          </a:prstGeom>
          <a:noFill/>
        </p:spPr>
        <p:txBody>
          <a:bodyPr wrap="square">
            <a:spAutoFit/>
          </a:bodyPr>
          <a:lstStyle/>
          <a:p>
            <a:pPr algn="ctr"/>
            <a:r>
              <a:rPr lang="ru-RU" sz="1701" dirty="0">
                <a:solidFill>
                  <a:schemeClr val="tx2">
                    <a:lumMod val="75000"/>
                  </a:schemeClr>
                </a:solidFill>
                <a:latin typeface="Tahoma" panose="020B0604030504040204" pitchFamily="34" charset="0"/>
                <a:cs typeface="Proxy 9" panose="00000400000000000000" pitchFamily="2" charset="0"/>
              </a:rPr>
              <a:t>Приложение кинематического воздействия</a:t>
            </a:r>
            <a:endParaRPr lang="en-US" sz="1701" b="1" dirty="0">
              <a:solidFill>
                <a:schemeClr val="tx2">
                  <a:lumMod val="75000"/>
                </a:schemeClr>
              </a:solidFill>
              <a:latin typeface="Tahoma" panose="020B0604030504040204" pitchFamily="34" charset="0"/>
              <a:cs typeface="Proxy 9" panose="00000400000000000000" pitchFamily="2" charset="0"/>
            </a:endParaRPr>
          </a:p>
        </p:txBody>
      </p:sp>
      <p:sp>
        <p:nvSpPr>
          <p:cNvPr id="15" name="Текст 11">
            <a:extLst>
              <a:ext uri="{FF2B5EF4-FFF2-40B4-BE49-F238E27FC236}">
                <a16:creationId xmlns:a16="http://schemas.microsoft.com/office/drawing/2014/main" id="{59351A88-DE72-426A-AE71-4CF4B76E1779}"/>
              </a:ext>
            </a:extLst>
          </p:cNvPr>
          <p:cNvSpPr txBox="1">
            <a:spLocks/>
          </p:cNvSpPr>
          <p:nvPr/>
        </p:nvSpPr>
        <p:spPr>
          <a:xfrm>
            <a:off x="476462" y="0"/>
            <a:ext cx="9007172" cy="36036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600" b="1" cap="all" dirty="0">
                <a:solidFill>
                  <a:schemeClr val="accent2">
                    <a:lumMod val="75000"/>
                  </a:schemeClr>
                </a:solidFill>
              </a:rPr>
              <a:t>Формирование расчетных моделей (ЛИРА 10)</a:t>
            </a:r>
          </a:p>
        </p:txBody>
      </p:sp>
    </p:spTree>
    <p:extLst>
      <p:ext uri="{BB962C8B-B14F-4D97-AF65-F5344CB8AC3E}">
        <p14:creationId xmlns:p14="http://schemas.microsoft.com/office/powerpoint/2010/main" val="31780846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a:extLst>
              <a:ext uri="{FF2B5EF4-FFF2-40B4-BE49-F238E27FC236}">
                <a16:creationId xmlns:a16="http://schemas.microsoft.com/office/drawing/2014/main" id="{D510C036-352C-3466-C1E5-6A05A0E04DFD}"/>
              </a:ext>
            </a:extLst>
          </p:cNvPr>
          <p:cNvGraphicFramePr>
            <a:graphicFrameLocks noGrp="1"/>
          </p:cNvGraphicFramePr>
          <p:nvPr>
            <p:extLst>
              <p:ext uri="{D42A27DB-BD31-4B8C-83A1-F6EECF244321}">
                <p14:modId xmlns:p14="http://schemas.microsoft.com/office/powerpoint/2010/main" val="1606770868"/>
              </p:ext>
            </p:extLst>
          </p:nvPr>
        </p:nvGraphicFramePr>
        <p:xfrm>
          <a:off x="476462" y="1138265"/>
          <a:ext cx="10522464" cy="4412120"/>
        </p:xfrm>
        <a:graphic>
          <a:graphicData uri="http://schemas.openxmlformats.org/drawingml/2006/table">
            <a:tbl>
              <a:tblPr firstRow="1" firstCol="1" bandRow="1">
                <a:tableStyleId>{2D5ABB26-0587-4C30-8999-92F81FD0307C}</a:tableStyleId>
              </a:tblPr>
              <a:tblGrid>
                <a:gridCol w="2630616">
                  <a:extLst>
                    <a:ext uri="{9D8B030D-6E8A-4147-A177-3AD203B41FA5}">
                      <a16:colId xmlns:a16="http://schemas.microsoft.com/office/drawing/2014/main" val="1806772216"/>
                    </a:ext>
                  </a:extLst>
                </a:gridCol>
                <a:gridCol w="2630616">
                  <a:extLst>
                    <a:ext uri="{9D8B030D-6E8A-4147-A177-3AD203B41FA5}">
                      <a16:colId xmlns:a16="http://schemas.microsoft.com/office/drawing/2014/main" val="1600665914"/>
                    </a:ext>
                  </a:extLst>
                </a:gridCol>
                <a:gridCol w="2630616">
                  <a:extLst>
                    <a:ext uri="{9D8B030D-6E8A-4147-A177-3AD203B41FA5}">
                      <a16:colId xmlns:a16="http://schemas.microsoft.com/office/drawing/2014/main" val="3271858460"/>
                    </a:ext>
                  </a:extLst>
                </a:gridCol>
                <a:gridCol w="2630616">
                  <a:extLst>
                    <a:ext uri="{9D8B030D-6E8A-4147-A177-3AD203B41FA5}">
                      <a16:colId xmlns:a16="http://schemas.microsoft.com/office/drawing/2014/main" val="1523687780"/>
                    </a:ext>
                  </a:extLst>
                </a:gridCol>
              </a:tblGrid>
              <a:tr h="785000">
                <a:tc>
                  <a:txBody>
                    <a:bodyPr/>
                    <a:lstStyle/>
                    <a:p>
                      <a:pPr algn="ctr">
                        <a:lnSpc>
                          <a:spcPct val="100000"/>
                        </a:lnSpc>
                        <a:spcAft>
                          <a:spcPts val="300"/>
                        </a:spcAft>
                      </a:pPr>
                      <a:r>
                        <a:rPr lang="ru-RU" sz="1700" b="1" dirty="0">
                          <a:solidFill>
                            <a:schemeClr val="tx2">
                              <a:lumMod val="75000"/>
                            </a:schemeClr>
                          </a:solidFill>
                          <a:effectLst/>
                          <a:latin typeface="Tahoma" panose="020B0604030504040204" pitchFamily="34" charset="0"/>
                        </a:rPr>
                        <a:t>Элемент конструкции</a:t>
                      </a:r>
                      <a:endParaRPr lang="en-US" sz="1700" b="1"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b="1" dirty="0">
                          <a:solidFill>
                            <a:schemeClr val="tx2">
                              <a:lumMod val="75000"/>
                            </a:schemeClr>
                          </a:solidFill>
                          <a:effectLst/>
                          <a:latin typeface="Tahoma" panose="020B0604030504040204" pitchFamily="34" charset="0"/>
                        </a:rPr>
                        <a:t>Статическая модель. Требуемое армирование, см</a:t>
                      </a:r>
                      <a:r>
                        <a:rPr lang="ru-RU" sz="1700" b="1" baseline="30000" dirty="0">
                          <a:solidFill>
                            <a:schemeClr val="tx2">
                              <a:lumMod val="75000"/>
                            </a:schemeClr>
                          </a:solidFill>
                          <a:effectLst/>
                          <a:latin typeface="Tahoma" panose="020B0604030504040204" pitchFamily="34" charset="0"/>
                        </a:rPr>
                        <a:t>2</a:t>
                      </a:r>
                      <a:endParaRPr lang="en-US" sz="1700" b="1"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b="1" dirty="0">
                          <a:solidFill>
                            <a:schemeClr val="tx2">
                              <a:lumMod val="75000"/>
                            </a:schemeClr>
                          </a:solidFill>
                          <a:effectLst/>
                          <a:latin typeface="Tahoma" panose="020B0604030504040204" pitchFamily="34" charset="0"/>
                        </a:rPr>
                        <a:t>Динамическая модель. Требуемое армирование, см</a:t>
                      </a:r>
                      <a:r>
                        <a:rPr lang="ru-RU" sz="1700" b="1" baseline="30000" dirty="0">
                          <a:solidFill>
                            <a:schemeClr val="tx2">
                              <a:lumMod val="75000"/>
                            </a:schemeClr>
                          </a:solidFill>
                          <a:effectLst/>
                          <a:latin typeface="Tahoma" panose="020B0604030504040204" pitchFamily="34" charset="0"/>
                        </a:rPr>
                        <a:t>2</a:t>
                      </a:r>
                      <a:endParaRPr lang="en-US" sz="1700" b="1"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b="1" dirty="0">
                          <a:solidFill>
                            <a:schemeClr val="tx2">
                              <a:lumMod val="75000"/>
                            </a:schemeClr>
                          </a:solidFill>
                          <a:effectLst/>
                          <a:latin typeface="Tahoma" panose="020B0604030504040204" pitchFamily="34" charset="0"/>
                        </a:rPr>
                        <a:t>Фактическое армирование, см</a:t>
                      </a:r>
                      <a:r>
                        <a:rPr lang="ru-RU" sz="1700" b="1" baseline="30000" dirty="0">
                          <a:solidFill>
                            <a:schemeClr val="tx2">
                              <a:lumMod val="75000"/>
                            </a:schemeClr>
                          </a:solidFill>
                          <a:effectLst/>
                          <a:latin typeface="Tahoma" panose="020B0604030504040204" pitchFamily="34" charset="0"/>
                        </a:rPr>
                        <a:t>2</a:t>
                      </a:r>
                      <a:endParaRPr lang="en-US" sz="1700" b="1"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50560619"/>
                  </a:ext>
                </a:extLst>
              </a:tr>
              <a:tr h="471000">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Балки Б-2, </a:t>
                      </a:r>
                      <a:br>
                        <a:rPr lang="ru-RU" sz="1700" dirty="0">
                          <a:solidFill>
                            <a:schemeClr val="tx2">
                              <a:lumMod val="75000"/>
                            </a:schemeClr>
                          </a:solidFill>
                          <a:effectLst/>
                          <a:latin typeface="Tahoma" panose="020B0604030504040204" pitchFamily="34" charset="0"/>
                        </a:rPr>
                      </a:br>
                      <a:r>
                        <a:rPr lang="ru-RU" sz="1700" dirty="0">
                          <a:solidFill>
                            <a:schemeClr val="tx2">
                              <a:lumMod val="75000"/>
                            </a:schemeClr>
                          </a:solidFill>
                          <a:effectLst/>
                          <a:latin typeface="Tahoma" panose="020B0604030504040204" pitchFamily="34" charset="0"/>
                        </a:rPr>
                        <a:t>нижнее армирование</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9,09</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6,30</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12,56</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1761000663"/>
                  </a:ext>
                </a:extLst>
              </a:tr>
              <a:tr h="471000">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Балки Б-4, </a:t>
                      </a:r>
                      <a:br>
                        <a:rPr lang="ru-RU" sz="1700" dirty="0">
                          <a:solidFill>
                            <a:schemeClr val="tx2">
                              <a:lumMod val="75000"/>
                            </a:schemeClr>
                          </a:solidFill>
                          <a:effectLst/>
                          <a:latin typeface="Tahoma" panose="020B0604030504040204" pitchFamily="34" charset="0"/>
                        </a:rPr>
                      </a:br>
                      <a:r>
                        <a:rPr lang="ru-RU" sz="1700" dirty="0">
                          <a:solidFill>
                            <a:schemeClr val="tx2">
                              <a:lumMod val="75000"/>
                            </a:schemeClr>
                          </a:solidFill>
                          <a:effectLst/>
                          <a:latin typeface="Tahoma" panose="020B0604030504040204" pitchFamily="34" charset="0"/>
                        </a:rPr>
                        <a:t>нижнее армирование</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2,62</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3,45</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19,63</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3125243460"/>
                  </a:ext>
                </a:extLst>
              </a:tr>
              <a:tr h="471000">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Балки Б-7, нижнее армирование</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12,77</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8,43</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36,95</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114849229"/>
                  </a:ext>
                </a:extLst>
              </a:tr>
              <a:tr h="471000">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Продольные ребра покрытия</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b="1" dirty="0">
                          <a:solidFill>
                            <a:srgbClr val="FF0000"/>
                          </a:solidFill>
                          <a:effectLst/>
                          <a:latin typeface="Tahoma" panose="020B0604030504040204" pitchFamily="34" charset="0"/>
                        </a:rPr>
                        <a:t>17,17</a:t>
                      </a:r>
                      <a:endParaRPr lang="en-US" sz="1700" b="1" dirty="0">
                        <a:solidFill>
                          <a:srgbClr val="FF0000"/>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4,99</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5,09</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751469597"/>
                  </a:ext>
                </a:extLst>
              </a:tr>
              <a:tr h="471000">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Поперечные ребра покрытия</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b="1" dirty="0">
                          <a:solidFill>
                            <a:srgbClr val="FF0000"/>
                          </a:solidFill>
                          <a:effectLst/>
                          <a:latin typeface="Tahoma" panose="020B0604030504040204" pitchFamily="34" charset="0"/>
                        </a:rPr>
                        <a:t>2,58</a:t>
                      </a:r>
                      <a:endParaRPr lang="en-US" sz="1700" b="1" dirty="0">
                        <a:solidFill>
                          <a:srgbClr val="FF0000"/>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b="1" dirty="0">
                          <a:solidFill>
                            <a:srgbClr val="FF0000"/>
                          </a:solidFill>
                          <a:effectLst/>
                          <a:latin typeface="Tahoma" panose="020B0604030504040204" pitchFamily="34" charset="0"/>
                        </a:rPr>
                        <a:t>1,94</a:t>
                      </a:r>
                      <a:endParaRPr lang="en-US" sz="1700" b="1" dirty="0">
                        <a:solidFill>
                          <a:srgbClr val="FF0000"/>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0,785</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306165698"/>
                  </a:ext>
                </a:extLst>
              </a:tr>
              <a:tr h="250719">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Плита покрытия, ось у</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0,47</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b="1" dirty="0">
                          <a:solidFill>
                            <a:srgbClr val="FF0000"/>
                          </a:solidFill>
                          <a:effectLst/>
                          <a:latin typeface="Tahoma" panose="020B0604030504040204" pitchFamily="34" charset="0"/>
                        </a:rPr>
                        <a:t>1,01</a:t>
                      </a:r>
                      <a:endParaRPr lang="en-US" sz="1700" b="1" dirty="0">
                        <a:solidFill>
                          <a:srgbClr val="FF0000"/>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0,63</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753444700"/>
                  </a:ext>
                </a:extLst>
              </a:tr>
              <a:tr h="250719">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Плита покрытия, ось х</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0,499</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b="1" dirty="0">
                          <a:solidFill>
                            <a:srgbClr val="FF0000"/>
                          </a:solidFill>
                          <a:effectLst/>
                          <a:latin typeface="Tahoma" panose="020B0604030504040204" pitchFamily="34" charset="0"/>
                        </a:rPr>
                        <a:t>1,33</a:t>
                      </a:r>
                      <a:endParaRPr lang="en-US" sz="1700" b="1" dirty="0">
                        <a:solidFill>
                          <a:srgbClr val="FF0000"/>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0,63</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3489051951"/>
                  </a:ext>
                </a:extLst>
              </a:tr>
              <a:tr h="250719">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Перекрытие, </a:t>
                      </a:r>
                      <a:r>
                        <a:rPr lang="ru-RU" sz="1700" dirty="0" err="1">
                          <a:solidFill>
                            <a:schemeClr val="tx2">
                              <a:lumMod val="75000"/>
                            </a:schemeClr>
                          </a:solidFill>
                          <a:effectLst/>
                          <a:latin typeface="Tahoma" panose="020B0604030504040204" pitchFamily="34" charset="0"/>
                        </a:rPr>
                        <a:t>нижн</a:t>
                      </a:r>
                      <a:r>
                        <a:rPr lang="en-US" sz="1700" dirty="0">
                          <a:solidFill>
                            <a:schemeClr val="tx2">
                              <a:lumMod val="75000"/>
                            </a:schemeClr>
                          </a:solidFill>
                          <a:effectLst/>
                          <a:latin typeface="Tahoma" panose="020B0604030504040204" pitchFamily="34" charset="0"/>
                        </a:rPr>
                        <a:t>.</a:t>
                      </a:r>
                      <a:r>
                        <a:rPr lang="ru-RU" sz="1700" dirty="0">
                          <a:solidFill>
                            <a:schemeClr val="tx2">
                              <a:lumMod val="75000"/>
                            </a:schemeClr>
                          </a:solidFill>
                          <a:effectLst/>
                          <a:latin typeface="Tahoma" panose="020B0604030504040204" pitchFamily="34" charset="0"/>
                        </a:rPr>
                        <a:t> ось у</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1,23</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0,93</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2,79</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1676706039"/>
                  </a:ext>
                </a:extLst>
              </a:tr>
              <a:tr h="250719">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Перекрытие, </a:t>
                      </a:r>
                      <a:r>
                        <a:rPr lang="ru-RU" sz="1700" dirty="0" err="1">
                          <a:solidFill>
                            <a:schemeClr val="tx2">
                              <a:lumMod val="75000"/>
                            </a:schemeClr>
                          </a:solidFill>
                          <a:effectLst/>
                          <a:latin typeface="Tahoma" panose="020B0604030504040204" pitchFamily="34" charset="0"/>
                        </a:rPr>
                        <a:t>нижн</a:t>
                      </a:r>
                      <a:r>
                        <a:rPr lang="ru-RU" sz="1700" dirty="0">
                          <a:solidFill>
                            <a:schemeClr val="tx2">
                              <a:lumMod val="75000"/>
                            </a:schemeClr>
                          </a:solidFill>
                          <a:effectLst/>
                          <a:latin typeface="Tahoma" panose="020B0604030504040204" pitchFamily="34" charset="0"/>
                        </a:rPr>
                        <a:t>. ось х</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b="1" dirty="0">
                          <a:solidFill>
                            <a:srgbClr val="FF0000"/>
                          </a:solidFill>
                          <a:effectLst/>
                          <a:latin typeface="Tahoma" panose="020B0604030504040204" pitchFamily="34" charset="0"/>
                        </a:rPr>
                        <a:t>1,78</a:t>
                      </a:r>
                      <a:endParaRPr lang="en-US" sz="1700" b="1" dirty="0">
                        <a:solidFill>
                          <a:srgbClr val="FF0000"/>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b="1" dirty="0">
                          <a:solidFill>
                            <a:srgbClr val="FF0000"/>
                          </a:solidFill>
                          <a:effectLst/>
                          <a:latin typeface="Tahoma" panose="020B0604030504040204" pitchFamily="34" charset="0"/>
                        </a:rPr>
                        <a:t>1,67</a:t>
                      </a:r>
                      <a:endParaRPr lang="en-US" sz="1700" b="1" dirty="0">
                        <a:solidFill>
                          <a:srgbClr val="FF0000"/>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tc>
                  <a:txBody>
                    <a:bodyPr/>
                    <a:lstStyle/>
                    <a:p>
                      <a:pPr algn="ctr">
                        <a:lnSpc>
                          <a:spcPct val="100000"/>
                        </a:lnSpc>
                        <a:spcAft>
                          <a:spcPts val="300"/>
                        </a:spcAft>
                      </a:pPr>
                      <a:r>
                        <a:rPr lang="ru-RU" sz="1700" dirty="0">
                          <a:solidFill>
                            <a:schemeClr val="tx2">
                              <a:lumMod val="75000"/>
                            </a:schemeClr>
                          </a:solidFill>
                          <a:effectLst/>
                          <a:latin typeface="Tahoma" panose="020B0604030504040204" pitchFamily="34" charset="0"/>
                        </a:rPr>
                        <a:t>1,41</a:t>
                      </a:r>
                      <a:endParaRPr lang="en-US" sz="1700" dirty="0">
                        <a:solidFill>
                          <a:schemeClr val="tx2">
                            <a:lumMod val="75000"/>
                          </a:schemeClr>
                        </a:solidFill>
                        <a:effectLst/>
                        <a:latin typeface="Tahoma" panose="020B0604030504040204" pitchFamily="34" charset="0"/>
                        <a:ea typeface="Calibri" panose="020F0502020204030204" pitchFamily="34" charset="0"/>
                      </a:endParaRPr>
                    </a:p>
                  </a:txBody>
                  <a:tcPr marL="64802" marR="64802"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1022530246"/>
                  </a:ext>
                </a:extLst>
              </a:tr>
            </a:tbl>
          </a:graphicData>
        </a:graphic>
      </p:graphicFrame>
      <p:sp>
        <p:nvSpPr>
          <p:cNvPr id="8" name="Заголовок 3">
            <a:extLst>
              <a:ext uri="{FF2B5EF4-FFF2-40B4-BE49-F238E27FC236}">
                <a16:creationId xmlns:a16="http://schemas.microsoft.com/office/drawing/2014/main" id="{35E6B74B-ABF1-0858-629F-E0A3CF0964E7}"/>
              </a:ext>
            </a:extLst>
          </p:cNvPr>
          <p:cNvSpPr txBox="1">
            <a:spLocks/>
          </p:cNvSpPr>
          <p:nvPr/>
        </p:nvSpPr>
        <p:spPr>
          <a:xfrm>
            <a:off x="478181" y="194066"/>
            <a:ext cx="10634300" cy="623833"/>
          </a:xfrm>
          <a:prstGeom prst="rect">
            <a:avLst/>
          </a:prstGeom>
        </p:spPr>
        <p:txBody>
          <a:bodyPr vert="horz" lIns="86402" tIns="43201" rIns="86402" bIns="43201"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ru-RU" sz="3402" b="1" i="1" dirty="0">
              <a:solidFill>
                <a:schemeClr val="tx2">
                  <a:lumMod val="75000"/>
                </a:schemeClr>
              </a:solidFill>
              <a:latin typeface="Tahoma" panose="020B0604030504040204" pitchFamily="34" charset="0"/>
            </a:endParaRPr>
          </a:p>
        </p:txBody>
      </p:sp>
      <p:sp>
        <p:nvSpPr>
          <p:cNvPr id="5" name="TextBox 4">
            <a:extLst>
              <a:ext uri="{FF2B5EF4-FFF2-40B4-BE49-F238E27FC236}">
                <a16:creationId xmlns:a16="http://schemas.microsoft.com/office/drawing/2014/main" id="{A783677D-33B4-D7C7-6349-1419E1AA4466}"/>
              </a:ext>
            </a:extLst>
          </p:cNvPr>
          <p:cNvSpPr txBox="1"/>
          <p:nvPr/>
        </p:nvSpPr>
        <p:spPr>
          <a:xfrm>
            <a:off x="476462" y="5560233"/>
            <a:ext cx="10522464" cy="964880"/>
          </a:xfrm>
          <a:prstGeom prst="rect">
            <a:avLst/>
          </a:prstGeom>
          <a:noFill/>
        </p:spPr>
        <p:txBody>
          <a:bodyPr wrap="square">
            <a:spAutoFit/>
          </a:bodyPr>
          <a:lstStyle/>
          <a:p>
            <a:pPr algn="ctr"/>
            <a:r>
              <a:rPr lang="ru-RU" sz="1890" dirty="0">
                <a:solidFill>
                  <a:schemeClr val="tx2">
                    <a:lumMod val="75000"/>
                  </a:schemeClr>
                </a:solidFill>
                <a:latin typeface="Tahoma" panose="020B0604030504040204" pitchFamily="34" charset="0"/>
                <a:ea typeface="Tahoma" panose="020B0604030504040204" pitchFamily="34" charset="0"/>
              </a:rPr>
              <a:t>Несущая способность ряда элементов </a:t>
            </a:r>
            <a:r>
              <a:rPr lang="ru-RU" sz="1890" b="1" dirty="0">
                <a:solidFill>
                  <a:schemeClr val="tx2">
                    <a:lumMod val="75000"/>
                  </a:schemeClr>
                </a:solidFill>
                <a:latin typeface="Tahoma" panose="020B0604030504040204" pitchFamily="34" charset="0"/>
                <a:ea typeface="Tahoma" panose="020B0604030504040204" pitchFamily="34" charset="0"/>
              </a:rPr>
              <a:t>не обеспечена</a:t>
            </a:r>
            <a:r>
              <a:rPr lang="ru-RU" sz="1890" dirty="0">
                <a:solidFill>
                  <a:schemeClr val="tx2">
                    <a:lumMod val="75000"/>
                  </a:schemeClr>
                </a:solidFill>
                <a:latin typeface="Tahoma" panose="020B0604030504040204" pitchFamily="34" charset="0"/>
                <a:ea typeface="Tahoma" panose="020B0604030504040204" pitchFamily="34" charset="0"/>
              </a:rPr>
              <a:t>. Требуется проведение реконструкции.</a:t>
            </a:r>
          </a:p>
          <a:p>
            <a:pPr algn="ctr"/>
            <a:r>
              <a:rPr lang="ru-RU" sz="1890" dirty="0">
                <a:solidFill>
                  <a:schemeClr val="tx2">
                    <a:lumMod val="75000"/>
                  </a:schemeClr>
                </a:solidFill>
                <a:latin typeface="Tahoma" panose="020B0604030504040204" pitchFamily="34" charset="0"/>
              </a:rPr>
              <a:t>Увеличение кинематического воздействия буровзрывных работ </a:t>
            </a:r>
            <a:r>
              <a:rPr lang="ru-RU" sz="1890" b="1" dirty="0">
                <a:solidFill>
                  <a:schemeClr val="tx2">
                    <a:lumMod val="75000"/>
                  </a:schemeClr>
                </a:solidFill>
                <a:latin typeface="Tahoma" panose="020B0604030504040204" pitchFamily="34" charset="0"/>
              </a:rPr>
              <a:t>не допускается</a:t>
            </a:r>
            <a:r>
              <a:rPr lang="ru-RU" sz="1890" dirty="0">
                <a:solidFill>
                  <a:schemeClr val="tx2">
                    <a:lumMod val="75000"/>
                  </a:schemeClr>
                </a:solidFill>
                <a:latin typeface="Tahoma" panose="020B0604030504040204" pitchFamily="34" charset="0"/>
              </a:rPr>
              <a:t>.</a:t>
            </a:r>
            <a:endParaRPr lang="en-US" sz="1890" dirty="0">
              <a:solidFill>
                <a:schemeClr val="tx2">
                  <a:lumMod val="75000"/>
                </a:schemeClr>
              </a:solidFill>
              <a:latin typeface="Tahoma" panose="020B0604030504040204" pitchFamily="34" charset="0"/>
            </a:endParaRPr>
          </a:p>
        </p:txBody>
      </p:sp>
      <p:sp>
        <p:nvSpPr>
          <p:cNvPr id="3" name="TextBox 2">
            <a:extLst>
              <a:ext uri="{FF2B5EF4-FFF2-40B4-BE49-F238E27FC236}">
                <a16:creationId xmlns:a16="http://schemas.microsoft.com/office/drawing/2014/main" id="{2AB2CD81-99A1-242C-3C52-15829F014BF4}"/>
              </a:ext>
            </a:extLst>
          </p:cNvPr>
          <p:cNvSpPr txBox="1"/>
          <p:nvPr/>
        </p:nvSpPr>
        <p:spPr>
          <a:xfrm>
            <a:off x="665539" y="748796"/>
            <a:ext cx="9936268" cy="354071"/>
          </a:xfrm>
          <a:prstGeom prst="rect">
            <a:avLst/>
          </a:prstGeom>
          <a:noFill/>
        </p:spPr>
        <p:txBody>
          <a:bodyPr wrap="square">
            <a:spAutoFit/>
          </a:bodyPr>
          <a:lstStyle/>
          <a:p>
            <a:r>
              <a:rPr lang="ru-RU" sz="1701" dirty="0">
                <a:solidFill>
                  <a:schemeClr val="tx2">
                    <a:lumMod val="75000"/>
                  </a:schemeClr>
                </a:solidFill>
                <a:latin typeface="Tahoma" panose="020B0604030504040204" pitchFamily="34" charset="0"/>
                <a:cs typeface="Proxy 9" panose="00000400000000000000" pitchFamily="2" charset="0"/>
              </a:rPr>
              <a:t>Сравнение требуемого и фактического армирования конструктивных элементов</a:t>
            </a:r>
            <a:endParaRPr lang="en-US" sz="1701" b="1" dirty="0">
              <a:solidFill>
                <a:schemeClr val="tx2">
                  <a:lumMod val="75000"/>
                </a:schemeClr>
              </a:solidFill>
              <a:latin typeface="Tahoma" panose="020B0604030504040204" pitchFamily="34" charset="0"/>
              <a:cs typeface="Proxy 9" panose="00000400000000000000" pitchFamily="2" charset="0"/>
            </a:endParaRPr>
          </a:p>
        </p:txBody>
      </p:sp>
      <p:sp>
        <p:nvSpPr>
          <p:cNvPr id="7" name="Текст 11">
            <a:extLst>
              <a:ext uri="{FF2B5EF4-FFF2-40B4-BE49-F238E27FC236}">
                <a16:creationId xmlns:a16="http://schemas.microsoft.com/office/drawing/2014/main" id="{9D1FE6CF-61A0-47BA-BD2C-913B72A50051}"/>
              </a:ext>
            </a:extLst>
          </p:cNvPr>
          <p:cNvSpPr txBox="1">
            <a:spLocks/>
          </p:cNvSpPr>
          <p:nvPr/>
        </p:nvSpPr>
        <p:spPr>
          <a:xfrm>
            <a:off x="476462" y="0"/>
            <a:ext cx="9007172" cy="36036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600" b="1" cap="all" dirty="0">
                <a:solidFill>
                  <a:schemeClr val="accent2">
                    <a:lumMod val="75000"/>
                  </a:schemeClr>
                </a:solidFill>
              </a:rPr>
              <a:t>Анализ результатов расчетов</a:t>
            </a:r>
          </a:p>
        </p:txBody>
      </p:sp>
    </p:spTree>
    <p:extLst>
      <p:ext uri="{BB962C8B-B14F-4D97-AF65-F5344CB8AC3E}">
        <p14:creationId xmlns:p14="http://schemas.microsoft.com/office/powerpoint/2010/main" val="29804246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Заголовок 2">
            <a:extLst>
              <a:ext uri="{FF2B5EF4-FFF2-40B4-BE49-F238E27FC236}">
                <a16:creationId xmlns:a16="http://schemas.microsoft.com/office/drawing/2014/main" id="{513934DB-3C10-D42B-8B9D-00370C89BE03}"/>
              </a:ext>
            </a:extLst>
          </p:cNvPr>
          <p:cNvSpPr>
            <a:spLocks noGrp="1"/>
          </p:cNvSpPr>
          <p:nvPr>
            <p:ph type="title"/>
          </p:nvPr>
        </p:nvSpPr>
        <p:spPr>
          <a:xfrm>
            <a:off x="7608681" y="3956671"/>
            <a:ext cx="3632448" cy="1429871"/>
          </a:xfrm>
        </p:spPr>
        <p:txBody>
          <a:bodyPr>
            <a:noAutofit/>
          </a:bodyPr>
          <a:lstStyle/>
          <a:p>
            <a:r>
              <a:rPr lang="ru-RU" sz="1600" dirty="0"/>
              <a:t>Федосеев Антон Владимирович</a:t>
            </a:r>
            <a:br>
              <a:rPr lang="en-US" sz="1600" dirty="0"/>
            </a:br>
            <a:r>
              <a:rPr lang="ru-RU" sz="1600" b="0" dirty="0"/>
              <a:t>к.т.н., Ведущий научный сотрудник</a:t>
            </a:r>
            <a:br>
              <a:rPr lang="ru-RU" sz="1600" b="0" dirty="0"/>
            </a:br>
            <a:r>
              <a:rPr lang="ru-RU" sz="1600" b="0" dirty="0"/>
              <a:t>Лаборатории геотехники</a:t>
            </a:r>
            <a:br>
              <a:rPr lang="en-US" sz="1600" dirty="0"/>
            </a:br>
            <a:br>
              <a:rPr lang="ru-RU" sz="1600" dirty="0"/>
            </a:br>
            <a:r>
              <a:rPr lang="en-US" sz="1600" dirty="0"/>
              <a:t>FedoseevAV@nornik.ru</a:t>
            </a:r>
            <a:endParaRPr lang="ru-RU" sz="1600" dirty="0"/>
          </a:p>
        </p:txBody>
      </p:sp>
      <p:sp>
        <p:nvSpPr>
          <p:cNvPr id="8" name="Заголовок 2">
            <a:extLst>
              <a:ext uri="{FF2B5EF4-FFF2-40B4-BE49-F238E27FC236}">
                <a16:creationId xmlns:a16="http://schemas.microsoft.com/office/drawing/2014/main" id="{4B7E0527-8733-454F-8D9C-F92FBAC7CF90}"/>
              </a:ext>
            </a:extLst>
          </p:cNvPr>
          <p:cNvSpPr txBox="1">
            <a:spLocks/>
          </p:cNvSpPr>
          <p:nvPr/>
        </p:nvSpPr>
        <p:spPr>
          <a:xfrm>
            <a:off x="3976233" y="3944930"/>
            <a:ext cx="3632448" cy="1429871"/>
          </a:xfrm>
          <a:prstGeom prst="rect">
            <a:avLst/>
          </a:prstGeom>
        </p:spPr>
        <p:txBody>
          <a:bodyPr lIns="0" tIns="36000" rIns="0" bIns="36000" anchor="ctr" anchorCtr="0">
            <a:normAutofit/>
          </a:bodyPr>
          <a:lstStyle>
            <a:lvl1pPr algn="l" defTabSz="914400" rtl="0" eaLnBrk="1" latinLnBrk="0" hangingPunct="1">
              <a:lnSpc>
                <a:spcPct val="90000"/>
              </a:lnSpc>
              <a:spcBef>
                <a:spcPct val="0"/>
              </a:spcBef>
              <a:buNone/>
              <a:defRPr sz="2400" b="1" kern="1200">
                <a:solidFill>
                  <a:schemeClr val="bg1"/>
                </a:solidFill>
                <a:latin typeface="+mj-lt"/>
                <a:ea typeface="+mj-ea"/>
                <a:cs typeface="+mj-cs"/>
              </a:defRPr>
            </a:lvl1pPr>
          </a:lstStyle>
          <a:p>
            <a:r>
              <a:rPr lang="ru-RU" sz="1600" dirty="0"/>
              <a:t>Тяпкина Полина Александровна</a:t>
            </a:r>
          </a:p>
          <a:p>
            <a:r>
              <a:rPr lang="ru-RU" sz="1600" b="0" dirty="0"/>
              <a:t>Младший научный сотрудник</a:t>
            </a:r>
            <a:br>
              <a:rPr lang="ru-RU" sz="1600" b="0" dirty="0"/>
            </a:br>
            <a:r>
              <a:rPr lang="ru-RU" sz="1600" b="0" dirty="0"/>
              <a:t>Лаборатории геотехники</a:t>
            </a:r>
            <a:br>
              <a:rPr lang="en-US" sz="1600" dirty="0"/>
            </a:br>
            <a:br>
              <a:rPr lang="ru-RU" sz="1600" dirty="0"/>
            </a:br>
            <a:r>
              <a:rPr lang="en-US" sz="1600" dirty="0"/>
              <a:t>TyapkinaPA@nornik.ru</a:t>
            </a:r>
            <a:endParaRPr lang="ru-RU" sz="1600" dirty="0"/>
          </a:p>
        </p:txBody>
      </p:sp>
    </p:spTree>
    <p:extLst>
      <p:ext uri="{BB962C8B-B14F-4D97-AF65-F5344CB8AC3E}">
        <p14:creationId xmlns:p14="http://schemas.microsoft.com/office/powerpoint/2010/main" val="20806771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FC8AFE9-290C-1436-1485-A1B60981EA1C}"/>
              </a:ext>
            </a:extLst>
          </p:cNvPr>
          <p:cNvSpPr>
            <a:spLocks noGrp="1"/>
          </p:cNvSpPr>
          <p:nvPr>
            <p:ph type="sldNum" sz="quarter" idx="4"/>
          </p:nvPr>
        </p:nvSpPr>
        <p:spPr/>
        <p:txBody>
          <a:bodyPr/>
          <a:lstStyle/>
          <a:p>
            <a:r>
              <a:rPr lang="en-US"/>
              <a:t>| </a:t>
            </a:r>
            <a:fld id="{F54BA9F3-CBAA-4DCF-AD2D-5ECAA0BE8875}" type="slidenum">
              <a:rPr lang="ru-RU" smtClean="0"/>
              <a:pPr/>
              <a:t>28</a:t>
            </a:fld>
            <a:endParaRPr lang="ru-RU" dirty="0"/>
          </a:p>
        </p:txBody>
      </p:sp>
      <p:sp>
        <p:nvSpPr>
          <p:cNvPr id="16" name="Текст 11">
            <a:extLst>
              <a:ext uri="{FF2B5EF4-FFF2-40B4-BE49-F238E27FC236}">
                <a16:creationId xmlns:a16="http://schemas.microsoft.com/office/drawing/2014/main" id="{72E298A4-1F10-233F-45B5-CB67BE268BB0}"/>
              </a:ext>
            </a:extLst>
          </p:cNvPr>
          <p:cNvSpPr>
            <a:spLocks noGrp="1"/>
          </p:cNvSpPr>
          <p:nvPr>
            <p:ph type="body" sz="quarter" idx="11"/>
          </p:nvPr>
        </p:nvSpPr>
        <p:spPr>
          <a:xfrm>
            <a:off x="476462" y="0"/>
            <a:ext cx="6615464" cy="360363"/>
          </a:xfrm>
          <a:prstGeom prst="rect">
            <a:avLst/>
          </a:prstGeom>
        </p:spPr>
        <p:txBody>
          <a:bodyPr/>
          <a:lstStyle/>
          <a:p>
            <a:r>
              <a:rPr lang="ru-RU" dirty="0">
                <a:solidFill>
                  <a:srgbClr val="0077C8"/>
                </a:solidFill>
              </a:rPr>
              <a:t>ПРОГНОЗ СЕЙСМИЧЕСКОГО ДЕЙСТВИЯ ВЗРЫВНЫХ РАБОТ</a:t>
            </a:r>
          </a:p>
        </p:txBody>
      </p:sp>
      <p:sp>
        <p:nvSpPr>
          <p:cNvPr id="5" name="Прямоугольник 4">
            <a:extLst>
              <a:ext uri="{FF2B5EF4-FFF2-40B4-BE49-F238E27FC236}">
                <a16:creationId xmlns:a16="http://schemas.microsoft.com/office/drawing/2014/main" id="{B0E5AE17-1417-5ECA-97F4-41D227A6734C}"/>
              </a:ext>
            </a:extLst>
          </p:cNvPr>
          <p:cNvSpPr/>
          <p:nvPr/>
        </p:nvSpPr>
        <p:spPr>
          <a:xfrm>
            <a:off x="0" y="719090"/>
            <a:ext cx="11520488" cy="1970843"/>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mc:AlternateContent xmlns:mc="http://schemas.openxmlformats.org/markup-compatibility/2006">
        <mc:Choice xmlns:a14="http://schemas.microsoft.com/office/drawing/2010/main" Requires="a14">
          <p:sp>
            <p:nvSpPr>
              <p:cNvPr id="6" name="Прямоугольник 5"/>
              <p:cNvSpPr/>
              <p:nvPr/>
            </p:nvSpPr>
            <p:spPr>
              <a:xfrm>
                <a:off x="5148176" y="785426"/>
                <a:ext cx="1224136" cy="369332"/>
              </a:xfrm>
              <a:prstGeom prst="rect">
                <a:avLst/>
              </a:prstGeom>
            </p:spPr>
            <p:txBody>
              <a:bodyPr wrap="square">
                <a:spAutoFit/>
              </a:bodyPr>
              <a:lstStyle/>
              <a:p>
                <a14:m>
                  <m:oMath xmlns:m="http://schemas.openxmlformats.org/officeDocument/2006/math">
                    <m:r>
                      <a:rPr lang="ru-RU" sz="16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𝑉</m:t>
                    </m:r>
                    <m:r>
                      <a:rPr lang="ru-RU" sz="16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r>
                      <a:rPr lang="ru-RU" sz="16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𝐾</m:t>
                    </m:r>
                    <m:r>
                      <a:rPr lang="ru-RU" sz="16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ru-RU" sz="1600" i="1">
                            <a:solidFill>
                              <a:schemeClr val="bg1"/>
                            </a:solidFill>
                            <a:latin typeface="Cambria Math" panose="02040503050406030204" pitchFamily="18" charset="0"/>
                            <a:cs typeface="Times New Roman" panose="02020603050405020304" pitchFamily="18" charset="0"/>
                          </a:rPr>
                        </m:ctrlPr>
                      </m:sSubSupPr>
                      <m:e>
                        <m:r>
                          <a:rPr lang="en-US" sz="1600" i="1">
                            <a:solidFill>
                              <a:schemeClr val="bg1"/>
                            </a:solidFill>
                            <a:latin typeface="Cambria Math" panose="02040503050406030204" pitchFamily="18" charset="0"/>
                            <a:cs typeface="Times New Roman" panose="02020603050405020304" pitchFamily="18" charset="0"/>
                          </a:rPr>
                          <m:t>𝑟</m:t>
                        </m:r>
                      </m:e>
                      <m:sub>
                        <m:r>
                          <a:rPr lang="ru-RU" sz="1600" i="1">
                            <a:solidFill>
                              <a:schemeClr val="bg1"/>
                            </a:solidFill>
                            <a:latin typeface="Cambria Math" panose="02040503050406030204" pitchFamily="18" charset="0"/>
                            <a:cs typeface="Times New Roman" panose="02020603050405020304" pitchFamily="18" charset="0"/>
                          </a:rPr>
                          <m:t>П</m:t>
                        </m:r>
                      </m:sub>
                      <m:sup>
                        <m:r>
                          <a:rPr lang="ru-RU" sz="1600" i="1">
                            <a:solidFill>
                              <a:schemeClr val="bg1"/>
                            </a:solidFill>
                            <a:latin typeface="Cambria Math" panose="02040503050406030204" pitchFamily="18" charset="0"/>
                            <a:cs typeface="Times New Roman" panose="02020603050405020304" pitchFamily="18" charset="0"/>
                          </a:rPr>
                          <m:t>−</m:t>
                        </m:r>
                        <m:r>
                          <a:rPr lang="en-US" sz="1600" i="1">
                            <a:solidFill>
                              <a:schemeClr val="bg1"/>
                            </a:solidFill>
                            <a:latin typeface="Cambria Math" panose="02040503050406030204" pitchFamily="18" charset="0"/>
                            <a:cs typeface="Times New Roman" panose="02020603050405020304" pitchFamily="18" charset="0"/>
                          </a:rPr>
                          <m:t>𝑛</m:t>
                        </m:r>
                      </m:sup>
                    </m:sSubSup>
                  </m:oMath>
                </a14:m>
                <a:r>
                  <a:rPr lang="ru-RU" dirty="0">
                    <a:latin typeface="Tahoma" panose="020B0604030504040204" pitchFamily="34" charset="0"/>
                    <a:ea typeface="Tahoma" panose="020B0604030504040204" pitchFamily="34" charset="0"/>
                    <a:cs typeface="Tahoma" panose="020B0604030504040204" pitchFamily="34" charset="0"/>
                  </a:rPr>
                  <a:t> </a:t>
                </a:r>
                <a:endParaRPr lang="ru-RU" dirty="0"/>
              </a:p>
            </p:txBody>
          </p:sp>
        </mc:Choice>
        <mc:Fallback>
          <p:sp>
            <p:nvSpPr>
              <p:cNvPr id="6" name="Прямоугольник 5"/>
              <p:cNvSpPr>
                <a:spLocks noRot="1" noChangeAspect="1" noMove="1" noResize="1" noEditPoints="1" noAdjustHandles="1" noChangeArrowheads="1" noChangeShapeType="1" noTextEdit="1"/>
              </p:cNvSpPr>
              <p:nvPr/>
            </p:nvSpPr>
            <p:spPr>
              <a:xfrm>
                <a:off x="5148176" y="785426"/>
                <a:ext cx="1224136" cy="369332"/>
              </a:xfrm>
              <a:prstGeom prst="rect">
                <a:avLst/>
              </a:prstGeom>
              <a:blipFill>
                <a:blip r:embed="rId3"/>
                <a:stretch>
                  <a:fillRect b="-1667"/>
                </a:stretch>
              </a:blipFill>
            </p:spPr>
            <p:txBody>
              <a:bodyPr/>
              <a:lstStyle/>
              <a:p>
                <a:r>
                  <a:rPr lang="ru-RU">
                    <a:noFill/>
                  </a:rPr>
                  <a:t> </a:t>
                </a:r>
              </a:p>
            </p:txBody>
          </p:sp>
        </mc:Fallback>
      </mc:AlternateContent>
      <p:sp>
        <p:nvSpPr>
          <p:cNvPr id="7" name="Прямоугольник 6"/>
          <p:cNvSpPr/>
          <p:nvPr/>
        </p:nvSpPr>
        <p:spPr>
          <a:xfrm>
            <a:off x="1541255" y="1267575"/>
            <a:ext cx="8435189" cy="1107996"/>
          </a:xfrm>
          <a:prstGeom prst="rect">
            <a:avLst/>
          </a:prstGeom>
        </p:spPr>
        <p:txBody>
          <a:bodyPr wrap="square">
            <a:spAutoFit/>
          </a:bodyPr>
          <a:lstStyle/>
          <a:p>
            <a:pPr algn="just">
              <a:lnSpc>
                <a:spcPct val="150000"/>
              </a:lnSpc>
            </a:pPr>
            <a:r>
              <a:rPr lang="ru-RU" sz="1100" dirty="0">
                <a:solidFill>
                  <a:schemeClr val="bg1"/>
                </a:solidFill>
                <a:latin typeface="Tahoma" panose="020B0604030504040204" pitchFamily="34" charset="0"/>
                <a:ea typeface="Tahoma" panose="020B0604030504040204" pitchFamily="34" charset="0"/>
                <a:cs typeface="Tahoma" panose="020B0604030504040204" pitchFamily="34" charset="0"/>
              </a:rPr>
              <a:t>где </a:t>
            </a:r>
            <a:r>
              <a:rPr lang="ru-RU" sz="1100" i="1" dirty="0">
                <a:solidFill>
                  <a:schemeClr val="bg1"/>
                </a:solidFill>
                <a:latin typeface="Tahoma" panose="020B0604030504040204" pitchFamily="34" charset="0"/>
                <a:ea typeface="Tahoma" panose="020B0604030504040204" pitchFamily="34" charset="0"/>
                <a:cs typeface="Tahoma" panose="020B0604030504040204" pitchFamily="34" charset="0"/>
              </a:rPr>
              <a:t>V</a:t>
            </a:r>
            <a:r>
              <a:rPr lang="ru-RU" sz="1100" dirty="0">
                <a:solidFill>
                  <a:schemeClr val="bg1"/>
                </a:solidFill>
                <a:latin typeface="Tahoma" panose="020B0604030504040204" pitchFamily="34" charset="0"/>
                <a:ea typeface="Tahoma" panose="020B0604030504040204" pitchFamily="34" charset="0"/>
                <a:cs typeface="Tahoma" panose="020B0604030504040204" pitchFamily="34" charset="0"/>
              </a:rPr>
              <a:t> – пиковое значение скорости смещения, в зависимости от применяемого подхода (</a:t>
            </a:r>
            <a:r>
              <a:rPr lang="en-US" sz="1100" i="1" dirty="0">
                <a:solidFill>
                  <a:schemeClr val="bg1"/>
                </a:solidFill>
                <a:latin typeface="Tahoma" panose="020B0604030504040204" pitchFamily="34" charset="0"/>
                <a:ea typeface="Tahoma" panose="020B0604030504040204" pitchFamily="34" charset="0"/>
                <a:cs typeface="Tahoma" panose="020B0604030504040204" pitchFamily="34" charset="0"/>
              </a:rPr>
              <a:t>V</a:t>
            </a:r>
            <a:r>
              <a:rPr lang="ru-RU" sz="1100" i="1" baseline="-25000" dirty="0">
                <a:solidFill>
                  <a:schemeClr val="bg1"/>
                </a:solidFill>
                <a:latin typeface="Tahoma" panose="020B0604030504040204" pitchFamily="34" charset="0"/>
                <a:ea typeface="Tahoma" panose="020B0604030504040204" pitchFamily="34" charset="0"/>
                <a:cs typeface="Tahoma" panose="020B0604030504040204" pitchFamily="34" charset="0"/>
              </a:rPr>
              <a:t>САД</a:t>
            </a:r>
            <a:r>
              <a:rPr lang="ru-RU" sz="1100" i="1"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1100" i="1" dirty="0" err="1">
                <a:solidFill>
                  <a:schemeClr val="bg1"/>
                </a:solidFill>
                <a:latin typeface="Tahoma" panose="020B0604030504040204" pitchFamily="34" charset="0"/>
                <a:ea typeface="Tahoma" panose="020B0604030504040204" pitchFamily="34" charset="0"/>
                <a:cs typeface="Tahoma" panose="020B0604030504040204" pitchFamily="34" charset="0"/>
              </a:rPr>
              <a:t>PVS</a:t>
            </a:r>
            <a:r>
              <a:rPr lang="en-US" sz="1100" i="1" baseline="-25000" dirty="0" err="1">
                <a:solidFill>
                  <a:schemeClr val="bg1"/>
                </a:solidFill>
                <a:latin typeface="Tahoma" panose="020B0604030504040204" pitchFamily="34" charset="0"/>
                <a:ea typeface="Tahoma" panose="020B0604030504040204" pitchFamily="34" charset="0"/>
                <a:cs typeface="Tahoma" panose="020B0604030504040204" pitchFamily="34" charset="0"/>
              </a:rPr>
              <a:t>max</a:t>
            </a:r>
            <a:r>
              <a:rPr lang="ru-RU" sz="1100" i="1"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1100" i="1" dirty="0">
                <a:solidFill>
                  <a:schemeClr val="bg1"/>
                </a:solidFill>
                <a:latin typeface="Tahoma" panose="020B0604030504040204" pitchFamily="34" charset="0"/>
                <a:ea typeface="Tahoma" panose="020B0604030504040204" pitchFamily="34" charset="0"/>
                <a:cs typeface="Tahoma" panose="020B0604030504040204" pitchFamily="34" charset="0"/>
              </a:rPr>
              <a:t>PP</a:t>
            </a:r>
            <a:r>
              <a:rPr lang="ru-RU" sz="1100" i="1" dirty="0">
                <a:solidFill>
                  <a:schemeClr val="bg1"/>
                </a:solidFill>
                <a:latin typeface="Tahoma" panose="020B0604030504040204" pitchFamily="34" charset="0"/>
                <a:ea typeface="Tahoma" panose="020B0604030504040204" pitchFamily="34" charset="0"/>
                <a:cs typeface="Tahoma" panose="020B0604030504040204" pitchFamily="34" charset="0"/>
              </a:rPr>
              <a:t>V</a:t>
            </a:r>
            <a:r>
              <a:rPr lang="en-US" sz="1100" i="1" baseline="-25000" dirty="0">
                <a:solidFill>
                  <a:schemeClr val="bg1"/>
                </a:solidFill>
                <a:latin typeface="Tahoma" panose="020B0604030504040204" pitchFamily="34" charset="0"/>
                <a:ea typeface="Tahoma" panose="020B0604030504040204" pitchFamily="34" charset="0"/>
                <a:cs typeface="Tahoma" panose="020B0604030504040204" pitchFamily="34" charset="0"/>
              </a:rPr>
              <a:t>x</a:t>
            </a:r>
            <a:r>
              <a:rPr lang="ru-RU" sz="1100" i="1"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1100" i="1" dirty="0">
                <a:solidFill>
                  <a:schemeClr val="bg1"/>
                </a:solidFill>
                <a:latin typeface="Tahoma" panose="020B0604030504040204" pitchFamily="34" charset="0"/>
                <a:ea typeface="Tahoma" panose="020B0604030504040204" pitchFamily="34" charset="0"/>
                <a:cs typeface="Tahoma" panose="020B0604030504040204" pitchFamily="34" charset="0"/>
              </a:rPr>
              <a:t>PP</a:t>
            </a:r>
            <a:r>
              <a:rPr lang="ru-RU" sz="1100" i="1" dirty="0">
                <a:solidFill>
                  <a:schemeClr val="bg1"/>
                </a:solidFill>
                <a:latin typeface="Tahoma" panose="020B0604030504040204" pitchFamily="34" charset="0"/>
                <a:ea typeface="Tahoma" panose="020B0604030504040204" pitchFamily="34" charset="0"/>
                <a:cs typeface="Tahoma" panose="020B0604030504040204" pitchFamily="34" charset="0"/>
              </a:rPr>
              <a:t>V</a:t>
            </a:r>
            <a:r>
              <a:rPr lang="en-US" sz="1100" i="1" baseline="-25000" dirty="0">
                <a:solidFill>
                  <a:schemeClr val="bg1"/>
                </a:solidFill>
                <a:latin typeface="Tahoma" panose="020B0604030504040204" pitchFamily="34" charset="0"/>
                <a:ea typeface="Tahoma" panose="020B0604030504040204" pitchFamily="34" charset="0"/>
                <a:cs typeface="Tahoma" panose="020B0604030504040204" pitchFamily="34" charset="0"/>
              </a:rPr>
              <a:t>y</a:t>
            </a:r>
            <a:r>
              <a:rPr lang="ru-RU" sz="1100" i="1"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1100" i="1" dirty="0">
                <a:solidFill>
                  <a:schemeClr val="bg1"/>
                </a:solidFill>
                <a:latin typeface="Tahoma" panose="020B0604030504040204" pitchFamily="34" charset="0"/>
                <a:ea typeface="Tahoma" panose="020B0604030504040204" pitchFamily="34" charset="0"/>
                <a:cs typeface="Tahoma" panose="020B0604030504040204" pitchFamily="34" charset="0"/>
              </a:rPr>
              <a:t>PP</a:t>
            </a:r>
            <a:r>
              <a:rPr lang="ru-RU" sz="1100" i="1" dirty="0">
                <a:solidFill>
                  <a:schemeClr val="bg1"/>
                </a:solidFill>
                <a:latin typeface="Tahoma" panose="020B0604030504040204" pitchFamily="34" charset="0"/>
                <a:ea typeface="Tahoma" panose="020B0604030504040204" pitchFamily="34" charset="0"/>
                <a:cs typeface="Tahoma" panose="020B0604030504040204" pitchFamily="34" charset="0"/>
              </a:rPr>
              <a:t>V</a:t>
            </a:r>
            <a:r>
              <a:rPr lang="en-US" sz="1100" i="1" baseline="-25000" dirty="0">
                <a:solidFill>
                  <a:schemeClr val="bg1"/>
                </a:solidFill>
                <a:latin typeface="Tahoma" panose="020B0604030504040204" pitchFamily="34" charset="0"/>
                <a:ea typeface="Tahoma" panose="020B0604030504040204" pitchFamily="34" charset="0"/>
                <a:cs typeface="Tahoma" panose="020B0604030504040204" pitchFamily="34" charset="0"/>
              </a:rPr>
              <a:t>z</a:t>
            </a:r>
            <a:r>
              <a:rPr lang="ru-RU" sz="1100" dirty="0">
                <a:solidFill>
                  <a:schemeClr val="bg1"/>
                </a:solidFill>
                <a:latin typeface="Tahoma" panose="020B0604030504040204" pitchFamily="34" charset="0"/>
                <a:ea typeface="Tahoma" panose="020B0604030504040204" pitchFamily="34" charset="0"/>
                <a:cs typeface="Tahoma" panose="020B0604030504040204" pitchFamily="34" charset="0"/>
              </a:rPr>
              <a:t>), см/с;</a:t>
            </a:r>
          </a:p>
          <a:p>
            <a:pPr algn="just">
              <a:lnSpc>
                <a:spcPct val="150000"/>
              </a:lnSpc>
            </a:pPr>
            <a:r>
              <a:rPr lang="ru-RU" sz="1100" i="1" dirty="0">
                <a:solidFill>
                  <a:schemeClr val="bg1"/>
                </a:solidFill>
                <a:latin typeface="Tahoma" panose="020B0604030504040204" pitchFamily="34" charset="0"/>
                <a:ea typeface="Tahoma" panose="020B0604030504040204" pitchFamily="34" charset="0"/>
                <a:cs typeface="Tahoma" panose="020B0604030504040204" pitchFamily="34" charset="0"/>
              </a:rPr>
              <a:t>K</a:t>
            </a:r>
            <a:r>
              <a:rPr lang="ru-RU" sz="1100" dirty="0">
                <a:solidFill>
                  <a:schemeClr val="bg1"/>
                </a:solidFill>
                <a:latin typeface="Tahoma" panose="020B0604030504040204" pitchFamily="34" charset="0"/>
                <a:ea typeface="Tahoma" panose="020B0604030504040204" pitchFamily="34" charset="0"/>
                <a:cs typeface="Tahoma" panose="020B0604030504040204" pitchFamily="34" charset="0"/>
              </a:rPr>
              <a:t> – коэффициент сейсмичности, зависящий от условий взрывания и физико-механических характеристик среды;</a:t>
            </a:r>
          </a:p>
          <a:p>
            <a:pPr algn="just">
              <a:lnSpc>
                <a:spcPct val="150000"/>
              </a:lnSpc>
            </a:pPr>
            <a:r>
              <a:rPr lang="ru-RU" sz="1100" i="1" dirty="0">
                <a:solidFill>
                  <a:schemeClr val="bg1"/>
                </a:solidFill>
                <a:latin typeface="Tahoma" panose="020B0604030504040204" pitchFamily="34" charset="0"/>
                <a:ea typeface="Tahoma" panose="020B0604030504040204" pitchFamily="34" charset="0"/>
                <a:cs typeface="Tahoma" panose="020B0604030504040204" pitchFamily="34" charset="0"/>
              </a:rPr>
              <a:t>n</a:t>
            </a:r>
            <a:r>
              <a:rPr lang="ru-RU" sz="1100" dirty="0">
                <a:solidFill>
                  <a:schemeClr val="bg1"/>
                </a:solidFill>
                <a:latin typeface="Tahoma" panose="020B0604030504040204" pitchFamily="34" charset="0"/>
                <a:ea typeface="Tahoma" panose="020B0604030504040204" pitchFamily="34" charset="0"/>
                <a:cs typeface="Tahoma" panose="020B0604030504040204" pitchFamily="34" charset="0"/>
              </a:rPr>
              <a:t> – показатель затухания сейсмовзрывной волны с расстоянием, отражающий характер преобладающего типа волны;</a:t>
            </a:r>
          </a:p>
          <a:p>
            <a:pPr algn="just">
              <a:lnSpc>
                <a:spcPct val="150000"/>
              </a:lnSpc>
            </a:pPr>
            <a:r>
              <a:rPr lang="en-US" sz="1100" i="1" dirty="0">
                <a:solidFill>
                  <a:schemeClr val="bg1"/>
                </a:solidFill>
                <a:latin typeface="Tahoma" panose="020B0604030504040204" pitchFamily="34" charset="0"/>
                <a:ea typeface="Tahoma" panose="020B0604030504040204" pitchFamily="34" charset="0"/>
                <a:cs typeface="Tahoma" panose="020B0604030504040204" pitchFamily="34" charset="0"/>
              </a:rPr>
              <a:t>r</a:t>
            </a:r>
            <a:r>
              <a:rPr lang="ru-RU" sz="1100" i="1" baseline="-25000" dirty="0">
                <a:solidFill>
                  <a:schemeClr val="bg1"/>
                </a:solidFill>
                <a:latin typeface="Tahoma" panose="020B0604030504040204" pitchFamily="34" charset="0"/>
                <a:ea typeface="Tahoma" panose="020B0604030504040204" pitchFamily="34" charset="0"/>
                <a:cs typeface="Tahoma" panose="020B0604030504040204" pitchFamily="34" charset="0"/>
              </a:rPr>
              <a:t>П</a:t>
            </a:r>
            <a:r>
              <a:rPr lang="ru-RU" sz="1100" i="1" dirty="0">
                <a:solidFill>
                  <a:schemeClr val="bg1"/>
                </a:solidFill>
                <a:latin typeface="Tahoma" panose="020B0604030504040204" pitchFamily="34" charset="0"/>
                <a:ea typeface="Tahoma" panose="020B0604030504040204" pitchFamily="34" charset="0"/>
                <a:cs typeface="Tahoma" panose="020B0604030504040204" pitchFamily="34" charset="0"/>
              </a:rPr>
              <a:t> – </a:t>
            </a:r>
            <a:r>
              <a:rPr lang="ru-RU" sz="1100" dirty="0">
                <a:solidFill>
                  <a:schemeClr val="bg1"/>
                </a:solidFill>
                <a:latin typeface="Tahoma" panose="020B0604030504040204" pitchFamily="34" charset="0"/>
                <a:ea typeface="Tahoma" panose="020B0604030504040204" pitchFamily="34" charset="0"/>
                <a:cs typeface="Tahoma" panose="020B0604030504040204" pitchFamily="34" charset="0"/>
              </a:rPr>
              <a:t>приведенное расстояние.</a:t>
            </a:r>
          </a:p>
        </p:txBody>
      </p:sp>
      <p:sp>
        <p:nvSpPr>
          <p:cNvPr id="8" name="Прямоугольник 7">
            <a:extLst>
              <a:ext uri="{FF2B5EF4-FFF2-40B4-BE49-F238E27FC236}">
                <a16:creationId xmlns:a16="http://schemas.microsoft.com/office/drawing/2014/main" id="{B0E5AE17-1417-5ECA-97F4-41D227A6734C}"/>
              </a:ext>
            </a:extLst>
          </p:cNvPr>
          <p:cNvSpPr/>
          <p:nvPr/>
        </p:nvSpPr>
        <p:spPr>
          <a:xfrm>
            <a:off x="-2788" y="4413630"/>
            <a:ext cx="11523276" cy="2067502"/>
          </a:xfrm>
          <a:prstGeom prst="rect">
            <a:avLst/>
          </a:prstGeom>
          <a:solidFill>
            <a:srgbClr val="0077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Прямоугольник 8"/>
          <p:cNvSpPr/>
          <p:nvPr/>
        </p:nvSpPr>
        <p:spPr>
          <a:xfrm>
            <a:off x="1046684" y="2802750"/>
            <a:ext cx="10285537" cy="276999"/>
          </a:xfrm>
          <a:prstGeom prst="rect">
            <a:avLst/>
          </a:prstGeom>
        </p:spPr>
        <p:txBody>
          <a:bodyPr wrap="square">
            <a:spAutoFit/>
          </a:bodyPr>
          <a:lstStyle/>
          <a:p>
            <a:r>
              <a:rPr lang="ru-RU" sz="1200" dirty="0">
                <a:solidFill>
                  <a:srgbClr val="0077C8"/>
                </a:solidFill>
                <a:latin typeface="Tahoma" panose="020B0604030504040204" pitchFamily="34" charset="0"/>
                <a:ea typeface="Tahoma" panose="020B0604030504040204" pitchFamily="34" charset="0"/>
                <a:cs typeface="Tahoma" panose="020B0604030504040204" pitchFamily="34" charset="0"/>
              </a:rPr>
              <a:t>Различные нормативные документы и научные исследования принимают в качестве значения пиковой скорости</a:t>
            </a:r>
            <a:r>
              <a:rPr lang="en-US" sz="1200" dirty="0">
                <a:solidFill>
                  <a:srgbClr val="0077C8"/>
                </a:solidFill>
                <a:latin typeface="Tahoma" panose="020B0604030504040204" pitchFamily="34" charset="0"/>
                <a:ea typeface="Tahoma" panose="020B0604030504040204" pitchFamily="34" charset="0"/>
                <a:cs typeface="Tahoma" panose="020B0604030504040204" pitchFamily="34" charset="0"/>
              </a:rPr>
              <a:t> </a:t>
            </a:r>
            <a:r>
              <a:rPr lang="ru-RU" sz="1200" dirty="0">
                <a:solidFill>
                  <a:srgbClr val="0077C8"/>
                </a:solidFill>
                <a:latin typeface="Tahoma" panose="020B0604030504040204" pitchFamily="34" charset="0"/>
                <a:ea typeface="Tahoma" panose="020B0604030504040204" pitchFamily="34" charset="0"/>
                <a:cs typeface="Tahoma" panose="020B0604030504040204" pitchFamily="34" charset="0"/>
              </a:rPr>
              <a:t>V разные показатели:</a:t>
            </a:r>
          </a:p>
        </p:txBody>
      </p:sp>
      <p:sp>
        <p:nvSpPr>
          <p:cNvPr id="10" name="Прямоугольник 9"/>
          <p:cNvSpPr/>
          <p:nvPr/>
        </p:nvSpPr>
        <p:spPr>
          <a:xfrm>
            <a:off x="3058411" y="3123442"/>
            <a:ext cx="5400878" cy="1107996"/>
          </a:xfrm>
          <a:prstGeom prst="rect">
            <a:avLst/>
          </a:prstGeom>
        </p:spPr>
        <p:txBody>
          <a:bodyPr wrap="square">
            <a:spAutoFit/>
          </a:bodyPr>
          <a:lstStyle/>
          <a:p>
            <a:pPr marL="171446" indent="-171446">
              <a:lnSpc>
                <a:spcPct val="150000"/>
              </a:lnSpc>
              <a:buFont typeface="Wingdings" panose="05000000000000000000" pitchFamily="2" charset="2"/>
              <a:buChar char="q"/>
            </a:pPr>
            <a:r>
              <a:rPr lang="en-US" sz="1100" i="1" dirty="0">
                <a:solidFill>
                  <a:srgbClr val="0077C8"/>
                </a:solidFill>
                <a:latin typeface="Tahoma" panose="020B0604030504040204" pitchFamily="34" charset="0"/>
                <a:ea typeface="Tahoma" panose="020B0604030504040204" pitchFamily="34" charset="0"/>
                <a:cs typeface="Tahoma" panose="020B0604030504040204" pitchFamily="34" charset="0"/>
              </a:rPr>
              <a:t>V</a:t>
            </a:r>
            <a:r>
              <a:rPr lang="ru-RU" sz="1100" i="1" dirty="0">
                <a:solidFill>
                  <a:srgbClr val="0077C8"/>
                </a:solidFill>
                <a:latin typeface="Tahoma" panose="020B0604030504040204" pitchFamily="34" charset="0"/>
                <a:ea typeface="Tahoma" panose="020B0604030504040204" pitchFamily="34" charset="0"/>
                <a:cs typeface="Tahoma" panose="020B0604030504040204" pitchFamily="34" charset="0"/>
              </a:rPr>
              <a:t>=</a:t>
            </a:r>
            <a:r>
              <a:rPr lang="en-US" sz="1100" i="1" dirty="0" err="1">
                <a:solidFill>
                  <a:srgbClr val="0077C8"/>
                </a:solidFill>
                <a:latin typeface="Tahoma" panose="020B0604030504040204" pitchFamily="34" charset="0"/>
                <a:ea typeface="Tahoma" panose="020B0604030504040204" pitchFamily="34" charset="0"/>
                <a:cs typeface="Tahoma" panose="020B0604030504040204" pitchFamily="34" charset="0"/>
              </a:rPr>
              <a:t>PVS</a:t>
            </a:r>
            <a:r>
              <a:rPr lang="en-US" sz="1100" i="1" baseline="-25000" dirty="0" err="1">
                <a:solidFill>
                  <a:srgbClr val="0077C8"/>
                </a:solidFill>
                <a:latin typeface="Tahoma" panose="020B0604030504040204" pitchFamily="34" charset="0"/>
                <a:ea typeface="Tahoma" panose="020B0604030504040204" pitchFamily="34" charset="0"/>
                <a:cs typeface="Tahoma" panose="020B0604030504040204" pitchFamily="34" charset="0"/>
              </a:rPr>
              <a:t>max</a:t>
            </a:r>
            <a:r>
              <a:rPr lang="ru-RU" sz="1100" dirty="0">
                <a:solidFill>
                  <a:srgbClr val="0077C8"/>
                </a:solidFill>
                <a:latin typeface="Tahoma" panose="020B0604030504040204" pitchFamily="34" charset="0"/>
                <a:ea typeface="Tahoma" panose="020B0604030504040204" pitchFamily="34" charset="0"/>
                <a:cs typeface="Tahoma" panose="020B0604030504040204" pitchFamily="34" charset="0"/>
              </a:rPr>
              <a:t> принимается Австралийским и Британским</a:t>
            </a:r>
            <a:r>
              <a:rPr lang="en-US" sz="1100" dirty="0">
                <a:solidFill>
                  <a:srgbClr val="0077C8"/>
                </a:solidFill>
                <a:latin typeface="Tahoma" panose="020B0604030504040204" pitchFamily="34" charset="0"/>
                <a:ea typeface="Tahoma" panose="020B0604030504040204" pitchFamily="34" charset="0"/>
                <a:cs typeface="Tahoma" panose="020B0604030504040204" pitchFamily="34" charset="0"/>
              </a:rPr>
              <a:t> </a:t>
            </a:r>
            <a:r>
              <a:rPr lang="ru-RU" sz="1100" dirty="0">
                <a:solidFill>
                  <a:srgbClr val="0077C8"/>
                </a:solidFill>
                <a:latin typeface="Tahoma" panose="020B0604030504040204" pitchFamily="34" charset="0"/>
                <a:ea typeface="Tahoma" panose="020B0604030504040204" pitchFamily="34" charset="0"/>
                <a:cs typeface="Tahoma" panose="020B0604030504040204" pitchFamily="34" charset="0"/>
              </a:rPr>
              <a:t>стандартами;</a:t>
            </a:r>
          </a:p>
          <a:p>
            <a:pPr marL="171446" indent="-171446">
              <a:lnSpc>
                <a:spcPct val="150000"/>
              </a:lnSpc>
              <a:buFont typeface="Wingdings" panose="05000000000000000000" pitchFamily="2" charset="2"/>
              <a:buChar char="q"/>
            </a:pPr>
            <a:r>
              <a:rPr lang="en-US" sz="1100" i="1" dirty="0">
                <a:solidFill>
                  <a:srgbClr val="0077C8"/>
                </a:solidFill>
                <a:latin typeface="Tahoma" panose="020B0604030504040204" pitchFamily="34" charset="0"/>
                <a:ea typeface="Tahoma" panose="020B0604030504040204" pitchFamily="34" charset="0"/>
                <a:cs typeface="Tahoma" panose="020B0604030504040204" pitchFamily="34" charset="0"/>
              </a:rPr>
              <a:t>V</a:t>
            </a:r>
            <a:r>
              <a:rPr lang="ru-RU" sz="1100" i="1" dirty="0">
                <a:solidFill>
                  <a:srgbClr val="0077C8"/>
                </a:solidFill>
                <a:latin typeface="Tahoma" panose="020B0604030504040204" pitchFamily="34" charset="0"/>
                <a:ea typeface="Tahoma" panose="020B0604030504040204" pitchFamily="34" charset="0"/>
                <a:cs typeface="Tahoma" panose="020B0604030504040204" pitchFamily="34" charset="0"/>
              </a:rPr>
              <a:t>=</a:t>
            </a:r>
            <a:r>
              <a:rPr lang="en-US" sz="1100" i="1" dirty="0">
                <a:solidFill>
                  <a:srgbClr val="0077C8"/>
                </a:solidFill>
                <a:latin typeface="Tahoma" panose="020B0604030504040204" pitchFamily="34" charset="0"/>
                <a:ea typeface="Tahoma" panose="020B0604030504040204" pitchFamily="34" charset="0"/>
                <a:cs typeface="Tahoma" panose="020B0604030504040204" pitchFamily="34" charset="0"/>
              </a:rPr>
              <a:t>PP</a:t>
            </a:r>
            <a:r>
              <a:rPr lang="ru-RU" sz="1100" i="1" dirty="0">
                <a:solidFill>
                  <a:srgbClr val="0077C8"/>
                </a:solidFill>
                <a:latin typeface="Tahoma" panose="020B0604030504040204" pitchFamily="34" charset="0"/>
                <a:ea typeface="Tahoma" panose="020B0604030504040204" pitchFamily="34" charset="0"/>
                <a:cs typeface="Tahoma" panose="020B0604030504040204" pitchFamily="34" charset="0"/>
              </a:rPr>
              <a:t>V</a:t>
            </a:r>
            <a:r>
              <a:rPr lang="en-US" sz="1100" i="1" baseline="-25000" dirty="0">
                <a:solidFill>
                  <a:srgbClr val="0077C8"/>
                </a:solidFill>
                <a:latin typeface="Tahoma" panose="020B0604030504040204" pitchFamily="34" charset="0"/>
                <a:ea typeface="Tahoma" panose="020B0604030504040204" pitchFamily="34" charset="0"/>
                <a:cs typeface="Tahoma" panose="020B0604030504040204" pitchFamily="34" charset="0"/>
              </a:rPr>
              <a:t>z</a:t>
            </a:r>
            <a:r>
              <a:rPr lang="ru-RU" sz="1100" dirty="0">
                <a:solidFill>
                  <a:srgbClr val="0077C8"/>
                </a:solidFill>
                <a:latin typeface="Tahoma" panose="020B0604030504040204" pitchFamily="34" charset="0"/>
                <a:ea typeface="Tahoma" panose="020B0604030504040204" pitchFamily="34" charset="0"/>
                <a:cs typeface="Tahoma" panose="020B0604030504040204" pitchFamily="34" charset="0"/>
              </a:rPr>
              <a:t> принимается в скандинавских странах: Норвегии и Швеции;</a:t>
            </a:r>
          </a:p>
          <a:p>
            <a:pPr marL="171446" indent="-171446">
              <a:lnSpc>
                <a:spcPct val="150000"/>
              </a:lnSpc>
              <a:buFont typeface="Wingdings" panose="05000000000000000000" pitchFamily="2" charset="2"/>
              <a:buChar char="q"/>
            </a:pPr>
            <a:r>
              <a:rPr lang="en-US" sz="1100" i="1" dirty="0">
                <a:solidFill>
                  <a:srgbClr val="0077C8"/>
                </a:solidFill>
                <a:latin typeface="Tahoma" panose="020B0604030504040204" pitchFamily="34" charset="0"/>
                <a:ea typeface="Tahoma" panose="020B0604030504040204" pitchFamily="34" charset="0"/>
                <a:cs typeface="Tahoma" panose="020B0604030504040204" pitchFamily="34" charset="0"/>
              </a:rPr>
              <a:t>V</a:t>
            </a:r>
            <a:r>
              <a:rPr lang="ru-RU" sz="1100" i="1" dirty="0">
                <a:solidFill>
                  <a:srgbClr val="0077C8"/>
                </a:solidFill>
                <a:latin typeface="Tahoma" panose="020B0604030504040204" pitchFamily="34" charset="0"/>
                <a:ea typeface="Tahoma" panose="020B0604030504040204" pitchFamily="34" charset="0"/>
                <a:cs typeface="Tahoma" panose="020B0604030504040204" pitchFamily="34" charset="0"/>
              </a:rPr>
              <a:t>=V</a:t>
            </a:r>
            <a:r>
              <a:rPr lang="ru-RU" sz="1100" i="1" baseline="-25000" dirty="0">
                <a:solidFill>
                  <a:srgbClr val="0077C8"/>
                </a:solidFill>
                <a:latin typeface="Tahoma" panose="020B0604030504040204" pitchFamily="34" charset="0"/>
                <a:ea typeface="Tahoma" panose="020B0604030504040204" pitchFamily="34" charset="0"/>
                <a:cs typeface="Tahoma" panose="020B0604030504040204" pitchFamily="34" charset="0"/>
              </a:rPr>
              <a:t>САД</a:t>
            </a:r>
            <a:r>
              <a:rPr lang="ru-RU" sz="1100" dirty="0">
                <a:solidFill>
                  <a:srgbClr val="0077C8"/>
                </a:solidFill>
                <a:latin typeface="Tahoma" panose="020B0604030504040204" pitchFamily="34" charset="0"/>
                <a:ea typeface="Tahoma" panose="020B0604030504040204" pitchFamily="34" charset="0"/>
                <a:cs typeface="Tahoma" panose="020B0604030504040204" pitchFamily="34" charset="0"/>
              </a:rPr>
              <a:t> принимается в отечественной научной литературе;</a:t>
            </a:r>
          </a:p>
          <a:p>
            <a:pPr marL="171446" indent="-171446">
              <a:lnSpc>
                <a:spcPct val="150000"/>
              </a:lnSpc>
              <a:buFont typeface="Wingdings" panose="05000000000000000000" pitchFamily="2" charset="2"/>
              <a:buChar char="q"/>
            </a:pPr>
            <a:r>
              <a:rPr lang="en-US" sz="1100" i="1" dirty="0">
                <a:solidFill>
                  <a:srgbClr val="0077C8"/>
                </a:solidFill>
                <a:latin typeface="Tahoma" panose="020B0604030504040204" pitchFamily="34" charset="0"/>
                <a:ea typeface="Tahoma" panose="020B0604030504040204" pitchFamily="34" charset="0"/>
                <a:cs typeface="Tahoma" panose="020B0604030504040204" pitchFamily="34" charset="0"/>
              </a:rPr>
              <a:t>V</a:t>
            </a:r>
            <a:r>
              <a:rPr lang="ru-RU" sz="1100" i="1" dirty="0">
                <a:solidFill>
                  <a:srgbClr val="0077C8"/>
                </a:solidFill>
                <a:latin typeface="Tahoma" panose="020B0604030504040204" pitchFamily="34" charset="0"/>
                <a:ea typeface="Tahoma" panose="020B0604030504040204" pitchFamily="34" charset="0"/>
                <a:cs typeface="Tahoma" panose="020B0604030504040204" pitchFamily="34" charset="0"/>
              </a:rPr>
              <a:t>=</a:t>
            </a:r>
            <a:r>
              <a:rPr lang="en-US" sz="1100" i="1" dirty="0">
                <a:solidFill>
                  <a:srgbClr val="0077C8"/>
                </a:solidFill>
                <a:latin typeface="Tahoma" panose="020B0604030504040204" pitchFamily="34" charset="0"/>
                <a:ea typeface="Tahoma" panose="020B0604030504040204" pitchFamily="34" charset="0"/>
                <a:cs typeface="Tahoma" panose="020B0604030504040204" pitchFamily="34" charset="0"/>
              </a:rPr>
              <a:t>PP</a:t>
            </a:r>
            <a:r>
              <a:rPr lang="ru-RU" sz="1100" i="1" dirty="0">
                <a:solidFill>
                  <a:srgbClr val="0077C8"/>
                </a:solidFill>
                <a:latin typeface="Tahoma" panose="020B0604030504040204" pitchFamily="34" charset="0"/>
                <a:ea typeface="Tahoma" panose="020B0604030504040204" pitchFamily="34" charset="0"/>
                <a:cs typeface="Tahoma" panose="020B0604030504040204" pitchFamily="34" charset="0"/>
              </a:rPr>
              <a:t>V</a:t>
            </a:r>
            <a:r>
              <a:rPr lang="en-US" sz="1100" i="1" baseline="-25000" dirty="0">
                <a:solidFill>
                  <a:srgbClr val="0077C8"/>
                </a:solidFill>
                <a:latin typeface="Tahoma" panose="020B0604030504040204" pitchFamily="34" charset="0"/>
                <a:ea typeface="Tahoma" panose="020B0604030504040204" pitchFamily="34" charset="0"/>
                <a:cs typeface="Tahoma" panose="020B0604030504040204" pitchFamily="34" charset="0"/>
              </a:rPr>
              <a:t>max</a:t>
            </a:r>
            <a:r>
              <a:rPr lang="ru-RU" sz="1100" dirty="0">
                <a:solidFill>
                  <a:srgbClr val="0077C8"/>
                </a:solidFill>
                <a:latin typeface="Tahoma" panose="020B0604030504040204" pitchFamily="34" charset="0"/>
                <a:ea typeface="Tahoma" panose="020B0604030504040204" pitchFamily="34" charset="0"/>
                <a:cs typeface="Tahoma" panose="020B0604030504040204" pitchFamily="34" charset="0"/>
              </a:rPr>
              <a:t> принимается отчетом Горного Бюро США и Немецким стандартом</a:t>
            </a:r>
            <a:r>
              <a:rPr lang="ru-RU" sz="1100" dirty="0">
                <a:latin typeface="Tahoma" panose="020B0604030504040204" pitchFamily="34" charset="0"/>
                <a:ea typeface="Tahoma" panose="020B0604030504040204" pitchFamily="34" charset="0"/>
                <a:cs typeface="Tahoma" panose="020B0604030504040204" pitchFamily="34" charset="0"/>
              </a:rPr>
              <a:t>.</a:t>
            </a:r>
          </a:p>
        </p:txBody>
      </p:sp>
      <mc:AlternateContent xmlns:mc="http://schemas.openxmlformats.org/markup-compatibility/2006" xmlns:a14="http://schemas.microsoft.com/office/drawing/2010/main">
        <mc:Choice Requires="a14">
          <p:sp>
            <p:nvSpPr>
              <p:cNvPr id="11" name="Прямоугольник 10"/>
              <p:cNvSpPr/>
              <p:nvPr/>
            </p:nvSpPr>
            <p:spPr>
              <a:xfrm>
                <a:off x="5056002" y="4774800"/>
                <a:ext cx="952056" cy="5507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ru-RU" sz="1600" i="1">
                              <a:solidFill>
                                <a:schemeClr val="bg1"/>
                              </a:solidFill>
                              <a:latin typeface="Cambria Math" panose="02040503050406030204" pitchFamily="18" charset="0"/>
                            </a:rPr>
                          </m:ctrlPr>
                        </m:sSubPr>
                        <m:e>
                          <m:r>
                            <a:rPr lang="ru-RU" sz="1600" i="1">
                              <a:solidFill>
                                <a:schemeClr val="bg1"/>
                              </a:solidFill>
                              <a:latin typeface="Cambria Math" panose="02040503050406030204" pitchFamily="18" charset="0"/>
                            </a:rPr>
                            <m:t>𝑟</m:t>
                          </m:r>
                        </m:e>
                        <m:sub>
                          <m:r>
                            <a:rPr lang="ru-RU" sz="1600">
                              <a:solidFill>
                                <a:schemeClr val="bg1"/>
                              </a:solidFill>
                              <a:latin typeface="Cambria Math" panose="02040503050406030204" pitchFamily="18" charset="0"/>
                            </a:rPr>
                            <m:t>П</m:t>
                          </m:r>
                        </m:sub>
                      </m:sSub>
                      <m:r>
                        <a:rPr lang="ru-RU" sz="1600">
                          <a:solidFill>
                            <a:schemeClr val="bg1"/>
                          </a:solidFill>
                          <a:latin typeface="Cambria Math" panose="02040503050406030204" pitchFamily="18" charset="0"/>
                        </a:rPr>
                        <m:t>=</m:t>
                      </m:r>
                      <m:f>
                        <m:fPr>
                          <m:ctrlPr>
                            <a:rPr lang="ru-RU" sz="1600" i="1">
                              <a:solidFill>
                                <a:schemeClr val="bg1"/>
                              </a:solidFill>
                              <a:latin typeface="Cambria Math" panose="02040503050406030204" pitchFamily="18" charset="0"/>
                            </a:rPr>
                          </m:ctrlPr>
                        </m:fPr>
                        <m:num>
                          <m:r>
                            <a:rPr lang="ru-RU" sz="1600" i="1">
                              <a:solidFill>
                                <a:schemeClr val="bg1"/>
                              </a:solidFill>
                              <a:latin typeface="Cambria Math" panose="02040503050406030204" pitchFamily="18" charset="0"/>
                            </a:rPr>
                            <m:t>𝑟</m:t>
                          </m:r>
                        </m:num>
                        <m:den>
                          <m:sSup>
                            <m:sSupPr>
                              <m:ctrlPr>
                                <a:rPr lang="ru-RU" sz="1600" i="1">
                                  <a:solidFill>
                                    <a:schemeClr val="bg1"/>
                                  </a:solidFill>
                                  <a:latin typeface="Cambria Math" panose="02040503050406030204" pitchFamily="18" charset="0"/>
                                </a:rPr>
                              </m:ctrlPr>
                            </m:sSupPr>
                            <m:e>
                              <m:r>
                                <a:rPr lang="ru-RU" sz="1600" i="1">
                                  <a:solidFill>
                                    <a:schemeClr val="bg1"/>
                                  </a:solidFill>
                                  <a:latin typeface="Cambria Math" panose="02040503050406030204" pitchFamily="18" charset="0"/>
                                </a:rPr>
                                <m:t>𝑄</m:t>
                              </m:r>
                            </m:e>
                            <m:sup>
                              <m:r>
                                <a:rPr lang="ru-RU" sz="1600" i="1">
                                  <a:solidFill>
                                    <a:schemeClr val="bg1"/>
                                  </a:solidFill>
                                  <a:latin typeface="Cambria Math" panose="02040503050406030204" pitchFamily="18" charset="0"/>
                                </a:rPr>
                                <m:t>𝑎</m:t>
                              </m:r>
                            </m:sup>
                          </m:sSup>
                        </m:den>
                      </m:f>
                    </m:oMath>
                  </m:oMathPara>
                </a14:m>
                <a:endParaRPr lang="ru-RU" sz="1600" dirty="0"/>
              </a:p>
            </p:txBody>
          </p:sp>
        </mc:Choice>
        <mc:Fallback xmlns="">
          <p:sp>
            <p:nvSpPr>
              <p:cNvPr id="11" name="Прямоугольник 10"/>
              <p:cNvSpPr>
                <a:spLocks noRot="1" noChangeAspect="1" noMove="1" noResize="1" noEditPoints="1" noAdjustHandles="1" noChangeArrowheads="1" noChangeShapeType="1" noTextEdit="1"/>
              </p:cNvSpPr>
              <p:nvPr/>
            </p:nvSpPr>
            <p:spPr>
              <a:xfrm>
                <a:off x="5056002" y="4774800"/>
                <a:ext cx="952056" cy="550728"/>
              </a:xfrm>
              <a:prstGeom prst="rect">
                <a:avLst/>
              </a:prstGeom>
              <a:blipFill>
                <a:blip r:embed="rId4"/>
                <a:stretch>
                  <a:fillRect b="-5495"/>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2" name="Прямоугольник 11"/>
              <p:cNvSpPr/>
              <p:nvPr/>
            </p:nvSpPr>
            <p:spPr>
              <a:xfrm>
                <a:off x="8459289" y="4701136"/>
                <a:ext cx="1800200" cy="67415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ru-RU" sz="16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𝑉</m:t>
                      </m:r>
                      <m:r>
                        <a:rPr lang="ru-RU" sz="16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r>
                        <a:rPr lang="ru-RU" sz="16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𝐾</m:t>
                      </m:r>
                      <m:r>
                        <a:rPr lang="ru-RU" sz="16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ru-RU" sz="1600" i="1">
                              <a:solidFill>
                                <a:schemeClr val="bg1"/>
                              </a:solidFill>
                              <a:latin typeface="Cambria Math" panose="02040503050406030204" pitchFamily="18" charset="0"/>
                              <a:cs typeface="Times New Roman" panose="02020603050405020304" pitchFamily="18" charset="0"/>
                            </a:rPr>
                          </m:ctrlPr>
                        </m:sSupPr>
                        <m:e>
                          <m:d>
                            <m:dPr>
                              <m:ctrlPr>
                                <a:rPr lang="ru-RU" sz="1600" i="1">
                                  <a:solidFill>
                                    <a:schemeClr val="bg1"/>
                                  </a:solidFill>
                                  <a:latin typeface="Cambria Math" panose="02040503050406030204" pitchFamily="18" charset="0"/>
                                  <a:cs typeface="Times New Roman" panose="02020603050405020304" pitchFamily="18" charset="0"/>
                                </a:rPr>
                              </m:ctrlPr>
                            </m:dPr>
                            <m:e>
                              <m:f>
                                <m:fPr>
                                  <m:ctrlPr>
                                    <a:rPr lang="ru-RU" sz="1600" i="1">
                                      <a:solidFill>
                                        <a:schemeClr val="bg1"/>
                                      </a:solidFill>
                                      <a:latin typeface="Cambria Math" panose="02040503050406030204" pitchFamily="18" charset="0"/>
                                      <a:cs typeface="Times New Roman" panose="02020603050405020304" pitchFamily="18" charset="0"/>
                                    </a:rPr>
                                  </m:ctrlPr>
                                </m:fPr>
                                <m:num>
                                  <m:r>
                                    <a:rPr lang="en-US" sz="1600" i="1">
                                      <a:solidFill>
                                        <a:schemeClr val="bg1"/>
                                      </a:solidFill>
                                      <a:latin typeface="Cambria Math" panose="02040503050406030204" pitchFamily="18" charset="0"/>
                                      <a:cs typeface="Times New Roman" panose="02020603050405020304" pitchFamily="18" charset="0"/>
                                    </a:rPr>
                                    <m:t>𝑟</m:t>
                                  </m:r>
                                </m:num>
                                <m:den>
                                  <m:rad>
                                    <m:radPr>
                                      <m:ctrlPr>
                                        <a:rPr lang="en-US" sz="1600" i="1">
                                          <a:solidFill>
                                            <a:schemeClr val="bg1"/>
                                          </a:solidFill>
                                          <a:latin typeface="Cambria Math" panose="02040503050406030204" pitchFamily="18" charset="0"/>
                                          <a:cs typeface="Times New Roman" panose="02020603050405020304" pitchFamily="18" charset="0"/>
                                        </a:rPr>
                                      </m:ctrlPr>
                                    </m:radPr>
                                    <m:deg>
                                      <m:r>
                                        <a:rPr lang="en-US" sz="1600" i="1">
                                          <a:solidFill>
                                            <a:schemeClr val="bg1"/>
                                          </a:solidFill>
                                          <a:latin typeface="Cambria Math" panose="02040503050406030204" pitchFamily="18" charset="0"/>
                                          <a:cs typeface="Times New Roman" panose="02020603050405020304" pitchFamily="18" charset="0"/>
                                        </a:rPr>
                                        <m:t>3</m:t>
                                      </m:r>
                                    </m:deg>
                                    <m:e>
                                      <m:r>
                                        <a:rPr lang="en-US" sz="1600" i="1">
                                          <a:solidFill>
                                            <a:schemeClr val="bg1"/>
                                          </a:solidFill>
                                          <a:latin typeface="Cambria Math" panose="02040503050406030204" pitchFamily="18" charset="0"/>
                                          <a:cs typeface="Times New Roman" panose="02020603050405020304" pitchFamily="18" charset="0"/>
                                        </a:rPr>
                                        <m:t>𝑄</m:t>
                                      </m:r>
                                    </m:e>
                                  </m:rad>
                                </m:den>
                              </m:f>
                            </m:e>
                          </m:d>
                        </m:e>
                        <m:sup>
                          <m:r>
                            <a:rPr lang="en-US" sz="1600" i="1">
                              <a:solidFill>
                                <a:schemeClr val="bg1"/>
                              </a:solidFill>
                              <a:latin typeface="Cambria Math" panose="02040503050406030204" pitchFamily="18" charset="0"/>
                              <a:cs typeface="Times New Roman" panose="02020603050405020304" pitchFamily="18" charset="0"/>
                            </a:rPr>
                            <m:t>−</m:t>
                          </m:r>
                          <m:r>
                            <a:rPr lang="en-US" sz="1600" i="1">
                              <a:solidFill>
                                <a:schemeClr val="bg1"/>
                              </a:solidFill>
                              <a:latin typeface="Cambria Math" panose="02040503050406030204" pitchFamily="18" charset="0"/>
                              <a:cs typeface="Times New Roman" panose="02020603050405020304" pitchFamily="18" charset="0"/>
                            </a:rPr>
                            <m:t>𝑛</m:t>
                          </m:r>
                        </m:sup>
                      </m:sSup>
                    </m:oMath>
                  </m:oMathPara>
                </a14:m>
                <a:endParaRPr lang="ru-RU" dirty="0"/>
              </a:p>
            </p:txBody>
          </p:sp>
        </mc:Choice>
        <mc:Fallback>
          <p:sp>
            <p:nvSpPr>
              <p:cNvPr id="12" name="Прямоугольник 11"/>
              <p:cNvSpPr>
                <a:spLocks noRot="1" noChangeAspect="1" noMove="1" noResize="1" noEditPoints="1" noAdjustHandles="1" noChangeArrowheads="1" noChangeShapeType="1" noTextEdit="1"/>
              </p:cNvSpPr>
              <p:nvPr/>
            </p:nvSpPr>
            <p:spPr>
              <a:xfrm>
                <a:off x="8459289" y="4701136"/>
                <a:ext cx="1800200" cy="674159"/>
              </a:xfrm>
              <a:prstGeom prst="rect">
                <a:avLst/>
              </a:prstGeom>
              <a:blipFill>
                <a:blip r:embed="rId5"/>
                <a:stretch>
                  <a:fillRect/>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3" name="Прямоугольник 12"/>
              <p:cNvSpPr/>
              <p:nvPr/>
            </p:nvSpPr>
            <p:spPr>
              <a:xfrm>
                <a:off x="1046684" y="4712300"/>
                <a:ext cx="1816394" cy="67415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ru-RU" sz="16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𝑉</m:t>
                      </m:r>
                      <m:r>
                        <a:rPr lang="ru-RU" sz="16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r>
                        <a:rPr lang="ru-RU" sz="16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𝐾</m:t>
                      </m:r>
                      <m:r>
                        <a:rPr lang="ru-RU" sz="16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ru-RU" sz="1600" i="1">
                              <a:solidFill>
                                <a:schemeClr val="bg1"/>
                              </a:solidFill>
                              <a:latin typeface="Cambria Math" panose="02040503050406030204" pitchFamily="18" charset="0"/>
                              <a:cs typeface="Times New Roman" panose="02020603050405020304" pitchFamily="18" charset="0"/>
                            </a:rPr>
                          </m:ctrlPr>
                        </m:sSupPr>
                        <m:e>
                          <m:d>
                            <m:dPr>
                              <m:ctrlPr>
                                <a:rPr lang="ru-RU" sz="1600" i="1">
                                  <a:solidFill>
                                    <a:schemeClr val="bg1"/>
                                  </a:solidFill>
                                  <a:latin typeface="Cambria Math" panose="02040503050406030204" pitchFamily="18" charset="0"/>
                                  <a:cs typeface="Times New Roman" panose="02020603050405020304" pitchFamily="18" charset="0"/>
                                </a:rPr>
                              </m:ctrlPr>
                            </m:dPr>
                            <m:e>
                              <m:f>
                                <m:fPr>
                                  <m:ctrlPr>
                                    <a:rPr lang="ru-RU" sz="1600" i="1">
                                      <a:solidFill>
                                        <a:schemeClr val="bg1"/>
                                      </a:solidFill>
                                      <a:latin typeface="Cambria Math" panose="02040503050406030204" pitchFamily="18" charset="0"/>
                                      <a:cs typeface="Times New Roman" panose="02020603050405020304" pitchFamily="18" charset="0"/>
                                    </a:rPr>
                                  </m:ctrlPr>
                                </m:fPr>
                                <m:num>
                                  <m:r>
                                    <a:rPr lang="en-US" sz="1600" i="1">
                                      <a:solidFill>
                                        <a:schemeClr val="bg1"/>
                                      </a:solidFill>
                                      <a:latin typeface="Cambria Math" panose="02040503050406030204" pitchFamily="18" charset="0"/>
                                      <a:cs typeface="Times New Roman" panose="02020603050405020304" pitchFamily="18" charset="0"/>
                                    </a:rPr>
                                    <m:t>𝑟</m:t>
                                  </m:r>
                                </m:num>
                                <m:den>
                                  <m:rad>
                                    <m:radPr>
                                      <m:degHide m:val="on"/>
                                      <m:ctrlPr>
                                        <a:rPr lang="ru-RU" sz="1600" i="1">
                                          <a:solidFill>
                                            <a:schemeClr val="bg1"/>
                                          </a:solidFill>
                                          <a:latin typeface="Cambria Math" panose="02040503050406030204" pitchFamily="18" charset="0"/>
                                          <a:cs typeface="Times New Roman" panose="02020603050405020304" pitchFamily="18" charset="0"/>
                                        </a:rPr>
                                      </m:ctrlPr>
                                    </m:radPr>
                                    <m:deg/>
                                    <m:e>
                                      <m:r>
                                        <a:rPr lang="en-US" sz="1600" i="1">
                                          <a:solidFill>
                                            <a:schemeClr val="bg1"/>
                                          </a:solidFill>
                                          <a:latin typeface="Cambria Math" panose="02040503050406030204" pitchFamily="18" charset="0"/>
                                          <a:cs typeface="Times New Roman" panose="02020603050405020304" pitchFamily="18" charset="0"/>
                                        </a:rPr>
                                        <m:t>𝑄</m:t>
                                      </m:r>
                                    </m:e>
                                  </m:rad>
                                </m:den>
                              </m:f>
                            </m:e>
                          </m:d>
                        </m:e>
                        <m:sup>
                          <m:r>
                            <a:rPr lang="en-US" sz="1600" i="1">
                              <a:solidFill>
                                <a:schemeClr val="bg1"/>
                              </a:solidFill>
                              <a:latin typeface="Cambria Math" panose="02040503050406030204" pitchFamily="18" charset="0"/>
                              <a:cs typeface="Times New Roman" panose="02020603050405020304" pitchFamily="18" charset="0"/>
                            </a:rPr>
                            <m:t>−</m:t>
                          </m:r>
                          <m:r>
                            <a:rPr lang="en-US" sz="1600" i="1">
                              <a:solidFill>
                                <a:schemeClr val="bg1"/>
                              </a:solidFill>
                              <a:latin typeface="Cambria Math" panose="02040503050406030204" pitchFamily="18" charset="0"/>
                              <a:cs typeface="Times New Roman" panose="02020603050405020304" pitchFamily="18" charset="0"/>
                            </a:rPr>
                            <m:t>𝑛</m:t>
                          </m:r>
                        </m:sup>
                      </m:sSup>
                    </m:oMath>
                  </m:oMathPara>
                </a14:m>
                <a:endParaRPr lang="ru-RU" dirty="0"/>
              </a:p>
            </p:txBody>
          </p:sp>
        </mc:Choice>
        <mc:Fallback>
          <p:sp>
            <p:nvSpPr>
              <p:cNvPr id="13" name="Прямоугольник 12"/>
              <p:cNvSpPr>
                <a:spLocks noRot="1" noChangeAspect="1" noMove="1" noResize="1" noEditPoints="1" noAdjustHandles="1" noChangeArrowheads="1" noChangeShapeType="1" noTextEdit="1"/>
              </p:cNvSpPr>
              <p:nvPr/>
            </p:nvSpPr>
            <p:spPr>
              <a:xfrm>
                <a:off x="1046684" y="4712300"/>
                <a:ext cx="1816394" cy="674159"/>
              </a:xfrm>
              <a:prstGeom prst="rect">
                <a:avLst/>
              </a:prstGeom>
              <a:blipFill>
                <a:blip r:embed="rId6"/>
                <a:stretch>
                  <a:fillRect/>
                </a:stretch>
              </a:blipFill>
            </p:spPr>
            <p:txBody>
              <a:bodyPr/>
              <a:lstStyle/>
              <a:p>
                <a:r>
                  <a:rPr lang="ru-RU">
                    <a:noFill/>
                  </a:rPr>
                  <a:t> </a:t>
                </a:r>
              </a:p>
            </p:txBody>
          </p:sp>
        </mc:Fallback>
      </mc:AlternateContent>
      <p:sp>
        <p:nvSpPr>
          <p:cNvPr id="14" name="Прямоугольник 13"/>
          <p:cNvSpPr/>
          <p:nvPr/>
        </p:nvSpPr>
        <p:spPr>
          <a:xfrm>
            <a:off x="3472849" y="5447381"/>
            <a:ext cx="4572000" cy="854080"/>
          </a:xfrm>
          <a:prstGeom prst="rect">
            <a:avLst/>
          </a:prstGeom>
        </p:spPr>
        <p:txBody>
          <a:bodyPr>
            <a:spAutoFit/>
          </a:bodyPr>
          <a:lstStyle/>
          <a:p>
            <a:pPr>
              <a:lnSpc>
                <a:spcPct val="150000"/>
              </a:lnSpc>
            </a:pPr>
            <a:r>
              <a:rPr lang="ru-RU" sz="1100" dirty="0">
                <a:solidFill>
                  <a:schemeClr val="bg1"/>
                </a:solidFill>
                <a:latin typeface="Tahoma" panose="020B0604030504040204" pitchFamily="34" charset="0"/>
                <a:ea typeface="Tahoma" panose="020B0604030504040204" pitchFamily="34" charset="0"/>
                <a:cs typeface="Tahoma" panose="020B0604030504040204" pitchFamily="34" charset="0"/>
              </a:rPr>
              <a:t>где </a:t>
            </a:r>
            <a:r>
              <a:rPr lang="ru-RU" sz="1100" i="1" dirty="0">
                <a:solidFill>
                  <a:schemeClr val="bg1"/>
                </a:solidFill>
                <a:latin typeface="Tahoma" panose="020B0604030504040204" pitchFamily="34" charset="0"/>
                <a:ea typeface="Tahoma" panose="020B0604030504040204" pitchFamily="34" charset="0"/>
                <a:cs typeface="Tahoma" panose="020B0604030504040204" pitchFamily="34" charset="0"/>
              </a:rPr>
              <a:t>a</a:t>
            </a:r>
            <a:r>
              <a:rPr lang="ru-RU" sz="1100" dirty="0">
                <a:solidFill>
                  <a:schemeClr val="bg1"/>
                </a:solidFill>
                <a:latin typeface="Tahoma" panose="020B0604030504040204" pitchFamily="34" charset="0"/>
                <a:ea typeface="Tahoma" panose="020B0604030504040204" pitchFamily="34" charset="0"/>
                <a:cs typeface="Tahoma" panose="020B0604030504040204" pitchFamily="34" charset="0"/>
              </a:rPr>
              <a:t> – показатель степени;</a:t>
            </a:r>
          </a:p>
          <a:p>
            <a:pPr>
              <a:lnSpc>
                <a:spcPct val="150000"/>
              </a:lnSpc>
            </a:pPr>
            <a:r>
              <a:rPr lang="ru-RU" sz="1100" i="1" dirty="0">
                <a:solidFill>
                  <a:schemeClr val="bg1"/>
                </a:solidFill>
                <a:latin typeface="Tahoma" panose="020B0604030504040204" pitchFamily="34" charset="0"/>
                <a:ea typeface="Tahoma" panose="020B0604030504040204" pitchFamily="34" charset="0"/>
                <a:cs typeface="Tahoma" panose="020B0604030504040204" pitchFamily="34" charset="0"/>
              </a:rPr>
              <a:t>Q</a:t>
            </a:r>
            <a:r>
              <a:rPr lang="ru-RU" sz="1100" dirty="0">
                <a:solidFill>
                  <a:schemeClr val="bg1"/>
                </a:solidFill>
                <a:latin typeface="Tahoma" panose="020B0604030504040204" pitchFamily="34" charset="0"/>
                <a:ea typeface="Tahoma" panose="020B0604030504040204" pitchFamily="34" charset="0"/>
                <a:cs typeface="Tahoma" panose="020B0604030504040204" pitchFamily="34" charset="0"/>
              </a:rPr>
              <a:t> – максимальная масса единовременно взрываемого заряда, кг;</a:t>
            </a:r>
          </a:p>
          <a:p>
            <a:pPr>
              <a:lnSpc>
                <a:spcPct val="150000"/>
              </a:lnSpc>
            </a:pPr>
            <a:r>
              <a:rPr lang="ru-RU" sz="1100" i="1" dirty="0">
                <a:solidFill>
                  <a:schemeClr val="bg1"/>
                </a:solidFill>
                <a:latin typeface="Tahoma" panose="020B0604030504040204" pitchFamily="34" charset="0"/>
                <a:ea typeface="Tahoma" panose="020B0604030504040204" pitchFamily="34" charset="0"/>
                <a:cs typeface="Tahoma" panose="020B0604030504040204" pitchFamily="34" charset="0"/>
              </a:rPr>
              <a:t>r</a:t>
            </a:r>
            <a:r>
              <a:rPr lang="ru-RU" sz="1100" dirty="0">
                <a:solidFill>
                  <a:schemeClr val="bg1"/>
                </a:solidFill>
                <a:latin typeface="Tahoma" panose="020B0604030504040204" pitchFamily="34" charset="0"/>
                <a:ea typeface="Tahoma" panose="020B0604030504040204" pitchFamily="34" charset="0"/>
                <a:cs typeface="Tahoma" panose="020B0604030504040204" pitchFamily="34" charset="0"/>
              </a:rPr>
              <a:t> – </a:t>
            </a:r>
            <a:r>
              <a:rPr lang="ru-RU" sz="1100" dirty="0" err="1">
                <a:solidFill>
                  <a:schemeClr val="bg1"/>
                </a:solidFill>
                <a:latin typeface="Tahoma" panose="020B0604030504040204" pitchFamily="34" charset="0"/>
                <a:ea typeface="Tahoma" panose="020B0604030504040204" pitchFamily="34" charset="0"/>
                <a:cs typeface="Tahoma" panose="020B0604030504040204" pitchFamily="34" charset="0"/>
              </a:rPr>
              <a:t>гипоцентральное</a:t>
            </a:r>
            <a:r>
              <a:rPr lang="ru-RU" sz="1100" dirty="0">
                <a:solidFill>
                  <a:schemeClr val="bg1"/>
                </a:solidFill>
                <a:latin typeface="Tahoma" panose="020B0604030504040204" pitchFamily="34" charset="0"/>
                <a:ea typeface="Tahoma" panose="020B0604030504040204" pitchFamily="34" charset="0"/>
                <a:cs typeface="Tahoma" panose="020B0604030504040204" pitchFamily="34" charset="0"/>
              </a:rPr>
              <a:t> расстояние до рассматриваемой точки, м.</a:t>
            </a:r>
          </a:p>
        </p:txBody>
      </p:sp>
      <p:cxnSp>
        <p:nvCxnSpPr>
          <p:cNvPr id="15" name="Прямая со стрелкой 14">
            <a:extLst>
              <a:ext uri="{FF2B5EF4-FFF2-40B4-BE49-F238E27FC236}">
                <a16:creationId xmlns:a16="http://schemas.microsoft.com/office/drawing/2014/main" id="{6259999B-F160-63E4-82A4-9518CC1EA35F}"/>
              </a:ext>
            </a:extLst>
          </p:cNvPr>
          <p:cNvCxnSpPr/>
          <p:nvPr/>
        </p:nvCxnSpPr>
        <p:spPr>
          <a:xfrm flipV="1">
            <a:off x="6370922" y="5068671"/>
            <a:ext cx="1858678" cy="640"/>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6259999B-F160-63E4-82A4-9518CC1EA35F}"/>
              </a:ext>
            </a:extLst>
          </p:cNvPr>
          <p:cNvCxnSpPr/>
          <p:nvPr/>
        </p:nvCxnSpPr>
        <p:spPr>
          <a:xfrm flipH="1">
            <a:off x="2863078" y="5068671"/>
            <a:ext cx="1830072" cy="0"/>
          </a:xfrm>
          <a:prstGeom prst="straightConnector1">
            <a:avLst/>
          </a:prstGeom>
          <a:ln w="254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63607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FC8AFE9-290C-1436-1485-A1B60981EA1C}"/>
              </a:ext>
            </a:extLst>
          </p:cNvPr>
          <p:cNvSpPr>
            <a:spLocks noGrp="1"/>
          </p:cNvSpPr>
          <p:nvPr>
            <p:ph type="sldNum" sz="quarter" idx="4"/>
          </p:nvPr>
        </p:nvSpPr>
        <p:spPr/>
        <p:txBody>
          <a:bodyPr/>
          <a:lstStyle/>
          <a:p>
            <a:r>
              <a:rPr lang="en-US"/>
              <a:t>| </a:t>
            </a:r>
            <a:fld id="{F54BA9F3-CBAA-4DCF-AD2D-5ECAA0BE8875}" type="slidenum">
              <a:rPr lang="ru-RU" smtClean="0"/>
              <a:pPr/>
              <a:t>29</a:t>
            </a:fld>
            <a:endParaRPr lang="ru-RU" dirty="0"/>
          </a:p>
        </p:txBody>
      </p:sp>
      <p:sp>
        <p:nvSpPr>
          <p:cNvPr id="16" name="Текст 11">
            <a:extLst>
              <a:ext uri="{FF2B5EF4-FFF2-40B4-BE49-F238E27FC236}">
                <a16:creationId xmlns:a16="http://schemas.microsoft.com/office/drawing/2014/main" id="{72E298A4-1F10-233F-45B5-CB67BE268BB0}"/>
              </a:ext>
            </a:extLst>
          </p:cNvPr>
          <p:cNvSpPr>
            <a:spLocks noGrp="1"/>
          </p:cNvSpPr>
          <p:nvPr>
            <p:ph type="body" sz="quarter" idx="11"/>
          </p:nvPr>
        </p:nvSpPr>
        <p:spPr>
          <a:xfrm>
            <a:off x="476462" y="0"/>
            <a:ext cx="6615464" cy="360363"/>
          </a:xfrm>
          <a:prstGeom prst="rect">
            <a:avLst/>
          </a:prstGeom>
        </p:spPr>
        <p:txBody>
          <a:bodyPr/>
          <a:lstStyle/>
          <a:p>
            <a:r>
              <a:rPr lang="ru-RU" dirty="0">
                <a:solidFill>
                  <a:srgbClr val="0077C8"/>
                </a:solidFill>
              </a:rPr>
              <a:t>СТАНДАРТЫ В ОБЛАСТИ ИЗМЕРЕНИЯ СЕЙСМИЧЕСКОГО ДЕЙСТВИЯ ВЗРЫВОВ</a:t>
            </a:r>
          </a:p>
        </p:txBody>
      </p:sp>
      <p:sp>
        <p:nvSpPr>
          <p:cNvPr id="41" name="Текст 14">
            <a:extLst>
              <a:ext uri="{FF2B5EF4-FFF2-40B4-BE49-F238E27FC236}">
                <a16:creationId xmlns:a16="http://schemas.microsoft.com/office/drawing/2014/main" id="{984EC255-C22F-8ED9-3D76-EA425EEBC1CE}"/>
              </a:ext>
            </a:extLst>
          </p:cNvPr>
          <p:cNvSpPr txBox="1">
            <a:spLocks/>
          </p:cNvSpPr>
          <p:nvPr/>
        </p:nvSpPr>
        <p:spPr>
          <a:xfrm>
            <a:off x="4056588" y="958701"/>
            <a:ext cx="3417903" cy="837264"/>
          </a:xfrm>
          <a:prstGeom prst="roundRect">
            <a:avLst/>
          </a:prstGeom>
          <a:solidFill>
            <a:srgbClr val="0077C8"/>
          </a:solidFill>
        </p:spPr>
        <p:txBody>
          <a:bodyPr vert="horz" lIns="72000" tIns="72000" rIns="72000" bIns="0" rtlCol="0">
            <a:noAutofit/>
          </a:bodyPr>
          <a:lstStyle>
            <a:lvl1pPr marL="0" indent="0" algn="l" defTabSz="864017" rtl="0" eaLnBrk="1" latinLnBrk="0" hangingPunct="1">
              <a:lnSpc>
                <a:spcPct val="90000"/>
              </a:lnSpc>
              <a:spcBef>
                <a:spcPts val="945"/>
              </a:spcBef>
              <a:buFont typeface="Arial" panose="020B0604020202020204" pitchFamily="34" charset="0"/>
              <a:buNone/>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ctr"/>
            <a:r>
              <a:rPr lang="ru-RU" b="1" dirty="0">
                <a:solidFill>
                  <a:schemeClr val="bg1"/>
                </a:solidFill>
              </a:rPr>
              <a:t>ГОСТ Р 52892-2007 </a:t>
            </a:r>
            <a:br>
              <a:rPr lang="ru-RU" b="1" dirty="0">
                <a:solidFill>
                  <a:schemeClr val="bg1"/>
                </a:solidFill>
              </a:rPr>
            </a:br>
            <a:r>
              <a:rPr lang="ru-RU" b="1" dirty="0">
                <a:solidFill>
                  <a:schemeClr val="bg1"/>
                </a:solidFill>
              </a:rPr>
              <a:t>«Вибрация и удар. Вибрация зданий. Измерение вибрации и оценка ее воздействия на конструкцию».</a:t>
            </a:r>
          </a:p>
        </p:txBody>
      </p:sp>
      <p:sp>
        <p:nvSpPr>
          <p:cNvPr id="42" name="Текст 14">
            <a:extLst>
              <a:ext uri="{FF2B5EF4-FFF2-40B4-BE49-F238E27FC236}">
                <a16:creationId xmlns:a16="http://schemas.microsoft.com/office/drawing/2014/main" id="{0942F25F-C16F-068B-00D4-821D7D7CF7A0}"/>
              </a:ext>
            </a:extLst>
          </p:cNvPr>
          <p:cNvSpPr txBox="1">
            <a:spLocks/>
          </p:cNvSpPr>
          <p:nvPr/>
        </p:nvSpPr>
        <p:spPr>
          <a:xfrm>
            <a:off x="1500782" y="2134914"/>
            <a:ext cx="2088000" cy="612560"/>
          </a:xfrm>
          <a:prstGeom prst="roundRect">
            <a:avLst/>
          </a:prstGeom>
          <a:solidFill>
            <a:schemeClr val="bg1">
              <a:lumMod val="75000"/>
            </a:schemeClr>
          </a:solidFill>
        </p:spPr>
        <p:txBody>
          <a:bodyPr vert="horz" lIns="72000" tIns="72000" rIns="72000" bIns="0" rtlCol="0" anchor="ctr">
            <a:noAutofit/>
          </a:bodyPr>
          <a:lstStyle>
            <a:lvl1pPr marL="0" indent="0" algn="l" defTabSz="864017" rtl="0" eaLnBrk="1" latinLnBrk="0" hangingPunct="1">
              <a:lnSpc>
                <a:spcPct val="90000"/>
              </a:lnSpc>
              <a:spcBef>
                <a:spcPts val="945"/>
              </a:spcBef>
              <a:buFont typeface="Arial" panose="020B0604020202020204" pitchFamily="34" charset="0"/>
              <a:buNone/>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ctr"/>
            <a:r>
              <a:rPr lang="ru-RU" sz="1100" b="1" dirty="0">
                <a:solidFill>
                  <a:schemeClr val="bg1"/>
                </a:solidFill>
              </a:rPr>
              <a:t>ГЕРМАНИЯ</a:t>
            </a:r>
            <a:br>
              <a:rPr lang="ru-RU" sz="1100" b="1" dirty="0">
                <a:solidFill>
                  <a:schemeClr val="bg1"/>
                </a:solidFill>
              </a:rPr>
            </a:br>
            <a:r>
              <a:rPr lang="ru-RU" sz="1100" b="1" dirty="0">
                <a:solidFill>
                  <a:schemeClr val="bg1"/>
                </a:solidFill>
              </a:rPr>
              <a:t>(</a:t>
            </a:r>
            <a:r>
              <a:rPr lang="en-US" sz="1100" b="1" dirty="0">
                <a:solidFill>
                  <a:schemeClr val="bg1"/>
                </a:solidFill>
              </a:rPr>
              <a:t>DIN 4150-3)</a:t>
            </a:r>
          </a:p>
        </p:txBody>
      </p:sp>
      <p:sp>
        <p:nvSpPr>
          <p:cNvPr id="43" name="Текст 14">
            <a:extLst>
              <a:ext uri="{FF2B5EF4-FFF2-40B4-BE49-F238E27FC236}">
                <a16:creationId xmlns:a16="http://schemas.microsoft.com/office/drawing/2014/main" id="{0942F25F-C16F-068B-00D4-821D7D7CF7A0}"/>
              </a:ext>
            </a:extLst>
          </p:cNvPr>
          <p:cNvSpPr txBox="1">
            <a:spLocks/>
          </p:cNvSpPr>
          <p:nvPr/>
        </p:nvSpPr>
        <p:spPr>
          <a:xfrm>
            <a:off x="3651975" y="2134914"/>
            <a:ext cx="2088000" cy="612560"/>
          </a:xfrm>
          <a:prstGeom prst="roundRect">
            <a:avLst/>
          </a:prstGeom>
          <a:solidFill>
            <a:schemeClr val="bg1">
              <a:lumMod val="75000"/>
            </a:schemeClr>
          </a:solidFill>
        </p:spPr>
        <p:txBody>
          <a:bodyPr vert="horz" lIns="72000" tIns="72000" rIns="72000" bIns="0" rtlCol="0" anchor="ctr">
            <a:noAutofit/>
          </a:bodyPr>
          <a:lstStyle>
            <a:lvl1pPr marL="0" indent="0" algn="l" defTabSz="864017" rtl="0" eaLnBrk="1" latinLnBrk="0" hangingPunct="1">
              <a:lnSpc>
                <a:spcPct val="90000"/>
              </a:lnSpc>
              <a:spcBef>
                <a:spcPts val="945"/>
              </a:spcBef>
              <a:buFont typeface="Arial" panose="020B0604020202020204" pitchFamily="34" charset="0"/>
              <a:buNone/>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ctr"/>
            <a:r>
              <a:rPr lang="ru-RU" sz="1100" b="1" dirty="0">
                <a:solidFill>
                  <a:schemeClr val="bg1"/>
                </a:solidFill>
              </a:rPr>
              <a:t>ВЕЛИКОБРИТАНИЯ</a:t>
            </a:r>
            <a:br>
              <a:rPr lang="ru-RU" sz="1100" b="1" dirty="0">
                <a:solidFill>
                  <a:schemeClr val="bg1"/>
                </a:solidFill>
              </a:rPr>
            </a:br>
            <a:r>
              <a:rPr lang="ru-RU" sz="1100" b="1" dirty="0">
                <a:solidFill>
                  <a:schemeClr val="bg1"/>
                </a:solidFill>
              </a:rPr>
              <a:t>(</a:t>
            </a:r>
            <a:r>
              <a:rPr lang="en-US" sz="1100" b="1" dirty="0">
                <a:solidFill>
                  <a:schemeClr val="bg1"/>
                </a:solidFill>
              </a:rPr>
              <a:t>BS 7385-2:1993)</a:t>
            </a:r>
          </a:p>
        </p:txBody>
      </p:sp>
      <p:sp>
        <p:nvSpPr>
          <p:cNvPr id="44" name="Текст 14">
            <a:extLst>
              <a:ext uri="{FF2B5EF4-FFF2-40B4-BE49-F238E27FC236}">
                <a16:creationId xmlns:a16="http://schemas.microsoft.com/office/drawing/2014/main" id="{0942F25F-C16F-068B-00D4-821D7D7CF7A0}"/>
              </a:ext>
            </a:extLst>
          </p:cNvPr>
          <p:cNvSpPr txBox="1">
            <a:spLocks/>
          </p:cNvSpPr>
          <p:nvPr/>
        </p:nvSpPr>
        <p:spPr>
          <a:xfrm>
            <a:off x="5791979" y="2143713"/>
            <a:ext cx="2088000" cy="612560"/>
          </a:xfrm>
          <a:prstGeom prst="roundRect">
            <a:avLst/>
          </a:prstGeom>
          <a:solidFill>
            <a:schemeClr val="bg1">
              <a:lumMod val="75000"/>
            </a:schemeClr>
          </a:solidFill>
        </p:spPr>
        <p:txBody>
          <a:bodyPr vert="horz" lIns="72000" tIns="72000" rIns="72000" bIns="0" rtlCol="0" anchor="ctr">
            <a:noAutofit/>
          </a:bodyPr>
          <a:lstStyle>
            <a:lvl1pPr marL="0" indent="0" algn="l" defTabSz="864017" rtl="0" eaLnBrk="1" latinLnBrk="0" hangingPunct="1">
              <a:lnSpc>
                <a:spcPct val="90000"/>
              </a:lnSpc>
              <a:spcBef>
                <a:spcPts val="945"/>
              </a:spcBef>
              <a:buFont typeface="Arial" panose="020B0604020202020204" pitchFamily="34" charset="0"/>
              <a:buNone/>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ctr"/>
            <a:r>
              <a:rPr lang="ru-RU" sz="1100" b="1" dirty="0">
                <a:solidFill>
                  <a:schemeClr val="bg1"/>
                </a:solidFill>
              </a:rPr>
              <a:t>США</a:t>
            </a:r>
            <a:br>
              <a:rPr lang="ru-RU" sz="1100" b="1" dirty="0">
                <a:solidFill>
                  <a:schemeClr val="bg1"/>
                </a:solidFill>
              </a:rPr>
            </a:br>
            <a:r>
              <a:rPr lang="ru-RU" sz="1100" b="1" dirty="0">
                <a:solidFill>
                  <a:schemeClr val="bg1"/>
                </a:solidFill>
              </a:rPr>
              <a:t>(</a:t>
            </a:r>
            <a:r>
              <a:rPr lang="en-US" sz="1100" b="1" dirty="0">
                <a:solidFill>
                  <a:schemeClr val="bg1"/>
                </a:solidFill>
              </a:rPr>
              <a:t>USBM RI № 8507)</a:t>
            </a:r>
          </a:p>
        </p:txBody>
      </p:sp>
      <p:sp>
        <p:nvSpPr>
          <p:cNvPr id="45" name="Текст 14">
            <a:extLst>
              <a:ext uri="{FF2B5EF4-FFF2-40B4-BE49-F238E27FC236}">
                <a16:creationId xmlns:a16="http://schemas.microsoft.com/office/drawing/2014/main" id="{0942F25F-C16F-068B-00D4-821D7D7CF7A0}"/>
              </a:ext>
            </a:extLst>
          </p:cNvPr>
          <p:cNvSpPr txBox="1">
            <a:spLocks/>
          </p:cNvSpPr>
          <p:nvPr/>
        </p:nvSpPr>
        <p:spPr>
          <a:xfrm>
            <a:off x="7931983" y="2143713"/>
            <a:ext cx="2088000" cy="612560"/>
          </a:xfrm>
          <a:prstGeom prst="roundRect">
            <a:avLst/>
          </a:prstGeom>
          <a:solidFill>
            <a:schemeClr val="bg1">
              <a:lumMod val="75000"/>
            </a:schemeClr>
          </a:solidFill>
        </p:spPr>
        <p:txBody>
          <a:bodyPr vert="horz" lIns="72000" tIns="72000" rIns="72000" bIns="0" rtlCol="0" anchor="ctr">
            <a:noAutofit/>
          </a:bodyPr>
          <a:lstStyle>
            <a:lvl1pPr marL="0" indent="0" algn="l" defTabSz="864017" rtl="0" eaLnBrk="1" latinLnBrk="0" hangingPunct="1">
              <a:lnSpc>
                <a:spcPct val="90000"/>
              </a:lnSpc>
              <a:spcBef>
                <a:spcPts val="945"/>
              </a:spcBef>
              <a:buFont typeface="Arial" panose="020B0604020202020204" pitchFamily="34" charset="0"/>
              <a:buNone/>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ctr"/>
            <a:r>
              <a:rPr lang="ru-RU" b="1" dirty="0">
                <a:solidFill>
                  <a:schemeClr val="bg1"/>
                </a:solidFill>
              </a:rPr>
              <a:t>НОРВЕГИЯ</a:t>
            </a:r>
            <a:br>
              <a:rPr lang="ru-RU" b="1" dirty="0">
                <a:solidFill>
                  <a:schemeClr val="bg1"/>
                </a:solidFill>
              </a:rPr>
            </a:br>
            <a:r>
              <a:rPr lang="ru-RU" b="1" dirty="0">
                <a:solidFill>
                  <a:schemeClr val="bg1"/>
                </a:solidFill>
              </a:rPr>
              <a:t>(</a:t>
            </a:r>
            <a:r>
              <a:rPr lang="en-US" b="1" dirty="0">
                <a:solidFill>
                  <a:schemeClr val="bg1"/>
                </a:solidFill>
              </a:rPr>
              <a:t>NS 8141–1:2022 )</a:t>
            </a:r>
          </a:p>
        </p:txBody>
      </p:sp>
      <p:cxnSp>
        <p:nvCxnSpPr>
          <p:cNvPr id="46" name="Прямая со стрелкой 45">
            <a:extLst>
              <a:ext uri="{FF2B5EF4-FFF2-40B4-BE49-F238E27FC236}">
                <a16:creationId xmlns:a16="http://schemas.microsoft.com/office/drawing/2014/main" id="{58322C4C-2C3B-2045-E110-E761DE098578}"/>
              </a:ext>
            </a:extLst>
          </p:cNvPr>
          <p:cNvCxnSpPr>
            <a:stCxn id="41" idx="1"/>
            <a:endCxn id="42" idx="0"/>
          </p:cNvCxnSpPr>
          <p:nvPr/>
        </p:nvCxnSpPr>
        <p:spPr>
          <a:xfrm flipH="1">
            <a:off x="2544786" y="1377338"/>
            <a:ext cx="1511801" cy="757581"/>
          </a:xfrm>
          <a:prstGeom prst="straightConnector1">
            <a:avLst/>
          </a:prstGeom>
          <a:ln w="25400">
            <a:solidFill>
              <a:srgbClr val="0077C8"/>
            </a:solidFill>
            <a:tailEnd type="triangle"/>
          </a:ln>
        </p:spPr>
        <p:style>
          <a:lnRef idx="1">
            <a:schemeClr val="accent1"/>
          </a:lnRef>
          <a:fillRef idx="0">
            <a:schemeClr val="accent1"/>
          </a:fillRef>
          <a:effectRef idx="0">
            <a:schemeClr val="accent1"/>
          </a:effectRef>
          <a:fontRef idx="minor">
            <a:schemeClr val="tx1"/>
          </a:fontRef>
        </p:style>
      </p:cxnSp>
      <p:cxnSp>
        <p:nvCxnSpPr>
          <p:cNvPr id="47" name="Прямая со стрелкой 46">
            <a:extLst>
              <a:ext uri="{FF2B5EF4-FFF2-40B4-BE49-F238E27FC236}">
                <a16:creationId xmlns:a16="http://schemas.microsoft.com/office/drawing/2014/main" id="{58322C4C-2C3B-2045-E110-E761DE098578}"/>
              </a:ext>
            </a:extLst>
          </p:cNvPr>
          <p:cNvCxnSpPr>
            <a:stCxn id="41" idx="3"/>
            <a:endCxn id="45" idx="0"/>
          </p:cNvCxnSpPr>
          <p:nvPr/>
        </p:nvCxnSpPr>
        <p:spPr>
          <a:xfrm>
            <a:off x="7474491" y="1377333"/>
            <a:ext cx="1501492" cy="766380"/>
          </a:xfrm>
          <a:prstGeom prst="straightConnector1">
            <a:avLst/>
          </a:prstGeom>
          <a:ln w="25400">
            <a:solidFill>
              <a:srgbClr val="0077C8"/>
            </a:solidFill>
            <a:tailEnd type="triangle"/>
          </a:ln>
        </p:spPr>
        <p:style>
          <a:lnRef idx="1">
            <a:schemeClr val="accent1"/>
          </a:lnRef>
          <a:fillRef idx="0">
            <a:schemeClr val="accent1"/>
          </a:fillRef>
          <a:effectRef idx="0">
            <a:schemeClr val="accent1"/>
          </a:effectRef>
          <a:fontRef idx="minor">
            <a:schemeClr val="tx1"/>
          </a:fontRef>
        </p:style>
      </p:cxnSp>
      <p:cxnSp>
        <p:nvCxnSpPr>
          <p:cNvPr id="48" name="Прямая со стрелкой 47">
            <a:extLst>
              <a:ext uri="{FF2B5EF4-FFF2-40B4-BE49-F238E27FC236}">
                <a16:creationId xmlns:a16="http://schemas.microsoft.com/office/drawing/2014/main" id="{58322C4C-2C3B-2045-E110-E761DE098578}"/>
              </a:ext>
            </a:extLst>
          </p:cNvPr>
          <p:cNvCxnSpPr>
            <a:stCxn id="41" idx="2"/>
            <a:endCxn id="43" idx="0"/>
          </p:cNvCxnSpPr>
          <p:nvPr/>
        </p:nvCxnSpPr>
        <p:spPr>
          <a:xfrm flipH="1">
            <a:off x="4695975" y="1795970"/>
            <a:ext cx="1069560" cy="338949"/>
          </a:xfrm>
          <a:prstGeom prst="straightConnector1">
            <a:avLst/>
          </a:prstGeom>
          <a:ln w="25400">
            <a:solidFill>
              <a:srgbClr val="0077C8"/>
            </a:solidFill>
            <a:tailEnd type="triangle"/>
          </a:ln>
        </p:spPr>
        <p:style>
          <a:lnRef idx="1">
            <a:schemeClr val="accent1"/>
          </a:lnRef>
          <a:fillRef idx="0">
            <a:schemeClr val="accent1"/>
          </a:fillRef>
          <a:effectRef idx="0">
            <a:schemeClr val="accent1"/>
          </a:effectRef>
          <a:fontRef idx="minor">
            <a:schemeClr val="tx1"/>
          </a:fontRef>
        </p:style>
      </p:cxnSp>
      <p:cxnSp>
        <p:nvCxnSpPr>
          <p:cNvPr id="49" name="Прямая со стрелкой 48">
            <a:extLst>
              <a:ext uri="{FF2B5EF4-FFF2-40B4-BE49-F238E27FC236}">
                <a16:creationId xmlns:a16="http://schemas.microsoft.com/office/drawing/2014/main" id="{58322C4C-2C3B-2045-E110-E761DE098578}"/>
              </a:ext>
            </a:extLst>
          </p:cNvPr>
          <p:cNvCxnSpPr>
            <a:stCxn id="41" idx="2"/>
            <a:endCxn id="44" idx="0"/>
          </p:cNvCxnSpPr>
          <p:nvPr/>
        </p:nvCxnSpPr>
        <p:spPr>
          <a:xfrm>
            <a:off x="5765535" y="1795970"/>
            <a:ext cx="1070444" cy="347747"/>
          </a:xfrm>
          <a:prstGeom prst="straightConnector1">
            <a:avLst/>
          </a:prstGeom>
          <a:ln w="25400">
            <a:solidFill>
              <a:srgbClr val="0077C8"/>
            </a:solidFill>
            <a:tailEnd type="triangle"/>
          </a:ln>
        </p:spPr>
        <p:style>
          <a:lnRef idx="1">
            <a:schemeClr val="accent1"/>
          </a:lnRef>
          <a:fillRef idx="0">
            <a:schemeClr val="accent1"/>
          </a:fillRef>
          <a:effectRef idx="0">
            <a:schemeClr val="accent1"/>
          </a:effectRef>
          <a:fontRef idx="minor">
            <a:schemeClr val="tx1"/>
          </a:fontRef>
        </p:style>
      </p:cxnSp>
      <p:sp>
        <p:nvSpPr>
          <p:cNvPr id="50" name="Текст 14">
            <a:extLst>
              <a:ext uri="{FF2B5EF4-FFF2-40B4-BE49-F238E27FC236}">
                <a16:creationId xmlns:a16="http://schemas.microsoft.com/office/drawing/2014/main" id="{984EC255-C22F-8ED9-3D76-EA425EEBC1CE}"/>
              </a:ext>
            </a:extLst>
          </p:cNvPr>
          <p:cNvSpPr txBox="1">
            <a:spLocks/>
          </p:cNvSpPr>
          <p:nvPr/>
        </p:nvSpPr>
        <p:spPr>
          <a:xfrm>
            <a:off x="3381176" y="2991433"/>
            <a:ext cx="5122416" cy="725474"/>
          </a:xfrm>
          <a:prstGeom prst="roundRect">
            <a:avLst/>
          </a:prstGeom>
          <a:solidFill>
            <a:srgbClr val="0077C8"/>
          </a:solidFill>
        </p:spPr>
        <p:txBody>
          <a:bodyPr vert="horz" lIns="72000" tIns="72000" rIns="72000" bIns="0" rtlCol="0">
            <a:noAutofit/>
          </a:bodyPr>
          <a:lstStyle>
            <a:lvl1pPr marL="0" indent="0" algn="l" defTabSz="864017" rtl="0" eaLnBrk="1" latinLnBrk="0" hangingPunct="1">
              <a:lnSpc>
                <a:spcPct val="90000"/>
              </a:lnSpc>
              <a:spcBef>
                <a:spcPts val="945"/>
              </a:spcBef>
              <a:buFont typeface="Arial" panose="020B0604020202020204" pitchFamily="34" charset="0"/>
              <a:buNone/>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ctr"/>
            <a:r>
              <a:rPr lang="ru-RU" b="1" dirty="0">
                <a:solidFill>
                  <a:schemeClr val="bg1"/>
                </a:solidFill>
              </a:rPr>
              <a:t>РБ Г-05-039-96</a:t>
            </a:r>
            <a:br>
              <a:rPr lang="ru-RU" b="1" dirty="0">
                <a:solidFill>
                  <a:schemeClr val="bg1"/>
                </a:solidFill>
              </a:rPr>
            </a:br>
            <a:r>
              <a:rPr lang="ru-RU" b="1" dirty="0">
                <a:solidFill>
                  <a:schemeClr val="bg1"/>
                </a:solidFill>
              </a:rPr>
              <a:t>«Руководство по анализу опасности аварийных взрывов и определению параметров их механического действия».</a:t>
            </a:r>
          </a:p>
        </p:txBody>
      </p:sp>
      <p:sp>
        <p:nvSpPr>
          <p:cNvPr id="51" name="Текст 14">
            <a:extLst>
              <a:ext uri="{FF2B5EF4-FFF2-40B4-BE49-F238E27FC236}">
                <a16:creationId xmlns:a16="http://schemas.microsoft.com/office/drawing/2014/main" id="{0942F25F-C16F-068B-00D4-821D7D7CF7A0}"/>
              </a:ext>
            </a:extLst>
          </p:cNvPr>
          <p:cNvSpPr txBox="1">
            <a:spLocks/>
          </p:cNvSpPr>
          <p:nvPr/>
        </p:nvSpPr>
        <p:spPr>
          <a:xfrm>
            <a:off x="1709955" y="3956347"/>
            <a:ext cx="1800000" cy="612560"/>
          </a:xfrm>
          <a:prstGeom prst="roundRect">
            <a:avLst/>
          </a:prstGeom>
          <a:solidFill>
            <a:schemeClr val="bg1">
              <a:lumMod val="75000"/>
            </a:schemeClr>
          </a:solidFill>
        </p:spPr>
        <p:txBody>
          <a:bodyPr vert="horz" lIns="72000" tIns="72000" rIns="72000" bIns="0" rtlCol="0" anchor="ctr">
            <a:noAutofit/>
          </a:bodyPr>
          <a:lstStyle>
            <a:lvl1pPr marL="0" indent="0" algn="l" defTabSz="864017" rtl="0" eaLnBrk="1" latinLnBrk="0" hangingPunct="1">
              <a:lnSpc>
                <a:spcPct val="90000"/>
              </a:lnSpc>
              <a:spcBef>
                <a:spcPts val="945"/>
              </a:spcBef>
              <a:buFont typeface="Arial" panose="020B0604020202020204" pitchFamily="34" charset="0"/>
              <a:buNone/>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ctr"/>
            <a:r>
              <a:rPr lang="ru-RU" b="1" dirty="0">
                <a:solidFill>
                  <a:schemeClr val="bg1"/>
                </a:solidFill>
              </a:rPr>
              <a:t>АВСТРАЛИЯ</a:t>
            </a:r>
            <a:br>
              <a:rPr lang="en-US" b="1" dirty="0">
                <a:solidFill>
                  <a:schemeClr val="bg1"/>
                </a:solidFill>
              </a:rPr>
            </a:br>
            <a:r>
              <a:rPr lang="ru-RU" b="1" dirty="0">
                <a:solidFill>
                  <a:schemeClr val="bg1"/>
                </a:solidFill>
              </a:rPr>
              <a:t>(</a:t>
            </a:r>
            <a:r>
              <a:rPr lang="en-US" b="1" dirty="0">
                <a:solidFill>
                  <a:schemeClr val="bg1"/>
                </a:solidFill>
              </a:rPr>
              <a:t>AS.2187.2-2006)</a:t>
            </a:r>
          </a:p>
        </p:txBody>
      </p:sp>
      <p:sp>
        <p:nvSpPr>
          <p:cNvPr id="52" name="Текст 14">
            <a:extLst>
              <a:ext uri="{FF2B5EF4-FFF2-40B4-BE49-F238E27FC236}">
                <a16:creationId xmlns:a16="http://schemas.microsoft.com/office/drawing/2014/main" id="{0942F25F-C16F-068B-00D4-821D7D7CF7A0}"/>
              </a:ext>
            </a:extLst>
          </p:cNvPr>
          <p:cNvSpPr txBox="1">
            <a:spLocks/>
          </p:cNvSpPr>
          <p:nvPr/>
        </p:nvSpPr>
        <p:spPr>
          <a:xfrm>
            <a:off x="3808785" y="3956347"/>
            <a:ext cx="1800000" cy="612560"/>
          </a:xfrm>
          <a:prstGeom prst="roundRect">
            <a:avLst/>
          </a:prstGeom>
          <a:solidFill>
            <a:schemeClr val="bg1">
              <a:lumMod val="75000"/>
            </a:schemeClr>
          </a:solidFill>
        </p:spPr>
        <p:txBody>
          <a:bodyPr vert="horz" lIns="72000" tIns="72000" rIns="72000" bIns="0" rtlCol="0" anchor="ctr">
            <a:noAutofit/>
          </a:bodyPr>
          <a:lstStyle>
            <a:defPPr>
              <a:defRPr lang="en-US"/>
            </a:defPPr>
            <a:lvl1pPr indent="0" algn="ctr" defTabSz="864017">
              <a:lnSpc>
                <a:spcPct val="90000"/>
              </a:lnSpc>
              <a:spcBef>
                <a:spcPts val="945"/>
              </a:spcBef>
              <a:buFont typeface="Arial" panose="020B0604020202020204" pitchFamily="34" charset="0"/>
              <a:buNone/>
              <a:defRPr sz="1200" b="1">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32008" indent="0" defTabSz="864017">
              <a:lnSpc>
                <a:spcPct val="90000"/>
              </a:lnSpc>
              <a:spcBef>
                <a:spcPts val="472"/>
              </a:spcBef>
              <a:buFont typeface="Arial" panose="020B0604020202020204" pitchFamily="34" charset="0"/>
              <a:buNone/>
              <a:defRPr sz="2000">
                <a:latin typeface="Tahoma" panose="020B0604030504040204" pitchFamily="34" charset="0"/>
                <a:ea typeface="Tahoma" panose="020B0604030504040204" pitchFamily="34" charset="0"/>
                <a:cs typeface="Tahoma" panose="020B0604030504040204" pitchFamily="34" charset="0"/>
              </a:defRPr>
            </a:lvl2pPr>
            <a:lvl3pPr marL="864017" indent="0" defTabSz="864017">
              <a:lnSpc>
                <a:spcPct val="90000"/>
              </a:lnSpc>
              <a:spcBef>
                <a:spcPts val="472"/>
              </a:spcBef>
              <a:buFont typeface="Arial" panose="020B0604020202020204" pitchFamily="34" charset="0"/>
              <a:buNone/>
              <a:defRPr>
                <a:latin typeface="Tahoma" panose="020B0604030504040204" pitchFamily="34" charset="0"/>
                <a:ea typeface="Tahoma" panose="020B0604030504040204" pitchFamily="34" charset="0"/>
                <a:cs typeface="Tahoma" panose="020B0604030504040204" pitchFamily="34" charset="0"/>
              </a:defRPr>
            </a:lvl3pPr>
            <a:lvl4pPr marL="1296025" indent="0" defTabSz="864017">
              <a:lnSpc>
                <a:spcPct val="90000"/>
              </a:lnSpc>
              <a:spcBef>
                <a:spcPts val="472"/>
              </a:spcBef>
              <a:buFont typeface="Arial" panose="020B0604020202020204" pitchFamily="34" charset="0"/>
              <a:buNone/>
              <a:defRPr sz="1600">
                <a:latin typeface="Tahoma" panose="020B0604030504040204" pitchFamily="34" charset="0"/>
                <a:ea typeface="Tahoma" panose="020B0604030504040204" pitchFamily="34" charset="0"/>
                <a:cs typeface="Tahoma" panose="020B0604030504040204" pitchFamily="34" charset="0"/>
              </a:defRPr>
            </a:lvl4pPr>
            <a:lvl5pPr marL="1728033" indent="0" defTabSz="864017">
              <a:lnSpc>
                <a:spcPct val="90000"/>
              </a:lnSpc>
              <a:spcBef>
                <a:spcPts val="472"/>
              </a:spcBef>
              <a:buFont typeface="Arial" panose="020B0604020202020204" pitchFamily="34" charset="0"/>
              <a:buNone/>
              <a:defRPr sz="1400">
                <a:latin typeface="Tahoma" panose="020B0604030504040204" pitchFamily="34" charset="0"/>
                <a:ea typeface="Tahoma" panose="020B0604030504040204" pitchFamily="34" charset="0"/>
                <a:cs typeface="Tahoma" panose="020B0604030504040204" pitchFamily="34" charset="0"/>
              </a:defRPr>
            </a:lvl5pPr>
            <a:lvl6pPr marL="2376046" indent="-216004" defTabSz="864017">
              <a:lnSpc>
                <a:spcPct val="90000"/>
              </a:lnSpc>
              <a:spcBef>
                <a:spcPts val="472"/>
              </a:spcBef>
              <a:buFont typeface="Arial" panose="020B0604020202020204" pitchFamily="34" charset="0"/>
              <a:buChar char="•"/>
              <a:defRPr sz="1701"/>
            </a:lvl6pPr>
            <a:lvl7pPr marL="2808054" indent="-216004" defTabSz="864017">
              <a:lnSpc>
                <a:spcPct val="90000"/>
              </a:lnSpc>
              <a:spcBef>
                <a:spcPts val="472"/>
              </a:spcBef>
              <a:buFont typeface="Arial" panose="020B0604020202020204" pitchFamily="34" charset="0"/>
              <a:buChar char="•"/>
              <a:defRPr sz="1701"/>
            </a:lvl7pPr>
            <a:lvl8pPr marL="3240062" indent="-216004" defTabSz="864017">
              <a:lnSpc>
                <a:spcPct val="90000"/>
              </a:lnSpc>
              <a:spcBef>
                <a:spcPts val="472"/>
              </a:spcBef>
              <a:buFont typeface="Arial" panose="020B0604020202020204" pitchFamily="34" charset="0"/>
              <a:buChar char="•"/>
              <a:defRPr sz="1701"/>
            </a:lvl8pPr>
            <a:lvl9pPr marL="3672070" indent="-216004" defTabSz="864017">
              <a:lnSpc>
                <a:spcPct val="90000"/>
              </a:lnSpc>
              <a:spcBef>
                <a:spcPts val="472"/>
              </a:spcBef>
              <a:buFont typeface="Arial" panose="020B0604020202020204" pitchFamily="34" charset="0"/>
              <a:buChar char="•"/>
              <a:defRPr sz="1701"/>
            </a:lvl9pPr>
          </a:lstStyle>
          <a:p>
            <a:r>
              <a:rPr lang="ru-RU" dirty="0"/>
              <a:t>КИТАЙ</a:t>
            </a:r>
            <a:br>
              <a:rPr lang="en-US" dirty="0"/>
            </a:br>
            <a:r>
              <a:rPr lang="ru-RU" dirty="0"/>
              <a:t>(</a:t>
            </a:r>
            <a:r>
              <a:rPr lang="en-US" dirty="0"/>
              <a:t>GB6722-2014)</a:t>
            </a:r>
          </a:p>
        </p:txBody>
      </p:sp>
      <p:sp>
        <p:nvSpPr>
          <p:cNvPr id="53" name="Текст 14">
            <a:extLst>
              <a:ext uri="{FF2B5EF4-FFF2-40B4-BE49-F238E27FC236}">
                <a16:creationId xmlns:a16="http://schemas.microsoft.com/office/drawing/2014/main" id="{0942F25F-C16F-068B-00D4-821D7D7CF7A0}"/>
              </a:ext>
            </a:extLst>
          </p:cNvPr>
          <p:cNvSpPr txBox="1">
            <a:spLocks/>
          </p:cNvSpPr>
          <p:nvPr/>
        </p:nvSpPr>
        <p:spPr>
          <a:xfrm>
            <a:off x="5942384" y="3956347"/>
            <a:ext cx="1800000" cy="612560"/>
          </a:xfrm>
          <a:prstGeom prst="roundRect">
            <a:avLst/>
          </a:prstGeom>
          <a:solidFill>
            <a:schemeClr val="bg1">
              <a:lumMod val="75000"/>
            </a:schemeClr>
          </a:solidFill>
        </p:spPr>
        <p:txBody>
          <a:bodyPr vert="horz" lIns="72000" tIns="72000" rIns="72000" bIns="0" rtlCol="0" anchor="ctr">
            <a:noAutofit/>
          </a:bodyPr>
          <a:lstStyle>
            <a:lvl1pPr marL="0" indent="0" algn="l" defTabSz="864017" rtl="0" eaLnBrk="1" latinLnBrk="0" hangingPunct="1">
              <a:lnSpc>
                <a:spcPct val="90000"/>
              </a:lnSpc>
              <a:spcBef>
                <a:spcPts val="945"/>
              </a:spcBef>
              <a:buFont typeface="Arial" panose="020B0604020202020204" pitchFamily="34" charset="0"/>
              <a:buNone/>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ctr"/>
            <a:r>
              <a:rPr lang="ru-RU" b="1" dirty="0">
                <a:solidFill>
                  <a:schemeClr val="bg1"/>
                </a:solidFill>
              </a:rPr>
              <a:t>ШВЕЦИЯ</a:t>
            </a:r>
            <a:br>
              <a:rPr lang="en-US" b="1" dirty="0">
                <a:solidFill>
                  <a:schemeClr val="bg1"/>
                </a:solidFill>
              </a:rPr>
            </a:br>
            <a:r>
              <a:rPr lang="ru-RU" b="1" dirty="0">
                <a:solidFill>
                  <a:schemeClr val="bg1"/>
                </a:solidFill>
              </a:rPr>
              <a:t>(SS 460 48 66)</a:t>
            </a:r>
          </a:p>
        </p:txBody>
      </p:sp>
      <p:sp>
        <p:nvSpPr>
          <p:cNvPr id="54" name="Текст 14">
            <a:extLst>
              <a:ext uri="{FF2B5EF4-FFF2-40B4-BE49-F238E27FC236}">
                <a16:creationId xmlns:a16="http://schemas.microsoft.com/office/drawing/2014/main" id="{0942F25F-C16F-068B-00D4-821D7D7CF7A0}"/>
              </a:ext>
            </a:extLst>
          </p:cNvPr>
          <p:cNvSpPr txBox="1">
            <a:spLocks/>
          </p:cNvSpPr>
          <p:nvPr/>
        </p:nvSpPr>
        <p:spPr>
          <a:xfrm>
            <a:off x="8041214" y="3956347"/>
            <a:ext cx="1800000" cy="612560"/>
          </a:xfrm>
          <a:prstGeom prst="roundRect">
            <a:avLst/>
          </a:prstGeom>
          <a:solidFill>
            <a:schemeClr val="bg1">
              <a:lumMod val="75000"/>
            </a:schemeClr>
          </a:solidFill>
        </p:spPr>
        <p:txBody>
          <a:bodyPr vert="horz" lIns="72000" tIns="72000" rIns="72000" bIns="0" rtlCol="0" anchor="ctr">
            <a:noAutofit/>
          </a:bodyPr>
          <a:lstStyle>
            <a:lvl1pPr marL="0" indent="0" algn="l" defTabSz="864017" rtl="0" eaLnBrk="1" latinLnBrk="0" hangingPunct="1">
              <a:lnSpc>
                <a:spcPct val="90000"/>
              </a:lnSpc>
              <a:spcBef>
                <a:spcPts val="945"/>
              </a:spcBef>
              <a:buFont typeface="Arial" panose="020B0604020202020204" pitchFamily="34" charset="0"/>
              <a:buNone/>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ctr"/>
            <a:r>
              <a:rPr lang="ru-RU" b="1" dirty="0">
                <a:solidFill>
                  <a:schemeClr val="bg1"/>
                </a:solidFill>
              </a:rPr>
              <a:t>ИНДОНЕЗИЯ</a:t>
            </a:r>
            <a:br>
              <a:rPr lang="en-US" b="1" dirty="0">
                <a:solidFill>
                  <a:schemeClr val="bg1"/>
                </a:solidFill>
              </a:rPr>
            </a:br>
            <a:r>
              <a:rPr lang="ru-RU" b="1" dirty="0">
                <a:solidFill>
                  <a:schemeClr val="bg1"/>
                </a:solidFill>
              </a:rPr>
              <a:t>(</a:t>
            </a:r>
            <a:r>
              <a:rPr lang="en-US" b="1" dirty="0">
                <a:solidFill>
                  <a:schemeClr val="bg1"/>
                </a:solidFill>
              </a:rPr>
              <a:t>SNI 7571:2010)</a:t>
            </a:r>
          </a:p>
        </p:txBody>
      </p:sp>
      <p:sp>
        <p:nvSpPr>
          <p:cNvPr id="55" name="Текст 14">
            <a:extLst>
              <a:ext uri="{FF2B5EF4-FFF2-40B4-BE49-F238E27FC236}">
                <a16:creationId xmlns:a16="http://schemas.microsoft.com/office/drawing/2014/main" id="{0942F25F-C16F-068B-00D4-821D7D7CF7A0}"/>
              </a:ext>
            </a:extLst>
          </p:cNvPr>
          <p:cNvSpPr txBox="1">
            <a:spLocks/>
          </p:cNvSpPr>
          <p:nvPr/>
        </p:nvSpPr>
        <p:spPr>
          <a:xfrm>
            <a:off x="1709955" y="4808347"/>
            <a:ext cx="1800000" cy="612560"/>
          </a:xfrm>
          <a:prstGeom prst="roundRect">
            <a:avLst/>
          </a:prstGeom>
          <a:solidFill>
            <a:schemeClr val="bg1">
              <a:lumMod val="75000"/>
            </a:schemeClr>
          </a:solidFill>
        </p:spPr>
        <p:txBody>
          <a:bodyPr vert="horz" lIns="72000" tIns="72000" rIns="72000" bIns="0" rtlCol="0">
            <a:noAutofit/>
          </a:bodyPr>
          <a:lstStyle>
            <a:lvl1pPr marL="0" indent="0" algn="l" defTabSz="864017" rtl="0" eaLnBrk="1" latinLnBrk="0" hangingPunct="1">
              <a:lnSpc>
                <a:spcPct val="90000"/>
              </a:lnSpc>
              <a:spcBef>
                <a:spcPts val="945"/>
              </a:spcBef>
              <a:buFont typeface="Arial" panose="020B0604020202020204" pitchFamily="34" charset="0"/>
              <a:buNone/>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ctr"/>
            <a:r>
              <a:rPr lang="ru-RU" b="1" dirty="0">
                <a:solidFill>
                  <a:schemeClr val="bg1"/>
                </a:solidFill>
              </a:rPr>
              <a:t>ИСПАНИЯ</a:t>
            </a:r>
            <a:br>
              <a:rPr lang="en-US" b="1" dirty="0">
                <a:solidFill>
                  <a:schemeClr val="bg1"/>
                </a:solidFill>
              </a:rPr>
            </a:br>
            <a:r>
              <a:rPr lang="ru-RU" b="1" dirty="0">
                <a:solidFill>
                  <a:schemeClr val="bg1"/>
                </a:solidFill>
              </a:rPr>
              <a:t>(</a:t>
            </a:r>
            <a:r>
              <a:rPr lang="en-US" b="1" dirty="0">
                <a:solidFill>
                  <a:schemeClr val="bg1"/>
                </a:solidFill>
              </a:rPr>
              <a:t>UNE 22.381/93 )</a:t>
            </a:r>
          </a:p>
        </p:txBody>
      </p:sp>
      <p:sp>
        <p:nvSpPr>
          <p:cNvPr id="56" name="Текст 14">
            <a:extLst>
              <a:ext uri="{FF2B5EF4-FFF2-40B4-BE49-F238E27FC236}">
                <a16:creationId xmlns:a16="http://schemas.microsoft.com/office/drawing/2014/main" id="{0942F25F-C16F-068B-00D4-821D7D7CF7A0}"/>
              </a:ext>
            </a:extLst>
          </p:cNvPr>
          <p:cNvSpPr txBox="1">
            <a:spLocks/>
          </p:cNvSpPr>
          <p:nvPr/>
        </p:nvSpPr>
        <p:spPr>
          <a:xfrm>
            <a:off x="3808785" y="4808347"/>
            <a:ext cx="1800000" cy="612560"/>
          </a:xfrm>
          <a:prstGeom prst="roundRect">
            <a:avLst/>
          </a:prstGeom>
          <a:solidFill>
            <a:schemeClr val="bg1">
              <a:lumMod val="75000"/>
            </a:schemeClr>
          </a:solidFill>
        </p:spPr>
        <p:txBody>
          <a:bodyPr vert="horz" lIns="72000" tIns="72000" rIns="72000" bIns="0" rtlCol="0" anchor="ctr">
            <a:noAutofit/>
          </a:bodyPr>
          <a:lstStyle>
            <a:lvl1pPr marL="0" indent="0" algn="l" defTabSz="864017" rtl="0" eaLnBrk="1" latinLnBrk="0" hangingPunct="1">
              <a:lnSpc>
                <a:spcPct val="90000"/>
              </a:lnSpc>
              <a:spcBef>
                <a:spcPts val="945"/>
              </a:spcBef>
              <a:buFont typeface="Arial" panose="020B0604020202020204" pitchFamily="34" charset="0"/>
              <a:buNone/>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ctr"/>
            <a:r>
              <a:rPr lang="ru-RU" b="1" dirty="0">
                <a:solidFill>
                  <a:schemeClr val="bg1"/>
                </a:solidFill>
              </a:rPr>
              <a:t>ПОРТУГАЛИЯ</a:t>
            </a:r>
            <a:br>
              <a:rPr lang="en-US" b="1" dirty="0">
                <a:solidFill>
                  <a:schemeClr val="bg1"/>
                </a:solidFill>
              </a:rPr>
            </a:br>
            <a:r>
              <a:rPr lang="ru-RU" b="1" dirty="0">
                <a:solidFill>
                  <a:schemeClr val="bg1"/>
                </a:solidFill>
              </a:rPr>
              <a:t>(</a:t>
            </a:r>
            <a:r>
              <a:rPr lang="en-US" b="1" dirty="0">
                <a:solidFill>
                  <a:schemeClr val="bg1"/>
                </a:solidFill>
              </a:rPr>
              <a:t>NP2074)</a:t>
            </a:r>
          </a:p>
        </p:txBody>
      </p:sp>
      <p:sp>
        <p:nvSpPr>
          <p:cNvPr id="57" name="Текст 14">
            <a:extLst>
              <a:ext uri="{FF2B5EF4-FFF2-40B4-BE49-F238E27FC236}">
                <a16:creationId xmlns:a16="http://schemas.microsoft.com/office/drawing/2014/main" id="{0942F25F-C16F-068B-00D4-821D7D7CF7A0}"/>
              </a:ext>
            </a:extLst>
          </p:cNvPr>
          <p:cNvSpPr txBox="1">
            <a:spLocks/>
          </p:cNvSpPr>
          <p:nvPr/>
        </p:nvSpPr>
        <p:spPr>
          <a:xfrm>
            <a:off x="5942384" y="4808347"/>
            <a:ext cx="1800000" cy="612560"/>
          </a:xfrm>
          <a:prstGeom prst="roundRect">
            <a:avLst/>
          </a:prstGeom>
          <a:solidFill>
            <a:schemeClr val="bg1">
              <a:lumMod val="75000"/>
            </a:schemeClr>
          </a:solidFill>
        </p:spPr>
        <p:txBody>
          <a:bodyPr vert="horz" lIns="72000" tIns="72000" rIns="72000" bIns="0" rtlCol="0" anchor="ctr">
            <a:noAutofit/>
          </a:bodyPr>
          <a:lstStyle>
            <a:lvl1pPr marL="0" indent="0" algn="l" defTabSz="864017" rtl="0" eaLnBrk="1" latinLnBrk="0" hangingPunct="1">
              <a:lnSpc>
                <a:spcPct val="90000"/>
              </a:lnSpc>
              <a:spcBef>
                <a:spcPts val="945"/>
              </a:spcBef>
              <a:buFont typeface="Arial" panose="020B0604020202020204" pitchFamily="34" charset="0"/>
              <a:buNone/>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ctr"/>
            <a:r>
              <a:rPr lang="ru-RU" b="1" dirty="0">
                <a:solidFill>
                  <a:schemeClr val="bg1"/>
                </a:solidFill>
              </a:rPr>
              <a:t>ИНДИЯ</a:t>
            </a:r>
            <a:br>
              <a:rPr lang="en-US" b="1" dirty="0">
                <a:solidFill>
                  <a:schemeClr val="bg1"/>
                </a:solidFill>
              </a:rPr>
            </a:br>
            <a:r>
              <a:rPr lang="ru-RU" b="1" dirty="0">
                <a:solidFill>
                  <a:schemeClr val="bg1"/>
                </a:solidFill>
              </a:rPr>
              <a:t>(</a:t>
            </a:r>
            <a:r>
              <a:rPr lang="en-US" b="1" dirty="0">
                <a:solidFill>
                  <a:schemeClr val="bg1"/>
                </a:solidFill>
              </a:rPr>
              <a:t>DGMS CIRCULARS)</a:t>
            </a:r>
          </a:p>
        </p:txBody>
      </p:sp>
      <p:sp>
        <p:nvSpPr>
          <p:cNvPr id="58" name="Текст 14">
            <a:extLst>
              <a:ext uri="{FF2B5EF4-FFF2-40B4-BE49-F238E27FC236}">
                <a16:creationId xmlns:a16="http://schemas.microsoft.com/office/drawing/2014/main" id="{0942F25F-C16F-068B-00D4-821D7D7CF7A0}"/>
              </a:ext>
            </a:extLst>
          </p:cNvPr>
          <p:cNvSpPr txBox="1">
            <a:spLocks/>
          </p:cNvSpPr>
          <p:nvPr/>
        </p:nvSpPr>
        <p:spPr>
          <a:xfrm>
            <a:off x="8075983" y="4808347"/>
            <a:ext cx="1800000" cy="612560"/>
          </a:xfrm>
          <a:prstGeom prst="roundRect">
            <a:avLst/>
          </a:prstGeom>
          <a:solidFill>
            <a:schemeClr val="bg1">
              <a:lumMod val="75000"/>
            </a:schemeClr>
          </a:solidFill>
        </p:spPr>
        <p:txBody>
          <a:bodyPr vert="horz" lIns="72000" tIns="72000" rIns="72000" bIns="0" rtlCol="0" anchor="ctr">
            <a:noAutofit/>
          </a:bodyPr>
          <a:lstStyle>
            <a:lvl1pPr marL="0" indent="0" algn="l" defTabSz="864017" rtl="0" eaLnBrk="1" latinLnBrk="0" hangingPunct="1">
              <a:lnSpc>
                <a:spcPct val="90000"/>
              </a:lnSpc>
              <a:spcBef>
                <a:spcPts val="945"/>
              </a:spcBef>
              <a:buFont typeface="Arial" panose="020B0604020202020204" pitchFamily="34" charset="0"/>
              <a:buNone/>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32008" indent="0" algn="l" defTabSz="864017" rtl="0" eaLnBrk="1" latinLnBrk="0" hangingPunct="1">
              <a:lnSpc>
                <a:spcPct val="90000"/>
              </a:lnSpc>
              <a:spcBef>
                <a:spcPts val="472"/>
              </a:spcBef>
              <a:buFont typeface="Arial" panose="020B0604020202020204" pitchFamily="34" charset="0"/>
              <a:buNone/>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64017" indent="0" algn="l" defTabSz="864017" rtl="0" eaLnBrk="1" latinLnBrk="0" hangingPunct="1">
              <a:lnSpc>
                <a:spcPct val="90000"/>
              </a:lnSpc>
              <a:spcBef>
                <a:spcPts val="472"/>
              </a:spcBef>
              <a:buFont typeface="Arial" panose="020B0604020202020204" pitchFamily="34" charset="0"/>
              <a:buNone/>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96025" indent="0" algn="l" defTabSz="864017" rtl="0" eaLnBrk="1" latinLnBrk="0" hangingPunct="1">
              <a:lnSpc>
                <a:spcPct val="90000"/>
              </a:lnSpc>
              <a:spcBef>
                <a:spcPts val="472"/>
              </a:spcBef>
              <a:buFont typeface="Arial" panose="020B0604020202020204" pitchFamily="34" charset="0"/>
              <a:buNone/>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28033" indent="0" algn="l" defTabSz="864017" rtl="0" eaLnBrk="1" latinLnBrk="0" hangingPunct="1">
              <a:lnSpc>
                <a:spcPct val="90000"/>
              </a:lnSpc>
              <a:spcBef>
                <a:spcPts val="472"/>
              </a:spcBef>
              <a:buFont typeface="Arial" panose="020B0604020202020204" pitchFamily="34" charset="0"/>
              <a:buNone/>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a:lstStyle>
          <a:p>
            <a:pPr algn="ctr"/>
            <a:r>
              <a:rPr lang="fr-FR" b="1" dirty="0">
                <a:solidFill>
                  <a:schemeClr val="bg1"/>
                </a:solidFill>
              </a:rPr>
              <a:t>ФРАНЦИЯ</a:t>
            </a:r>
            <a:br>
              <a:rPr lang="ru-RU" b="1" dirty="0">
                <a:solidFill>
                  <a:schemeClr val="bg1"/>
                </a:solidFill>
              </a:rPr>
            </a:br>
            <a:r>
              <a:rPr lang="fr-FR" b="1" dirty="0">
                <a:solidFill>
                  <a:schemeClr val="bg1"/>
                </a:solidFill>
              </a:rPr>
              <a:t>(Groupe Français de l'Énergie Explosive)</a:t>
            </a:r>
          </a:p>
        </p:txBody>
      </p:sp>
      <p:sp>
        <p:nvSpPr>
          <p:cNvPr id="59" name="Прямоугольник 58"/>
          <p:cNvSpPr/>
          <p:nvPr/>
        </p:nvSpPr>
        <p:spPr>
          <a:xfrm>
            <a:off x="7275697" y="3938916"/>
            <a:ext cx="533625" cy="530915"/>
          </a:xfrm>
          <a:prstGeom prst="rect">
            <a:avLst/>
          </a:prstGeom>
        </p:spPr>
        <p:txBody>
          <a:bodyPr wrap="square">
            <a:spAutoFit/>
          </a:bodyPr>
          <a:lstStyle/>
          <a:p>
            <a:pPr algn="just">
              <a:spcAft>
                <a:spcPts val="300"/>
              </a:spcAft>
            </a:pPr>
            <a:r>
              <a:rPr lang="en-US" sz="1200" dirty="0">
                <a:latin typeface="Tahoma" panose="020B0604030504040204" pitchFamily="34" charset="0"/>
                <a:ea typeface="Tahoma" panose="020B0604030504040204" pitchFamily="34" charset="0"/>
                <a:cs typeface="Tahoma" panose="020B0604030504040204" pitchFamily="34" charset="0"/>
              </a:rPr>
              <a:t>PP</a:t>
            </a:r>
            <a:r>
              <a:rPr lang="ru-RU" sz="1200" dirty="0">
                <a:latin typeface="Tahoma" panose="020B0604030504040204" pitchFamily="34" charset="0"/>
                <a:ea typeface="Tahoma" panose="020B0604030504040204" pitchFamily="34" charset="0"/>
                <a:cs typeface="Tahoma" panose="020B0604030504040204" pitchFamily="34" charset="0"/>
              </a:rPr>
              <a:t>V</a:t>
            </a:r>
            <a:r>
              <a:rPr lang="en-US" sz="1200" baseline="-25000" dirty="0">
                <a:latin typeface="Tahoma" panose="020B0604030504040204" pitchFamily="34" charset="0"/>
                <a:ea typeface="Tahoma" panose="020B0604030504040204" pitchFamily="34" charset="0"/>
                <a:cs typeface="Tahoma" panose="020B0604030504040204" pitchFamily="34" charset="0"/>
              </a:rPr>
              <a:t>Z</a:t>
            </a:r>
            <a:endParaRPr lang="en-US" sz="1200" dirty="0">
              <a:latin typeface="Tahoma" panose="020B0604030504040204" pitchFamily="34" charset="0"/>
              <a:ea typeface="Tahoma" panose="020B0604030504040204" pitchFamily="34" charset="0"/>
              <a:cs typeface="Tahoma" panose="020B0604030504040204" pitchFamily="34" charset="0"/>
            </a:endParaRPr>
          </a:p>
          <a:p>
            <a:pPr algn="just">
              <a:spcAft>
                <a:spcPts val="300"/>
              </a:spcAft>
            </a:pPr>
            <a:endParaRPr lang="ru-RU" sz="1400" dirty="0">
              <a:latin typeface="Tahoma" panose="020B0604030504040204" pitchFamily="34" charset="0"/>
              <a:ea typeface="Tahoma" panose="020B0604030504040204" pitchFamily="34" charset="0"/>
              <a:cs typeface="Tahoma" panose="020B0604030504040204" pitchFamily="34" charset="0"/>
            </a:endParaRPr>
          </a:p>
        </p:txBody>
      </p:sp>
      <p:sp>
        <p:nvSpPr>
          <p:cNvPr id="60" name="Текст 14">
            <a:extLst>
              <a:ext uri="{FF2B5EF4-FFF2-40B4-BE49-F238E27FC236}">
                <a16:creationId xmlns:a16="http://schemas.microsoft.com/office/drawing/2014/main" id="{0942F25F-C16F-068B-00D4-821D7D7CF7A0}"/>
              </a:ext>
            </a:extLst>
          </p:cNvPr>
          <p:cNvSpPr txBox="1">
            <a:spLocks/>
          </p:cNvSpPr>
          <p:nvPr/>
        </p:nvSpPr>
        <p:spPr>
          <a:xfrm>
            <a:off x="3370119" y="5660347"/>
            <a:ext cx="5501899" cy="612560"/>
          </a:xfrm>
          <a:prstGeom prst="roundRect">
            <a:avLst/>
          </a:prstGeom>
          <a:solidFill>
            <a:schemeClr val="bg1">
              <a:lumMod val="75000"/>
            </a:schemeClr>
          </a:solidFill>
        </p:spPr>
        <p:txBody>
          <a:bodyPr vert="horz" lIns="72000" tIns="72000" rIns="72000" bIns="0" rtlCol="0" anchor="ctr">
            <a:noAutofit/>
          </a:bodyPr>
          <a:lstStyle>
            <a:defPPr>
              <a:defRPr lang="en-US"/>
            </a:defPPr>
            <a:lvl1pPr indent="0" algn="ctr" defTabSz="864017">
              <a:lnSpc>
                <a:spcPct val="90000"/>
              </a:lnSpc>
              <a:spcBef>
                <a:spcPts val="945"/>
              </a:spcBef>
              <a:buFont typeface="Arial" panose="020B0604020202020204" pitchFamily="34" charset="0"/>
              <a:buNone/>
              <a:defRPr sz="1200" b="1">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32008" indent="0" defTabSz="864017">
              <a:lnSpc>
                <a:spcPct val="90000"/>
              </a:lnSpc>
              <a:spcBef>
                <a:spcPts val="472"/>
              </a:spcBef>
              <a:buFont typeface="Arial" panose="020B0604020202020204" pitchFamily="34" charset="0"/>
              <a:buNone/>
              <a:defRPr sz="2000">
                <a:latin typeface="Tahoma" panose="020B0604030504040204" pitchFamily="34" charset="0"/>
                <a:ea typeface="Tahoma" panose="020B0604030504040204" pitchFamily="34" charset="0"/>
                <a:cs typeface="Tahoma" panose="020B0604030504040204" pitchFamily="34" charset="0"/>
              </a:defRPr>
            </a:lvl2pPr>
            <a:lvl3pPr marL="864017" indent="0" defTabSz="864017">
              <a:lnSpc>
                <a:spcPct val="90000"/>
              </a:lnSpc>
              <a:spcBef>
                <a:spcPts val="472"/>
              </a:spcBef>
              <a:buFont typeface="Arial" panose="020B0604020202020204" pitchFamily="34" charset="0"/>
              <a:buNone/>
              <a:defRPr>
                <a:latin typeface="Tahoma" panose="020B0604030504040204" pitchFamily="34" charset="0"/>
                <a:ea typeface="Tahoma" panose="020B0604030504040204" pitchFamily="34" charset="0"/>
                <a:cs typeface="Tahoma" panose="020B0604030504040204" pitchFamily="34" charset="0"/>
              </a:defRPr>
            </a:lvl3pPr>
            <a:lvl4pPr marL="1296025" indent="0" defTabSz="864017">
              <a:lnSpc>
                <a:spcPct val="90000"/>
              </a:lnSpc>
              <a:spcBef>
                <a:spcPts val="472"/>
              </a:spcBef>
              <a:buFont typeface="Arial" panose="020B0604020202020204" pitchFamily="34" charset="0"/>
              <a:buNone/>
              <a:defRPr sz="1600">
                <a:latin typeface="Tahoma" panose="020B0604030504040204" pitchFamily="34" charset="0"/>
                <a:ea typeface="Tahoma" panose="020B0604030504040204" pitchFamily="34" charset="0"/>
                <a:cs typeface="Tahoma" panose="020B0604030504040204" pitchFamily="34" charset="0"/>
              </a:defRPr>
            </a:lvl4pPr>
            <a:lvl5pPr marL="1728033" indent="0" defTabSz="864017">
              <a:lnSpc>
                <a:spcPct val="90000"/>
              </a:lnSpc>
              <a:spcBef>
                <a:spcPts val="472"/>
              </a:spcBef>
              <a:buFont typeface="Arial" panose="020B0604020202020204" pitchFamily="34" charset="0"/>
              <a:buNone/>
              <a:defRPr sz="1400">
                <a:latin typeface="Tahoma" panose="020B0604030504040204" pitchFamily="34" charset="0"/>
                <a:ea typeface="Tahoma" panose="020B0604030504040204" pitchFamily="34" charset="0"/>
                <a:cs typeface="Tahoma" panose="020B0604030504040204" pitchFamily="34" charset="0"/>
              </a:defRPr>
            </a:lvl5pPr>
            <a:lvl6pPr marL="2376046" indent="-216004" defTabSz="864017">
              <a:lnSpc>
                <a:spcPct val="90000"/>
              </a:lnSpc>
              <a:spcBef>
                <a:spcPts val="472"/>
              </a:spcBef>
              <a:buFont typeface="Arial" panose="020B0604020202020204" pitchFamily="34" charset="0"/>
              <a:buChar char="•"/>
              <a:defRPr sz="1701"/>
            </a:lvl6pPr>
            <a:lvl7pPr marL="2808054" indent="-216004" defTabSz="864017">
              <a:lnSpc>
                <a:spcPct val="90000"/>
              </a:lnSpc>
              <a:spcBef>
                <a:spcPts val="472"/>
              </a:spcBef>
              <a:buFont typeface="Arial" panose="020B0604020202020204" pitchFamily="34" charset="0"/>
              <a:buChar char="•"/>
              <a:defRPr sz="1701"/>
            </a:lvl7pPr>
            <a:lvl8pPr marL="3240062" indent="-216004" defTabSz="864017">
              <a:lnSpc>
                <a:spcPct val="90000"/>
              </a:lnSpc>
              <a:spcBef>
                <a:spcPts val="472"/>
              </a:spcBef>
              <a:buFont typeface="Arial" panose="020B0604020202020204" pitchFamily="34" charset="0"/>
              <a:buChar char="•"/>
              <a:defRPr sz="1701"/>
            </a:lvl8pPr>
            <a:lvl9pPr marL="3672070" indent="-216004" defTabSz="864017">
              <a:lnSpc>
                <a:spcPct val="90000"/>
              </a:lnSpc>
              <a:spcBef>
                <a:spcPts val="472"/>
              </a:spcBef>
              <a:buFont typeface="Arial" panose="020B0604020202020204" pitchFamily="34" charset="0"/>
              <a:buChar char="•"/>
              <a:defRPr sz="1701"/>
            </a:lvl9pPr>
          </a:lstStyle>
          <a:p>
            <a:r>
              <a:rPr lang="ru-RU" dirty="0"/>
              <a:t>МЕЖДУНАРОДНОЕ СООБЩЕСТВО ГОРНОЙ МЕХАНИКИ</a:t>
            </a:r>
            <a:br>
              <a:rPr lang="en-US" dirty="0"/>
            </a:br>
            <a:r>
              <a:rPr lang="ru-RU" dirty="0"/>
              <a:t>(</a:t>
            </a:r>
            <a:r>
              <a:rPr lang="en-US" dirty="0"/>
              <a:t>ISRM: BLAST VIBRATION MONITORING SUGGESTED METHOD)</a:t>
            </a:r>
          </a:p>
        </p:txBody>
      </p:sp>
      <p:sp>
        <p:nvSpPr>
          <p:cNvPr id="61" name="Прямоугольник 60"/>
          <p:cNvSpPr/>
          <p:nvPr/>
        </p:nvSpPr>
        <p:spPr>
          <a:xfrm>
            <a:off x="6842388" y="928604"/>
            <a:ext cx="650869" cy="276999"/>
          </a:xfrm>
          <a:prstGeom prst="rect">
            <a:avLst/>
          </a:prstGeom>
        </p:spPr>
        <p:txBody>
          <a:bodyPr wrap="square">
            <a:spAutoFit/>
          </a:bodyPr>
          <a:lstStyle/>
          <a:p>
            <a:pPr algn="just">
              <a:spcAft>
                <a:spcPts val="300"/>
              </a:spcAft>
            </a:pPr>
            <a:r>
              <a:rPr lang="en-US" sz="1200" dirty="0">
                <a:latin typeface="Tahoma" panose="020B0604030504040204" pitchFamily="34" charset="0"/>
                <a:ea typeface="Tahoma" panose="020B0604030504040204" pitchFamily="34" charset="0"/>
                <a:cs typeface="Tahoma" panose="020B0604030504040204" pitchFamily="34" charset="0"/>
              </a:rPr>
              <a:t>PP</a:t>
            </a:r>
            <a:r>
              <a:rPr lang="ru-RU" sz="1200" dirty="0">
                <a:latin typeface="Tahoma" panose="020B0604030504040204" pitchFamily="34" charset="0"/>
                <a:ea typeface="Tahoma" panose="020B0604030504040204" pitchFamily="34" charset="0"/>
                <a:cs typeface="Tahoma" panose="020B0604030504040204" pitchFamily="34" charset="0"/>
              </a:rPr>
              <a:t>V</a:t>
            </a:r>
            <a:r>
              <a:rPr lang="en-US" sz="1200" baseline="-25000" dirty="0">
                <a:latin typeface="Tahoma" panose="020B0604030504040204" pitchFamily="34" charset="0"/>
                <a:ea typeface="Tahoma" panose="020B0604030504040204" pitchFamily="34" charset="0"/>
                <a:cs typeface="Tahoma" panose="020B0604030504040204" pitchFamily="34" charset="0"/>
              </a:rPr>
              <a:t>max</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62" name="Прямоугольник 61"/>
          <p:cNvSpPr/>
          <p:nvPr/>
        </p:nvSpPr>
        <p:spPr>
          <a:xfrm>
            <a:off x="2994129" y="2093081"/>
            <a:ext cx="650869" cy="276999"/>
          </a:xfrm>
          <a:prstGeom prst="rect">
            <a:avLst/>
          </a:prstGeom>
        </p:spPr>
        <p:txBody>
          <a:bodyPr wrap="square">
            <a:spAutoFit/>
          </a:bodyPr>
          <a:lstStyle/>
          <a:p>
            <a:pPr algn="just">
              <a:spcAft>
                <a:spcPts val="300"/>
              </a:spcAft>
            </a:pPr>
            <a:r>
              <a:rPr lang="en-US" sz="1200" dirty="0">
                <a:latin typeface="Tahoma" panose="020B0604030504040204" pitchFamily="34" charset="0"/>
                <a:ea typeface="Tahoma" panose="020B0604030504040204" pitchFamily="34" charset="0"/>
                <a:cs typeface="Tahoma" panose="020B0604030504040204" pitchFamily="34" charset="0"/>
              </a:rPr>
              <a:t>PP</a:t>
            </a:r>
            <a:r>
              <a:rPr lang="ru-RU" sz="1200" dirty="0">
                <a:latin typeface="Tahoma" panose="020B0604030504040204" pitchFamily="34" charset="0"/>
                <a:ea typeface="Tahoma" panose="020B0604030504040204" pitchFamily="34" charset="0"/>
                <a:cs typeface="Tahoma" panose="020B0604030504040204" pitchFamily="34" charset="0"/>
              </a:rPr>
              <a:t>V</a:t>
            </a:r>
            <a:r>
              <a:rPr lang="en-US" sz="1200" baseline="-25000" dirty="0">
                <a:latin typeface="Tahoma" panose="020B0604030504040204" pitchFamily="34" charset="0"/>
                <a:ea typeface="Tahoma" panose="020B0604030504040204" pitchFamily="34" charset="0"/>
                <a:cs typeface="Tahoma" panose="020B0604030504040204" pitchFamily="34" charset="0"/>
              </a:rPr>
              <a:t>max</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63" name="Прямоугольник 62"/>
          <p:cNvSpPr/>
          <p:nvPr/>
        </p:nvSpPr>
        <p:spPr>
          <a:xfrm>
            <a:off x="5322946" y="2102753"/>
            <a:ext cx="488329" cy="276999"/>
          </a:xfrm>
          <a:prstGeom prst="rect">
            <a:avLst/>
          </a:prstGeom>
        </p:spPr>
        <p:txBody>
          <a:bodyPr wrap="square">
            <a:spAutoFit/>
          </a:bodyPr>
          <a:lstStyle/>
          <a:p>
            <a:pPr algn="just">
              <a:spcAft>
                <a:spcPts val="300"/>
              </a:spcAft>
            </a:pPr>
            <a:r>
              <a:rPr lang="en-US" sz="1200" dirty="0">
                <a:latin typeface="Tahoma" panose="020B0604030504040204" pitchFamily="34" charset="0"/>
                <a:ea typeface="Tahoma" panose="020B0604030504040204" pitchFamily="34" charset="0"/>
                <a:cs typeface="Tahoma" panose="020B0604030504040204" pitchFamily="34" charset="0"/>
              </a:rPr>
              <a:t>PVS</a:t>
            </a:r>
            <a:endParaRPr lang="ru-RU" sz="1200" dirty="0">
              <a:latin typeface="Tahoma" panose="020B0604030504040204" pitchFamily="34" charset="0"/>
              <a:ea typeface="Tahoma" panose="020B0604030504040204" pitchFamily="34" charset="0"/>
              <a:cs typeface="Tahoma" panose="020B0604030504040204" pitchFamily="34" charset="0"/>
            </a:endParaRPr>
          </a:p>
        </p:txBody>
      </p:sp>
      <p:sp>
        <p:nvSpPr>
          <p:cNvPr id="64" name="Прямоугольник 63"/>
          <p:cNvSpPr/>
          <p:nvPr/>
        </p:nvSpPr>
        <p:spPr>
          <a:xfrm>
            <a:off x="9580262" y="2093081"/>
            <a:ext cx="521904" cy="276999"/>
          </a:xfrm>
          <a:prstGeom prst="rect">
            <a:avLst/>
          </a:prstGeom>
        </p:spPr>
        <p:txBody>
          <a:bodyPr wrap="square">
            <a:spAutoFit/>
          </a:bodyPr>
          <a:lstStyle/>
          <a:p>
            <a:pPr algn="just">
              <a:spcAft>
                <a:spcPts val="300"/>
              </a:spcAft>
            </a:pPr>
            <a:r>
              <a:rPr lang="en-US" sz="1200" dirty="0">
                <a:latin typeface="Tahoma" panose="020B0604030504040204" pitchFamily="34" charset="0"/>
                <a:ea typeface="Tahoma" panose="020B0604030504040204" pitchFamily="34" charset="0"/>
                <a:cs typeface="Tahoma" panose="020B0604030504040204" pitchFamily="34" charset="0"/>
              </a:rPr>
              <a:t>PP</a:t>
            </a:r>
            <a:r>
              <a:rPr lang="ru-RU" sz="1200" dirty="0">
                <a:latin typeface="Tahoma" panose="020B0604030504040204" pitchFamily="34" charset="0"/>
                <a:ea typeface="Tahoma" panose="020B0604030504040204" pitchFamily="34" charset="0"/>
                <a:cs typeface="Tahoma" panose="020B0604030504040204" pitchFamily="34" charset="0"/>
              </a:rPr>
              <a:t>V</a:t>
            </a:r>
            <a:r>
              <a:rPr lang="en-US" sz="1200" baseline="-25000" dirty="0">
                <a:latin typeface="Tahoma" panose="020B0604030504040204" pitchFamily="34" charset="0"/>
                <a:ea typeface="Tahoma" panose="020B0604030504040204" pitchFamily="34" charset="0"/>
                <a:cs typeface="Tahoma" panose="020B0604030504040204" pitchFamily="34" charset="0"/>
              </a:rPr>
              <a:t>Z</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65" name="Прямоугольник 64"/>
          <p:cNvSpPr/>
          <p:nvPr/>
        </p:nvSpPr>
        <p:spPr>
          <a:xfrm>
            <a:off x="3100458" y="3913519"/>
            <a:ext cx="488329" cy="276999"/>
          </a:xfrm>
          <a:prstGeom prst="rect">
            <a:avLst/>
          </a:prstGeom>
        </p:spPr>
        <p:txBody>
          <a:bodyPr wrap="square">
            <a:spAutoFit/>
          </a:bodyPr>
          <a:lstStyle/>
          <a:p>
            <a:pPr algn="just">
              <a:spcAft>
                <a:spcPts val="300"/>
              </a:spcAft>
            </a:pPr>
            <a:r>
              <a:rPr lang="en-US" sz="1200" dirty="0">
                <a:latin typeface="Tahoma" panose="020B0604030504040204" pitchFamily="34" charset="0"/>
                <a:ea typeface="Tahoma" panose="020B0604030504040204" pitchFamily="34" charset="0"/>
                <a:cs typeface="Tahoma" panose="020B0604030504040204" pitchFamily="34" charset="0"/>
              </a:rPr>
              <a:t>PVS</a:t>
            </a:r>
            <a:endParaRPr lang="ru-RU" sz="1200" dirty="0">
              <a:latin typeface="Tahoma" panose="020B0604030504040204" pitchFamily="34" charset="0"/>
              <a:ea typeface="Tahoma" panose="020B0604030504040204" pitchFamily="34" charset="0"/>
              <a:cs typeface="Tahoma" panose="020B0604030504040204" pitchFamily="34" charset="0"/>
            </a:endParaRPr>
          </a:p>
        </p:txBody>
      </p:sp>
      <p:sp>
        <p:nvSpPr>
          <p:cNvPr id="66" name="Прямоугольник 65"/>
          <p:cNvSpPr/>
          <p:nvPr/>
        </p:nvSpPr>
        <p:spPr>
          <a:xfrm>
            <a:off x="3588528" y="2125246"/>
            <a:ext cx="529312" cy="276999"/>
          </a:xfrm>
          <a:prstGeom prst="rect">
            <a:avLst/>
          </a:prstGeom>
          <a:noFill/>
        </p:spPr>
        <p:txBody>
          <a:bodyPr wrap="none" lIns="91440" tIns="45720" rIns="91440" bIns="45720">
            <a:spAutoFit/>
          </a:bodyPr>
          <a:lstStyle/>
          <a:p>
            <a:pPr algn="ctr"/>
            <a:r>
              <a:rPr lang="ru-RU" sz="12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(1/2)</a:t>
            </a:r>
          </a:p>
        </p:txBody>
      </p:sp>
      <p:sp>
        <p:nvSpPr>
          <p:cNvPr id="67" name="Прямоугольник 66"/>
          <p:cNvSpPr/>
          <p:nvPr/>
        </p:nvSpPr>
        <p:spPr>
          <a:xfrm>
            <a:off x="7879981" y="2117003"/>
            <a:ext cx="529312" cy="276999"/>
          </a:xfrm>
          <a:prstGeom prst="rect">
            <a:avLst/>
          </a:prstGeom>
          <a:noFill/>
        </p:spPr>
        <p:txBody>
          <a:bodyPr wrap="none" lIns="91440" tIns="45720" rIns="91440" bIns="45720">
            <a:spAutoFit/>
          </a:bodyPr>
          <a:lstStyle/>
          <a:p>
            <a:pPr algn="ctr"/>
            <a:r>
              <a:rPr lang="ru-RU" sz="12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(1/2)</a:t>
            </a:r>
          </a:p>
        </p:txBody>
      </p:sp>
      <p:sp>
        <p:nvSpPr>
          <p:cNvPr id="68" name="Прямоугольник 67"/>
          <p:cNvSpPr/>
          <p:nvPr/>
        </p:nvSpPr>
        <p:spPr>
          <a:xfrm>
            <a:off x="1506545" y="2093079"/>
            <a:ext cx="269626" cy="276999"/>
          </a:xfrm>
          <a:prstGeom prst="rect">
            <a:avLst/>
          </a:prstGeom>
          <a:noFill/>
        </p:spPr>
        <p:txBody>
          <a:bodyPr wrap="none" lIns="91440" tIns="45720" rIns="91440" bIns="45720">
            <a:spAutoFit/>
          </a:bodyPr>
          <a:lstStyle/>
          <a:p>
            <a:pPr algn="ctr"/>
            <a:r>
              <a:rPr lang="en-US" sz="12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t>
            </a:r>
            <a:endParaRPr lang="ru-RU" sz="12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69" name="Прямоугольник 68"/>
          <p:cNvSpPr/>
          <p:nvPr/>
        </p:nvSpPr>
        <p:spPr>
          <a:xfrm>
            <a:off x="1631130" y="3957252"/>
            <a:ext cx="529312" cy="276999"/>
          </a:xfrm>
          <a:prstGeom prst="rect">
            <a:avLst/>
          </a:prstGeom>
          <a:noFill/>
        </p:spPr>
        <p:txBody>
          <a:bodyPr wrap="none" lIns="91440" tIns="45720" rIns="91440" bIns="45720">
            <a:spAutoFit/>
          </a:bodyPr>
          <a:lstStyle/>
          <a:p>
            <a:pPr algn="ctr"/>
            <a:r>
              <a:rPr lang="ru-RU" sz="12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(1/2)</a:t>
            </a:r>
          </a:p>
        </p:txBody>
      </p:sp>
      <p:sp>
        <p:nvSpPr>
          <p:cNvPr id="70" name="Прямоугольник 69"/>
          <p:cNvSpPr/>
          <p:nvPr/>
        </p:nvSpPr>
        <p:spPr>
          <a:xfrm>
            <a:off x="2937662" y="4765519"/>
            <a:ext cx="650869" cy="276999"/>
          </a:xfrm>
          <a:prstGeom prst="rect">
            <a:avLst/>
          </a:prstGeom>
        </p:spPr>
        <p:txBody>
          <a:bodyPr wrap="square">
            <a:spAutoFit/>
          </a:bodyPr>
          <a:lstStyle/>
          <a:p>
            <a:pPr algn="just">
              <a:spcAft>
                <a:spcPts val="300"/>
              </a:spcAft>
            </a:pPr>
            <a:r>
              <a:rPr lang="en-US" sz="1200" dirty="0">
                <a:latin typeface="Tahoma" panose="020B0604030504040204" pitchFamily="34" charset="0"/>
                <a:ea typeface="Tahoma" panose="020B0604030504040204" pitchFamily="34" charset="0"/>
                <a:cs typeface="Tahoma" panose="020B0604030504040204" pitchFamily="34" charset="0"/>
              </a:rPr>
              <a:t>PP</a:t>
            </a:r>
            <a:r>
              <a:rPr lang="ru-RU" sz="1200" dirty="0">
                <a:latin typeface="Tahoma" panose="020B0604030504040204" pitchFamily="34" charset="0"/>
                <a:ea typeface="Tahoma" panose="020B0604030504040204" pitchFamily="34" charset="0"/>
                <a:cs typeface="Tahoma" panose="020B0604030504040204" pitchFamily="34" charset="0"/>
              </a:rPr>
              <a:t>V</a:t>
            </a:r>
            <a:r>
              <a:rPr lang="en-US" sz="1200" baseline="-25000" dirty="0">
                <a:latin typeface="Tahoma" panose="020B0604030504040204" pitchFamily="34" charset="0"/>
                <a:ea typeface="Tahoma" panose="020B0604030504040204" pitchFamily="34" charset="0"/>
                <a:cs typeface="Tahoma" panose="020B0604030504040204" pitchFamily="34" charset="0"/>
              </a:rPr>
              <a:t>max</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71" name="Прямоугольник 70"/>
          <p:cNvSpPr/>
          <p:nvPr/>
        </p:nvSpPr>
        <p:spPr>
          <a:xfrm>
            <a:off x="1641361" y="4765517"/>
            <a:ext cx="548548" cy="307777"/>
          </a:xfrm>
          <a:prstGeom prst="rect">
            <a:avLst/>
          </a:prstGeom>
          <a:noFill/>
        </p:spPr>
        <p:txBody>
          <a:bodyPr wrap="none" lIns="91440" tIns="45720" rIns="91440" bIns="45720">
            <a:spAutoFit/>
          </a:bodyPr>
          <a:lstStyle/>
          <a:p>
            <a:pPr algn="ctr"/>
            <a:r>
              <a:rPr lang="ru-RU" sz="14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r>
              <a:rPr lang="ru-RU" sz="12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1/2</a:t>
            </a:r>
            <a:r>
              <a:rPr lang="ru-RU" sz="14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p>
        </p:txBody>
      </p:sp>
      <p:sp>
        <p:nvSpPr>
          <p:cNvPr id="72" name="Прямоугольник 71"/>
          <p:cNvSpPr/>
          <p:nvPr/>
        </p:nvSpPr>
        <p:spPr>
          <a:xfrm>
            <a:off x="8026072" y="4756640"/>
            <a:ext cx="548548" cy="307777"/>
          </a:xfrm>
          <a:prstGeom prst="rect">
            <a:avLst/>
          </a:prstGeom>
          <a:noFill/>
        </p:spPr>
        <p:txBody>
          <a:bodyPr wrap="none" lIns="91440" tIns="45720" rIns="91440" bIns="45720">
            <a:spAutoFit/>
          </a:bodyPr>
          <a:lstStyle/>
          <a:p>
            <a:pPr algn="ctr"/>
            <a:r>
              <a:rPr lang="ru-RU" sz="14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r>
              <a:rPr lang="ru-RU" sz="12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1/2</a:t>
            </a:r>
            <a:r>
              <a:rPr lang="ru-RU" sz="14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p>
        </p:txBody>
      </p:sp>
      <p:sp>
        <p:nvSpPr>
          <p:cNvPr id="73" name="Прямоугольник 72"/>
          <p:cNvSpPr/>
          <p:nvPr/>
        </p:nvSpPr>
        <p:spPr>
          <a:xfrm>
            <a:off x="9403041" y="3913519"/>
            <a:ext cx="488329" cy="276999"/>
          </a:xfrm>
          <a:prstGeom prst="rect">
            <a:avLst/>
          </a:prstGeom>
        </p:spPr>
        <p:txBody>
          <a:bodyPr wrap="square">
            <a:spAutoFit/>
          </a:bodyPr>
          <a:lstStyle/>
          <a:p>
            <a:pPr algn="just">
              <a:spcAft>
                <a:spcPts val="300"/>
              </a:spcAft>
            </a:pPr>
            <a:r>
              <a:rPr lang="en-US" sz="1200" dirty="0">
                <a:latin typeface="Tahoma" panose="020B0604030504040204" pitchFamily="34" charset="0"/>
                <a:ea typeface="Tahoma" panose="020B0604030504040204" pitchFamily="34" charset="0"/>
                <a:cs typeface="Tahoma" panose="020B0604030504040204" pitchFamily="34" charset="0"/>
              </a:rPr>
              <a:t>PVS</a:t>
            </a:r>
            <a:endParaRPr lang="ru-RU" sz="1200" dirty="0">
              <a:latin typeface="Tahoma" panose="020B0604030504040204" pitchFamily="34" charset="0"/>
              <a:ea typeface="Tahoma" panose="020B0604030504040204" pitchFamily="34" charset="0"/>
              <a:cs typeface="Tahoma" panose="020B0604030504040204" pitchFamily="34" charset="0"/>
            </a:endParaRPr>
          </a:p>
        </p:txBody>
      </p:sp>
      <p:sp>
        <p:nvSpPr>
          <p:cNvPr id="74" name="Прямоугольник 73"/>
          <p:cNvSpPr/>
          <p:nvPr/>
        </p:nvSpPr>
        <p:spPr>
          <a:xfrm>
            <a:off x="7974283" y="3932184"/>
            <a:ext cx="529312" cy="276999"/>
          </a:xfrm>
          <a:prstGeom prst="rect">
            <a:avLst/>
          </a:prstGeom>
          <a:noFill/>
        </p:spPr>
        <p:txBody>
          <a:bodyPr wrap="none" lIns="91440" tIns="45720" rIns="91440" bIns="45720">
            <a:spAutoFit/>
          </a:bodyPr>
          <a:lstStyle/>
          <a:p>
            <a:pPr algn="ctr"/>
            <a:r>
              <a:rPr lang="ru-RU" sz="12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(1/2)</a:t>
            </a:r>
          </a:p>
        </p:txBody>
      </p:sp>
      <p:sp>
        <p:nvSpPr>
          <p:cNvPr id="75" name="Прямоугольник 74"/>
          <p:cNvSpPr/>
          <p:nvPr/>
        </p:nvSpPr>
        <p:spPr>
          <a:xfrm>
            <a:off x="5874095" y="3927375"/>
            <a:ext cx="529312" cy="276999"/>
          </a:xfrm>
          <a:prstGeom prst="rect">
            <a:avLst/>
          </a:prstGeom>
          <a:noFill/>
        </p:spPr>
        <p:txBody>
          <a:bodyPr wrap="none" lIns="91440" tIns="45720" rIns="91440" bIns="45720">
            <a:spAutoFit/>
          </a:bodyPr>
          <a:lstStyle/>
          <a:p>
            <a:pPr algn="ctr"/>
            <a:r>
              <a:rPr lang="ru-RU" sz="12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(1/2)</a:t>
            </a:r>
          </a:p>
        </p:txBody>
      </p:sp>
      <p:sp>
        <p:nvSpPr>
          <p:cNvPr id="76" name="Прямоугольник 75"/>
          <p:cNvSpPr/>
          <p:nvPr/>
        </p:nvSpPr>
        <p:spPr>
          <a:xfrm>
            <a:off x="3741855" y="3926474"/>
            <a:ext cx="548548" cy="307777"/>
          </a:xfrm>
          <a:prstGeom prst="rect">
            <a:avLst/>
          </a:prstGeom>
          <a:noFill/>
        </p:spPr>
        <p:txBody>
          <a:bodyPr wrap="none" lIns="91440" tIns="45720" rIns="91440" bIns="45720">
            <a:spAutoFit/>
          </a:bodyPr>
          <a:lstStyle/>
          <a:p>
            <a:pPr algn="ctr"/>
            <a:r>
              <a:rPr lang="ru-RU" sz="14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r>
              <a:rPr lang="ru-RU" sz="12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1/3</a:t>
            </a:r>
            <a:r>
              <a:rPr lang="ru-RU" sz="14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p>
        </p:txBody>
      </p:sp>
      <p:sp>
        <p:nvSpPr>
          <p:cNvPr id="77" name="Прямоугольник 76"/>
          <p:cNvSpPr/>
          <p:nvPr/>
        </p:nvSpPr>
        <p:spPr>
          <a:xfrm>
            <a:off x="7249093" y="4773736"/>
            <a:ext cx="488329" cy="276999"/>
          </a:xfrm>
          <a:prstGeom prst="rect">
            <a:avLst/>
          </a:prstGeom>
        </p:spPr>
        <p:txBody>
          <a:bodyPr wrap="square">
            <a:spAutoFit/>
          </a:bodyPr>
          <a:lstStyle/>
          <a:p>
            <a:pPr algn="just">
              <a:spcAft>
                <a:spcPts val="300"/>
              </a:spcAft>
            </a:pPr>
            <a:r>
              <a:rPr lang="en-US" sz="1200" dirty="0">
                <a:latin typeface="Tahoma" panose="020B0604030504040204" pitchFamily="34" charset="0"/>
                <a:ea typeface="Tahoma" panose="020B0604030504040204" pitchFamily="34" charset="0"/>
                <a:cs typeface="Tahoma" panose="020B0604030504040204" pitchFamily="34" charset="0"/>
              </a:rPr>
              <a:t>PVS</a:t>
            </a:r>
            <a:endParaRPr lang="ru-RU" sz="1200" dirty="0">
              <a:latin typeface="Tahoma" panose="020B0604030504040204" pitchFamily="34" charset="0"/>
              <a:ea typeface="Tahoma" panose="020B0604030504040204" pitchFamily="34" charset="0"/>
              <a:cs typeface="Tahoma" panose="020B0604030504040204" pitchFamily="34" charset="0"/>
            </a:endParaRPr>
          </a:p>
        </p:txBody>
      </p:sp>
      <p:sp>
        <p:nvSpPr>
          <p:cNvPr id="78" name="Прямоугольник 77"/>
          <p:cNvSpPr/>
          <p:nvPr/>
        </p:nvSpPr>
        <p:spPr>
          <a:xfrm>
            <a:off x="3266508" y="5620931"/>
            <a:ext cx="857927" cy="276999"/>
          </a:xfrm>
          <a:prstGeom prst="rect">
            <a:avLst/>
          </a:prstGeom>
          <a:noFill/>
        </p:spPr>
        <p:txBody>
          <a:bodyPr wrap="none" lIns="91440" tIns="45720" rIns="91440" bIns="45720">
            <a:spAutoFit/>
          </a:bodyPr>
          <a:lstStyle/>
          <a:p>
            <a:pPr algn="ctr"/>
            <a:r>
              <a:rPr lang="ru-RU" sz="12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(1/2; 1/3)</a:t>
            </a:r>
          </a:p>
        </p:txBody>
      </p:sp>
      <p:sp>
        <p:nvSpPr>
          <p:cNvPr id="79" name="Прямоугольник 78"/>
          <p:cNvSpPr/>
          <p:nvPr/>
        </p:nvSpPr>
        <p:spPr>
          <a:xfrm>
            <a:off x="3344619" y="2958180"/>
            <a:ext cx="548548" cy="307777"/>
          </a:xfrm>
          <a:prstGeom prst="rect">
            <a:avLst/>
          </a:prstGeom>
          <a:noFill/>
        </p:spPr>
        <p:txBody>
          <a:bodyPr wrap="none" lIns="91440" tIns="45720" rIns="91440" bIns="45720">
            <a:spAutoFit/>
          </a:bodyPr>
          <a:lstStyle/>
          <a:p>
            <a:pPr algn="ctr"/>
            <a:r>
              <a:rPr lang="ru-RU" sz="14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r>
              <a:rPr lang="ru-RU" sz="12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1/3</a:t>
            </a:r>
            <a:r>
              <a:rPr lang="ru-RU" sz="1400" dirty="0">
                <a:ln w="0"/>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1932859790"/>
      </p:ext>
    </p:extLst>
  </p:cSld>
  <p:clrMapOvr>
    <a:masterClrMapping/>
  </p:clrMapOvr>
</p:sld>
</file>

<file path=ppt/theme/theme1.xml><?xml version="1.0" encoding="utf-8"?>
<a:theme xmlns:a="http://schemas.openxmlformats.org/drawingml/2006/main" name="Обложка №1">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Норникель шаблон">
      <a:majorFont>
        <a:latin typeface="Tahoma"/>
        <a:ea typeface=""/>
        <a:cs typeface=""/>
      </a:majorFont>
      <a:minorFont>
        <a:latin typeface="Tahoma"/>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Обложка №2">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Норникель шаблон">
      <a:majorFont>
        <a:latin typeface="Tahoma"/>
        <a:ea typeface=""/>
        <a:cs typeface=""/>
      </a:majorFont>
      <a:minorFont>
        <a:latin typeface="Tahoma"/>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Специальное оформление">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ahoma">
      <a:majorFont>
        <a:latin typeface="Tahoma"/>
        <a:ea typeface=""/>
        <a:cs typeface=""/>
      </a:majorFont>
      <a:minorFont>
        <a:latin typeface="Tahoma"/>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Норникель 16х9">
  <a:themeElements>
    <a:clrScheme name="Норникель">
      <a:dk1>
        <a:sysClr val="windowText" lastClr="000000"/>
      </a:dk1>
      <a:lt1>
        <a:sysClr val="window" lastClr="FFFFFF"/>
      </a:lt1>
      <a:dk2>
        <a:srgbClr val="44546A"/>
      </a:dk2>
      <a:lt2>
        <a:srgbClr val="E7E6E6"/>
      </a:lt2>
      <a:accent1>
        <a:srgbClr val="0077C8"/>
      </a:accent1>
      <a:accent2>
        <a:srgbClr val="004C97"/>
      </a:accent2>
      <a:accent3>
        <a:srgbClr val="654EA3"/>
      </a:accent3>
      <a:accent4>
        <a:srgbClr val="009CA6"/>
      </a:accent4>
      <a:accent5>
        <a:srgbClr val="D38235"/>
      </a:accent5>
      <a:accent6>
        <a:srgbClr val="70AD47"/>
      </a:accent6>
      <a:hlink>
        <a:srgbClr val="0077C8"/>
      </a:hlink>
      <a:folHlink>
        <a:srgbClr val="A3DAFF"/>
      </a:folHlink>
    </a:clrScheme>
    <a:fontScheme name="Tahoma">
      <a:majorFont>
        <a:latin typeface="Tahoma"/>
        <a:ea typeface=""/>
        <a:cs typeface=""/>
      </a:majorFont>
      <a:minorFont>
        <a:latin typeface="Tahoma"/>
        <a:ea typeface=""/>
        <a:cs typeface=""/>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10669</TotalTime>
  <Words>5733</Words>
  <Application>Microsoft Office PowerPoint</Application>
  <PresentationFormat>Произвольный</PresentationFormat>
  <Paragraphs>582</Paragraphs>
  <Slides>29</Slides>
  <Notes>27</Notes>
  <HiddenSlides>0</HiddenSlides>
  <MMClips>1</MMClips>
  <ScaleCrop>false</ScaleCrop>
  <HeadingPairs>
    <vt:vector size="8" baseType="variant">
      <vt:variant>
        <vt:lpstr>Использованные шрифты</vt:lpstr>
      </vt:variant>
      <vt:variant>
        <vt:i4>7</vt:i4>
      </vt:variant>
      <vt:variant>
        <vt:lpstr>Тема</vt:lpstr>
      </vt:variant>
      <vt:variant>
        <vt:i4>4</vt:i4>
      </vt:variant>
      <vt:variant>
        <vt:lpstr>Внедренные серверы OLE</vt:lpstr>
      </vt:variant>
      <vt:variant>
        <vt:i4>1</vt:i4>
      </vt:variant>
      <vt:variant>
        <vt:lpstr>Заголовки слайдов</vt:lpstr>
      </vt:variant>
      <vt:variant>
        <vt:i4>29</vt:i4>
      </vt:variant>
    </vt:vector>
  </HeadingPairs>
  <TitlesOfParts>
    <vt:vector size="41" baseType="lpstr">
      <vt:lpstr>Arial</vt:lpstr>
      <vt:lpstr>Calibri</vt:lpstr>
      <vt:lpstr>Cambria Math</vt:lpstr>
      <vt:lpstr>Proxy 9</vt:lpstr>
      <vt:lpstr>Tahoma</vt:lpstr>
      <vt:lpstr>Times New Roman</vt:lpstr>
      <vt:lpstr>Wingdings</vt:lpstr>
      <vt:lpstr>Обложка №1</vt:lpstr>
      <vt:lpstr>Обложка №2</vt:lpstr>
      <vt:lpstr>Специальное оформление</vt:lpstr>
      <vt:lpstr>Норникель 16х9</vt:lpstr>
      <vt:lpstr>Точечный рисунок</vt:lpstr>
      <vt:lpstr>Комплексный мониторинг состояния промышленного здания в условиях влияния буровзрывных работ</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Федосеев Антон Владимирович к.т.н., Ведущий научный сотрудник Лаборатории геотехники  FedoseevAV@nornik.ru</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Julia Gershteyn</dc:creator>
  <cp:lastModifiedBy>Тяпкина Полина Александровна</cp:lastModifiedBy>
  <cp:revision>1064</cp:revision>
  <cp:lastPrinted>2020-11-11T11:03:08Z</cp:lastPrinted>
  <dcterms:created xsi:type="dcterms:W3CDTF">2020-11-09T06:58:16Z</dcterms:created>
  <dcterms:modified xsi:type="dcterms:W3CDTF">2025-10-26T17:52:33Z</dcterms:modified>
</cp:coreProperties>
</file>