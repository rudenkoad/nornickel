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bookmarkIdSeed="3">
  <p:sldMasterIdLst>
    <p:sldMasterId id="2147483651" r:id="rId1"/>
    <p:sldMasterId id="2147483654" r:id="rId2"/>
    <p:sldMasterId id="2147483656" r:id="rId3"/>
  </p:sldMasterIdLst>
  <p:notesMasterIdLst>
    <p:notesMasterId r:id="rId14"/>
  </p:notesMasterIdLst>
  <p:handoutMasterIdLst>
    <p:handoutMasterId r:id="rId15"/>
  </p:handoutMasterIdLst>
  <p:sldIdLst>
    <p:sldId id="872" r:id="rId4"/>
    <p:sldId id="873" r:id="rId5"/>
    <p:sldId id="881" r:id="rId6"/>
    <p:sldId id="880" r:id="rId7"/>
    <p:sldId id="884" r:id="rId8"/>
    <p:sldId id="876" r:id="rId9"/>
    <p:sldId id="888" r:id="rId10"/>
    <p:sldId id="879" r:id="rId11"/>
    <p:sldId id="886" r:id="rId12"/>
    <p:sldId id="889" r:id="rId13"/>
  </p:sldIdLst>
  <p:sldSz cx="11520488" cy="6480175"/>
  <p:notesSz cx="6808788" cy="9940925"/>
  <p:custDataLst>
    <p:tags r:id="rId16"/>
  </p:custDataLst>
  <p:defaultTextStyle>
    <a:defPPr marL="0" marR="0" indent="0" algn="l" defTabSz="102823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1pPr>
    <a:lvl2pPr marL="0" marR="0" indent="514117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2pPr>
    <a:lvl3pPr marL="0" marR="0" indent="1028235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3pPr>
    <a:lvl4pPr marL="0" marR="0" indent="1542352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4pPr>
    <a:lvl5pPr marL="0" marR="0" indent="2056471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5pPr>
    <a:lvl6pPr marL="0" marR="0" indent="2570587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6pPr>
    <a:lvl7pPr marL="0" marR="0" indent="3084705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7pPr>
    <a:lvl8pPr marL="0" marR="0" indent="3598822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8pPr>
    <a:lvl9pPr marL="0" marR="0" indent="4112940" algn="l" defTabSz="102823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24" b="0" i="0" u="none" strike="noStrike" cap="none" spc="0" normalizeH="0" baseline="0">
        <a:ln>
          <a:noFill/>
        </a:ln>
        <a:solidFill>
          <a:srgbClr val="1F1B1A"/>
        </a:solidFill>
        <a:effectLst/>
        <a:uFillTx/>
        <a:latin typeface="Tahoma"/>
        <a:ea typeface="Tahoma"/>
        <a:cs typeface="Tahoma"/>
        <a:sym typeface="Tahoma"/>
      </a:defRPr>
    </a:lvl9pPr>
  </p:defaultTextStyle>
  <p:extLst>
    <p:ext uri="{EFAFB233-063F-42B5-8137-9DF3F51BA10A}">
      <p15:sldGuideLst xmlns:p15="http://schemas.microsoft.com/office/powerpoint/2012/main">
        <p15:guide id="1" orient="horz" pos="1996" userDrawn="1">
          <p15:clr>
            <a:srgbClr val="A4A3A4"/>
          </p15:clr>
        </p15:guide>
        <p15:guide id="8" pos="5329" userDrawn="1">
          <p15:clr>
            <a:srgbClr val="A4A3A4"/>
          </p15:clr>
        </p15:guide>
        <p15:guide id="10" pos="5216" userDrawn="1">
          <p15:clr>
            <a:srgbClr val="A4A3A4"/>
          </p15:clr>
        </p15:guide>
        <p15:guide id="11" orient="horz" pos="1088" userDrawn="1">
          <p15:clr>
            <a:srgbClr val="A4A3A4"/>
          </p15:clr>
        </p15:guide>
        <p15:guide id="14" pos="5443" userDrawn="1">
          <p15:clr>
            <a:srgbClr val="A4A3A4"/>
          </p15:clr>
        </p15:guide>
        <p15:guide id="20" pos="1928" userDrawn="1">
          <p15:clr>
            <a:srgbClr val="A4A3A4"/>
          </p15:clr>
        </p15:guide>
        <p15:guide id="22" pos="3742" userDrawn="1">
          <p15:clr>
            <a:srgbClr val="A4A3A4"/>
          </p15:clr>
        </p15:guide>
        <p15:guide id="23" pos="35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Юшин Игорь Феликсович" initials="ЮИФ" lastIdx="6" clrIdx="0">
    <p:extLst>
      <p:ext uri="{19B8F6BF-5375-455C-9EA6-DF929625EA0E}">
        <p15:presenceInfo xmlns:p15="http://schemas.microsoft.com/office/powerpoint/2012/main" userId="S-1-5-21-1427493287-2892074134-283380318-1187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9FF"/>
    <a:srgbClr val="0077C8"/>
    <a:srgbClr val="98D1EC"/>
    <a:srgbClr val="CBE8F5"/>
    <a:srgbClr val="D7EBF5"/>
    <a:srgbClr val="008DD0"/>
    <a:srgbClr val="7F7F7F"/>
    <a:srgbClr val="D38235"/>
    <a:srgbClr val="01BAD7"/>
    <a:srgbClr val="009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EDD"/>
          </a:solidFill>
        </a:fill>
      </a:tcStyle>
    </a:wholeTbl>
    <a:band2H>
      <a:tcTxStyle/>
      <a:tcStyle>
        <a:tcBdr/>
        <a:fill>
          <a:solidFill>
            <a:srgbClr val="E6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E5EF"/>
          </a:solidFill>
        </a:fill>
      </a:tcStyle>
    </a:wholeTbl>
    <a:band2H>
      <a:tcTxStyle/>
      <a:tcStyle>
        <a:tcBdr/>
        <a:fill>
          <a:solidFill>
            <a:srgbClr val="EFF3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EDD"/>
          </a:solidFill>
        </a:fill>
      </a:tcStyle>
    </a:wholeTbl>
    <a:band2H>
      <a:tcTxStyle/>
      <a:tcStyle>
        <a:tcBdr/>
        <a:fill>
          <a:solidFill>
            <a:srgbClr val="E6E8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1F1B1A"/>
        </a:fontRef>
        <a:srgbClr val="1F1B1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1F1B1A"/>
              </a:solidFill>
              <a:prstDash val="solid"/>
              <a:round/>
            </a:ln>
          </a:top>
          <a:bottom>
            <a:ln w="254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1F1B1A"/>
              </a:solidFill>
              <a:prstDash val="solid"/>
              <a:round/>
            </a:ln>
          </a:top>
          <a:bottom>
            <a:ln w="254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F1B1A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F1B1A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1F1B1A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ahoma"/>
          <a:ea typeface="Tahoma"/>
          <a:cs typeface="Tahoma"/>
        </a:font>
        <a:srgbClr val="1F1B1A"/>
      </a:tcTxStyle>
      <a:tcStyle>
        <a:tcBdr>
          <a:left>
            <a:ln w="12700" cap="flat">
              <a:solidFill>
                <a:srgbClr val="1F1B1A"/>
              </a:solidFill>
              <a:prstDash val="solid"/>
              <a:round/>
            </a:ln>
          </a:left>
          <a:right>
            <a:ln w="12700" cap="flat">
              <a:solidFill>
                <a:srgbClr val="1F1B1A"/>
              </a:solidFill>
              <a:prstDash val="solid"/>
              <a:round/>
            </a:ln>
          </a:right>
          <a:top>
            <a:ln w="12700" cap="flat">
              <a:solidFill>
                <a:srgbClr val="1F1B1A"/>
              </a:solidFill>
              <a:prstDash val="solid"/>
              <a:round/>
            </a:ln>
          </a:top>
          <a:bottom>
            <a:ln w="127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solidFill>
                <a:srgbClr val="1F1B1A"/>
              </a:solidFill>
              <a:prstDash val="solid"/>
              <a:round/>
            </a:ln>
          </a:insideH>
          <a:insideV>
            <a:ln w="12700" cap="flat">
              <a:solidFill>
                <a:srgbClr val="1F1B1A"/>
              </a:solidFill>
              <a:prstDash val="solid"/>
              <a:round/>
            </a:ln>
          </a:insideV>
        </a:tcBdr>
        <a:fill>
          <a:solidFill>
            <a:srgbClr val="1F1B1A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1F1B1A"/>
        </a:fontRef>
        <a:srgbClr val="1F1B1A"/>
      </a:tcTxStyle>
      <a:tcStyle>
        <a:tcBdr>
          <a:left>
            <a:ln w="12700" cap="flat">
              <a:solidFill>
                <a:srgbClr val="1F1B1A"/>
              </a:solidFill>
              <a:prstDash val="solid"/>
              <a:round/>
            </a:ln>
          </a:left>
          <a:right>
            <a:ln w="12700" cap="flat">
              <a:solidFill>
                <a:srgbClr val="1F1B1A"/>
              </a:solidFill>
              <a:prstDash val="solid"/>
              <a:round/>
            </a:ln>
          </a:right>
          <a:top>
            <a:ln w="12700" cap="flat">
              <a:solidFill>
                <a:srgbClr val="1F1B1A"/>
              </a:solidFill>
              <a:prstDash val="solid"/>
              <a:round/>
            </a:ln>
          </a:top>
          <a:bottom>
            <a:ln w="127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solidFill>
                <a:srgbClr val="1F1B1A"/>
              </a:solidFill>
              <a:prstDash val="solid"/>
              <a:round/>
            </a:ln>
          </a:insideH>
          <a:insideV>
            <a:ln w="12700" cap="flat">
              <a:solidFill>
                <a:srgbClr val="1F1B1A"/>
              </a:solidFill>
              <a:prstDash val="solid"/>
              <a:round/>
            </a:ln>
          </a:insideV>
        </a:tcBdr>
        <a:fill>
          <a:solidFill>
            <a:srgbClr val="1F1B1A">
              <a:alpha val="20000"/>
            </a:srgbClr>
          </a:solidFill>
        </a:fill>
      </a:tcStyle>
    </a:firstCol>
    <a:lastRow>
      <a:tcTxStyle b="on" i="off">
        <a:fontRef idx="major">
          <a:srgbClr val="1F1B1A"/>
        </a:fontRef>
        <a:srgbClr val="1F1B1A"/>
      </a:tcTxStyle>
      <a:tcStyle>
        <a:tcBdr>
          <a:left>
            <a:ln w="12700" cap="flat">
              <a:solidFill>
                <a:srgbClr val="1F1B1A"/>
              </a:solidFill>
              <a:prstDash val="solid"/>
              <a:round/>
            </a:ln>
          </a:left>
          <a:right>
            <a:ln w="12700" cap="flat">
              <a:solidFill>
                <a:srgbClr val="1F1B1A"/>
              </a:solidFill>
              <a:prstDash val="solid"/>
              <a:round/>
            </a:ln>
          </a:right>
          <a:top>
            <a:ln w="50800" cap="flat">
              <a:solidFill>
                <a:srgbClr val="1F1B1A"/>
              </a:solidFill>
              <a:prstDash val="solid"/>
              <a:round/>
            </a:ln>
          </a:top>
          <a:bottom>
            <a:ln w="127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solidFill>
                <a:srgbClr val="1F1B1A"/>
              </a:solidFill>
              <a:prstDash val="solid"/>
              <a:round/>
            </a:ln>
          </a:insideH>
          <a:insideV>
            <a:ln w="12700" cap="flat">
              <a:solidFill>
                <a:srgbClr val="1F1B1A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1F1B1A"/>
        </a:fontRef>
        <a:srgbClr val="1F1B1A"/>
      </a:tcTxStyle>
      <a:tcStyle>
        <a:tcBdr>
          <a:left>
            <a:ln w="12700" cap="flat">
              <a:solidFill>
                <a:srgbClr val="1F1B1A"/>
              </a:solidFill>
              <a:prstDash val="solid"/>
              <a:round/>
            </a:ln>
          </a:left>
          <a:right>
            <a:ln w="12700" cap="flat">
              <a:solidFill>
                <a:srgbClr val="1F1B1A"/>
              </a:solidFill>
              <a:prstDash val="solid"/>
              <a:round/>
            </a:ln>
          </a:right>
          <a:top>
            <a:ln w="12700" cap="flat">
              <a:solidFill>
                <a:srgbClr val="1F1B1A"/>
              </a:solidFill>
              <a:prstDash val="solid"/>
              <a:round/>
            </a:ln>
          </a:top>
          <a:bottom>
            <a:ln w="25400" cap="flat">
              <a:solidFill>
                <a:srgbClr val="1F1B1A"/>
              </a:solidFill>
              <a:prstDash val="solid"/>
              <a:round/>
            </a:ln>
          </a:bottom>
          <a:insideH>
            <a:ln w="12700" cap="flat">
              <a:solidFill>
                <a:srgbClr val="1F1B1A"/>
              </a:solidFill>
              <a:prstDash val="solid"/>
              <a:round/>
            </a:ln>
          </a:insideH>
          <a:insideV>
            <a:ln w="12700" cap="flat">
              <a:solidFill>
                <a:srgbClr val="1F1B1A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9" autoAdjust="0"/>
    <p:restoredTop sz="96395" autoAdjust="0"/>
  </p:normalViewPr>
  <p:slideViewPr>
    <p:cSldViewPr snapToGrid="0">
      <p:cViewPr varScale="1">
        <p:scale>
          <a:sx n="100" d="100"/>
          <a:sy n="100" d="100"/>
        </p:scale>
        <p:origin x="792" y="84"/>
      </p:cViewPr>
      <p:guideLst>
        <p:guide orient="horz" pos="1996"/>
        <p:guide pos="5329"/>
        <p:guide pos="5216"/>
        <p:guide orient="horz" pos="1088"/>
        <p:guide pos="5443"/>
        <p:guide pos="1928"/>
        <p:guide pos="3742"/>
        <p:guide pos="3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084"/>
    </p:cViewPr>
  </p:sorterViewPr>
  <p:notesViewPr>
    <p:cSldViewPr snapToGrid="0">
      <p:cViewPr varScale="1">
        <p:scale>
          <a:sx n="93" d="100"/>
          <a:sy n="93" d="100"/>
        </p:scale>
        <p:origin x="3411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astochkinaMA\AppData\Local\Microsoft\Windows\INetCache\Content.Outlook\V6VPTBMF\&#1050;&#1085;&#1080;&#1075;&#1072;3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astochkinaMA\AppData\Local\Microsoft\Windows\INetCache\Content.Outlook\V6VPTBMF\&#1050;&#1085;&#1080;&#1075;&#1072;3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54285714285716"/>
          <c:y val="0.14342716049382717"/>
          <c:w val="0.77453650793650797"/>
          <c:h val="0.66624320987654317"/>
        </c:manualLayout>
      </c:layout>
      <c:scatterChart>
        <c:scatterStyle val="lineMarker"/>
        <c:varyColors val="0"/>
        <c:ser>
          <c:idx val="0"/>
          <c:order val="0"/>
          <c:tx>
            <c:v>Pt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21605317460317461"/>
                  <c:y val="9.4598765432098761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600" b="0" i="0" u="none" strike="noStrike" kern="1200" baseline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defRPr>
                    </a:pPr>
                    <a:r>
                      <a:rPr lang="en-US" sz="600"/>
                      <a:t>Pt  = 0,057 Cu - 0,0045</a:t>
                    </a:r>
                    <a:br>
                      <a:rPr lang="en-US" sz="600"/>
                    </a:br>
                    <a:r>
                      <a:rPr lang="en-US" sz="600"/>
                      <a:t>R² = 0,84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600" b="0" i="0" u="none" strike="noStrik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pPr>
                  <a:endParaRPr lang="ru-RU"/>
                </a:p>
              </c:txPr>
            </c:trendlineLbl>
          </c:trendline>
          <c:xVal>
            <c:numRef>
              <c:f>Обеднение!$H$4:$H$18</c:f>
              <c:numCache>
                <c:formatCode>General</c:formatCode>
                <c:ptCount val="13"/>
                <c:pt idx="0">
                  <c:v>0.49299999999999999</c:v>
                </c:pt>
                <c:pt idx="1">
                  <c:v>0.47399999999999998</c:v>
                </c:pt>
                <c:pt idx="2">
                  <c:v>0.433</c:v>
                </c:pt>
                <c:pt idx="3">
                  <c:v>0.38900000000000001</c:v>
                </c:pt>
                <c:pt idx="4">
                  <c:v>0.377</c:v>
                </c:pt>
                <c:pt idx="5">
                  <c:v>0.36</c:v>
                </c:pt>
                <c:pt idx="6">
                  <c:v>0.31900000000000001</c:v>
                </c:pt>
                <c:pt idx="7">
                  <c:v>0.29099999999999998</c:v>
                </c:pt>
                <c:pt idx="8">
                  <c:v>0.23400000000000001</c:v>
                </c:pt>
                <c:pt idx="9">
                  <c:v>0.36599999999999999</c:v>
                </c:pt>
                <c:pt idx="10">
                  <c:v>0.35699999999999998</c:v>
                </c:pt>
                <c:pt idx="11">
                  <c:v>0.315</c:v>
                </c:pt>
                <c:pt idx="12">
                  <c:v>0.28899999999999998</c:v>
                </c:pt>
              </c:numCache>
            </c:numRef>
          </c:xVal>
          <c:yVal>
            <c:numRef>
              <c:f>Обеднение!$Y$4:$Y$18</c:f>
              <c:numCache>
                <c:formatCode>General</c:formatCode>
                <c:ptCount val="13"/>
                <c:pt idx="0">
                  <c:v>2.5499999999999998E-2</c:v>
                </c:pt>
                <c:pt idx="1">
                  <c:v>2.0400000000000001E-2</c:v>
                </c:pt>
                <c:pt idx="2">
                  <c:v>1.9400000000000001E-2</c:v>
                </c:pt>
                <c:pt idx="3">
                  <c:v>1.67E-2</c:v>
                </c:pt>
                <c:pt idx="4">
                  <c:v>1.6199999999999999E-2</c:v>
                </c:pt>
                <c:pt idx="5">
                  <c:v>0.02</c:v>
                </c:pt>
                <c:pt idx="6">
                  <c:v>1.3299999999999999E-2</c:v>
                </c:pt>
                <c:pt idx="7">
                  <c:v>1.12E-2</c:v>
                </c:pt>
                <c:pt idx="8">
                  <c:v>1.0500000000000001E-2</c:v>
                </c:pt>
                <c:pt idx="9">
                  <c:v>1.7399999999999999E-2</c:v>
                </c:pt>
                <c:pt idx="10">
                  <c:v>1.3299999999999999E-2</c:v>
                </c:pt>
                <c:pt idx="11">
                  <c:v>1.1599999999999999E-2</c:v>
                </c:pt>
                <c:pt idx="12">
                  <c:v>1.0800000000000001E-2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E98-4A46-A6D7-D37353812166}"/>
            </c:ext>
          </c:extLst>
        </c:ser>
        <c:ser>
          <c:idx val="1"/>
          <c:order val="1"/>
          <c:tx>
            <c:v>Pd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14234404761904762"/>
                  <c:y val="1.2112962962962963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600" b="0" i="0" u="none" strike="noStrike" kern="1200" baseline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defRPr>
                    </a:pPr>
                    <a:r>
                      <a:rPr lang="en-US" sz="600"/>
                      <a:t>Pd = 0,18 Cu - 0,024</a:t>
                    </a:r>
                    <a:br>
                      <a:rPr lang="en-US" sz="600"/>
                    </a:br>
                    <a:r>
                      <a:rPr lang="en-US" sz="600"/>
                      <a:t>R² = 0,90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600" b="0" i="0" u="none" strike="noStrik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pPr>
                  <a:endParaRPr lang="ru-RU"/>
                </a:p>
              </c:txPr>
            </c:trendlineLbl>
          </c:trendline>
          <c:xVal>
            <c:numRef>
              <c:f>Обеднение!$H$4:$H$18</c:f>
              <c:numCache>
                <c:formatCode>General</c:formatCode>
                <c:ptCount val="13"/>
                <c:pt idx="0">
                  <c:v>0.49299999999999999</c:v>
                </c:pt>
                <c:pt idx="1">
                  <c:v>0.47399999999999998</c:v>
                </c:pt>
                <c:pt idx="2">
                  <c:v>0.433</c:v>
                </c:pt>
                <c:pt idx="3">
                  <c:v>0.38900000000000001</c:v>
                </c:pt>
                <c:pt idx="4">
                  <c:v>0.377</c:v>
                </c:pt>
                <c:pt idx="5">
                  <c:v>0.36</c:v>
                </c:pt>
                <c:pt idx="6">
                  <c:v>0.31900000000000001</c:v>
                </c:pt>
                <c:pt idx="7">
                  <c:v>0.29099999999999998</c:v>
                </c:pt>
                <c:pt idx="8">
                  <c:v>0.23400000000000001</c:v>
                </c:pt>
                <c:pt idx="9">
                  <c:v>0.36599999999999999</c:v>
                </c:pt>
                <c:pt idx="10">
                  <c:v>0.35699999999999998</c:v>
                </c:pt>
                <c:pt idx="11">
                  <c:v>0.315</c:v>
                </c:pt>
                <c:pt idx="12">
                  <c:v>0.28899999999999998</c:v>
                </c:pt>
              </c:numCache>
            </c:numRef>
          </c:xVal>
          <c:yVal>
            <c:numRef>
              <c:f>Обеднение!$Z$4:$Z$18</c:f>
              <c:numCache>
                <c:formatCode>General</c:formatCode>
                <c:ptCount val="13"/>
                <c:pt idx="0">
                  <c:v>7.3200000000000001E-2</c:v>
                </c:pt>
                <c:pt idx="1">
                  <c:v>5.6899999999999999E-2</c:v>
                </c:pt>
                <c:pt idx="2">
                  <c:v>4.6699999999999998E-2</c:v>
                </c:pt>
                <c:pt idx="3">
                  <c:v>4.1399999999999999E-2</c:v>
                </c:pt>
                <c:pt idx="4">
                  <c:v>3.5700000000000003E-2</c:v>
                </c:pt>
                <c:pt idx="5">
                  <c:v>3.9100000000000003E-2</c:v>
                </c:pt>
                <c:pt idx="6">
                  <c:v>3.4099999999999998E-2</c:v>
                </c:pt>
                <c:pt idx="7">
                  <c:v>2.8799999999999999E-2</c:v>
                </c:pt>
                <c:pt idx="8">
                  <c:v>0.02</c:v>
                </c:pt>
                <c:pt idx="9">
                  <c:v>4.2999999999999997E-2</c:v>
                </c:pt>
                <c:pt idx="10">
                  <c:v>3.9899999999999998E-2</c:v>
                </c:pt>
                <c:pt idx="11">
                  <c:v>3.15E-2</c:v>
                </c:pt>
                <c:pt idx="12">
                  <c:v>2.53E-2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E98-4A46-A6D7-D37353812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6601096"/>
        <c:axId val="511797544"/>
      </c:scatterChart>
      <c:valAx>
        <c:axId val="616601096"/>
        <c:scaling>
          <c:orientation val="minMax"/>
          <c:min val="0.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650" b="0" i="0" u="none" strike="noStrike" kern="1200" baseline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r>
                  <a:rPr lang="ru-RU"/>
                  <a:t>Содержание </a:t>
                </a:r>
                <a:r>
                  <a:rPr lang="en-US"/>
                  <a:t>Cu </a:t>
                </a:r>
                <a:r>
                  <a:rPr lang="ru-RU"/>
                  <a:t>в шлаке, %</a:t>
                </a:r>
              </a:p>
            </c:rich>
          </c:tx>
          <c:layout>
            <c:manualLayout>
              <c:xMode val="edge"/>
              <c:yMode val="edge"/>
              <c:x val="0.51835874865949239"/>
              <c:y val="0.9118405284189515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650" b="0" i="0" u="none" strike="noStrike" kern="1200" baseline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ru-RU"/>
          </a:p>
        </c:txPr>
        <c:crossAx val="511797544"/>
        <c:crosses val="autoZero"/>
        <c:crossBetween val="midCat"/>
      </c:valAx>
      <c:valAx>
        <c:axId val="511797544"/>
        <c:scaling>
          <c:orientation val="minMax"/>
          <c:max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r>
                  <a:rPr lang="ru-RU" sz="700"/>
                  <a:t>Содержание ДМ</a:t>
                </a:r>
                <a:r>
                  <a:rPr lang="en-US" sz="700"/>
                  <a:t> </a:t>
                </a:r>
                <a:r>
                  <a:rPr lang="ru-RU" sz="700"/>
                  <a:t>в шлаке, г/т</a:t>
                </a:r>
              </a:p>
            </c:rich>
          </c:tx>
          <c:layout>
            <c:manualLayout>
              <c:xMode val="edge"/>
              <c:yMode val="edge"/>
              <c:x val="2.3723567206728521E-3"/>
              <c:y val="2.230509941923614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ru-RU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ru-RU"/>
          </a:p>
        </c:txPr>
        <c:crossAx val="616601096"/>
        <c:crosses val="autoZero"/>
        <c:crossBetween val="midCat"/>
        <c:majorUnit val="2.0000000000000004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65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ru-RU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45875111275848"/>
          <c:y val="0.16530025709193957"/>
          <c:w val="0.81556642178060357"/>
          <c:h val="0.66473117337150756"/>
        </c:manualLayout>
      </c:layout>
      <c:scatterChart>
        <c:scatterStyle val="lineMarker"/>
        <c:varyColors val="0"/>
        <c:ser>
          <c:idx val="0"/>
          <c:order val="0"/>
          <c:tx>
            <c:v>Pt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7.128702990904684E-2"/>
                  <c:y val="0.1613702318696621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600" b="0" i="0" u="none" strike="noStrike" kern="1200" baseline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defRPr>
                    </a:pPr>
                    <a:r>
                      <a:rPr lang="en-US"/>
                      <a:t>Pt  = 4,1</a:t>
                    </a:r>
                    <a:r>
                      <a:rPr lang="ru-RU"/>
                      <a:t>6</a:t>
                    </a:r>
                    <a:r>
                      <a:rPr lang="en-US"/>
                      <a:t> Cu - 1,14</a:t>
                    </a:r>
                    <a:br>
                      <a:rPr lang="en-US"/>
                    </a:br>
                    <a:r>
                      <a:rPr lang="en-US"/>
                      <a:t>R² = 0,98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600" b="0" i="0" u="none" strike="noStrik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pPr>
                  <a:endParaRPr lang="ru-RU"/>
                </a:p>
              </c:txPr>
            </c:trendlineLbl>
          </c:trendline>
          <c:xVal>
            <c:numRef>
              <c:f>'ДМ-Богатырев'!$I$3:$I$8</c:f>
              <c:numCache>
                <c:formatCode>General</c:formatCode>
                <c:ptCount val="6"/>
                <c:pt idx="0">
                  <c:v>0.28100000000000003</c:v>
                </c:pt>
                <c:pt idx="1">
                  <c:v>0.26900000000000002</c:v>
                </c:pt>
                <c:pt idx="2">
                  <c:v>0.33600000000000002</c:v>
                </c:pt>
                <c:pt idx="3">
                  <c:v>1.29</c:v>
                </c:pt>
                <c:pt idx="4">
                  <c:v>0.55200000000000005</c:v>
                </c:pt>
                <c:pt idx="5">
                  <c:v>0.35599999999999998</c:v>
                </c:pt>
              </c:numCache>
            </c:numRef>
          </c:xVal>
          <c:yVal>
            <c:numRef>
              <c:f>'ДМ-Богатырев'!$B$3:$B$8</c:f>
              <c:numCache>
                <c:formatCode>General</c:formatCode>
                <c:ptCount val="6"/>
                <c:pt idx="0">
                  <c:v>2.8000000000000001E-2</c:v>
                </c:pt>
                <c:pt idx="1">
                  <c:v>0.21</c:v>
                </c:pt>
                <c:pt idx="2">
                  <c:v>0.41899999999999998</c:v>
                </c:pt>
                <c:pt idx="3">
                  <c:v>4.28</c:v>
                </c:pt>
                <c:pt idx="4">
                  <c:v>0.98499999999999999</c:v>
                </c:pt>
                <c:pt idx="5">
                  <c:v>4.4999999999999998E-2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289-4615-8EBE-E371129DDB12}"/>
            </c:ext>
          </c:extLst>
        </c:ser>
        <c:ser>
          <c:idx val="1"/>
          <c:order val="1"/>
          <c:tx>
            <c:v>Pd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19810189541179191"/>
                  <c:y val="0.1697744115613466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600" b="0" i="0" u="none" strike="noStrike" kern="1200" baseline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defRPr>
                    </a:pPr>
                    <a:r>
                      <a:rPr lang="en-US"/>
                      <a:t>Pd = 8,74 Cu - 2,6</a:t>
                    </a:r>
                    <a:r>
                      <a:rPr lang="ru-RU"/>
                      <a:t>5</a:t>
                    </a:r>
                    <a:r>
                      <a:rPr lang="en-US"/>
                      <a:t/>
                    </a:r>
                    <a:br>
                      <a:rPr lang="en-US"/>
                    </a:br>
                    <a:r>
                      <a:rPr lang="en-US"/>
                      <a:t>R² = 0,97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600" b="0" i="0" u="none" strike="noStrike" kern="1200" baseline="0">
                      <a:solidFill>
                        <a:schemeClr val="tx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defRPr>
                  </a:pPr>
                  <a:endParaRPr lang="ru-RU"/>
                </a:p>
              </c:txPr>
            </c:trendlineLbl>
          </c:trendline>
          <c:xVal>
            <c:numRef>
              <c:f>'ДМ-Богатырев'!$I$3:$I$8</c:f>
              <c:numCache>
                <c:formatCode>General</c:formatCode>
                <c:ptCount val="6"/>
                <c:pt idx="0">
                  <c:v>0.28100000000000003</c:v>
                </c:pt>
                <c:pt idx="1">
                  <c:v>0.26900000000000002</c:v>
                </c:pt>
                <c:pt idx="2">
                  <c:v>0.33600000000000002</c:v>
                </c:pt>
                <c:pt idx="3">
                  <c:v>1.29</c:v>
                </c:pt>
                <c:pt idx="4">
                  <c:v>0.55200000000000005</c:v>
                </c:pt>
                <c:pt idx="5">
                  <c:v>0.35599999999999998</c:v>
                </c:pt>
              </c:numCache>
            </c:numRef>
          </c:xVal>
          <c:yVal>
            <c:numRef>
              <c:f>'ДМ-Богатырев'!$C$3:$C$8</c:f>
              <c:numCache>
                <c:formatCode>General</c:formatCode>
                <c:ptCount val="6"/>
                <c:pt idx="0">
                  <c:v>0.05</c:v>
                </c:pt>
                <c:pt idx="1">
                  <c:v>0.25800000000000001</c:v>
                </c:pt>
                <c:pt idx="2">
                  <c:v>0.63600000000000001</c:v>
                </c:pt>
                <c:pt idx="3">
                  <c:v>8.92</c:v>
                </c:pt>
                <c:pt idx="4">
                  <c:v>1.1499999999999999</c:v>
                </c:pt>
                <c:pt idx="5">
                  <c:v>4.7E-2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289-4615-8EBE-E371129DDB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16601096"/>
        <c:axId val="511797544"/>
      </c:scatterChart>
      <c:valAx>
        <c:axId val="616601096"/>
        <c:scaling>
          <c:orientation val="minMax"/>
          <c:min val="0.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r>
                  <a:rPr lang="ru-RU" sz="700"/>
                  <a:t>Содержание </a:t>
                </a:r>
                <a:r>
                  <a:rPr lang="en-US" sz="700"/>
                  <a:t>Cu </a:t>
                </a:r>
                <a:r>
                  <a:rPr lang="ru-RU" sz="700"/>
                  <a:t>в шлаке, %</a:t>
                </a:r>
              </a:p>
            </c:rich>
          </c:tx>
          <c:layout>
            <c:manualLayout>
              <c:xMode val="edge"/>
              <c:yMode val="edge"/>
              <c:x val="0.51835874865949239"/>
              <c:y val="0.9118405284189515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ru-RU"/>
          </a:p>
        </c:txPr>
        <c:crossAx val="511797544"/>
        <c:crosses val="autoZero"/>
        <c:crossBetween val="midCat"/>
      </c:valAx>
      <c:valAx>
        <c:axId val="511797544"/>
        <c:scaling>
          <c:orientation val="minMax"/>
          <c:max val="1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r>
                  <a:rPr lang="ru-RU" sz="700"/>
                  <a:t>Содержание ДМ</a:t>
                </a:r>
                <a:r>
                  <a:rPr lang="en-US" sz="700"/>
                  <a:t> </a:t>
                </a:r>
                <a:r>
                  <a:rPr lang="ru-RU" sz="700"/>
                  <a:t>в шлаке, %</a:t>
                </a:r>
              </a:p>
            </c:rich>
          </c:tx>
          <c:layout>
            <c:manualLayout>
              <c:xMode val="edge"/>
              <c:yMode val="edge"/>
              <c:x val="2.3723567206728521E-3"/>
              <c:y val="2.230509941923614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defRPr>
              </a:pPr>
              <a:endParaRPr lang="ru-RU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ru-RU"/>
          </a:p>
        </c:txPr>
        <c:crossAx val="6166010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6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0.17215</cdr:x>
      <cdr:y>0.02636</cdr:y>
    </cdr:from>
    <cdr:to>
      <cdr:x>0.98277</cdr:x>
      <cdr:y>0.1236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33825" y="42710"/>
          <a:ext cx="2042762" cy="15752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r"/>
          <a:r>
            <a:rPr lang="ru-RU" sz="7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Обеднение шлаков рудной плавки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0.11339</cdr:x>
      <cdr:y>0.04178</cdr:y>
    </cdr:from>
    <cdr:to>
      <cdr:x>0.95195</cdr:x>
      <cdr:y>0.14699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85751" y="67676"/>
          <a:ext cx="2113162" cy="17045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r"/>
          <a:r>
            <a:rPr lang="ru-RU" sz="7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Коллектирующая плавка ДМ продуктов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0" y="0"/>
            <a:ext cx="2950475" cy="498773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748" y="0"/>
            <a:ext cx="2950475" cy="498773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r">
              <a:defRPr sz="1200"/>
            </a:lvl1pPr>
          </a:lstStyle>
          <a:p>
            <a:fld id="{40EEAB86-2016-4C29-8CBB-7DD7FC6625C5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0" y="9442160"/>
            <a:ext cx="2950475" cy="498772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748" y="9442160"/>
            <a:ext cx="2950475" cy="498772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r">
              <a:defRPr sz="1200"/>
            </a:lvl1pPr>
          </a:lstStyle>
          <a:p>
            <a:fld id="{949EA1D6-7E2E-46AA-AE06-457001925F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832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 noRot="1" noChangeAspect="1"/>
          </p:cNvSpPr>
          <p:nvPr>
            <p:ph type="sldImg"/>
          </p:nvPr>
        </p:nvSpPr>
        <p:spPr>
          <a:xfrm>
            <a:off x="90488" y="746125"/>
            <a:ext cx="6627812" cy="3727450"/>
          </a:xfrm>
          <a:prstGeom prst="rect">
            <a:avLst/>
          </a:prstGeom>
        </p:spPr>
        <p:txBody>
          <a:bodyPr lIns="91577" tIns="45789" rIns="91577" bIns="45789"/>
          <a:lstStyle/>
          <a:p>
            <a:endParaRPr/>
          </a:p>
        </p:txBody>
      </p:sp>
      <p:sp>
        <p:nvSpPr>
          <p:cNvPr id="81" name="Shape 81"/>
          <p:cNvSpPr>
            <a:spLocks noGrp="1"/>
          </p:cNvSpPr>
          <p:nvPr>
            <p:ph type="body" sz="quarter" idx="1"/>
          </p:nvPr>
        </p:nvSpPr>
        <p:spPr>
          <a:xfrm>
            <a:off x="907839" y="4721945"/>
            <a:ext cx="4993112" cy="4473416"/>
          </a:xfrm>
          <a:prstGeom prst="rect">
            <a:avLst/>
          </a:prstGeom>
        </p:spPr>
        <p:txBody>
          <a:bodyPr lIns="91577" tIns="45789" rIns="91577" bIns="4578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1463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latinLnBrk="0">
      <a:defRPr sz="1349">
        <a:latin typeface="+mn-lt"/>
        <a:ea typeface="+mn-ea"/>
        <a:cs typeface="+mn-cs"/>
        <a:sym typeface="Calibri"/>
      </a:defRPr>
    </a:lvl1pPr>
    <a:lvl2pPr indent="257059" latinLnBrk="0">
      <a:defRPr sz="1349">
        <a:latin typeface="+mn-lt"/>
        <a:ea typeface="+mn-ea"/>
        <a:cs typeface="+mn-cs"/>
        <a:sym typeface="Calibri"/>
      </a:defRPr>
    </a:lvl2pPr>
    <a:lvl3pPr indent="514117" latinLnBrk="0">
      <a:defRPr sz="1349">
        <a:latin typeface="+mn-lt"/>
        <a:ea typeface="+mn-ea"/>
        <a:cs typeface="+mn-cs"/>
        <a:sym typeface="Calibri"/>
      </a:defRPr>
    </a:lvl3pPr>
    <a:lvl4pPr indent="771176" latinLnBrk="0">
      <a:defRPr sz="1349">
        <a:latin typeface="+mn-lt"/>
        <a:ea typeface="+mn-ea"/>
        <a:cs typeface="+mn-cs"/>
        <a:sym typeface="Calibri"/>
      </a:defRPr>
    </a:lvl4pPr>
    <a:lvl5pPr indent="1028235" latinLnBrk="0">
      <a:defRPr sz="1349">
        <a:latin typeface="+mn-lt"/>
        <a:ea typeface="+mn-ea"/>
        <a:cs typeface="+mn-cs"/>
        <a:sym typeface="Calibri"/>
      </a:defRPr>
    </a:lvl5pPr>
    <a:lvl6pPr indent="1285295" latinLnBrk="0">
      <a:defRPr sz="1349">
        <a:latin typeface="+mn-lt"/>
        <a:ea typeface="+mn-ea"/>
        <a:cs typeface="+mn-cs"/>
        <a:sym typeface="Calibri"/>
      </a:defRPr>
    </a:lvl6pPr>
    <a:lvl7pPr indent="1542352" latinLnBrk="0">
      <a:defRPr sz="1349">
        <a:latin typeface="+mn-lt"/>
        <a:ea typeface="+mn-ea"/>
        <a:cs typeface="+mn-cs"/>
        <a:sym typeface="Calibri"/>
      </a:defRPr>
    </a:lvl7pPr>
    <a:lvl8pPr indent="1799412" latinLnBrk="0">
      <a:defRPr sz="1349">
        <a:latin typeface="+mn-lt"/>
        <a:ea typeface="+mn-ea"/>
        <a:cs typeface="+mn-cs"/>
        <a:sym typeface="Calibri"/>
      </a:defRPr>
    </a:lvl8pPr>
    <a:lvl9pPr indent="2056471" latinLnBrk="0">
      <a:defRPr sz="1349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8481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7925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455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861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244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2222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ы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F55609AD-4A16-4E81-B882-4C9514C745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961" y="2043216"/>
            <a:ext cx="6284012" cy="29057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1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4BBA2-221E-4DE7-86C2-044C8C3FED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961" y="641380"/>
            <a:ext cx="8816975" cy="731838"/>
          </a:xfrm>
          <a:prstGeom prst="rect">
            <a:avLst/>
          </a:prstGeom>
        </p:spPr>
        <p:txBody>
          <a:bodyPr lIns="0" tIns="14400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 b="1" i="0">
                <a:solidFill>
                  <a:srgbClr val="0077C8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94AD0E-3DC7-FB73-4943-765A436B8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688" y="0"/>
            <a:ext cx="8816975" cy="4730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 b="1">
                <a:solidFill>
                  <a:srgbClr val="7F7F7F"/>
                </a:solidFill>
              </a:defRPr>
            </a:lvl1pPr>
            <a:lvl2pPr marL="432013" indent="0"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2120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76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ы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F55609AD-4A16-4E81-B882-4C9514C745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961" y="2043216"/>
            <a:ext cx="6284012" cy="29057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1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4BBA2-221E-4DE7-86C2-044C8C3FED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961" y="641380"/>
            <a:ext cx="8816975" cy="731838"/>
          </a:xfrm>
          <a:prstGeom prst="rect">
            <a:avLst/>
          </a:prstGeom>
        </p:spPr>
        <p:txBody>
          <a:bodyPr lIns="0" tIns="14400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 b="1" i="0">
                <a:solidFill>
                  <a:srgbClr val="0077C8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94AD0E-3DC7-FB73-4943-765A436B8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688" y="0"/>
            <a:ext cx="8816975" cy="4730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 b="1">
                <a:solidFill>
                  <a:srgbClr val="7F7F7F"/>
                </a:solidFill>
              </a:defRPr>
            </a:lvl1pPr>
            <a:lvl2pPr marL="432013" indent="0">
              <a:buNone/>
              <a:defRPr/>
            </a:lvl2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6280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2.v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vmlDrawing" Target="../drawings/vmlDrawing3.vml"/><Relationship Id="rId7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30043489"/>
              </p:ext>
            </p:extLst>
          </p:nvPr>
        </p:nvGraphicFramePr>
        <p:xfrm>
          <a:off x="2003" y="1502"/>
          <a:ext cx="1999" cy="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5" name="Объект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" y="1502"/>
                        <a:ext cx="1999" cy="14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8A89D91-D99C-4EE2-9930-93999B6C4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75995"/>
            <a:ext cx="11520488" cy="0"/>
          </a:xfrm>
          <a:prstGeom prst="line">
            <a:avLst/>
          </a:prstGeom>
          <a:ln w="22225"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9000">
                  <a:schemeClr val="bg1">
                    <a:lumMod val="85000"/>
                  </a:schemeClr>
                </a:gs>
                <a:gs pos="91000">
                  <a:schemeClr val="bg1">
                    <a:lumMod val="75000"/>
                  </a:schemeClr>
                </a:gs>
                <a:gs pos="100000">
                  <a:schemeClr val="bg1"/>
                </a:gs>
                <a:gs pos="50000">
                  <a:schemeClr val="bg1">
                    <a:lumMod val="65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верхние углы 15">
            <a:extLst>
              <a:ext uri="{FF2B5EF4-FFF2-40B4-BE49-F238E27FC236}">
                <a16:creationId xmlns:a16="http://schemas.microsoft.com/office/drawing/2014/main" id="{E200DDE3-DE49-4A89-A783-CEE9D13CF53C}"/>
              </a:ext>
            </a:extLst>
          </p:cNvPr>
          <p:cNvSpPr/>
          <p:nvPr userDrawn="1"/>
        </p:nvSpPr>
        <p:spPr>
          <a:xfrm flipV="1">
            <a:off x="9677458" y="0"/>
            <a:ext cx="351356" cy="403028"/>
          </a:xfrm>
          <a:prstGeom prst="round2Same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691" indent="-39691" algn="l">
              <a:spcBef>
                <a:spcPts val="273"/>
              </a:spcBef>
              <a:buClr>
                <a:srgbClr val="0070C0"/>
              </a:buClr>
              <a:buFont typeface="Arial"/>
              <a:buChar char="•"/>
            </a:pPr>
            <a:endParaRPr lang="ru-RU" sz="545" dirty="0">
              <a:solidFill>
                <a:schemeClr val="tx1"/>
              </a:solidFill>
            </a:endParaRPr>
          </a:p>
        </p:txBody>
      </p:sp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E764BBF2-1E11-47C9-88FD-10F8A5F2B48C}"/>
              </a:ext>
            </a:extLst>
          </p:cNvPr>
          <p:cNvSpPr txBox="1">
            <a:spLocks/>
          </p:cNvSpPr>
          <p:nvPr userDrawn="1"/>
        </p:nvSpPr>
        <p:spPr>
          <a:xfrm>
            <a:off x="9677856" y="31249"/>
            <a:ext cx="351356" cy="37178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r" defTabSz="1474872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7436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74872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12309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49745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87181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24617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62053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99489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6B06EC4-1553-4EEC-8AFC-5F4512671736}" type="slidenum">
              <a:rPr lang="ru-RU" sz="945" smtClean="0">
                <a:solidFill>
                  <a:schemeClr val="bg1"/>
                </a:solidFill>
              </a:rPr>
              <a:pPr algn="ctr"/>
              <a:t>‹#›</a:t>
            </a:fld>
            <a:endParaRPr lang="ru-RU" sz="945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613F44-B273-61F2-01AD-BFBCAF8016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3235" y="103525"/>
            <a:ext cx="849564" cy="26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8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l" defTabSz="864026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6" indent="-216006" algn="l" defTabSz="864026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32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45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58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70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83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96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10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13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26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8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51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64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7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9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102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97" userDrawn="1">
          <p15:clr>
            <a:srgbClr val="F26B43"/>
          </p15:clr>
        </p15:guide>
        <p15:guide id="2" pos="3629" userDrawn="1">
          <p15:clr>
            <a:srgbClr val="F26B43"/>
          </p15:clr>
        </p15:guide>
        <p15:guide id="3" pos="345" userDrawn="1">
          <p15:clr>
            <a:srgbClr val="F26B43"/>
          </p15:clr>
        </p15:guide>
        <p15:guide id="4" pos="6912" userDrawn="1">
          <p15:clr>
            <a:srgbClr val="F26B43"/>
          </p15:clr>
        </p15:guide>
        <p15:guide id="5" orient="horz" pos="204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30043489"/>
              </p:ext>
            </p:extLst>
          </p:nvPr>
        </p:nvGraphicFramePr>
        <p:xfrm>
          <a:off x="2003" y="1502"/>
          <a:ext cx="1999" cy="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2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5" name="Объект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" y="1502"/>
                        <a:ext cx="1999" cy="14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764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l" defTabSz="864026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6" indent="-216006" algn="l" defTabSz="864026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32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45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58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70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83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96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10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13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26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8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51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64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7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9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102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97" userDrawn="1">
          <p15:clr>
            <a:srgbClr val="F26B43"/>
          </p15:clr>
        </p15:guide>
        <p15:guide id="2" pos="3629" userDrawn="1">
          <p15:clr>
            <a:srgbClr val="F26B43"/>
          </p15:clr>
        </p15:guide>
        <p15:guide id="3" pos="345" userDrawn="1">
          <p15:clr>
            <a:srgbClr val="F26B43"/>
          </p15:clr>
        </p15:guide>
        <p15:guide id="4" pos="6912" userDrawn="1">
          <p15:clr>
            <a:srgbClr val="F26B43"/>
          </p15:clr>
        </p15:guide>
        <p15:guide id="5" orient="horz" pos="204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2003" y="1502"/>
          <a:ext cx="1999" cy="1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5" name="Объект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" y="1502"/>
                        <a:ext cx="1999" cy="14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8A89D91-D99C-4EE2-9930-93999B6C42D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75995"/>
            <a:ext cx="11520488" cy="0"/>
          </a:xfrm>
          <a:prstGeom prst="line">
            <a:avLst/>
          </a:prstGeom>
          <a:ln w="22225"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9000">
                  <a:schemeClr val="bg1">
                    <a:lumMod val="85000"/>
                  </a:schemeClr>
                </a:gs>
                <a:gs pos="91000">
                  <a:schemeClr val="bg1">
                    <a:lumMod val="75000"/>
                  </a:schemeClr>
                </a:gs>
                <a:gs pos="100000">
                  <a:schemeClr val="bg1"/>
                </a:gs>
                <a:gs pos="50000">
                  <a:schemeClr val="bg1">
                    <a:lumMod val="65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верхние углы 15">
            <a:extLst>
              <a:ext uri="{FF2B5EF4-FFF2-40B4-BE49-F238E27FC236}">
                <a16:creationId xmlns:a16="http://schemas.microsoft.com/office/drawing/2014/main" id="{E200DDE3-DE49-4A89-A783-CEE9D13CF53C}"/>
              </a:ext>
            </a:extLst>
          </p:cNvPr>
          <p:cNvSpPr/>
          <p:nvPr userDrawn="1"/>
        </p:nvSpPr>
        <p:spPr>
          <a:xfrm flipV="1">
            <a:off x="9677458" y="0"/>
            <a:ext cx="351356" cy="403028"/>
          </a:xfrm>
          <a:prstGeom prst="round2Same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691" indent="-39691" algn="l">
              <a:spcBef>
                <a:spcPts val="273"/>
              </a:spcBef>
              <a:buClr>
                <a:srgbClr val="0070C0"/>
              </a:buClr>
              <a:buFont typeface="Arial"/>
              <a:buChar char="•"/>
            </a:pPr>
            <a:endParaRPr lang="ru-RU" sz="545" dirty="0">
              <a:solidFill>
                <a:schemeClr val="tx1"/>
              </a:solidFill>
            </a:endParaRPr>
          </a:p>
        </p:txBody>
      </p:sp>
      <p:sp>
        <p:nvSpPr>
          <p:cNvPr id="17" name="Номер слайда 5">
            <a:extLst>
              <a:ext uri="{FF2B5EF4-FFF2-40B4-BE49-F238E27FC236}">
                <a16:creationId xmlns:a16="http://schemas.microsoft.com/office/drawing/2014/main" id="{E764BBF2-1E11-47C9-88FD-10F8A5F2B48C}"/>
              </a:ext>
            </a:extLst>
          </p:cNvPr>
          <p:cNvSpPr txBox="1">
            <a:spLocks/>
          </p:cNvSpPr>
          <p:nvPr userDrawn="1"/>
        </p:nvSpPr>
        <p:spPr>
          <a:xfrm>
            <a:off x="9677856" y="31249"/>
            <a:ext cx="351356" cy="371781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r" defTabSz="1474872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7436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74872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12309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49745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87181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24617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62053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99489" algn="l" defTabSz="1474872" rtl="0" eaLnBrk="1" latinLnBrk="0" hangingPunct="1">
              <a:defRPr sz="29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6B06EC4-1553-4EEC-8AFC-5F4512671736}" type="slidenum">
              <a:rPr lang="ru-RU" sz="945" smtClean="0">
                <a:solidFill>
                  <a:schemeClr val="bg1"/>
                </a:solidFill>
              </a:rPr>
              <a:pPr algn="ctr"/>
              <a:t>‹#›</a:t>
            </a:fld>
            <a:endParaRPr lang="ru-RU" sz="945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613F44-B273-61F2-01AD-BFBCAF8016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3235" y="103525"/>
            <a:ext cx="849564" cy="26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6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lvl1pPr algn="l" defTabSz="864026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6" indent="-216006" algn="l" defTabSz="864026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32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45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58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70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83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96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109" indent="-216006" algn="l" defTabSz="864026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13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26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8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51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64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7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90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102" algn="l" defTabSz="864026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97">
          <p15:clr>
            <a:srgbClr val="F26B43"/>
          </p15:clr>
        </p15:guide>
        <p15:guide id="2" pos="3629">
          <p15:clr>
            <a:srgbClr val="F26B43"/>
          </p15:clr>
        </p15:guide>
        <p15:guide id="3" pos="345">
          <p15:clr>
            <a:srgbClr val="F26B43"/>
          </p15:clr>
        </p15:guide>
        <p15:guide id="4" pos="6912">
          <p15:clr>
            <a:srgbClr val="F26B43"/>
          </p15:clr>
        </p15:guide>
        <p15:guide id="5" orient="horz" pos="204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tiff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3.jpe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565"/>
                    </a14:imgEffect>
                    <a14:imgEffect>
                      <a14:saturation sat="6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9430"/>
            <a:ext cx="4541520" cy="6489606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0" y="-9430"/>
            <a:ext cx="4541520" cy="6488813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5003058" y="2504123"/>
            <a:ext cx="5832582" cy="1026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Проблемы  повышения эффективности технологии извлечения платиновых металлов из рудного сырья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6907106" y="5628323"/>
            <a:ext cx="44924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mtClean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Зав. </a:t>
            </a:r>
            <a:r>
              <a:rPr lang="ru-RU" sz="1000" dirty="0" smtClean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сектором драгоценных металлов лаборатории гидрометаллургии</a:t>
            </a:r>
            <a:br>
              <a:rPr lang="ru-RU" sz="1000" dirty="0" smtClean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dirty="0" smtClean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ООО «Институт Гипроникель» </a:t>
            </a:r>
          </a:p>
          <a:p>
            <a:endParaRPr lang="ru-RU" sz="1000" dirty="0" smtClean="0">
              <a:solidFill>
                <a:schemeClr val="accent5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1000" dirty="0" smtClean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ЛАСТОЧКИНА МАРИНА АНДРЕЕВНА</a:t>
            </a:r>
            <a:endParaRPr lang="ru-RU" sz="1000" dirty="0">
              <a:solidFill>
                <a:schemeClr val="accent5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88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8" y="125658"/>
            <a:ext cx="9014821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dirty="0" smtClean="0">
                <a:solidFill>
                  <a:srgbClr val="7F7F7F"/>
                </a:solidFill>
              </a:rPr>
              <a:t>Рудная база платиновых металлов</a:t>
            </a:r>
            <a:endParaRPr lang="ru-RU" sz="1500" b="1" dirty="0">
              <a:solidFill>
                <a:srgbClr val="7F7F7F"/>
              </a:solidFill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7" y="513441"/>
            <a:ext cx="3636000" cy="2257023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3803159" y="526784"/>
            <a:ext cx="3362751" cy="2321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ru-RU" sz="1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Природные типы месторождений </a:t>
            </a:r>
            <a:r>
              <a:rPr lang="ru-RU" sz="1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МПГ:</a:t>
            </a:r>
          </a:p>
          <a:p>
            <a:pPr marL="361950" indent="-171450">
              <a:lnSpc>
                <a:spcPct val="107000"/>
              </a:lnSpc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сульфидные </a:t>
            </a: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медно-никелевые 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руды (</a:t>
            </a:r>
            <a:r>
              <a:rPr lang="ru-RU" sz="1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Талнахский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рудный узел, Садбери (Канада);</a:t>
            </a:r>
            <a:endParaRPr lang="ru-RU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61950" indent="-17145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1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малосульфидные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платинометальные</a:t>
            </a: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руды (</a:t>
            </a:r>
            <a:r>
              <a:rPr lang="ru-RU" sz="1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Бкшвельдский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массив (ЮАР), Великая Дайка (Зимбабве), </a:t>
            </a:r>
            <a:r>
              <a:rPr lang="ru-RU" sz="1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Стилуотер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(США)</a:t>
            </a:r>
            <a:r>
              <a:rPr lang="ru-RU" sz="1000" dirty="0" smtClean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endParaRPr lang="ru-RU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61950" indent="-17145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сульфидные </a:t>
            </a:r>
            <a:r>
              <a:rPr lang="ru-RU" sz="1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платиноидно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-медно-никелевые руды (Масловское, Черногорское, </a:t>
            </a:r>
            <a:r>
              <a:rPr lang="ru-RU" sz="1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Кингашское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endParaRPr lang="ru-RU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61950" indent="-17145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1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платинометальные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дунит - </a:t>
            </a:r>
            <a:r>
              <a:rPr lang="ru-RU" sz="1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хромитовые</a:t>
            </a: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руды </a:t>
            </a:r>
          </a:p>
          <a:p>
            <a:pPr marL="361950" indent="-17145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ванадиево- </a:t>
            </a: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железо- медные руды </a:t>
            </a:r>
          </a:p>
          <a:p>
            <a:pPr marL="361950" indent="-171450">
              <a:lnSpc>
                <a:spcPct val="107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ru-RU" sz="1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платинометальные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россыпные 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руды</a:t>
            </a:r>
            <a:endParaRPr lang="ru-RU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" name="Группа 20"/>
          <p:cNvGrpSpPr>
            <a:grpSpLocks noChangeAspect="1"/>
          </p:cNvGrpSpPr>
          <p:nvPr/>
        </p:nvGrpSpPr>
        <p:grpSpPr>
          <a:xfrm>
            <a:off x="48642" y="2815158"/>
            <a:ext cx="3636000" cy="3550643"/>
            <a:chOff x="39117" y="2815157"/>
            <a:chExt cx="3708000" cy="3620953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 rotWithShape="1">
            <a:blip r:embed="rId4"/>
            <a:srcRect l="884" t="890" r="1409"/>
            <a:stretch/>
          </p:blipFill>
          <p:spPr>
            <a:xfrm>
              <a:off x="39117" y="2815157"/>
              <a:ext cx="3708000" cy="3620953"/>
            </a:xfrm>
            <a:prstGeom prst="rect">
              <a:avLst/>
            </a:prstGeom>
          </p:spPr>
        </p:pic>
        <p:pic>
          <p:nvPicPr>
            <p:cNvPr id="19" name="Рисунок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62151" y="5292699"/>
              <a:ext cx="1784966" cy="1111275"/>
            </a:xfrm>
            <a:prstGeom prst="rect">
              <a:avLst/>
            </a:prstGeom>
          </p:spPr>
        </p:pic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117" y="2815157"/>
              <a:ext cx="3708000" cy="2479689"/>
            </a:xfrm>
            <a:prstGeom prst="rect">
              <a:avLst/>
            </a:prstGeom>
          </p:spPr>
        </p:pic>
      </p:grpSp>
      <p:sp>
        <p:nvSpPr>
          <p:cNvPr id="22" name="Прямоугольник 21"/>
          <p:cNvSpPr/>
          <p:nvPr/>
        </p:nvSpPr>
        <p:spPr>
          <a:xfrm>
            <a:off x="3746481" y="2921049"/>
            <a:ext cx="7641580" cy="1240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300"/>
              </a:spcAft>
            </a:pP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природе МПГ встречаются в виде собственных минералов и в качестве изоморфной примеси в рудных 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сульфидах; характеризуются </a:t>
            </a:r>
            <a:r>
              <a:rPr lang="ru-RU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высокой плотностью, в два – три раза превышающую плотность сульфидных минералов, что определяет способ их обогащения, а также объясняет наличие россыпных </a:t>
            </a:r>
            <a:r>
              <a:rPr lang="ru-RU" sz="1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месторождений. </a:t>
            </a:r>
          </a:p>
          <a:p>
            <a:pPr algn="just">
              <a:spcAft>
                <a:spcPts val="300"/>
              </a:spcAft>
            </a:pPr>
            <a:r>
              <a:rPr lang="ru-RU" sz="1000" dirty="0"/>
              <a:t>Минералы платиновой группы </a:t>
            </a:r>
            <a:r>
              <a:rPr lang="ru-RU" sz="1000" dirty="0" smtClean="0"/>
              <a:t>образуют</a:t>
            </a:r>
            <a:r>
              <a:rPr lang="ru-RU" sz="1000" dirty="0"/>
              <a:t> </a:t>
            </a:r>
            <a:r>
              <a:rPr lang="ru-RU" sz="1000" dirty="0" err="1" smtClean="0"/>
              <a:t>монозерна</a:t>
            </a:r>
            <a:r>
              <a:rPr lang="ru-RU" sz="1000" dirty="0" smtClean="0"/>
              <a:t>  </a:t>
            </a:r>
            <a:r>
              <a:rPr lang="ru-RU" sz="1000" dirty="0"/>
              <a:t>(</a:t>
            </a:r>
            <a:r>
              <a:rPr lang="ru-RU" sz="1000" dirty="0" err="1"/>
              <a:t>сперрилит</a:t>
            </a:r>
            <a:r>
              <a:rPr lang="ru-RU" sz="1000" dirty="0" smtClean="0"/>
              <a:t>), тонкие </a:t>
            </a:r>
            <a:r>
              <a:rPr lang="ru-RU" sz="1000" dirty="0"/>
              <a:t>срастания с сульфидами (</a:t>
            </a:r>
            <a:r>
              <a:rPr lang="ru-RU" sz="1000" dirty="0" err="1"/>
              <a:t>изоферроплатина</a:t>
            </a:r>
            <a:r>
              <a:rPr lang="ru-RU" sz="1000" dirty="0" smtClean="0"/>
              <a:t>) - </a:t>
            </a:r>
            <a:r>
              <a:rPr lang="ru-RU" sz="1000" dirty="0"/>
              <a:t>переходят в концентраты флотации или в </a:t>
            </a:r>
            <a:r>
              <a:rPr lang="ru-RU" sz="1000" dirty="0" err="1" smtClean="0"/>
              <a:t>гравиоконцентраты</a:t>
            </a:r>
            <a:r>
              <a:rPr lang="ru-RU" sz="1000" dirty="0" smtClean="0"/>
              <a:t>, -</a:t>
            </a:r>
            <a:r>
              <a:rPr lang="ru-RU" sz="1000" dirty="0"/>
              <a:t>многофазные срастания нескольких МПГ в сульфидном агрегате (</a:t>
            </a:r>
            <a:r>
              <a:rPr lang="ru-RU" sz="1000" dirty="0" err="1"/>
              <a:t>таймырит</a:t>
            </a:r>
            <a:r>
              <a:rPr lang="ru-RU" sz="1000" dirty="0"/>
              <a:t>, </a:t>
            </a:r>
            <a:r>
              <a:rPr lang="ru-RU" sz="1000" dirty="0" err="1"/>
              <a:t>рустенбургит</a:t>
            </a:r>
            <a:r>
              <a:rPr lang="ru-RU" sz="1000" dirty="0"/>
              <a:t>, </a:t>
            </a:r>
            <a:r>
              <a:rPr lang="ru-RU" sz="1000" dirty="0" err="1"/>
              <a:t>паларстаннид</a:t>
            </a:r>
            <a:r>
              <a:rPr lang="ru-RU" sz="1000" dirty="0"/>
              <a:t>) – могут переходить в концентраты или </a:t>
            </a:r>
            <a:r>
              <a:rPr lang="ru-RU" sz="1000" dirty="0" err="1"/>
              <a:t>переизмельчаться</a:t>
            </a:r>
            <a:r>
              <a:rPr lang="ru-RU" sz="1000" dirty="0"/>
              <a:t> и уходить в хвосты </a:t>
            </a:r>
            <a:r>
              <a:rPr lang="ru-RU" sz="1000" dirty="0" smtClean="0"/>
              <a:t>флотации.</a:t>
            </a:r>
            <a:endParaRPr lang="ru-RU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3675117" y="6006625"/>
            <a:ext cx="18856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 err="1">
                <a:latin typeface="Tahoma" panose="020B0604030504040204" pitchFamily="34" charset="0"/>
                <a:ea typeface="Calibri" panose="020F0502020204030204" pitchFamily="34" charset="0"/>
              </a:rPr>
              <a:t>Сперрилит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800" dirty="0" err="1">
                <a:latin typeface="Tahoma" panose="020B0604030504040204" pitchFamily="34" charset="0"/>
                <a:ea typeface="Calibri" panose="020F0502020204030204" pitchFamily="34" charset="0"/>
              </a:rPr>
              <a:t>PtAs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2 в </a:t>
            </a:r>
            <a:r>
              <a:rPr lang="ru-RU" sz="800" dirty="0" smtClean="0">
                <a:latin typeface="Tahoma" panose="020B0604030504040204" pitchFamily="34" charset="0"/>
                <a:ea typeface="Calibri" panose="020F0502020204030204" pitchFamily="34" charset="0"/>
              </a:rPr>
              <a:t>халькопирите</a:t>
            </a:r>
            <a:r>
              <a:rPr lang="en-US" sz="800" dirty="0" smtClean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ru-RU" sz="800" dirty="0" smtClean="0">
                <a:latin typeface="Tahoma" panose="020B0604030504040204" pitchFamily="34" charset="0"/>
                <a:ea typeface="Calibri" panose="020F0502020204030204" pitchFamily="34" charset="0"/>
              </a:rPr>
              <a:t>богатой 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руды, р-к «Таймырский»</a:t>
            </a:r>
            <a:endParaRPr lang="ru-RU" sz="800" dirty="0"/>
          </a:p>
        </p:txBody>
      </p:sp>
      <p:pic>
        <p:nvPicPr>
          <p:cNvPr id="29" name="Рисунок 28" descr="C:\Users\TNHas\AppData\Local\Microsoft\Windows\INetCache\Content.Word\3- IFPt Pnt 5925MTS.jp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708" y="4162259"/>
            <a:ext cx="1800000" cy="18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Группа 26"/>
          <p:cNvGrpSpPr>
            <a:grpSpLocks noChangeAspect="1"/>
          </p:cNvGrpSpPr>
          <p:nvPr/>
        </p:nvGrpSpPr>
        <p:grpSpPr>
          <a:xfrm>
            <a:off x="3803158" y="4162259"/>
            <a:ext cx="1770034" cy="1800000"/>
            <a:chOff x="4705350" y="4377362"/>
            <a:chExt cx="1705584" cy="1734459"/>
          </a:xfrm>
        </p:grpSpPr>
        <p:pic>
          <p:nvPicPr>
            <p:cNvPr id="23" name="Рисунок 22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88" r="-1"/>
            <a:stretch/>
          </p:blipFill>
          <p:spPr>
            <a:xfrm>
              <a:off x="4705350" y="4377362"/>
              <a:ext cx="1705584" cy="1734459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5910698" y="4441389"/>
              <a:ext cx="431008" cy="903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ru-RU" sz="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 </a:t>
              </a:r>
              <a:r>
                <a:rPr lang="el-GR" sz="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sz="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ru-RU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Прямоугольник 27"/>
          <p:cNvSpPr/>
          <p:nvPr/>
        </p:nvSpPr>
        <p:spPr>
          <a:xfrm>
            <a:off x="5616144" y="5953194"/>
            <a:ext cx="19511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 err="1">
                <a:latin typeface="Tahoma" panose="020B0604030504040204" pitchFamily="34" charset="0"/>
                <a:ea typeface="Calibri" panose="020F0502020204030204" pitchFamily="34" charset="0"/>
              </a:rPr>
              <a:t>И</a:t>
            </a:r>
            <a:r>
              <a:rPr lang="ru-RU" sz="800" dirty="0" err="1" smtClean="0">
                <a:latin typeface="Tahoma" panose="020B0604030504040204" pitchFamily="34" charset="0"/>
                <a:ea typeface="Calibri" panose="020F0502020204030204" pitchFamily="34" charset="0"/>
              </a:rPr>
              <a:t>зоферроплатина</a:t>
            </a:r>
            <a:r>
              <a:rPr lang="ru-RU" sz="800" dirty="0" smtClean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(светлое) </a:t>
            </a:r>
            <a:r>
              <a:rPr lang="ru-RU" sz="800" dirty="0" smtClean="0">
                <a:latin typeface="Tahoma" panose="020B0604030504040204" pitchFamily="34" charset="0"/>
                <a:ea typeface="Calibri" panose="020F0502020204030204" pitchFamily="34" charset="0"/>
              </a:rPr>
              <a:t>с </a:t>
            </a:r>
            <a:r>
              <a:rPr lang="ru-RU" sz="800" dirty="0" err="1">
                <a:latin typeface="Tahoma" panose="020B0604030504040204" pitchFamily="34" charset="0"/>
                <a:ea typeface="Calibri" panose="020F0502020204030204" pitchFamily="34" charset="0"/>
              </a:rPr>
              <a:t>пентландитом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 (темное), медистая руда, р-к «Комсомольский»</a:t>
            </a:r>
            <a:endParaRPr lang="ru-RU" sz="800" dirty="0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7271" y="4162259"/>
            <a:ext cx="1955505" cy="1800000"/>
          </a:xfrm>
          <a:prstGeom prst="rect">
            <a:avLst/>
          </a:prstGeom>
        </p:spPr>
      </p:pic>
      <p:sp>
        <p:nvSpPr>
          <p:cNvPr id="30" name="Прямоугольник 29"/>
          <p:cNvSpPr/>
          <p:nvPr/>
        </p:nvSpPr>
        <p:spPr>
          <a:xfrm>
            <a:off x="7493612" y="5953194"/>
            <a:ext cx="2029164" cy="461665"/>
          </a:xfrm>
          <a:prstGeom prst="rect">
            <a:avLst/>
          </a:prstGeom>
        </p:spPr>
        <p:txBody>
          <a:bodyPr wrap="square" lIns="72000" rIns="36000">
            <a:spAutoFit/>
          </a:bodyPr>
          <a:lstStyle/>
          <a:p>
            <a:pPr algn="ctr"/>
            <a:r>
              <a:rPr lang="ru-RU" sz="800" dirty="0" err="1">
                <a:latin typeface="Tahoma" panose="020B0604030504040204" pitchFamily="34" charset="0"/>
                <a:ea typeface="Calibri" panose="020F0502020204030204" pitchFamily="34" charset="0"/>
              </a:rPr>
              <a:t>Таймырит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 в срастании с </a:t>
            </a:r>
            <a:r>
              <a:rPr lang="ru-RU" sz="800" dirty="0" err="1" smtClean="0">
                <a:latin typeface="Tahoma" panose="020B0604030504040204" pitchFamily="34" charset="0"/>
                <a:ea typeface="Calibri" panose="020F0502020204030204" pitchFamily="34" charset="0"/>
              </a:rPr>
              <a:t>рустенбурги</a:t>
            </a:r>
            <a:r>
              <a:rPr lang="ru-RU" sz="800" dirty="0" smtClean="0">
                <a:latin typeface="Tahoma" panose="020B0604030504040204" pitchFamily="34" charset="0"/>
                <a:ea typeface="Calibri" panose="020F0502020204030204" pitchFamily="34" charset="0"/>
              </a:rPr>
              <a:t>-том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ru-RU" sz="800" dirty="0" err="1">
                <a:latin typeface="Tahoma" panose="020B0604030504040204" pitchFamily="34" charset="0"/>
                <a:ea typeface="Calibri" panose="020F0502020204030204" pitchFamily="34" charset="0"/>
              </a:rPr>
              <a:t>мертиитом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800" dirty="0">
                <a:latin typeface="Tahoma" panose="020B0604030504040204" pitchFamily="34" charset="0"/>
                <a:ea typeface="Calibri" panose="020F0502020204030204" pitchFamily="34" charset="0"/>
              </a:rPr>
              <a:t>II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ru-RU" sz="800" dirty="0" err="1">
                <a:latin typeface="Tahoma" panose="020B0604030504040204" pitchFamily="34" charset="0"/>
                <a:ea typeface="Calibri" panose="020F0502020204030204" pitchFamily="34" charset="0"/>
              </a:rPr>
              <a:t>паларстаннидом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ru-RU" sz="800" dirty="0" err="1" smtClean="0">
                <a:latin typeface="Tahoma" panose="020B0604030504040204" pitchFamily="34" charset="0"/>
                <a:ea typeface="Calibri" panose="020F0502020204030204" pitchFamily="34" charset="0"/>
              </a:rPr>
              <a:t>зо</a:t>
            </a:r>
            <a:r>
              <a:rPr lang="ru-RU" sz="800" dirty="0" smtClean="0">
                <a:latin typeface="Tahoma" panose="020B0604030504040204" pitchFamily="34" charset="0"/>
                <a:ea typeface="Calibri" panose="020F0502020204030204" pitchFamily="34" charset="0"/>
              </a:rPr>
              <a:t>-лотом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, богатая руда, р-к «Таймырский»</a:t>
            </a:r>
            <a:endParaRPr lang="ru-RU" sz="800" dirty="0"/>
          </a:p>
        </p:txBody>
      </p:sp>
      <p:grpSp>
        <p:nvGrpSpPr>
          <p:cNvPr id="34" name="Группа 33"/>
          <p:cNvGrpSpPr/>
          <p:nvPr/>
        </p:nvGrpSpPr>
        <p:grpSpPr>
          <a:xfrm>
            <a:off x="9621431" y="4162259"/>
            <a:ext cx="1723604" cy="1800000"/>
            <a:chOff x="9621431" y="4159384"/>
            <a:chExt cx="1723604" cy="1800000"/>
          </a:xfrm>
        </p:grpSpPr>
        <p:pic>
          <p:nvPicPr>
            <p:cNvPr id="35" name="Рисунок 34" descr="C:\Users\TNHas\AppData\Local\Microsoft\Windows\INetCache\Content.Word\66 1728.6 DSC_ 4596-.jpg"/>
            <p:cNvPicPr/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12" r="16411"/>
            <a:stretch/>
          </p:blipFill>
          <p:spPr bwMode="auto">
            <a:xfrm>
              <a:off x="9621431" y="4159384"/>
              <a:ext cx="1723604" cy="18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TextBox 35"/>
            <p:cNvSpPr txBox="1"/>
            <p:nvPr/>
          </p:nvSpPr>
          <p:spPr>
            <a:xfrm>
              <a:off x="9682925" y="4225830"/>
              <a:ext cx="385717" cy="1075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pPr algn="ctr"/>
              <a:r>
                <a:rPr lang="ru-RU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ru-RU" sz="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 </a:t>
              </a:r>
              <a:r>
                <a:rPr lang="el-GR" sz="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sz="5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ru-RU" sz="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Прямоугольник 31"/>
          <p:cNvSpPr/>
          <p:nvPr/>
        </p:nvSpPr>
        <p:spPr>
          <a:xfrm>
            <a:off x="9486859" y="5905782"/>
            <a:ext cx="19674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Сросток самородного золота и  </a:t>
            </a:r>
            <a:r>
              <a:rPr lang="ru-RU" sz="800" dirty="0" err="1">
                <a:latin typeface="Tahoma" panose="020B0604030504040204" pitchFamily="34" charset="0"/>
                <a:ea typeface="Calibri" panose="020F0502020204030204" pitchFamily="34" charset="0"/>
              </a:rPr>
              <a:t>соболевскита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 (</a:t>
            </a:r>
            <a:r>
              <a:rPr lang="en-US" sz="800" dirty="0" err="1">
                <a:latin typeface="Tahoma" panose="020B0604030504040204" pitchFamily="34" charset="0"/>
                <a:ea typeface="Calibri" panose="020F0502020204030204" pitchFamily="34" charset="0"/>
              </a:rPr>
              <a:t>PdBi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) в </a:t>
            </a:r>
            <a:r>
              <a:rPr lang="ru-RU" sz="800" dirty="0" err="1">
                <a:latin typeface="Tahoma" panose="020B0604030504040204" pitchFamily="34" charset="0"/>
                <a:ea typeface="Calibri" panose="020F0502020204030204" pitchFamily="34" charset="0"/>
              </a:rPr>
              <a:t>пентландите</a:t>
            </a:r>
            <a:r>
              <a:rPr lang="ru-RU" sz="800" dirty="0">
                <a:latin typeface="Tahoma" panose="020B0604030504040204" pitchFamily="34" charset="0"/>
                <a:ea typeface="Calibri" panose="020F0502020204030204" pitchFamily="34" charset="0"/>
              </a:rPr>
              <a:t> богатой руды</a:t>
            </a:r>
            <a:endParaRPr lang="ru-RU" sz="80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8496895" y="2668969"/>
            <a:ext cx="2843038" cy="24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</a:pPr>
            <a:r>
              <a:rPr lang="ru-RU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Средние содержания МПГ в </a:t>
            </a:r>
            <a:r>
              <a:rPr lang="ru-RU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рудах</a:t>
            </a:r>
            <a:endParaRPr lang="ru-RU" sz="9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784286"/>
              </p:ext>
            </p:extLst>
          </p:nvPr>
        </p:nvGraphicFramePr>
        <p:xfrm>
          <a:off x="7379937" y="618979"/>
          <a:ext cx="3908450" cy="204016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40464">
                  <a:extLst>
                    <a:ext uri="{9D8B030D-6E8A-4147-A177-3AD203B41FA5}">
                      <a16:colId xmlns:a16="http://schemas.microsoft.com/office/drawing/2014/main" val="1763241235"/>
                    </a:ext>
                  </a:extLst>
                </a:gridCol>
                <a:gridCol w="461331">
                  <a:extLst>
                    <a:ext uri="{9D8B030D-6E8A-4147-A177-3AD203B41FA5}">
                      <a16:colId xmlns:a16="http://schemas.microsoft.com/office/drawing/2014/main" val="624402496"/>
                    </a:ext>
                  </a:extLst>
                </a:gridCol>
                <a:gridCol w="461331">
                  <a:extLst>
                    <a:ext uri="{9D8B030D-6E8A-4147-A177-3AD203B41FA5}">
                      <a16:colId xmlns:a16="http://schemas.microsoft.com/office/drawing/2014/main" val="1593857824"/>
                    </a:ext>
                  </a:extLst>
                </a:gridCol>
                <a:gridCol w="461331">
                  <a:extLst>
                    <a:ext uri="{9D8B030D-6E8A-4147-A177-3AD203B41FA5}">
                      <a16:colId xmlns:a16="http://schemas.microsoft.com/office/drawing/2014/main" val="1072347616"/>
                    </a:ext>
                  </a:extLst>
                </a:gridCol>
                <a:gridCol w="461331">
                  <a:extLst>
                    <a:ext uri="{9D8B030D-6E8A-4147-A177-3AD203B41FA5}">
                      <a16:colId xmlns:a16="http://schemas.microsoft.com/office/drawing/2014/main" val="2623180603"/>
                    </a:ext>
                  </a:extLst>
                </a:gridCol>
                <a:gridCol w="461331">
                  <a:extLst>
                    <a:ext uri="{9D8B030D-6E8A-4147-A177-3AD203B41FA5}">
                      <a16:colId xmlns:a16="http://schemas.microsoft.com/office/drawing/2014/main" val="1332714505"/>
                    </a:ext>
                  </a:extLst>
                </a:gridCol>
                <a:gridCol w="461331">
                  <a:extLst>
                    <a:ext uri="{9D8B030D-6E8A-4147-A177-3AD203B41FA5}">
                      <a16:colId xmlns:a16="http://schemas.microsoft.com/office/drawing/2014/main" val="3412341500"/>
                    </a:ext>
                  </a:extLst>
                </a:gridCol>
              </a:tblGrid>
              <a:tr h="22668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Ni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Cu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 %</a:t>
                      </a:r>
                      <a:endParaRPr lang="en-US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Pt </a:t>
                      </a:r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г/т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Pd </a:t>
                      </a:r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г/т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Rh </a:t>
                      </a:r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г/т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0031113"/>
                  </a:ext>
                </a:extLst>
              </a:tr>
              <a:tr h="226685">
                <a:tc gridSpan="7">
                  <a:txBody>
                    <a:bodyPr/>
                    <a:lstStyle/>
                    <a:p>
                      <a:pPr marL="36000" algn="ctr" fontAlgn="b"/>
                      <a:r>
                        <a:rPr lang="ru-RU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Талнахский</a:t>
                      </a:r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рудный 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узел (ТРУ)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6748023"/>
                  </a:ext>
                </a:extLst>
              </a:tr>
              <a:tr h="226685">
                <a:tc>
                  <a:txBody>
                    <a:bodyPr/>
                    <a:lstStyle/>
                    <a:p>
                      <a:pPr marL="36000" algn="l" rtl="0" fontAlgn="ctr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богатые 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3,24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4,54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0,13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1,74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8,65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0,28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5163539"/>
                  </a:ext>
                </a:extLst>
              </a:tr>
              <a:tr h="226685">
                <a:tc>
                  <a:txBody>
                    <a:bodyPr/>
                    <a:lstStyle/>
                    <a:p>
                      <a:pPr marL="36000" algn="l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медистые 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0,82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1,9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7,15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0,06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4288306"/>
                  </a:ext>
                </a:extLst>
              </a:tr>
              <a:tr h="226685">
                <a:tc>
                  <a:txBody>
                    <a:bodyPr/>
                    <a:lstStyle/>
                    <a:p>
                      <a:pPr marL="36000" algn="l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вкрапленные 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0,8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2,79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0,04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338467"/>
                  </a:ext>
                </a:extLst>
              </a:tr>
              <a:tr h="226685">
                <a:tc gridSpan="7">
                  <a:txBody>
                    <a:bodyPr/>
                    <a:lstStyle/>
                    <a:p>
                      <a:pPr marL="36000" algn="ctr" rtl="0" fontAlgn="ctr"/>
                      <a:r>
                        <a:rPr lang="ru-RU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Бушвельдский</a:t>
                      </a:r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массив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116004"/>
                  </a:ext>
                </a:extLst>
              </a:tr>
              <a:tr h="226685">
                <a:tc>
                  <a:txBody>
                    <a:bodyPr/>
                    <a:lstStyle/>
                    <a:p>
                      <a:pPr marL="36000" algn="l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Риф Меренского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0,13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0,08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0,003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3,3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1,4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0,2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8173499"/>
                  </a:ext>
                </a:extLst>
              </a:tr>
              <a:tr h="226685">
                <a:tc>
                  <a:txBody>
                    <a:bodyPr/>
                    <a:lstStyle/>
                    <a:p>
                      <a:pPr marL="36000" algn="l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UG-2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0,07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0,002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2,5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2,0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1391261"/>
                  </a:ext>
                </a:extLst>
              </a:tr>
              <a:tr h="226685">
                <a:tc>
                  <a:txBody>
                    <a:bodyPr/>
                    <a:lstStyle/>
                    <a:p>
                      <a:pPr marL="36000" algn="l" rtl="0" fontAlgn="ctr"/>
                      <a:r>
                        <a:rPr lang="en-US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Platreef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0,36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0,18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1,3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1,4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0,09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3409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31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1C66D49A-0817-78AA-68E9-6AC0B042CE73}"/>
              </a:ext>
            </a:extLst>
          </p:cNvPr>
          <p:cNvSpPr/>
          <p:nvPr/>
        </p:nvSpPr>
        <p:spPr>
          <a:xfrm>
            <a:off x="-103" y="495300"/>
            <a:ext cx="3474000" cy="59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  <a:sym typeface="Tahom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8" y="125658"/>
            <a:ext cx="9014821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dirty="0" smtClean="0">
                <a:solidFill>
                  <a:srgbClr val="7F7F7F"/>
                </a:solidFill>
              </a:rPr>
              <a:t>Обогащение платиносодержащего Cu-Ni сырья (на примере Норникеля, РФ)</a:t>
            </a:r>
            <a:endParaRPr lang="ru-RU" sz="1500" b="1" dirty="0">
              <a:solidFill>
                <a:srgbClr val="7F7F7F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664060"/>
            <a:ext cx="3247578" cy="4577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ru-RU" sz="1200" b="1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Богатые руды </a:t>
            </a:r>
            <a:r>
              <a:rPr lang="ru-RU" sz="1200" b="1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и вкрапленные руды ТРУ:</a:t>
            </a:r>
          </a:p>
          <a:p>
            <a:pPr>
              <a:lnSpc>
                <a:spcPct val="107000"/>
              </a:lnSpc>
            </a:pPr>
            <a:endParaRPr lang="ru-RU" sz="1200" b="1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1338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Селективная флотация с выделением медных и никелевых концентратов, отделением пирротина</a:t>
            </a:r>
          </a:p>
          <a:p>
            <a:pPr marL="541338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флотация - </a:t>
            </a:r>
            <a:r>
              <a:rPr lang="ru-RU" sz="1100" dirty="0" err="1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Талнахская</a:t>
            </a: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обогатительная фабрика </a:t>
            </a:r>
            <a:r>
              <a:rPr lang="ru-RU" sz="11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ТОФ-2ПК, богатые руды)</a:t>
            </a:r>
          </a:p>
          <a:p>
            <a:pPr marL="541338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err="1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гравитационно</a:t>
            </a: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10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– флотационная схема </a:t>
            </a: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– Норильская обогатительная фабрика – НОФ (вкрапленные руды)</a:t>
            </a:r>
            <a:endParaRPr lang="ru-RU" sz="11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1338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флотационная схема – Норильская обогатительная фабрика </a:t>
            </a:r>
            <a:r>
              <a:rPr lang="ru-RU" sz="1100" dirty="0" smtClean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– НОФ (медистые </a:t>
            </a:r>
            <a:r>
              <a:rPr lang="ru-RU" sz="11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руды</a:t>
            </a:r>
            <a:r>
              <a:rPr lang="ru-RU" sz="1100" dirty="0" smtClean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endParaRPr lang="ru-RU" sz="1200" b="1" dirty="0" smtClean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1200" b="1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Малосульфидные </a:t>
            </a:r>
            <a:r>
              <a:rPr lang="ru-RU" sz="1200" b="1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руды </a:t>
            </a:r>
            <a:r>
              <a:rPr lang="ru-RU" sz="1200" b="1" dirty="0" err="1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Бушвельдского</a:t>
            </a:r>
            <a:r>
              <a:rPr lang="ru-RU" sz="1200" b="1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массива</a:t>
            </a:r>
            <a:r>
              <a:rPr lang="ru-RU" sz="1200" b="1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7000"/>
              </a:lnSpc>
            </a:pPr>
            <a:endParaRPr lang="ru-RU" sz="1200" b="1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1338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Коллективная флотация с получением концентрата </a:t>
            </a:r>
            <a:r>
              <a:rPr lang="en-US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Cu-Ni-</a:t>
            </a: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МПГ</a:t>
            </a:r>
          </a:p>
          <a:p>
            <a:pPr marL="541338" indent="-342900">
              <a:lnSpc>
                <a:spcPct val="107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Флотация – Риф </a:t>
            </a:r>
            <a:r>
              <a:rPr lang="ru-RU" sz="1100" dirty="0" err="1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Меренского</a:t>
            </a:r>
            <a:r>
              <a:rPr lang="ru-RU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100" dirty="0" smtClean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UG-2</a:t>
            </a:r>
            <a:endParaRPr lang="ru-RU" sz="110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856297"/>
              </p:ext>
            </p:extLst>
          </p:nvPr>
        </p:nvGraphicFramePr>
        <p:xfrm>
          <a:off x="7311377" y="664060"/>
          <a:ext cx="3904134" cy="282558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01270">
                  <a:extLst>
                    <a:ext uri="{9D8B030D-6E8A-4147-A177-3AD203B41FA5}">
                      <a16:colId xmlns:a16="http://schemas.microsoft.com/office/drawing/2014/main" val="4021006490"/>
                    </a:ext>
                  </a:extLst>
                </a:gridCol>
                <a:gridCol w="450716">
                  <a:extLst>
                    <a:ext uri="{9D8B030D-6E8A-4147-A177-3AD203B41FA5}">
                      <a16:colId xmlns:a16="http://schemas.microsoft.com/office/drawing/2014/main" val="188151217"/>
                    </a:ext>
                  </a:extLst>
                </a:gridCol>
                <a:gridCol w="450716">
                  <a:extLst>
                    <a:ext uri="{9D8B030D-6E8A-4147-A177-3AD203B41FA5}">
                      <a16:colId xmlns:a16="http://schemas.microsoft.com/office/drawing/2014/main" val="3373483084"/>
                    </a:ext>
                  </a:extLst>
                </a:gridCol>
                <a:gridCol w="450716">
                  <a:extLst>
                    <a:ext uri="{9D8B030D-6E8A-4147-A177-3AD203B41FA5}">
                      <a16:colId xmlns:a16="http://schemas.microsoft.com/office/drawing/2014/main" val="3484472435"/>
                    </a:ext>
                  </a:extLst>
                </a:gridCol>
                <a:gridCol w="450716">
                  <a:extLst>
                    <a:ext uri="{9D8B030D-6E8A-4147-A177-3AD203B41FA5}">
                      <a16:colId xmlns:a16="http://schemas.microsoft.com/office/drawing/2014/main" val="145165596"/>
                    </a:ext>
                  </a:extLst>
                </a:gridCol>
              </a:tblGrid>
              <a:tr h="220249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Ni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Cu 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Pt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Pd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548750"/>
                  </a:ext>
                </a:extLst>
              </a:tr>
              <a:tr h="201273">
                <a:tc gridSpan="5"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Флотация богатых руд (ТОФ)</a:t>
                      </a:r>
                      <a:endParaRPr lang="ru-RU" sz="1100" b="1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6460735"/>
                  </a:ext>
                </a:extLst>
              </a:tr>
              <a:tr h="201273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Медный концентрат 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6,9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83,5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15,2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11,9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8627961"/>
                  </a:ext>
                </a:extLst>
              </a:tr>
              <a:tr h="201273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Никелевый </a:t>
                      </a:r>
                      <a:r>
                        <a:rPr lang="ru-RU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концентрат </a:t>
                      </a: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НПК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73,0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9,6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63,9</a:t>
                      </a:r>
                      <a:endParaRPr lang="ru-RU" sz="1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71,1</a:t>
                      </a:r>
                      <a:endParaRPr lang="ru-RU" sz="1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8555"/>
                  </a:ext>
                </a:extLst>
              </a:tr>
              <a:tr h="391337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Малоникелистый пирротиновый концентрат МНП 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3,6</a:t>
                      </a:r>
                      <a:endParaRPr lang="ru-RU" sz="1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0,8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5,3</a:t>
                      </a:r>
                      <a:endParaRPr lang="ru-RU" sz="1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4,0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817778"/>
                  </a:ext>
                </a:extLst>
              </a:tr>
              <a:tr h="201273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Концентрат </a:t>
                      </a:r>
                      <a:r>
                        <a:rPr lang="ru-RU" sz="100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дофлотации</a:t>
                      </a: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2,4</a:t>
                      </a:r>
                      <a:endParaRPr lang="ru-RU" sz="1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0,3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1,9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1,4</a:t>
                      </a:r>
                      <a:endParaRPr lang="ru-RU" sz="1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4921968"/>
                  </a:ext>
                </a:extLst>
              </a:tr>
              <a:tr h="201273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Отвальные хвосты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14,1</a:t>
                      </a:r>
                      <a:endParaRPr lang="ru-RU" sz="1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5,8</a:t>
                      </a:r>
                      <a:endParaRPr lang="ru-RU" sz="1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13,7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11,6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7189483"/>
                  </a:ext>
                </a:extLst>
              </a:tr>
              <a:tr h="201273">
                <a:tc gridSpan="5"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Переработка медистых руд</a:t>
                      </a:r>
                      <a:endParaRPr lang="ru-RU" sz="1100" b="1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411130"/>
                  </a:ext>
                </a:extLst>
              </a:tr>
              <a:tr h="201273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Коллективный</a:t>
                      </a:r>
                      <a:r>
                        <a:rPr lang="ru-RU" sz="11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концентрат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71,4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88,9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71,1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79,8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0203804"/>
                  </a:ext>
                </a:extLst>
              </a:tr>
              <a:tr h="201273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Отвальные хвосты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28,6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11,1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28,9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20,2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9891439"/>
                  </a:ext>
                </a:extLst>
              </a:tr>
              <a:tr h="201273">
                <a:tc gridSpan="5"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Переработка</a:t>
                      </a:r>
                      <a:r>
                        <a:rPr lang="ru-RU" sz="1100" b="1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вкрапленных руд</a:t>
                      </a:r>
                      <a:endParaRPr lang="ru-RU" sz="1100" b="1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3169584"/>
                  </a:ext>
                </a:extLst>
              </a:tr>
              <a:tr h="201273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Коллективный</a:t>
                      </a:r>
                      <a:r>
                        <a:rPr lang="ru-RU" sz="11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концентрат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69,2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90,0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69,7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81,8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9094795"/>
                  </a:ext>
                </a:extLst>
              </a:tr>
              <a:tr h="201273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Отвальные хвосты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30,8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10,0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30,3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18,2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9196463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8612527" y="3505153"/>
            <a:ext cx="2621231" cy="2228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6000"/>
              </a:lnSpc>
            </a:pPr>
            <a:r>
              <a:rPr lang="ru-RU" sz="800" kern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Распределение по </a:t>
            </a:r>
            <a:r>
              <a:rPr lang="ru-RU" sz="800" kern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продуктам переработки руд ТРУ</a:t>
            </a:r>
            <a:endParaRPr lang="ru-RU" sz="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501736" y="3064693"/>
            <a:ext cx="3600000" cy="898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300"/>
              </a:spcAft>
            </a:pPr>
            <a:r>
              <a:rPr lang="ru-RU" sz="1200" b="1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Потери МПГ с хвостами </a:t>
            </a:r>
            <a:r>
              <a:rPr lang="ru-RU" sz="1200" b="1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обогащения:</a:t>
            </a:r>
          </a:p>
          <a:p>
            <a:pPr marL="354013" lvl="1" indent="-171450" algn="just">
              <a:lnSpc>
                <a:spcPct val="107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наличие </a:t>
            </a:r>
            <a:r>
              <a:rPr lang="ru-RU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примеси МПГ и тонких включений в пирротине, переходящим в </a:t>
            </a: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хвосты;</a:t>
            </a:r>
            <a:endParaRPr lang="ru-RU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4013" lvl="1" indent="-171450" algn="just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</a:rPr>
              <a:t>мелкие </a:t>
            </a:r>
            <a:r>
              <a:rPr lang="ru-RU" sz="1100" dirty="0">
                <a:latin typeface="Tahoma" panose="020B0604030504040204" pitchFamily="34" charset="0"/>
                <a:ea typeface="Calibri" panose="020F0502020204030204" pitchFamily="34" charset="0"/>
              </a:rPr>
              <a:t>зерна МПГ в </a:t>
            </a: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</a:rPr>
              <a:t>породе (см. таблицу).</a:t>
            </a:r>
            <a:endParaRPr lang="ru-RU" sz="1100" dirty="0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503665"/>
              </p:ext>
            </p:extLst>
          </p:nvPr>
        </p:nvGraphicFramePr>
        <p:xfrm>
          <a:off x="7330568" y="3743473"/>
          <a:ext cx="3904134" cy="232099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94083">
                  <a:extLst>
                    <a:ext uri="{9D8B030D-6E8A-4147-A177-3AD203B41FA5}">
                      <a16:colId xmlns:a16="http://schemas.microsoft.com/office/drawing/2014/main" val="2202076289"/>
                    </a:ext>
                  </a:extLst>
                </a:gridCol>
                <a:gridCol w="858417">
                  <a:extLst>
                    <a:ext uri="{9D8B030D-6E8A-4147-A177-3AD203B41FA5}">
                      <a16:colId xmlns:a16="http://schemas.microsoft.com/office/drawing/2014/main" val="2877542822"/>
                    </a:ext>
                  </a:extLst>
                </a:gridCol>
                <a:gridCol w="1651634">
                  <a:extLst>
                    <a:ext uri="{9D8B030D-6E8A-4147-A177-3AD203B41FA5}">
                      <a16:colId xmlns:a16="http://schemas.microsoft.com/office/drawing/2014/main" val="2338459698"/>
                    </a:ext>
                  </a:extLst>
                </a:gridCol>
              </a:tblGrid>
              <a:tr h="18383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Отвальные хвосты </a:t>
                      </a: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ТОФ-2ПК 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90234"/>
                  </a:ext>
                </a:extLst>
              </a:tr>
              <a:tr h="19428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доля</a:t>
                      </a: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свободные зерна, </a:t>
                      </a: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мкм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5296470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Атокит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12,2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19,3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7734696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Золото самородное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0,1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4076123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Изоферроплатина</a:t>
                      </a:r>
                      <a:endParaRPr lang="ru-RU" sz="10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9,2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30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9096710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Кабриит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15,7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27,2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9333570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Куперит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9,3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22,5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3505358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Паоловит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22,1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50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3514283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Полярит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1,8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9829406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Рустенбургит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6,5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093209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Соболевскит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0,2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3157103"/>
                  </a:ext>
                </a:extLst>
              </a:tr>
              <a:tr h="194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Сперрилит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22,3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27,5</a:t>
                      </a:r>
                      <a:endParaRPr lang="ru-RU" sz="1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2310972"/>
                  </a:ext>
                </a:extLst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8612527" y="6094251"/>
            <a:ext cx="2802618" cy="224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</a:pPr>
            <a:r>
              <a:rPr lang="ru-RU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Минералы МБМ в отвальных хвостах ТОФ </a:t>
            </a:r>
            <a:endParaRPr lang="ru-RU" sz="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538222" y="3997996"/>
            <a:ext cx="3600000" cy="2293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300"/>
              </a:spcAft>
            </a:pPr>
            <a:r>
              <a:rPr lang="ru-RU" sz="1200" b="1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Пути повышения эффективности</a:t>
            </a:r>
            <a:r>
              <a:rPr lang="ru-RU" sz="12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4013" indent="-171450" algn="just">
              <a:lnSpc>
                <a:spcPct val="107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оптимизация </a:t>
            </a:r>
            <a:r>
              <a:rPr lang="ru-RU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крупности питания коллективной флотации для максимального раскрытия частиц </a:t>
            </a: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МПГ;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4013" indent="-171450" algn="just">
              <a:lnSpc>
                <a:spcPct val="107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поиск </a:t>
            </a:r>
            <a:r>
              <a:rPr lang="ru-RU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селективных собирателей сульфидной </a:t>
            </a: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флотации;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4013" indent="-171450" algn="just">
              <a:lnSpc>
                <a:spcPct val="107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оптимизация </a:t>
            </a:r>
            <a:r>
              <a:rPr lang="ru-RU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фронта флотации по операциям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4013" indent="-171450" algn="just">
              <a:lnSpc>
                <a:spcPct val="107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рассмотрение вариантов доизмельчения промпродуктов по схеме ;</a:t>
            </a:r>
            <a:endParaRPr lang="ru-RU" sz="11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4013" indent="-171450" algn="just">
              <a:lnSpc>
                <a:spcPct val="107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рассмотрение </a:t>
            </a:r>
            <a:r>
              <a:rPr lang="ru-RU" sz="1100" dirty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возможности применения магнитной сепарации бедных продуктов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501736" y="664060"/>
            <a:ext cx="3600000" cy="882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ru-RU" sz="12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зависимости от типа и состава руды, форм нахождения платиновых металлов </a:t>
            </a:r>
            <a:r>
              <a:rPr lang="ru-RU" sz="1200" dirty="0" err="1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кор</a:t>
            </a:r>
            <a:r>
              <a:rPr lang="ru-RU" sz="12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-реляционные зависимости между извлечением цветных металлов и МПГ различны:</a:t>
            </a:r>
            <a:endParaRPr lang="ru-RU" sz="1100" dirty="0"/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499877"/>
              </p:ext>
            </p:extLst>
          </p:nvPr>
        </p:nvGraphicFramePr>
        <p:xfrm>
          <a:off x="3618985" y="1581719"/>
          <a:ext cx="3365502" cy="11904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4642">
                  <a:extLst>
                    <a:ext uri="{9D8B030D-6E8A-4147-A177-3AD203B41FA5}">
                      <a16:colId xmlns:a16="http://schemas.microsoft.com/office/drawing/2014/main" val="3588703186"/>
                    </a:ext>
                  </a:extLst>
                </a:gridCol>
                <a:gridCol w="710215">
                  <a:extLst>
                    <a:ext uri="{9D8B030D-6E8A-4147-A177-3AD203B41FA5}">
                      <a16:colId xmlns:a16="http://schemas.microsoft.com/office/drawing/2014/main" val="2813176078"/>
                    </a:ext>
                  </a:extLst>
                </a:gridCol>
                <a:gridCol w="710215">
                  <a:extLst>
                    <a:ext uri="{9D8B030D-6E8A-4147-A177-3AD203B41FA5}">
                      <a16:colId xmlns:a16="http://schemas.microsoft.com/office/drawing/2014/main" val="3360295698"/>
                    </a:ext>
                  </a:extLst>
                </a:gridCol>
                <a:gridCol w="710215">
                  <a:extLst>
                    <a:ext uri="{9D8B030D-6E8A-4147-A177-3AD203B41FA5}">
                      <a16:colId xmlns:a16="http://schemas.microsoft.com/office/drawing/2014/main" val="343756447"/>
                    </a:ext>
                  </a:extLst>
                </a:gridCol>
                <a:gridCol w="710215">
                  <a:extLst>
                    <a:ext uri="{9D8B030D-6E8A-4147-A177-3AD203B41FA5}">
                      <a16:colId xmlns:a16="http://schemas.microsoft.com/office/drawing/2014/main" val="656104954"/>
                    </a:ext>
                  </a:extLst>
                </a:gridCol>
              </a:tblGrid>
              <a:tr h="238090">
                <a:tc>
                  <a:txBody>
                    <a:bodyPr/>
                    <a:lstStyle/>
                    <a:p>
                      <a:pPr algn="ctr" fontAlgn="ctr"/>
                      <a:endParaRPr lang="ru-RU" sz="1100" b="0" i="1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Ni</a:t>
                      </a:r>
                      <a:endParaRPr lang="ru-RU" sz="1100" b="0" i="1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Cu</a:t>
                      </a:r>
                      <a:endParaRPr lang="ru-RU" sz="1100" b="0" i="1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Pt</a:t>
                      </a:r>
                      <a:endParaRPr lang="ru-RU" sz="1100" b="0" i="1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Pd</a:t>
                      </a:r>
                      <a:endParaRPr lang="ru-RU" sz="1100" b="0" i="1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7721396"/>
                  </a:ext>
                </a:extLst>
              </a:tr>
              <a:tr h="23809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Ni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8378672"/>
                  </a:ext>
                </a:extLst>
              </a:tr>
              <a:tr h="23809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Cu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0,4/0,1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4764203"/>
                  </a:ext>
                </a:extLst>
              </a:tr>
              <a:tr h="23809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Pt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0,7/-0,18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0,6/-0,07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259561"/>
                  </a:ext>
                </a:extLst>
              </a:tr>
              <a:tr h="23809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Pd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0,8/-0,15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0,6/-0,01</a:t>
                      </a:r>
                      <a:endParaRPr lang="ru-RU" sz="11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0,9/0,85</a:t>
                      </a:r>
                      <a:endParaRPr lang="ru-RU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1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3261654"/>
                  </a:ext>
                </a:extLst>
              </a:tr>
            </a:tbl>
          </a:graphicData>
        </a:graphic>
      </p:graphicFrame>
      <p:sp>
        <p:nvSpPr>
          <p:cNvPr id="20" name="Прямоугольник 19"/>
          <p:cNvSpPr/>
          <p:nvPr/>
        </p:nvSpPr>
        <p:spPr>
          <a:xfrm>
            <a:off x="4760383" y="2807022"/>
            <a:ext cx="2324675" cy="2228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6000"/>
              </a:lnSpc>
            </a:pPr>
            <a:r>
              <a:rPr lang="ru-RU" sz="800" kern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Богатые руды, ТОФ</a:t>
            </a:r>
            <a:r>
              <a:rPr lang="en-US" sz="800" kern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ru-RU" sz="800" kern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вкрапленные руды, НОФ</a:t>
            </a:r>
            <a:endParaRPr lang="ru-RU" sz="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83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1C66D49A-0817-78AA-68E9-6AC0B042CE73}"/>
              </a:ext>
            </a:extLst>
          </p:cNvPr>
          <p:cNvSpPr/>
          <p:nvPr/>
        </p:nvSpPr>
        <p:spPr>
          <a:xfrm>
            <a:off x="-103" y="495300"/>
            <a:ext cx="3474000" cy="59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  <a:sym typeface="Tahom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8" y="125658"/>
            <a:ext cx="9014821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smtClean="0">
                <a:solidFill>
                  <a:srgbClr val="7F7F7F"/>
                </a:solidFill>
              </a:rPr>
              <a:t>Металлургическая переработка платиносодержащего </a:t>
            </a:r>
            <a:r>
              <a:rPr lang="ru-RU" sz="1500" b="1" dirty="0" smtClean="0">
                <a:solidFill>
                  <a:srgbClr val="7F7F7F"/>
                </a:solidFill>
              </a:rPr>
              <a:t>Cu-Ni сырья</a:t>
            </a:r>
            <a:endParaRPr lang="ru-RU" sz="1500" b="1" dirty="0">
              <a:solidFill>
                <a:srgbClr val="7F7F7F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0" y="563823"/>
            <a:ext cx="11527395" cy="57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C66D49A-0817-78AA-68E9-6AC0B042CE73}"/>
              </a:ext>
            </a:extLst>
          </p:cNvPr>
          <p:cNvSpPr/>
          <p:nvPr/>
        </p:nvSpPr>
        <p:spPr>
          <a:xfrm>
            <a:off x="-103" y="495300"/>
            <a:ext cx="3475040" cy="59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  <a:sym typeface="Tahom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9" y="125658"/>
            <a:ext cx="8083222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dirty="0" smtClean="0">
                <a:solidFill>
                  <a:srgbClr val="7F7F7F"/>
                </a:solidFill>
              </a:rPr>
              <a:t>Плавка сырья </a:t>
            </a:r>
            <a:r>
              <a:rPr lang="ru-RU" sz="1500" b="1" smtClean="0">
                <a:solidFill>
                  <a:srgbClr val="7F7F7F"/>
                </a:solidFill>
              </a:rPr>
              <a:t>и промпродуктов. </a:t>
            </a:r>
            <a:r>
              <a:rPr lang="ru-RU" sz="1500" b="1" dirty="0" smtClean="0">
                <a:solidFill>
                  <a:srgbClr val="7F7F7F"/>
                </a:solidFill>
              </a:rPr>
              <a:t>Потери со шлаками</a:t>
            </a:r>
            <a:endParaRPr lang="ru-RU" sz="1500" b="1" dirty="0">
              <a:solidFill>
                <a:srgbClr val="7F7F7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836" y="533739"/>
            <a:ext cx="3355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Штейновая плавка – определяет извлечение ЦМ и ДМ из руды/концентрата:</a:t>
            </a:r>
            <a:endParaRPr lang="ru-RU" sz="1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64715" y="1174361"/>
            <a:ext cx="3060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100" dirty="0" smtClean="0"/>
              <a:t>Рудно-термическая печь - РТП  (заводы ЮАР, </a:t>
            </a:r>
            <a:r>
              <a:rPr lang="en-US" sz="1100" dirty="0" err="1" smtClean="0"/>
              <a:t>Sibanie</a:t>
            </a:r>
            <a:r>
              <a:rPr lang="en-US" sz="1100" dirty="0" smtClean="0"/>
              <a:t> </a:t>
            </a:r>
            <a:r>
              <a:rPr lang="en-US" sz="1100" dirty="0"/>
              <a:t>S</a:t>
            </a:r>
            <a:r>
              <a:rPr lang="en-US" sz="1100" dirty="0" smtClean="0"/>
              <a:t>tillwater</a:t>
            </a:r>
            <a:r>
              <a:rPr lang="ru-RU" sz="1100" dirty="0" smtClean="0"/>
              <a:t>)</a:t>
            </a:r>
          </a:p>
          <a:p>
            <a:pPr>
              <a:spcAft>
                <a:spcPts val="400"/>
              </a:spcAft>
            </a:pPr>
            <a:r>
              <a:rPr lang="ru-RU" sz="1100" dirty="0" smtClean="0"/>
              <a:t>Печь взвешенной плавки – ПВП (Норникель)</a:t>
            </a:r>
          </a:p>
          <a:p>
            <a:pPr>
              <a:spcAft>
                <a:spcPts val="400"/>
              </a:spcAft>
            </a:pPr>
            <a:r>
              <a:rPr lang="ru-RU" sz="1100" dirty="0" smtClean="0"/>
              <a:t>Печь Ванюкова – ПВ (Норникел</a:t>
            </a:r>
            <a:r>
              <a:rPr lang="ru-RU" sz="1100" dirty="0"/>
              <a:t>ь</a:t>
            </a:r>
            <a:r>
              <a:rPr lang="ru-RU" sz="1100" dirty="0" smtClean="0"/>
              <a:t>)</a:t>
            </a:r>
            <a:endParaRPr lang="en-US" sz="1100" dirty="0" smtClean="0"/>
          </a:p>
          <a:p>
            <a:pPr>
              <a:spcAft>
                <a:spcPts val="400"/>
              </a:spcAft>
            </a:pPr>
            <a:r>
              <a:rPr lang="en-US" sz="1100" dirty="0" smtClean="0"/>
              <a:t>INCO </a:t>
            </a:r>
            <a:r>
              <a:rPr lang="ru-RU" sz="1100" dirty="0" smtClean="0"/>
              <a:t>процесс  - (</a:t>
            </a:r>
            <a:r>
              <a:rPr lang="en-US" sz="1100" dirty="0" smtClean="0"/>
              <a:t>Vale)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699" y="2430536"/>
            <a:ext cx="3355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Конвертирование </a:t>
            </a:r>
            <a:r>
              <a:rPr lang="ru-RU" sz="1200" b="1" dirty="0" smtClean="0">
                <a:solidFill>
                  <a:schemeClr val="tx1"/>
                </a:solidFill>
              </a:rPr>
              <a:t>(</a:t>
            </a:r>
            <a:r>
              <a:rPr lang="en-US" sz="1200" b="1" dirty="0" smtClean="0">
                <a:solidFill>
                  <a:schemeClr val="tx1"/>
                </a:solidFill>
              </a:rPr>
              <a:t>Cu</a:t>
            </a:r>
            <a:r>
              <a:rPr lang="ru-RU" sz="1200" b="1" dirty="0" smtClean="0">
                <a:solidFill>
                  <a:schemeClr val="tx1"/>
                </a:solidFill>
              </a:rPr>
              <a:t>, файнштейн):</a:t>
            </a:r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3974" y="2701826"/>
            <a:ext cx="3060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100" dirty="0" smtClean="0"/>
              <a:t>Конвертер Пирса-Смита (заводы ЮАР, Норникель)</a:t>
            </a:r>
          </a:p>
          <a:p>
            <a:pPr>
              <a:spcAft>
                <a:spcPts val="400"/>
              </a:spcAft>
            </a:pPr>
            <a:r>
              <a:rPr lang="en-US" sz="1100" dirty="0" smtClean="0"/>
              <a:t>TBRC – (</a:t>
            </a:r>
            <a:r>
              <a:rPr lang="en-US" sz="1100" dirty="0" err="1"/>
              <a:t>Sibanie</a:t>
            </a:r>
            <a:r>
              <a:rPr lang="en-US" sz="1100" dirty="0"/>
              <a:t> Stillwater</a:t>
            </a:r>
            <a:r>
              <a:rPr lang="en-US" sz="1100" dirty="0" smtClean="0"/>
              <a:t>)</a:t>
            </a:r>
            <a:endParaRPr lang="ru-RU" sz="1100" dirty="0" smtClean="0"/>
          </a:p>
          <a:p>
            <a:pPr>
              <a:spcAft>
                <a:spcPts val="400"/>
              </a:spcAft>
            </a:pPr>
            <a:r>
              <a:rPr lang="en-US" sz="1100" dirty="0" err="1" smtClean="0"/>
              <a:t>Ausmelt</a:t>
            </a:r>
            <a:r>
              <a:rPr lang="en-US" sz="1100" dirty="0" smtClean="0"/>
              <a:t> (Anglo American</a:t>
            </a:r>
            <a:r>
              <a:rPr lang="ru-RU" sz="1100" dirty="0" smtClean="0"/>
              <a:t>)</a:t>
            </a:r>
          </a:p>
          <a:p>
            <a:pPr>
              <a:spcAft>
                <a:spcPts val="4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Комплекс непрерывного конвертирования (каскад двух печей Ванюкова, РФ, проект)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836" y="5111004"/>
            <a:ext cx="3355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Плавка ДМ  промпродуктов – усреднение, вывод силикатов </a:t>
            </a:r>
            <a:r>
              <a:rPr lang="ru-RU" sz="1200" b="1" smtClean="0"/>
              <a:t>и др.:</a:t>
            </a:r>
            <a:endParaRPr lang="ru-RU" sz="1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93973" y="5566958"/>
            <a:ext cx="3060000" cy="7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Печь постоянного тока (Норникель, КЗЦМ)</a:t>
            </a:r>
          </a:p>
          <a:p>
            <a:pPr>
              <a:spcAft>
                <a:spcPts val="4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Индукционная печь (КЗЦМ)</a:t>
            </a:r>
          </a:p>
          <a:p>
            <a:pPr>
              <a:spcAft>
                <a:spcPts val="4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Отражательная печь (КЗЦМ)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836" y="3958001"/>
            <a:ext cx="3355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Анодная плавка – рафинирование металла:</a:t>
            </a:r>
            <a:endParaRPr lang="ru-RU" sz="12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93975" y="4413957"/>
            <a:ext cx="3060000" cy="7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Печь </a:t>
            </a:r>
            <a:r>
              <a:rPr lang="en-US" sz="1100" dirty="0" err="1" smtClean="0">
                <a:solidFill>
                  <a:schemeClr val="tx1"/>
                </a:solidFill>
              </a:rPr>
              <a:t>Merz</a:t>
            </a:r>
            <a:r>
              <a:rPr lang="en-US" sz="1100" dirty="0" smtClean="0">
                <a:solidFill>
                  <a:schemeClr val="tx1"/>
                </a:solidFill>
              </a:rPr>
              <a:t> </a:t>
            </a:r>
            <a:r>
              <a:rPr lang="ru-RU" sz="1100" dirty="0" smtClean="0">
                <a:solidFill>
                  <a:schemeClr val="tx1"/>
                </a:solidFill>
              </a:rPr>
              <a:t>(</a:t>
            </a:r>
            <a:r>
              <a:rPr lang="en-US" sz="1100" dirty="0" smtClean="0">
                <a:solidFill>
                  <a:schemeClr val="tx1"/>
                </a:solidFill>
              </a:rPr>
              <a:t>Glencore)</a:t>
            </a:r>
            <a:endParaRPr lang="ru-RU" sz="1100" dirty="0" smtClean="0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</a:pPr>
            <a:r>
              <a:rPr lang="ru-RU" sz="1100" dirty="0">
                <a:solidFill>
                  <a:schemeClr val="tx1"/>
                </a:solidFill>
              </a:rPr>
              <a:t>Дуговая сталеплавильная печь </a:t>
            </a:r>
            <a:r>
              <a:rPr lang="ru-RU" sz="1100" dirty="0" smtClean="0">
                <a:solidFill>
                  <a:schemeClr val="tx1"/>
                </a:solidFill>
              </a:rPr>
              <a:t>(Норникель)</a:t>
            </a:r>
          </a:p>
          <a:p>
            <a:pPr>
              <a:spcAft>
                <a:spcPts val="4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Анодная отражательная печь (Норникель)</a:t>
            </a:r>
            <a:endParaRPr lang="ru-RU" sz="11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5504" y="530316"/>
            <a:ext cx="3036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solidFill>
                  <a:schemeClr val="tx1"/>
                </a:solidFill>
              </a:rPr>
              <a:t>Потери ДМ </a:t>
            </a:r>
            <a:br>
              <a:rPr lang="ru-RU" sz="1200" b="1" dirty="0">
                <a:solidFill>
                  <a:schemeClr val="tx1"/>
                </a:solidFill>
              </a:rPr>
            </a:br>
            <a:r>
              <a:rPr lang="ru-RU" sz="1200" b="1" dirty="0">
                <a:solidFill>
                  <a:schemeClr val="tx1"/>
                </a:solidFill>
              </a:rPr>
              <a:t>преимущественно механические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5994" y="1040249"/>
            <a:ext cx="693352" cy="400110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1000" b="1" dirty="0" smtClean="0">
                <a:solidFill>
                  <a:schemeClr val="tx1"/>
                </a:solidFill>
              </a:rPr>
              <a:t>Рост вязкости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9412" y="1040249"/>
            <a:ext cx="644292" cy="400110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1000" b="1" dirty="0" smtClean="0">
                <a:solidFill>
                  <a:schemeClr val="tx1"/>
                </a:solidFill>
              </a:rPr>
              <a:t>Рост потерь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3399" y="1040249"/>
            <a:ext cx="1030329" cy="400110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1000" dirty="0" err="1" smtClean="0">
                <a:solidFill>
                  <a:schemeClr val="tx1"/>
                </a:solidFill>
              </a:rPr>
              <a:t>Переокисление</a:t>
            </a:r>
            <a:r>
              <a:rPr lang="ru-RU" sz="1000" dirty="0" smtClean="0">
                <a:solidFill>
                  <a:schemeClr val="tx1"/>
                </a:solidFill>
              </a:rPr>
              <a:t> шлака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5406" y="1638198"/>
            <a:ext cx="966316" cy="400110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1000" dirty="0" smtClean="0">
                <a:solidFill>
                  <a:schemeClr val="tx1"/>
                </a:solidFill>
              </a:rPr>
              <a:t>Рост температуры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4834" y="1435735"/>
            <a:ext cx="913379" cy="400110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r>
              <a:rPr lang="ru-RU" sz="1000" dirty="0" smtClean="0">
                <a:solidFill>
                  <a:schemeClr val="tx1"/>
                </a:solidFill>
              </a:rPr>
              <a:t>Снижение вязкости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4834" y="1830275"/>
            <a:ext cx="1399153" cy="400110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r>
              <a:rPr lang="ru-RU" sz="1000" b="1" dirty="0" smtClean="0">
                <a:solidFill>
                  <a:schemeClr val="tx1"/>
                </a:solidFill>
              </a:rPr>
              <a:t>Рост испарения летучих</a:t>
            </a:r>
            <a:r>
              <a:rPr lang="en-US" sz="1000" b="1" dirty="0" smtClean="0">
                <a:solidFill>
                  <a:schemeClr val="tx1"/>
                </a:solidFill>
              </a:rPr>
              <a:t> (</a:t>
            </a:r>
            <a:r>
              <a:rPr lang="en-US" sz="1000" b="1" dirty="0" err="1" smtClean="0">
                <a:solidFill>
                  <a:schemeClr val="tx1"/>
                </a:solidFill>
              </a:rPr>
              <a:t>Os</a:t>
            </a:r>
            <a:r>
              <a:rPr lang="en-US" sz="1000" b="1" dirty="0" smtClean="0">
                <a:solidFill>
                  <a:schemeClr val="tx1"/>
                </a:solidFill>
              </a:rPr>
              <a:t>, Ru)</a:t>
            </a:r>
            <a:endParaRPr lang="ru-RU" sz="1000" b="1" dirty="0" smtClean="0">
              <a:solidFill>
                <a:schemeClr val="tx1"/>
              </a:solidFill>
            </a:endParaRPr>
          </a:p>
        </p:txBody>
      </p:sp>
      <p:cxnSp>
        <p:nvCxnSpPr>
          <p:cNvPr id="4" name="Прямая со стрелкой 3"/>
          <p:cNvCxnSpPr>
            <a:stCxn id="29" idx="3"/>
            <a:endCxn id="27" idx="1"/>
          </p:cNvCxnSpPr>
          <p:nvPr/>
        </p:nvCxnSpPr>
        <p:spPr bwMode="auto">
          <a:xfrm>
            <a:off x="4593728" y="1240304"/>
            <a:ext cx="24226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cxnSp>
      <p:cxnSp>
        <p:nvCxnSpPr>
          <p:cNvPr id="33" name="Прямая со стрелкой 32"/>
          <p:cNvCxnSpPr>
            <a:stCxn id="27" idx="3"/>
            <a:endCxn id="28" idx="1"/>
          </p:cNvCxnSpPr>
          <p:nvPr/>
        </p:nvCxnSpPr>
        <p:spPr bwMode="auto">
          <a:xfrm>
            <a:off x="5529346" y="1240304"/>
            <a:ext cx="240066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Прямая со стрелкой 35"/>
          <p:cNvCxnSpPr>
            <a:stCxn id="30" idx="3"/>
            <a:endCxn id="31" idx="1"/>
          </p:cNvCxnSpPr>
          <p:nvPr/>
        </p:nvCxnSpPr>
        <p:spPr bwMode="auto">
          <a:xfrm flipV="1">
            <a:off x="4561722" y="1635790"/>
            <a:ext cx="713112" cy="20246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cxnSp>
      <p:cxnSp>
        <p:nvCxnSpPr>
          <p:cNvPr id="40" name="Прямая со стрелкой 35"/>
          <p:cNvCxnSpPr>
            <a:stCxn id="30" idx="3"/>
            <a:endCxn id="32" idx="1"/>
          </p:cNvCxnSpPr>
          <p:nvPr/>
        </p:nvCxnSpPr>
        <p:spPr bwMode="auto">
          <a:xfrm>
            <a:off x="4561722" y="1838253"/>
            <a:ext cx="713112" cy="19207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cxnSp>
      <p:sp>
        <p:nvSpPr>
          <p:cNvPr id="47" name="TextBox 46"/>
          <p:cNvSpPr txBox="1"/>
          <p:nvPr/>
        </p:nvSpPr>
        <p:spPr>
          <a:xfrm>
            <a:off x="3543891" y="2113561"/>
            <a:ext cx="1032161" cy="553998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1000" dirty="0" smtClean="0">
                <a:solidFill>
                  <a:schemeClr val="tx1"/>
                </a:solidFill>
              </a:rPr>
              <a:t>Сульфидная/ металлическая фаза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74834" y="2267450"/>
            <a:ext cx="1259733" cy="246221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r>
              <a:rPr lang="ru-RU" sz="1000" dirty="0" smtClean="0">
                <a:solidFill>
                  <a:schemeClr val="tx1"/>
                </a:solidFill>
              </a:rPr>
              <a:t>Коллектор ДМ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74834" y="2732019"/>
            <a:ext cx="1221903" cy="246221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r>
              <a:rPr lang="ru-RU" sz="1000" dirty="0" smtClean="0">
                <a:solidFill>
                  <a:schemeClr val="tx1"/>
                </a:solidFill>
              </a:rPr>
              <a:t>«Ловит» летучие</a:t>
            </a:r>
          </a:p>
        </p:txBody>
      </p:sp>
      <p:pic>
        <p:nvPicPr>
          <p:cNvPr id="66" name="Рисунок 6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51"/>
          <a:stretch/>
        </p:blipFill>
        <p:spPr>
          <a:xfrm>
            <a:off x="6143624" y="4303532"/>
            <a:ext cx="1732238" cy="1836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150723" y="6150034"/>
            <a:ext cx="1712949" cy="307777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700" dirty="0" smtClean="0">
                <a:solidFill>
                  <a:schemeClr val="tx1"/>
                </a:solidFill>
              </a:rPr>
              <a:t>Бедный шлак – практически чистое силикатное стекло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71632" y="6108017"/>
            <a:ext cx="1675626" cy="307777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700" dirty="0" smtClean="0">
                <a:solidFill>
                  <a:schemeClr val="tx1"/>
                </a:solidFill>
              </a:rPr>
              <a:t>Вязкий шлак – много мелких включений, плохо </a:t>
            </a:r>
            <a:r>
              <a:rPr lang="ru-RU" sz="700" dirty="0" err="1" smtClean="0">
                <a:solidFill>
                  <a:schemeClr val="tx1"/>
                </a:solidFill>
              </a:rPr>
              <a:t>коалесцируют</a:t>
            </a:r>
            <a:r>
              <a:rPr lang="ru-RU" sz="700" dirty="0" smtClean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79336" y="6108017"/>
            <a:ext cx="1787937" cy="307777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700" dirty="0" smtClean="0">
                <a:solidFill>
                  <a:schemeClr val="tx1"/>
                </a:solidFill>
              </a:rPr>
              <a:t>Крупные частицы сплава </a:t>
            </a:r>
            <a:br>
              <a:rPr lang="ru-RU" sz="700" dirty="0" smtClean="0">
                <a:solidFill>
                  <a:schemeClr val="tx1"/>
                </a:solidFill>
              </a:rPr>
            </a:br>
            <a:r>
              <a:rPr lang="ru-RU" sz="700" dirty="0" smtClean="0">
                <a:solidFill>
                  <a:schemeClr val="tx1"/>
                </a:solidFill>
              </a:rPr>
              <a:t>хорошо отделяются и оседают </a:t>
            </a:r>
          </a:p>
        </p:txBody>
      </p:sp>
      <p:pic>
        <p:nvPicPr>
          <p:cNvPr id="74" name="Рисунок 73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08"/>
          <a:stretch/>
        </p:blipFill>
        <p:spPr bwMode="auto">
          <a:xfrm>
            <a:off x="7886097" y="4303532"/>
            <a:ext cx="1728120" cy="183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" name="Таблица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19434"/>
              </p:ext>
            </p:extLst>
          </p:nvPr>
        </p:nvGraphicFramePr>
        <p:xfrm>
          <a:off x="6703973" y="554348"/>
          <a:ext cx="4672824" cy="2222715"/>
        </p:xfrm>
        <a:graphic>
          <a:graphicData uri="http://schemas.openxmlformats.org/drawingml/2006/table">
            <a:tbl>
              <a:tblPr>
                <a:tableStyleId>{C7B018BB-80A7-4F77-B60F-C8B233D01FF8}</a:tableStyleId>
              </a:tblPr>
              <a:tblGrid>
                <a:gridCol w="259671">
                  <a:extLst>
                    <a:ext uri="{9D8B030D-6E8A-4147-A177-3AD203B41FA5}">
                      <a16:colId xmlns:a16="http://schemas.microsoft.com/office/drawing/2014/main" val="661837525"/>
                    </a:ext>
                  </a:extLst>
                </a:gridCol>
                <a:gridCol w="1410358">
                  <a:extLst>
                    <a:ext uri="{9D8B030D-6E8A-4147-A177-3AD203B41FA5}">
                      <a16:colId xmlns:a16="http://schemas.microsoft.com/office/drawing/2014/main" val="3202832041"/>
                    </a:ext>
                  </a:extLst>
                </a:gridCol>
                <a:gridCol w="600559">
                  <a:extLst>
                    <a:ext uri="{9D8B030D-6E8A-4147-A177-3AD203B41FA5}">
                      <a16:colId xmlns:a16="http://schemas.microsoft.com/office/drawing/2014/main" val="196017471"/>
                    </a:ext>
                  </a:extLst>
                </a:gridCol>
                <a:gridCol w="600559">
                  <a:extLst>
                    <a:ext uri="{9D8B030D-6E8A-4147-A177-3AD203B41FA5}">
                      <a16:colId xmlns:a16="http://schemas.microsoft.com/office/drawing/2014/main" val="119540925"/>
                    </a:ext>
                  </a:extLst>
                </a:gridCol>
                <a:gridCol w="600559">
                  <a:extLst>
                    <a:ext uri="{9D8B030D-6E8A-4147-A177-3AD203B41FA5}">
                      <a16:colId xmlns:a16="http://schemas.microsoft.com/office/drawing/2014/main" val="3288483884"/>
                    </a:ext>
                  </a:extLst>
                </a:gridCol>
                <a:gridCol w="600559">
                  <a:extLst>
                    <a:ext uri="{9D8B030D-6E8A-4147-A177-3AD203B41FA5}">
                      <a16:colId xmlns:a16="http://schemas.microsoft.com/office/drawing/2014/main" val="2615656512"/>
                    </a:ext>
                  </a:extLst>
                </a:gridCol>
                <a:gridCol w="600559">
                  <a:extLst>
                    <a:ext uri="{9D8B030D-6E8A-4147-A177-3AD203B41FA5}">
                      <a16:colId xmlns:a16="http://schemas.microsoft.com/office/drawing/2014/main" val="1722500179"/>
                    </a:ext>
                  </a:extLst>
                </a:gridCol>
              </a:tblGrid>
              <a:tr h="211239"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Cu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Ni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Fe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МПГ, г/т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173598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Amplats</a:t>
                      </a:r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Waterval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2,1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3,6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143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314226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Amplats</a:t>
                      </a:r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Union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1,1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142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788814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Implats</a:t>
                      </a:r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Rustenburg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2,1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138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026266"/>
                  </a:ext>
                </a:extLst>
              </a:tr>
              <a:tr h="31842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Sibanie</a:t>
                      </a:r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Stillwater, </a:t>
                      </a:r>
                      <a:r>
                        <a:rPr lang="en-US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Merensky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18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130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899124"/>
                  </a:ext>
                </a:extLst>
              </a:tr>
              <a:tr h="31842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Sibanie</a:t>
                      </a:r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Stillwater, UG2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1,2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2,1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340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89244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Northam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132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097723"/>
                  </a:ext>
                </a:extLst>
              </a:tr>
              <a:tr h="31842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7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Норникель НОФ, ТОФ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7-9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2-4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25-35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837836"/>
                  </a:ext>
                </a:extLst>
              </a:tr>
              <a:tr h="2112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Норникель ТОФ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1-2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20-30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144868"/>
                  </a:ext>
                </a:extLst>
              </a:tr>
            </a:tbl>
          </a:graphicData>
        </a:graphic>
      </p:graphicFrame>
      <p:pic>
        <p:nvPicPr>
          <p:cNvPr id="41" name="Рисунок 40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3"/>
          <a:stretch/>
        </p:blipFill>
        <p:spPr bwMode="auto">
          <a:xfrm>
            <a:off x="9624453" y="4303532"/>
            <a:ext cx="1710707" cy="18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TextBox 64"/>
          <p:cNvSpPr txBox="1"/>
          <p:nvPr/>
        </p:nvSpPr>
        <p:spPr>
          <a:xfrm>
            <a:off x="6050910" y="3053323"/>
            <a:ext cx="525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 smtClean="0"/>
              <a:t>Выбор шлаковой системы определяется аппаратурным оформлением и масштабом процесса, составом сырья, </a:t>
            </a:r>
            <a:r>
              <a:rPr lang="ru-RU" sz="1100" smtClean="0"/>
              <a:t>доступностью энергоресурсов.</a:t>
            </a:r>
            <a:endParaRPr lang="ru-RU" sz="1100" dirty="0"/>
          </a:p>
        </p:txBody>
      </p:sp>
      <p:sp>
        <p:nvSpPr>
          <p:cNvPr id="76" name="TextBox 75"/>
          <p:cNvSpPr txBox="1"/>
          <p:nvPr/>
        </p:nvSpPr>
        <p:spPr>
          <a:xfrm>
            <a:off x="6050910" y="3509937"/>
            <a:ext cx="525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 smtClean="0"/>
              <a:t>Моделирование пирометаллургических процессов, позволяющее повысить эффективность действующих и вновь создаваемых производств, ограничивается знаниями о свойствах шлаков в зависимости от температуры процесса - плотности, вязкости, энтальпии и </a:t>
            </a:r>
            <a:r>
              <a:rPr lang="ru-RU" sz="1100" dirty="0" smtClean="0">
                <a:solidFill>
                  <a:srgbClr val="FF0000"/>
                </a:solidFill>
              </a:rPr>
              <a:t>?????</a:t>
            </a:r>
            <a:r>
              <a:rPr lang="ru-RU" sz="1100" dirty="0" smtClean="0"/>
              <a:t>. </a:t>
            </a:r>
            <a:endParaRPr lang="ru-RU" sz="1100" dirty="0"/>
          </a:p>
        </p:txBody>
      </p:sp>
      <p:graphicFrame>
        <p:nvGraphicFramePr>
          <p:cNvPr id="77" name="Диаграмма 7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3443721"/>
              </p:ext>
            </p:extLst>
          </p:nvPr>
        </p:nvGraphicFramePr>
        <p:xfrm>
          <a:off x="3524800" y="3022736"/>
          <a:ext cx="2520000" cy="16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78" name="Диаграмма 7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0262432"/>
              </p:ext>
            </p:extLst>
          </p:nvPr>
        </p:nvGraphicFramePr>
        <p:xfrm>
          <a:off x="3490199" y="4692456"/>
          <a:ext cx="2525256" cy="1642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79" name="Прямая со стрелкой 78"/>
          <p:cNvCxnSpPr>
            <a:stCxn id="47" idx="3"/>
            <a:endCxn id="49" idx="1"/>
          </p:cNvCxnSpPr>
          <p:nvPr/>
        </p:nvCxnSpPr>
        <p:spPr bwMode="auto">
          <a:xfrm>
            <a:off x="4576052" y="2390560"/>
            <a:ext cx="698782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cxnSp>
      <p:sp>
        <p:nvSpPr>
          <p:cNvPr id="82" name="TextBox 81"/>
          <p:cNvSpPr txBox="1"/>
          <p:nvPr/>
        </p:nvSpPr>
        <p:spPr>
          <a:xfrm>
            <a:off x="3540497" y="2655074"/>
            <a:ext cx="1021226" cy="400110"/>
          </a:xfrm>
          <a:prstGeom prst="rect">
            <a:avLst/>
          </a:prstGeom>
          <a:noFill/>
        </p:spPr>
        <p:txBody>
          <a:bodyPr wrap="square" lIns="18000" rIns="18000" rtlCol="0">
            <a:spAutoFit/>
          </a:bodyPr>
          <a:lstStyle/>
          <a:p>
            <a:pPr algn="ctr"/>
            <a:r>
              <a:rPr lang="ru-RU" sz="1000" dirty="0" smtClean="0">
                <a:solidFill>
                  <a:schemeClr val="tx1"/>
                </a:solidFill>
              </a:rPr>
              <a:t>Сульфидная фаза</a:t>
            </a:r>
          </a:p>
        </p:txBody>
      </p:sp>
      <p:cxnSp>
        <p:nvCxnSpPr>
          <p:cNvPr id="83" name="Прямая со стрелкой 82"/>
          <p:cNvCxnSpPr>
            <a:stCxn id="82" idx="3"/>
            <a:endCxn id="51" idx="1"/>
          </p:cNvCxnSpPr>
          <p:nvPr/>
        </p:nvCxnSpPr>
        <p:spPr bwMode="auto">
          <a:xfrm>
            <a:off x="4561723" y="2855129"/>
            <a:ext cx="713111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</p:cxnSp>
      <p:sp>
        <p:nvSpPr>
          <p:cNvPr id="86" name="Прямоугольник 85"/>
          <p:cNvSpPr/>
          <p:nvPr/>
        </p:nvSpPr>
        <p:spPr>
          <a:xfrm>
            <a:off x="9265363" y="2790244"/>
            <a:ext cx="2069797" cy="2228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6000"/>
              </a:lnSpc>
            </a:pPr>
            <a:r>
              <a:rPr lang="ru-RU" sz="800" kern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Исходное сырье для штейновой плавки</a:t>
            </a:r>
            <a:endParaRPr lang="ru-RU" sz="8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7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1C66D49A-0817-78AA-68E9-6AC0B042CE73}"/>
              </a:ext>
            </a:extLst>
          </p:cNvPr>
          <p:cNvSpPr/>
          <p:nvPr/>
        </p:nvSpPr>
        <p:spPr>
          <a:xfrm>
            <a:off x="0" y="504175"/>
            <a:ext cx="3474000" cy="59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  <a:sym typeface="Tahom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9" y="125658"/>
            <a:ext cx="8083222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dirty="0" smtClean="0">
                <a:solidFill>
                  <a:srgbClr val="7F7F7F"/>
                </a:solidFill>
              </a:rPr>
              <a:t>Кристаллизация и разделение файнштейна</a:t>
            </a:r>
            <a:endParaRPr lang="ru-RU" sz="1500" b="1" dirty="0">
              <a:solidFill>
                <a:srgbClr val="7F7F7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8327" y="606039"/>
            <a:ext cx="5105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Цель процесса и предпосылки к реализации флотации и магнитной сепарации</a:t>
            </a:r>
            <a:endParaRPr lang="ru-RU" sz="1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673127" y="1096818"/>
            <a:ext cx="493594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Формирование самостоятельных фаз никелевых и медных сульфидов при медленном охлаждении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Обособление металлизированной магнитной фазы на границах зерен сульфидов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Коллектирование металлической фазой платиновых металлов и золота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упрощение переработки Разделение файнштейна на медный и никелевый концентраты с </a:t>
            </a:r>
            <a:r>
              <a:rPr lang="ru-RU" sz="1100" dirty="0"/>
              <a:t>минимальным содержанием «вторых» </a:t>
            </a:r>
            <a:r>
              <a:rPr lang="ru-RU" sz="1100" dirty="0" smtClean="0"/>
              <a:t>металлов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Сокращение технологической цепочки извлечения МПГ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523" y="606039"/>
            <a:ext cx="302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Медленное охлаждение, магнитная сепарация</a:t>
            </a:r>
            <a:endParaRPr lang="ru-RU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61522" y="1707525"/>
            <a:ext cx="302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Медленное охлаждение, флотация</a:t>
            </a:r>
            <a:endParaRPr lang="ru-RU" sz="1200" b="1" dirty="0"/>
          </a:p>
        </p:txBody>
      </p:sp>
      <p:pic>
        <p:nvPicPr>
          <p:cNvPr id="25" name="Рисунок 24" descr="a5817_0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935" y="600414"/>
            <a:ext cx="2592000" cy="25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3000" contras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935" y="3267347"/>
            <a:ext cx="2592000" cy="25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Прямоугольник 21"/>
          <p:cNvSpPr/>
          <p:nvPr/>
        </p:nvSpPr>
        <p:spPr>
          <a:xfrm>
            <a:off x="8799935" y="5892327"/>
            <a:ext cx="25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Высокомедистый файнштейн: 1 </a:t>
            </a:r>
            <a:r>
              <a:rPr lang="ru-RU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сульфид </a:t>
            </a:r>
            <a:r>
              <a:rPr lang="ru-RU" sz="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меди (железа</a:t>
            </a:r>
            <a:r>
              <a:rPr lang="ru-RU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); 2 – сульфид никеля; 3 – металлическая фаза</a:t>
            </a:r>
            <a:r>
              <a:rPr lang="ru-RU" sz="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r>
              <a:rPr lang="en-US" sz="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4, 5 </a:t>
            </a:r>
            <a:r>
              <a:rPr lang="ru-RU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металлическая </a:t>
            </a:r>
            <a:r>
              <a:rPr lang="ru-RU" sz="8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фаза</a:t>
            </a:r>
            <a:endParaRPr lang="ru-RU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2917" y="1073328"/>
            <a:ext cx="24481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smtClean="0"/>
              <a:t>Anglo-American Platinum</a:t>
            </a:r>
            <a:r>
              <a:rPr lang="ru-RU" sz="1100" dirty="0" smtClean="0"/>
              <a:t>, ЮАР</a:t>
            </a:r>
            <a:endParaRPr lang="en-US" sz="1100" dirty="0" smtClean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smtClean="0"/>
              <a:t>Vale</a:t>
            </a:r>
            <a:r>
              <a:rPr lang="ru-RU" sz="1100" dirty="0" smtClean="0"/>
              <a:t>, Канада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573" y="2001448"/>
            <a:ext cx="244816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Норникель, РФ</a:t>
            </a:r>
            <a:endParaRPr lang="en-US" sz="1100" dirty="0" smtClean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 smtClean="0"/>
              <a:t>Vale</a:t>
            </a:r>
            <a:r>
              <a:rPr lang="ru-RU" sz="1100" dirty="0" smtClean="0"/>
              <a:t>, Канада (после магнитной сепарации)</a:t>
            </a:r>
          </a:p>
        </p:txBody>
      </p:sp>
    </p:spTree>
    <p:extLst>
      <p:ext uri="{BB962C8B-B14F-4D97-AF65-F5344CB8AC3E}">
        <p14:creationId xmlns:p14="http://schemas.microsoft.com/office/powerpoint/2010/main" val="169371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1C66D49A-0817-78AA-68E9-6AC0B042CE73}"/>
              </a:ext>
            </a:extLst>
          </p:cNvPr>
          <p:cNvSpPr/>
          <p:nvPr/>
        </p:nvSpPr>
        <p:spPr>
          <a:xfrm>
            <a:off x="0" y="504175"/>
            <a:ext cx="3275046" cy="59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  <a:sym typeface="Tahom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9" y="125658"/>
            <a:ext cx="8083222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dirty="0" smtClean="0">
                <a:solidFill>
                  <a:srgbClr val="7F7F7F"/>
                </a:solidFill>
              </a:rPr>
              <a:t>Проблемы гидрометаллургической переработки сырья, содержащего МПГ</a:t>
            </a:r>
            <a:endParaRPr lang="ru-RU" sz="1500" b="1" dirty="0">
              <a:solidFill>
                <a:srgbClr val="7F7F7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276" y="587400"/>
            <a:ext cx="3246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Исходное сырье:</a:t>
            </a:r>
            <a:endParaRPr lang="ru-RU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35635" y="942836"/>
            <a:ext cx="260878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Рудные концентраты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Файнштейны и промпродукты их переработки (магнитная фракция, никелевый порошок)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ДМ-содержащие промпродукты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276" y="2132542"/>
            <a:ext cx="3246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Задача:</a:t>
            </a:r>
            <a:endParaRPr lang="ru-RU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28174" y="2409541"/>
            <a:ext cx="247628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Извлечение в раствор цветных металлов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Минимальные потери МПГ с растворами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2800" y="5502411"/>
            <a:ext cx="8075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 algn="just">
              <a:spcAft>
                <a:spcPts val="6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Развитие окислительно-восстановительных процессов, а также процессов гидролиза их комплексов обусловливает многообразие форм нахождения платиновых металлов в технологических растворах. Таким образом, актуальной задачей является разработка методов извлечения микроколичеств МПГ для предотвращения их техногенного рассеяния.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042618"/>
              </p:ext>
            </p:extLst>
          </p:nvPr>
        </p:nvGraphicFramePr>
        <p:xfrm>
          <a:off x="3352800" y="662826"/>
          <a:ext cx="8075675" cy="11406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59159">
                  <a:extLst>
                    <a:ext uri="{9D8B030D-6E8A-4147-A177-3AD203B41FA5}">
                      <a16:colId xmlns:a16="http://schemas.microsoft.com/office/drawing/2014/main" val="2151126423"/>
                    </a:ext>
                  </a:extLst>
                </a:gridCol>
                <a:gridCol w="1239450">
                  <a:extLst>
                    <a:ext uri="{9D8B030D-6E8A-4147-A177-3AD203B41FA5}">
                      <a16:colId xmlns:a16="http://schemas.microsoft.com/office/drawing/2014/main" val="3721243267"/>
                    </a:ext>
                  </a:extLst>
                </a:gridCol>
                <a:gridCol w="1464906">
                  <a:extLst>
                    <a:ext uri="{9D8B030D-6E8A-4147-A177-3AD203B41FA5}">
                      <a16:colId xmlns:a16="http://schemas.microsoft.com/office/drawing/2014/main" val="2627118272"/>
                    </a:ext>
                  </a:extLst>
                </a:gridCol>
                <a:gridCol w="1446245">
                  <a:extLst>
                    <a:ext uri="{9D8B030D-6E8A-4147-A177-3AD203B41FA5}">
                      <a16:colId xmlns:a16="http://schemas.microsoft.com/office/drawing/2014/main" val="2740920428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2571555825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4145677998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324043094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3346812308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2918662480"/>
                    </a:ext>
                  </a:extLst>
                </a:gridCol>
              </a:tblGrid>
              <a:tr h="329258">
                <a:tc>
                  <a:txBody>
                    <a:bodyPr/>
                    <a:lstStyle/>
                    <a:p>
                      <a:pPr algn="l" fontAlgn="ctr"/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Технология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Основные процессы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Продукт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Ni,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Cu, %</a:t>
                      </a:r>
                      <a:endParaRPr lang="en-US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Fe, %</a:t>
                      </a:r>
                      <a:endParaRPr lang="en-US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S, %</a:t>
                      </a:r>
                      <a:endParaRPr lang="en-US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МПГ, г/т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0755008"/>
                  </a:ext>
                </a:extLst>
              </a:tr>
              <a:tr h="81142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Пирротиновый концентрат (Норникель)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автоклавное сернокислотное выщелачивание, осаждение 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ЦМ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окисление сульфидов ЦМ и железа, высокотемпературный гидролиз железа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сульфиды ЦМ, оксиды и гидроксиды железа - флотация, штейновая плавка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0,5-1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0,1-0,2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40-45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23-27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1-2 г/т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1164309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830436"/>
              </p:ext>
            </p:extLst>
          </p:nvPr>
        </p:nvGraphicFramePr>
        <p:xfrm>
          <a:off x="3352800" y="2869003"/>
          <a:ext cx="8075675" cy="232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3621">
                  <a:extLst>
                    <a:ext uri="{9D8B030D-6E8A-4147-A177-3AD203B41FA5}">
                      <a16:colId xmlns:a16="http://schemas.microsoft.com/office/drawing/2014/main" val="2151126423"/>
                    </a:ext>
                  </a:extLst>
                </a:gridCol>
                <a:gridCol w="1184988">
                  <a:extLst>
                    <a:ext uri="{9D8B030D-6E8A-4147-A177-3AD203B41FA5}">
                      <a16:colId xmlns:a16="http://schemas.microsoft.com/office/drawing/2014/main" val="3721243267"/>
                    </a:ext>
                  </a:extLst>
                </a:gridCol>
                <a:gridCol w="1195840">
                  <a:extLst>
                    <a:ext uri="{9D8B030D-6E8A-4147-A177-3AD203B41FA5}">
                      <a16:colId xmlns:a16="http://schemas.microsoft.com/office/drawing/2014/main" val="2627118272"/>
                    </a:ext>
                  </a:extLst>
                </a:gridCol>
                <a:gridCol w="1715311">
                  <a:extLst>
                    <a:ext uri="{9D8B030D-6E8A-4147-A177-3AD203B41FA5}">
                      <a16:colId xmlns:a16="http://schemas.microsoft.com/office/drawing/2014/main" val="2943175142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2571555825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4145677998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324043094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3346812308"/>
                    </a:ext>
                  </a:extLst>
                </a:gridCol>
                <a:gridCol w="513183">
                  <a:extLst>
                    <a:ext uri="{9D8B030D-6E8A-4147-A177-3AD203B41FA5}">
                      <a16:colId xmlns:a16="http://schemas.microsoft.com/office/drawing/2014/main" val="2918662480"/>
                    </a:ext>
                  </a:extLst>
                </a:gridCol>
              </a:tblGrid>
              <a:tr h="148153">
                <a:tc>
                  <a:txBody>
                    <a:bodyPr/>
                    <a:lstStyle/>
                    <a:p>
                      <a:pPr algn="l" fontAlgn="ctr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Технология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Основные процессы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Продукт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Ni, %</a:t>
                      </a:r>
                      <a:endParaRPr lang="en-US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Cu,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Fe,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МПГ, 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3157149"/>
                  </a:ext>
                </a:extLst>
              </a:tr>
              <a:tr h="29630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Файнштейн (</a:t>
                      </a:r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Impala Platinum, Northam, Sibanie Stillwater)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противоточное автоклавное и атмосферное  выщелачивание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окисление металлов  и сульфидов с извлечением в раствор ЦМ и серы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сульфидный остаток 50-60 % МПГ - на аффинаж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42-48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25-33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2-3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20-25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0,2-0,3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2234404"/>
                  </a:ext>
                </a:extLst>
              </a:tr>
              <a:tr h="29630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Магнитная фракция (</a:t>
                      </a:r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Anglo-American Platinum</a:t>
                      </a:r>
                      <a:endParaRPr lang="en-US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64-70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4-6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10-15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5-10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1,3-2,3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4341872"/>
                  </a:ext>
                </a:extLst>
              </a:tr>
              <a:tr h="29630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Файнштейн ( </a:t>
                      </a:r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Norilsk Nickel Harjavalta)</a:t>
                      </a:r>
                      <a:endParaRPr lang="en-US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сульфидный медный остаток - на штейновую плавку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38-50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22-40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2-4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12-24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0,02-0,04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1102995"/>
                  </a:ext>
                </a:extLst>
              </a:tr>
              <a:tr h="59261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Никелевый порошок (Норникель)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атмосферное хлорное выщелачивание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окисление металлов  с переводом в раствор ЦМ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остаток на основе оксида никеля, МПГ -  металлы - флотация, жидкофазная сульфатизация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85-87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5-7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3-5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&lt;0,1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0,05-0,64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6735379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9785076" y="5284768"/>
            <a:ext cx="164339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ru-RU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Файнштейны и промпродукты:</a:t>
            </a:r>
            <a:endParaRPr lang="ru-RU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0249947" y="1837168"/>
            <a:ext cx="11785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ctr"/>
            <a:r>
              <a:rPr lang="ru-RU" sz="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Рудные концентраты</a:t>
            </a:r>
            <a:endParaRPr lang="ru-RU" sz="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75046" y="2109459"/>
            <a:ext cx="81534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 algn="just">
              <a:spcAft>
                <a:spcPts val="6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Образование гидроксидов железа с высокоразвитой поверхностью способствует повышению потерь МПГ с отвальными хвостами флотации. Разрабатываются новые технологии, обеспечивающие высокое извлечение МПГ за счет формирования хорошо раскристаллизованных осадков – гематита и ярозитов. </a:t>
            </a:r>
          </a:p>
        </p:txBody>
      </p:sp>
    </p:spTree>
    <p:extLst>
      <p:ext uri="{BB962C8B-B14F-4D97-AF65-F5344CB8AC3E}">
        <p14:creationId xmlns:p14="http://schemas.microsoft.com/office/powerpoint/2010/main" val="209192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1C66D49A-0817-78AA-68E9-6AC0B042CE73}"/>
              </a:ext>
            </a:extLst>
          </p:cNvPr>
          <p:cNvSpPr/>
          <p:nvPr/>
        </p:nvSpPr>
        <p:spPr>
          <a:xfrm>
            <a:off x="0" y="504175"/>
            <a:ext cx="3474000" cy="59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  <a:sym typeface="Tahom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9" y="125658"/>
            <a:ext cx="8083222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dirty="0" smtClean="0">
                <a:solidFill>
                  <a:srgbClr val="7F7F7F"/>
                </a:solidFill>
              </a:rPr>
              <a:t>Подготовка МПГ-содержащих промпродуктов </a:t>
            </a:r>
            <a:r>
              <a:rPr lang="en-US" sz="1500" b="1" dirty="0" smtClean="0">
                <a:solidFill>
                  <a:srgbClr val="7F7F7F"/>
                </a:solidFill>
              </a:rPr>
              <a:t>Cu-Ni </a:t>
            </a:r>
            <a:r>
              <a:rPr lang="ru-RU" sz="1500" b="1" dirty="0" smtClean="0">
                <a:solidFill>
                  <a:srgbClr val="7F7F7F"/>
                </a:solidFill>
              </a:rPr>
              <a:t>производства к аффинажу</a:t>
            </a:r>
            <a:endParaRPr lang="ru-RU" sz="1500" b="1" dirty="0">
              <a:solidFill>
                <a:srgbClr val="7F7F7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400" y="903079"/>
            <a:ext cx="2817282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остатки выщелачивания файнштейна, МФ файнштейна;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шламы электрорафинирования меди и никеля;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остатки </a:t>
            </a:r>
            <a:r>
              <a:rPr lang="ru-RU" sz="1100" dirty="0">
                <a:solidFill>
                  <a:schemeClr val="tx1"/>
                </a:solidFill>
              </a:rPr>
              <a:t>синтеза </a:t>
            </a:r>
            <a:r>
              <a:rPr lang="ru-RU" sz="1100" dirty="0" err="1">
                <a:solidFill>
                  <a:schemeClr val="tx1"/>
                </a:solidFill>
              </a:rPr>
              <a:t>пентакарбонила</a:t>
            </a:r>
            <a:r>
              <a:rPr lang="ru-RU" sz="1100" dirty="0">
                <a:solidFill>
                  <a:schemeClr val="tx1"/>
                </a:solidFill>
              </a:rPr>
              <a:t> </a:t>
            </a:r>
            <a:r>
              <a:rPr lang="ru-RU" sz="1100" dirty="0" smtClean="0">
                <a:solidFill>
                  <a:schemeClr val="tx1"/>
                </a:solidFill>
              </a:rPr>
              <a:t>никеля;</a:t>
            </a:r>
            <a:endParaRPr lang="en-US" sz="1100" dirty="0" smtClean="0">
              <a:solidFill>
                <a:schemeClr val="tx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остатки хлорного выщелачивания никелевого порошка.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041" y="2614169"/>
            <a:ext cx="3342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Процессы:</a:t>
            </a:r>
            <a:endParaRPr lang="ru-RU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60400" y="2888885"/>
            <a:ext cx="2913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сложные комбинированные схемы, сочетающие пиро- и гидрометаллургические процессы:</a:t>
            </a:r>
          </a:p>
          <a:p>
            <a:pPr marL="354013" indent="-171450">
              <a:spcAft>
                <a:spcPts val="600"/>
              </a:spcAft>
              <a:buFont typeface="Tahoma" panose="020B0604030504040204" pitchFamily="34" charset="0"/>
              <a:buChar char="⁻"/>
            </a:pPr>
            <a:r>
              <a:rPr lang="ru-RU" sz="1100" dirty="0" smtClean="0"/>
              <a:t>автоклавное сернокислотное окислительное выщелачивание (заводы ЮАР, </a:t>
            </a:r>
            <a:r>
              <a:rPr lang="en-US" sz="1100" dirty="0" smtClean="0"/>
              <a:t>Vale</a:t>
            </a:r>
            <a:r>
              <a:rPr lang="ru-RU" sz="1100" dirty="0" smtClean="0"/>
              <a:t>);</a:t>
            </a:r>
          </a:p>
          <a:p>
            <a:pPr marL="354013" indent="-171450">
              <a:spcAft>
                <a:spcPts val="600"/>
              </a:spcAft>
              <a:buFont typeface="Tahoma" panose="020B0604030504040204" pitchFamily="34" charset="0"/>
              <a:buChar char="⁻"/>
            </a:pPr>
            <a:r>
              <a:rPr lang="ru-RU" sz="1100" dirty="0" smtClean="0"/>
              <a:t>окислительный обжиг (Норникель);</a:t>
            </a:r>
          </a:p>
          <a:p>
            <a:pPr marL="354013" indent="-171450">
              <a:spcAft>
                <a:spcPts val="600"/>
              </a:spcAft>
              <a:buFont typeface="Tahoma" panose="020B0604030504040204" pitchFamily="34" charset="0"/>
              <a:buChar char="⁻"/>
            </a:pPr>
            <a:r>
              <a:rPr lang="ru-RU" sz="1100" dirty="0" smtClean="0"/>
              <a:t>восстановительная анодная плавка (Норникель);</a:t>
            </a:r>
            <a:endParaRPr lang="ru-RU" sz="1100" dirty="0"/>
          </a:p>
          <a:p>
            <a:pPr marL="354013" indent="-171450">
              <a:spcAft>
                <a:spcPts val="600"/>
              </a:spcAft>
              <a:buFont typeface="Tahoma" panose="020B0604030504040204" pitchFamily="34" charset="0"/>
              <a:buChar char="⁻"/>
            </a:pPr>
            <a:r>
              <a:rPr lang="ru-RU" sz="1100" dirty="0" smtClean="0"/>
              <a:t>электрорафинирования анодов (Норникель);</a:t>
            </a:r>
          </a:p>
          <a:p>
            <a:pPr marL="354013" indent="-171450">
              <a:spcAft>
                <a:spcPts val="600"/>
              </a:spcAft>
              <a:buFont typeface="Tahoma" panose="020B0604030504040204" pitchFamily="34" charset="0"/>
              <a:buChar char="⁻"/>
            </a:pPr>
            <a:r>
              <a:rPr lang="ru-RU" sz="1100" dirty="0" smtClean="0"/>
              <a:t>флотация (Норникель);</a:t>
            </a:r>
          </a:p>
          <a:p>
            <a:pPr marL="354013" indent="-171450">
              <a:spcAft>
                <a:spcPts val="600"/>
              </a:spcAft>
              <a:buFont typeface="Tahoma" panose="020B0604030504040204" pitchFamily="34" charset="0"/>
              <a:buChar char="⁻"/>
            </a:pPr>
            <a:r>
              <a:rPr lang="ru-RU" sz="1100" dirty="0" smtClean="0"/>
              <a:t>жидкофазная сульфатизация (Норникель);</a:t>
            </a:r>
          </a:p>
          <a:p>
            <a:pPr marL="354013" indent="-171450">
              <a:spcAft>
                <a:spcPts val="600"/>
              </a:spcAft>
              <a:buFont typeface="Tahoma" panose="020B0604030504040204" pitchFamily="34" charset="0"/>
              <a:buChar char="⁻"/>
            </a:pPr>
            <a:r>
              <a:rPr lang="ru-RU" sz="1100" dirty="0" smtClean="0">
                <a:solidFill>
                  <a:schemeClr val="tx1"/>
                </a:solidFill>
              </a:rPr>
              <a:t>гидрохлорирование (Канада, </a:t>
            </a:r>
            <a:r>
              <a:rPr lang="en-US" sz="1100" dirty="0" smtClean="0">
                <a:solidFill>
                  <a:schemeClr val="tx1"/>
                </a:solidFill>
              </a:rPr>
              <a:t>Vale)</a:t>
            </a:r>
            <a:r>
              <a:rPr lang="ru-RU" sz="1100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0916" y="5092778"/>
            <a:ext cx="46543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102823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2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spcAft>
                <a:spcPts val="600"/>
              </a:spcAft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dirty="0"/>
              <a:t>Примеры МПГ-содержащих промпродуктов </a:t>
            </a:r>
            <a:r>
              <a:rPr lang="en-US" dirty="0"/>
              <a:t>Cu-Ni </a:t>
            </a:r>
            <a:r>
              <a:rPr lang="ru-RU" dirty="0" smtClean="0"/>
              <a:t>производства и схем переработки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685592" y="610522"/>
            <a:ext cx="7468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Целью подготовки промпродуктов металлургического производства, обогащенных платиновыми металлами является:</a:t>
            </a:r>
            <a:endParaRPr lang="ru-RU" sz="1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034400" y="1053525"/>
            <a:ext cx="730999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максимально полное отделение примесей  цветных металлов и халькогенов при концентрировании МПГ в нерастворимых остатках;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сокращение доли нерастворимых кислотах примесей (силикаты, ферриты и др.)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отделение МСП от платины, палладия и золота (РФ).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041" y="610522"/>
            <a:ext cx="3764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Сырье:</a:t>
            </a:r>
            <a:endParaRPr lang="ru-RU" sz="1200" b="1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049176"/>
              </p:ext>
            </p:extLst>
          </p:nvPr>
        </p:nvGraphicFramePr>
        <p:xfrm>
          <a:off x="3685592" y="1989487"/>
          <a:ext cx="7658797" cy="303038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21317">
                  <a:extLst>
                    <a:ext uri="{9D8B030D-6E8A-4147-A177-3AD203B41FA5}">
                      <a16:colId xmlns:a16="http://schemas.microsoft.com/office/drawing/2014/main" val="3483270797"/>
                    </a:ext>
                  </a:extLst>
                </a:gridCol>
                <a:gridCol w="1533636">
                  <a:extLst>
                    <a:ext uri="{9D8B030D-6E8A-4147-A177-3AD203B41FA5}">
                      <a16:colId xmlns:a16="http://schemas.microsoft.com/office/drawing/2014/main" val="562157260"/>
                    </a:ext>
                  </a:extLst>
                </a:gridCol>
                <a:gridCol w="1695784">
                  <a:extLst>
                    <a:ext uri="{9D8B030D-6E8A-4147-A177-3AD203B41FA5}">
                      <a16:colId xmlns:a16="http://schemas.microsoft.com/office/drawing/2014/main" val="492007152"/>
                    </a:ext>
                  </a:extLst>
                </a:gridCol>
                <a:gridCol w="602015">
                  <a:extLst>
                    <a:ext uri="{9D8B030D-6E8A-4147-A177-3AD203B41FA5}">
                      <a16:colId xmlns:a16="http://schemas.microsoft.com/office/drawing/2014/main" val="821930872"/>
                    </a:ext>
                  </a:extLst>
                </a:gridCol>
                <a:gridCol w="602015">
                  <a:extLst>
                    <a:ext uri="{9D8B030D-6E8A-4147-A177-3AD203B41FA5}">
                      <a16:colId xmlns:a16="http://schemas.microsoft.com/office/drawing/2014/main" val="2982216082"/>
                    </a:ext>
                  </a:extLst>
                </a:gridCol>
                <a:gridCol w="602015">
                  <a:extLst>
                    <a:ext uri="{9D8B030D-6E8A-4147-A177-3AD203B41FA5}">
                      <a16:colId xmlns:a16="http://schemas.microsoft.com/office/drawing/2014/main" val="2255959243"/>
                    </a:ext>
                  </a:extLst>
                </a:gridCol>
                <a:gridCol w="602015">
                  <a:extLst>
                    <a:ext uri="{9D8B030D-6E8A-4147-A177-3AD203B41FA5}">
                      <a16:colId xmlns:a16="http://schemas.microsoft.com/office/drawing/2014/main" val="2909127189"/>
                    </a:ext>
                  </a:extLst>
                </a:gridCol>
              </a:tblGrid>
              <a:tr h="269125">
                <a:tc>
                  <a:txBody>
                    <a:bodyPr/>
                    <a:lstStyle/>
                    <a:p>
                      <a:pPr algn="ctr" fontAlgn="ctr"/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Технология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Продукт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Ni,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Cu, %</a:t>
                      </a:r>
                      <a:endParaRPr lang="en-US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МПГ, 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%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5645746"/>
                  </a:ext>
                </a:extLst>
              </a:tr>
              <a:tr h="54046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Шламы электрофинирования 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никеля (Норникель</a:t>
                      </a:r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)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жидкофазная сульфатизация-атмосферное выщелачивание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сульфидно-металлический остаток, силикаты (~50 % МПГ)  - на аффинаж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21,2-27,4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18,5-22,8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16,1-23,2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5-8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95146"/>
                  </a:ext>
                </a:extLst>
              </a:tr>
              <a:tr h="72061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Концентрат флотации остатка хлорного выщелачивания никелевого порошка (Норникель)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2-4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1-2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10-15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15-25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481750"/>
                  </a:ext>
                </a:extLst>
              </a:tr>
              <a:tr h="83254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Шламы </a:t>
                      </a:r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электрорафинирования меди (Норникель)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обжиг, атмосферное выщелачивание, анодная плавка, электролиз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остаток на основе сульфидов никеля и силикатов, МПГ - металлы и оксиды - на анодную плавку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20-25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20-25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2,76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2,5-4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4934512"/>
                  </a:ext>
                </a:extLst>
              </a:tr>
              <a:tr h="66763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Остатки синтеза пентакарбонила никеля (Vale)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b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сульфидно-металлический остаток, силикаты (~50 % МПГ)  - на аффинаж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6000" marR="36000" marT="7408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5741506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3685592" y="5361894"/>
            <a:ext cx="7642203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</a:pPr>
            <a:r>
              <a:rPr lang="ru-RU" sz="1200" dirty="0" smtClean="0"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Высокая стоимость ДМ, небольшой объем сырья и продукции, высокие извлечения и отсутствие отвальных продуктов сдерживают разработку и внедрение новых технологических схем ввиду невысокой экономической эффективности мероприятий. </a:t>
            </a:r>
          </a:p>
        </p:txBody>
      </p:sp>
    </p:spTree>
    <p:extLst>
      <p:ext uri="{BB962C8B-B14F-4D97-AF65-F5344CB8AC3E}">
        <p14:creationId xmlns:p14="http://schemas.microsoft.com/office/powerpoint/2010/main" val="36332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C66D49A-0817-78AA-68E9-6AC0B042CE73}"/>
              </a:ext>
            </a:extLst>
          </p:cNvPr>
          <p:cNvSpPr/>
          <p:nvPr/>
        </p:nvSpPr>
        <p:spPr>
          <a:xfrm>
            <a:off x="-103" y="495300"/>
            <a:ext cx="3474000" cy="59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  <a:sym typeface="Tahom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9" y="125658"/>
            <a:ext cx="8083222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dirty="0" smtClean="0">
                <a:solidFill>
                  <a:srgbClr val="7F7F7F"/>
                </a:solidFill>
              </a:rPr>
              <a:t>Обжиг промпродуктов. Окисление МПГ</a:t>
            </a:r>
            <a:endParaRPr lang="ru-RU" sz="1500" b="1" dirty="0">
              <a:solidFill>
                <a:srgbClr val="7F7F7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9836" y="600414"/>
            <a:ext cx="3155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Окислительный обжиг:</a:t>
            </a:r>
            <a:endParaRPr lang="ru-RU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20970" y="941073"/>
            <a:ext cx="28800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Никелевый концентрат флотации файнштейна - НКФФ </a:t>
            </a:r>
            <a:r>
              <a:rPr lang="ru-RU" sz="1100" dirty="0">
                <a:solidFill>
                  <a:schemeClr val="tx1"/>
                </a:solidFill>
              </a:rPr>
              <a:t>(РФ, </a:t>
            </a:r>
            <a:r>
              <a:rPr lang="ru-RU" sz="1100" dirty="0" smtClean="0"/>
              <a:t>Норникель, </a:t>
            </a:r>
            <a:r>
              <a:rPr lang="en-US" sz="1100" dirty="0" smtClean="0"/>
              <a:t>Vale</a:t>
            </a:r>
            <a:r>
              <a:rPr lang="ru-RU" sz="1100" dirty="0" smtClean="0"/>
              <a:t>, Канада)</a:t>
            </a:r>
          </a:p>
          <a:p>
            <a:pPr marL="358775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Медный концентрат флотации </a:t>
            </a:r>
            <a:r>
              <a:rPr lang="ru-RU" sz="1100" dirty="0" smtClean="0">
                <a:solidFill>
                  <a:schemeClr val="tx1"/>
                </a:solidFill>
              </a:rPr>
              <a:t>файнштейна - МКФФ(РФ, </a:t>
            </a:r>
            <a:r>
              <a:rPr lang="ru-RU" sz="1100" dirty="0"/>
              <a:t>Норникель</a:t>
            </a:r>
            <a:r>
              <a:rPr lang="ru-RU" sz="1100" dirty="0" smtClean="0">
                <a:solidFill>
                  <a:schemeClr val="tx1"/>
                </a:solidFill>
              </a:rPr>
              <a:t>, проект)</a:t>
            </a:r>
          </a:p>
          <a:p>
            <a:pPr marL="358775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Медные шламы (РФ, Норникель)</a:t>
            </a:r>
          </a:p>
          <a:p>
            <a:pPr marL="358775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/>
              <a:t>Промпродукты аффинажа, </a:t>
            </a:r>
            <a:br>
              <a:rPr lang="ru-RU" sz="1100" dirty="0" smtClean="0"/>
            </a:br>
            <a:r>
              <a:rPr lang="ru-RU" sz="1100" dirty="0" smtClean="0"/>
              <a:t>концентраты МПГ(РФ, Норникель, КЗЦМ)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308" y="2975217"/>
            <a:ext cx="3280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/>
              <a:t>Восстановительный обжиг:</a:t>
            </a:r>
            <a:endParaRPr lang="ru-RU" sz="1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220969" y="3315876"/>
            <a:ext cx="2880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/>
              <a:t>Огарок никелевого концентрата флотации файнштейна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5663" y="4079352"/>
            <a:ext cx="173603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ru-RU" sz="800" dirty="0" smtClean="0">
                <a:solidFill>
                  <a:schemeClr val="tx1"/>
                </a:solidFill>
              </a:rPr>
              <a:t>Оксид родия (1) в огарке обжига МПГ</a:t>
            </a:r>
            <a:r>
              <a:rPr lang="en-US" sz="800" dirty="0" smtClean="0">
                <a:solidFill>
                  <a:schemeClr val="tx1"/>
                </a:solidFill>
              </a:rPr>
              <a:t> </a:t>
            </a:r>
            <a:r>
              <a:rPr lang="ru-RU" sz="800" dirty="0" smtClean="0">
                <a:solidFill>
                  <a:schemeClr val="tx1"/>
                </a:solidFill>
              </a:rPr>
              <a:t>промпродукта </a:t>
            </a:r>
            <a:r>
              <a:rPr lang="ru-RU" sz="800" dirty="0">
                <a:latin typeface="Tahoma" panose="020B0604030504040204" pitchFamily="34" charset="0"/>
              </a:rPr>
              <a:t>(900 </a:t>
            </a:r>
            <a:r>
              <a:rPr lang="ru-RU" sz="800" dirty="0">
                <a:latin typeface="Tahoma" panose="020B0604030504040204" pitchFamily="34" charset="0"/>
                <a:sym typeface="Symbol" panose="05050102010706020507" pitchFamily="18" charset="2"/>
              </a:rPr>
              <a:t>С</a:t>
            </a:r>
            <a:r>
              <a:rPr lang="ru-RU" sz="800" dirty="0" smtClean="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  <a:endParaRPr lang="ru-RU" sz="800" dirty="0" smtClean="0">
              <a:solidFill>
                <a:schemeClr val="tx1"/>
              </a:solidFill>
            </a:endParaRP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3" b="2309"/>
          <a:stretch/>
        </p:blipFill>
        <p:spPr>
          <a:xfrm>
            <a:off x="9519785" y="504825"/>
            <a:ext cx="1872000" cy="1693927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9453062" y="2168988"/>
            <a:ext cx="19185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 smtClean="0">
                <a:latin typeface="Tahoma" panose="020B0604030504040204" pitchFamily="34" charset="0"/>
              </a:rPr>
              <a:t>«Скорлупка» </a:t>
            </a:r>
            <a:r>
              <a:rPr lang="en-US" sz="800" dirty="0" smtClean="0">
                <a:latin typeface="Tahoma" panose="020B0604030504040204" pitchFamily="34" charset="0"/>
              </a:rPr>
              <a:t>PdO </a:t>
            </a:r>
            <a:r>
              <a:rPr lang="ru-RU" sz="800" dirty="0" smtClean="0">
                <a:latin typeface="Tahoma" panose="020B0604030504040204" pitchFamily="34" charset="0"/>
              </a:rPr>
              <a:t>в продуктах хлорирования </a:t>
            </a:r>
            <a:r>
              <a:rPr lang="en-US" sz="800" dirty="0" smtClean="0">
                <a:latin typeface="Tahoma" panose="020B0604030504040204" pitchFamily="34" charset="0"/>
              </a:rPr>
              <a:t>Pt-Pd</a:t>
            </a:r>
            <a:r>
              <a:rPr lang="ru-RU" sz="800" dirty="0" smtClean="0">
                <a:latin typeface="Tahoma" panose="020B0604030504040204" pitchFamily="34" charset="0"/>
              </a:rPr>
              <a:t> огарков (650</a:t>
            </a:r>
            <a:r>
              <a:rPr lang="ru-RU" sz="800" dirty="0" smtClean="0">
                <a:latin typeface="Tahoma" panose="020B0604030504040204" pitchFamily="34" charset="0"/>
                <a:sym typeface="Symbol" panose="05050102010706020507" pitchFamily="18" charset="2"/>
              </a:rPr>
              <a:t></a:t>
            </a:r>
            <a:r>
              <a:rPr lang="ru-RU" sz="800" dirty="0">
                <a:latin typeface="Tahoma" panose="020B0604030504040204" pitchFamily="34" charset="0"/>
                <a:sym typeface="Symbol" panose="05050102010706020507" pitchFamily="18" charset="2"/>
              </a:rPr>
              <a:t>С)</a:t>
            </a:r>
            <a:endParaRPr lang="ru-RU" sz="800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5" r="1672" b="5377"/>
          <a:stretch/>
        </p:blipFill>
        <p:spPr bwMode="auto">
          <a:xfrm>
            <a:off x="9519785" y="2477778"/>
            <a:ext cx="1872000" cy="1631338"/>
          </a:xfrm>
          <a:prstGeom prst="rect">
            <a:avLst/>
          </a:prstGeom>
          <a:noFill/>
        </p:spPr>
      </p:pic>
      <p:grpSp>
        <p:nvGrpSpPr>
          <p:cNvPr id="2" name="Группа 1"/>
          <p:cNvGrpSpPr/>
          <p:nvPr/>
        </p:nvGrpSpPr>
        <p:grpSpPr>
          <a:xfrm>
            <a:off x="7562678" y="4388142"/>
            <a:ext cx="3829107" cy="1697065"/>
            <a:chOff x="7562678" y="4426116"/>
            <a:chExt cx="3829107" cy="1697065"/>
          </a:xfrm>
        </p:grpSpPr>
        <p:pic>
          <p:nvPicPr>
            <p:cNvPr id="26" name="Рисунок 2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628" r="10714" b="4436"/>
            <a:stretch/>
          </p:blipFill>
          <p:spPr bwMode="auto">
            <a:xfrm>
              <a:off x="9519785" y="4426116"/>
              <a:ext cx="1872000" cy="169706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24" name="Рисунок 2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26" t="18901" r="14453" b="12295"/>
            <a:stretch/>
          </p:blipFill>
          <p:spPr bwMode="auto">
            <a:xfrm>
              <a:off x="7562678" y="4426116"/>
              <a:ext cx="1953411" cy="1695600"/>
            </a:xfrm>
            <a:prstGeom prst="rect">
              <a:avLst/>
            </a:prstGeom>
            <a:noFill/>
          </p:spPr>
        </p:pic>
      </p:grpSp>
      <p:sp>
        <p:nvSpPr>
          <p:cNvPr id="27" name="Прямоугольник 26"/>
          <p:cNvSpPr/>
          <p:nvPr/>
        </p:nvSpPr>
        <p:spPr>
          <a:xfrm>
            <a:off x="7858125" y="6055443"/>
            <a:ext cx="34435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800" dirty="0" smtClean="0">
                <a:latin typeface="Tahoma" panose="020B0604030504040204" pitchFamily="34" charset="0"/>
              </a:rPr>
              <a:t>Твердофазные превращения </a:t>
            </a:r>
            <a:r>
              <a:rPr lang="ru-RU" sz="800" dirty="0" smtClean="0">
                <a:latin typeface="Tahoma" panose="020B0604030504040204" pitchFamily="34" charset="0"/>
                <a:sym typeface="Symbol" panose="05050102010706020507" pitchFamily="18" charset="2"/>
              </a:rPr>
              <a:t>конгломерата металлических частиц МПГ при окислительном обжиге </a:t>
            </a:r>
            <a:r>
              <a:rPr lang="ru-RU" sz="800" dirty="0">
                <a:solidFill>
                  <a:schemeClr val="tx1"/>
                </a:solidFill>
              </a:rPr>
              <a:t>МПГ </a:t>
            </a:r>
            <a:r>
              <a:rPr lang="ru-RU" sz="800" dirty="0" smtClean="0">
                <a:solidFill>
                  <a:schemeClr val="tx1"/>
                </a:solidFill>
              </a:rPr>
              <a:t>промпродукта</a:t>
            </a:r>
            <a:r>
              <a:rPr lang="ru-RU" sz="800" dirty="0" smtClean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ru-RU" sz="800" dirty="0">
                <a:latin typeface="Tahoma" panose="020B0604030504040204" pitchFamily="34" charset="0"/>
              </a:rPr>
              <a:t>(900 </a:t>
            </a:r>
            <a:r>
              <a:rPr lang="ru-RU" sz="800" dirty="0">
                <a:latin typeface="Tahoma" panose="020B0604030504040204" pitchFamily="34" charset="0"/>
                <a:sym typeface="Symbol" panose="05050102010706020507" pitchFamily="18" charset="2"/>
              </a:rPr>
              <a:t>С)</a:t>
            </a:r>
            <a:endParaRPr lang="ru-RU" sz="800" dirty="0"/>
          </a:p>
        </p:txBody>
      </p:sp>
      <p:sp>
        <p:nvSpPr>
          <p:cNvPr id="29" name="TextBox 28"/>
          <p:cNvSpPr txBox="1"/>
          <p:nvPr/>
        </p:nvSpPr>
        <p:spPr>
          <a:xfrm>
            <a:off x="3957136" y="2035531"/>
            <a:ext cx="54959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L="0" marR="0" indent="0" algn="l" defTabSz="102823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2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spcAft>
                <a:spcPts val="600"/>
              </a:spcAft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/>
            <a:r>
              <a:rPr lang="ru-RU" sz="800" dirty="0" smtClean="0"/>
              <a:t>Примеры платиносодержащих продуктов, поступающих на окислительный обжиг</a:t>
            </a:r>
            <a:endParaRPr lang="ru-RU" sz="8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09171"/>
              </p:ext>
            </p:extLst>
          </p:nvPr>
        </p:nvGraphicFramePr>
        <p:xfrm>
          <a:off x="3593837" y="600414"/>
          <a:ext cx="5859222" cy="13889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9447">
                  <a:extLst>
                    <a:ext uri="{9D8B030D-6E8A-4147-A177-3AD203B41FA5}">
                      <a16:colId xmlns:a16="http://schemas.microsoft.com/office/drawing/2014/main" val="1467251188"/>
                    </a:ext>
                  </a:extLst>
                </a:gridCol>
                <a:gridCol w="1007703">
                  <a:extLst>
                    <a:ext uri="{9D8B030D-6E8A-4147-A177-3AD203B41FA5}">
                      <a16:colId xmlns:a16="http://schemas.microsoft.com/office/drawing/2014/main" val="1265296824"/>
                    </a:ext>
                  </a:extLst>
                </a:gridCol>
                <a:gridCol w="566509">
                  <a:extLst>
                    <a:ext uri="{9D8B030D-6E8A-4147-A177-3AD203B41FA5}">
                      <a16:colId xmlns:a16="http://schemas.microsoft.com/office/drawing/2014/main" val="3420433271"/>
                    </a:ext>
                  </a:extLst>
                </a:gridCol>
                <a:gridCol w="566509">
                  <a:extLst>
                    <a:ext uri="{9D8B030D-6E8A-4147-A177-3AD203B41FA5}">
                      <a16:colId xmlns:a16="http://schemas.microsoft.com/office/drawing/2014/main" val="701153606"/>
                    </a:ext>
                  </a:extLst>
                </a:gridCol>
                <a:gridCol w="523198">
                  <a:extLst>
                    <a:ext uri="{9D8B030D-6E8A-4147-A177-3AD203B41FA5}">
                      <a16:colId xmlns:a16="http://schemas.microsoft.com/office/drawing/2014/main" val="1161520403"/>
                    </a:ext>
                  </a:extLst>
                </a:gridCol>
                <a:gridCol w="609820">
                  <a:extLst>
                    <a:ext uri="{9D8B030D-6E8A-4147-A177-3AD203B41FA5}">
                      <a16:colId xmlns:a16="http://schemas.microsoft.com/office/drawing/2014/main" val="4169966935"/>
                    </a:ext>
                  </a:extLst>
                </a:gridCol>
                <a:gridCol w="566509">
                  <a:extLst>
                    <a:ext uri="{9D8B030D-6E8A-4147-A177-3AD203B41FA5}">
                      <a16:colId xmlns:a16="http://schemas.microsoft.com/office/drawing/2014/main" val="1415304298"/>
                    </a:ext>
                  </a:extLst>
                </a:gridCol>
                <a:gridCol w="566509">
                  <a:extLst>
                    <a:ext uri="{9D8B030D-6E8A-4147-A177-3AD203B41FA5}">
                      <a16:colId xmlns:a16="http://schemas.microsoft.com/office/drawing/2014/main" val="4025641004"/>
                    </a:ext>
                  </a:extLst>
                </a:gridCol>
                <a:gridCol w="566509">
                  <a:extLst>
                    <a:ext uri="{9D8B030D-6E8A-4147-A177-3AD203B41FA5}">
                      <a16:colId xmlns:a16="http://schemas.microsoft.com/office/drawing/2014/main" val="636198594"/>
                    </a:ext>
                  </a:extLst>
                </a:gridCol>
                <a:gridCol w="566509">
                  <a:extLst>
                    <a:ext uri="{9D8B030D-6E8A-4147-A177-3AD203B41FA5}">
                      <a16:colId xmlns:a16="http://schemas.microsoft.com/office/drawing/2014/main" val="295159907"/>
                    </a:ext>
                  </a:extLst>
                </a:gridCol>
              </a:tblGrid>
              <a:tr h="214924">
                <a:tc>
                  <a:txBody>
                    <a:bodyPr/>
                    <a:lstStyle/>
                    <a:p>
                      <a:pPr algn="ctr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t,</a:t>
                      </a:r>
                      <a:r>
                        <a:rPr lang="en-US" sz="1000" b="0" i="0" u="none" strike="noStrike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sym typeface="Symbol" panose="05050102010706020507" pitchFamily="18" charset="2"/>
                        </a:rPr>
                        <a:t>C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Cu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Ni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Fe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Se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Te</a:t>
                      </a:r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%</a:t>
                      </a:r>
                      <a:endParaRPr lang="en-US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МПГ, %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3324402"/>
                  </a:ext>
                </a:extLst>
              </a:tr>
              <a:tr h="21492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МКФФ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900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67-69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4-5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3-5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22-23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5-20 г/т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240605"/>
                  </a:ext>
                </a:extLst>
              </a:tr>
              <a:tr h="21492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НКФФ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900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2-3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68-70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2,25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0,01-0,04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250855"/>
                  </a:ext>
                </a:extLst>
              </a:tr>
              <a:tr h="30188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Pt-Pd </a:t>
                      </a:r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концентрат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600-700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0,2-0,5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0,2-0,5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0,2-0,5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0,5-1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1-3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1-3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28-50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964623"/>
                  </a:ext>
                </a:extLst>
              </a:tr>
              <a:tr h="21492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Rh </a:t>
                      </a:r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концентрат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300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12-30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&lt;0,5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&lt;0,5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10-15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1-3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1-3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20-30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0041301"/>
                  </a:ext>
                </a:extLst>
              </a:tr>
              <a:tr h="21492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Медный шлам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750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20-25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20-25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0,5-1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2,76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8,63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1,28</a:t>
                      </a:r>
                      <a:endParaRPr lang="ru-RU" sz="10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2,5-4</a:t>
                      </a:r>
                      <a:endParaRPr lang="ru-RU" sz="10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4333232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550247" y="2338265"/>
            <a:ext cx="561280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sz="1200" b="1" dirty="0" smtClean="0">
                <a:solidFill>
                  <a:schemeClr val="tx1"/>
                </a:solidFill>
              </a:rPr>
              <a:t>Процессы окислительного обжига характеризуются:</a:t>
            </a:r>
          </a:p>
          <a:p>
            <a:pPr marL="44767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формированием летучих оксидов </a:t>
            </a:r>
            <a:r>
              <a:rPr lang="en-US" sz="1100" dirty="0" smtClean="0">
                <a:solidFill>
                  <a:schemeClr val="tx1"/>
                </a:solidFill>
              </a:rPr>
              <a:t>Ru, </a:t>
            </a:r>
            <a:r>
              <a:rPr lang="en-US" sz="1100" dirty="0" err="1" smtClean="0">
                <a:solidFill>
                  <a:schemeClr val="tx1"/>
                </a:solidFill>
              </a:rPr>
              <a:t>Os</a:t>
            </a:r>
            <a:endParaRPr lang="ru-RU" sz="1100" dirty="0" smtClean="0">
              <a:solidFill>
                <a:schemeClr val="tx1"/>
              </a:solidFill>
            </a:endParaRPr>
          </a:p>
          <a:p>
            <a:pPr marL="44767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отсутствием «защитных свойств» сульфидной фазы при температурах обжига ниже температуры диссоциации оксидов</a:t>
            </a:r>
          </a:p>
          <a:p>
            <a:pPr marL="44767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твердофазными превращениями с образованием сплавов вариантного состава</a:t>
            </a: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50247" y="3751500"/>
            <a:ext cx="57120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 algn="just">
              <a:spcAft>
                <a:spcPts val="6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Наличие пылей и возгонов в процессах обжига платиносодержащего сырья требует организации тонкой очистки газов от пыли, организации узлов извлечения </a:t>
            </a:r>
            <a:r>
              <a:rPr lang="en-US" sz="1100" dirty="0" err="1" smtClean="0">
                <a:solidFill>
                  <a:schemeClr val="tx1"/>
                </a:solidFill>
              </a:rPr>
              <a:t>Os</a:t>
            </a:r>
            <a:r>
              <a:rPr lang="en-US" sz="1100" dirty="0" smtClean="0">
                <a:solidFill>
                  <a:schemeClr val="tx1"/>
                </a:solidFill>
              </a:rPr>
              <a:t> </a:t>
            </a:r>
            <a:r>
              <a:rPr lang="ru-RU" sz="1100" dirty="0" smtClean="0">
                <a:solidFill>
                  <a:schemeClr val="tx1"/>
                </a:solidFill>
              </a:rPr>
              <a:t>при производстве серной кислоты.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0247" y="4275464"/>
            <a:ext cx="38591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 algn="just">
              <a:spcAft>
                <a:spcPts val="6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Процессы окисления МПГ с образованием нелетучих оксидов затрудняют последующую </a:t>
            </a:r>
            <a:r>
              <a:rPr lang="ru-RU" sz="1100" dirty="0" err="1" smtClean="0">
                <a:solidFill>
                  <a:schemeClr val="tx1"/>
                </a:solidFill>
              </a:rPr>
              <a:t>гидрометаллур-гическую</a:t>
            </a:r>
            <a:r>
              <a:rPr lang="ru-RU" sz="1100" dirty="0" smtClean="0">
                <a:solidFill>
                  <a:schemeClr val="tx1"/>
                </a:solidFill>
              </a:rPr>
              <a:t> переработку, снижая показатели прямого извлечения, увеличивая выход </a:t>
            </a:r>
            <a:r>
              <a:rPr lang="ru-RU" sz="1100" smtClean="0">
                <a:solidFill>
                  <a:schemeClr val="tx1"/>
                </a:solidFill>
              </a:rPr>
              <a:t>оборотных продуктов.</a:t>
            </a:r>
            <a:endParaRPr lang="ru-RU" sz="1100" dirty="0" smtClean="0">
              <a:solidFill>
                <a:schemeClr val="tx1"/>
              </a:solidFill>
            </a:endParaRPr>
          </a:p>
          <a:p>
            <a:pPr lvl="1" indent="0" algn="just">
              <a:spcAft>
                <a:spcPts val="600"/>
              </a:spcAft>
            </a:pPr>
            <a:r>
              <a:rPr lang="ru-RU" sz="1100" dirty="0" smtClean="0">
                <a:solidFill>
                  <a:schemeClr val="tx1"/>
                </a:solidFill>
              </a:rPr>
              <a:t>Крайняя ограниченность </a:t>
            </a:r>
            <a:r>
              <a:rPr lang="ru-RU" sz="1100" dirty="0">
                <a:solidFill>
                  <a:schemeClr val="tx1"/>
                </a:solidFill>
              </a:rPr>
              <a:t>справочной информации о </a:t>
            </a:r>
            <a:r>
              <a:rPr lang="ru-RU" sz="1100" dirty="0" smtClean="0">
                <a:solidFill>
                  <a:schemeClr val="tx1"/>
                </a:solidFill>
              </a:rPr>
              <a:t>свойствах соединений платиновых металлов, присутствующих в промпродуктах металлургического производства, их взаимодействии с сопутствующими компонентами, </a:t>
            </a:r>
            <a:r>
              <a:rPr lang="ru-RU" sz="1100" dirty="0">
                <a:solidFill>
                  <a:schemeClr val="tx1"/>
                </a:solidFill>
              </a:rPr>
              <a:t>упругости </a:t>
            </a:r>
            <a:r>
              <a:rPr lang="ru-RU" sz="1100" dirty="0" smtClean="0">
                <a:solidFill>
                  <a:schemeClr val="tx1"/>
                </a:solidFill>
              </a:rPr>
              <a:t>паров </a:t>
            </a:r>
            <a:r>
              <a:rPr lang="ru-RU" sz="1100" smtClean="0">
                <a:solidFill>
                  <a:schemeClr val="tx1"/>
                </a:solidFill>
              </a:rPr>
              <a:t>и т.д. </a:t>
            </a:r>
            <a:r>
              <a:rPr lang="ru-RU" sz="1100" dirty="0" smtClean="0">
                <a:solidFill>
                  <a:schemeClr val="tx1"/>
                </a:solidFill>
              </a:rPr>
              <a:t>исключает возможность термодинамического моделирования </a:t>
            </a:r>
            <a:r>
              <a:rPr lang="ru-RU" sz="1100" smtClean="0">
                <a:solidFill>
                  <a:schemeClr val="tx1"/>
                </a:solidFill>
              </a:rPr>
              <a:t>технологических процессов.</a:t>
            </a:r>
            <a:endParaRPr lang="ru-RU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39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1C66D49A-0817-78AA-68E9-6AC0B042CE73}"/>
              </a:ext>
            </a:extLst>
          </p:cNvPr>
          <p:cNvSpPr/>
          <p:nvPr/>
        </p:nvSpPr>
        <p:spPr>
          <a:xfrm>
            <a:off x="0" y="504175"/>
            <a:ext cx="4007312" cy="597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282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24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  <a:sym typeface="Tahom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190951-E1B0-4676-8EFE-884B55C20660}"/>
              </a:ext>
            </a:extLst>
          </p:cNvPr>
          <p:cNvSpPr txBox="1"/>
          <p:nvPr/>
        </p:nvSpPr>
        <p:spPr>
          <a:xfrm>
            <a:off x="693059" y="125658"/>
            <a:ext cx="8083222" cy="300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t">
            <a:spAutoFit/>
          </a:bodyPr>
          <a:lstStyle/>
          <a:p>
            <a:r>
              <a:rPr lang="ru-RU" sz="1500" b="1" dirty="0" smtClean="0">
                <a:solidFill>
                  <a:srgbClr val="7F7F7F"/>
                </a:solidFill>
              </a:rPr>
              <a:t>Выводы</a:t>
            </a:r>
            <a:endParaRPr lang="ru-RU" sz="1500" b="1" dirty="0">
              <a:solidFill>
                <a:srgbClr val="7F7F7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1078" y="689457"/>
            <a:ext cx="35805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200" b="1" dirty="0" smtClean="0">
                <a:solidFill>
                  <a:schemeClr val="tx1"/>
                </a:solidFill>
              </a:rPr>
              <a:t>Рудная база платиновых металлов</a:t>
            </a:r>
          </a:p>
          <a:p>
            <a:pPr>
              <a:spcAft>
                <a:spcPts val="600"/>
              </a:spcAft>
            </a:pPr>
            <a:endParaRPr lang="ru-RU" sz="1200" b="1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1200" b="1" dirty="0" smtClean="0">
                <a:solidFill>
                  <a:schemeClr val="tx1"/>
                </a:solidFill>
              </a:rPr>
              <a:t>Извлечение МСП при обогащении рудного сырья</a:t>
            </a:r>
          </a:p>
          <a:p>
            <a:pPr>
              <a:spcAft>
                <a:spcPts val="600"/>
              </a:spcAft>
            </a:pPr>
            <a:endParaRPr lang="ru-RU" sz="1200" b="1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1200" b="1" dirty="0" smtClean="0">
                <a:solidFill>
                  <a:schemeClr val="tx1"/>
                </a:solidFill>
              </a:rPr>
              <a:t>Подходы к переработке МПГ-содержащего сырья</a:t>
            </a:r>
          </a:p>
          <a:p>
            <a:pPr>
              <a:spcAft>
                <a:spcPts val="600"/>
              </a:spcAft>
            </a:pPr>
            <a:endParaRPr lang="ru-RU" sz="1200" b="1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1200" b="1" dirty="0" smtClean="0">
                <a:solidFill>
                  <a:schemeClr val="tx1"/>
                </a:solidFill>
              </a:rPr>
              <a:t>Проблемы потерь МПГ на головных плавильных агрегатах</a:t>
            </a:r>
          </a:p>
          <a:p>
            <a:pPr>
              <a:spcAft>
                <a:spcPts val="600"/>
              </a:spcAft>
            </a:pPr>
            <a:endParaRPr lang="ru-RU" sz="1200" b="1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1200" b="1" dirty="0" smtClean="0">
                <a:solidFill>
                  <a:schemeClr val="tx1"/>
                </a:solidFill>
              </a:rPr>
              <a:t>Потери МПГ в гидрометаллургических процессах</a:t>
            </a:r>
          </a:p>
          <a:p>
            <a:pPr>
              <a:spcAft>
                <a:spcPts val="600"/>
              </a:spcAft>
            </a:pPr>
            <a:endParaRPr lang="ru-RU" sz="1200" b="1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1200" b="1" dirty="0" smtClean="0">
                <a:solidFill>
                  <a:schemeClr val="tx1"/>
                </a:solidFill>
              </a:rPr>
              <a:t>Процессы окисления МПГ в процессах обжига</a:t>
            </a:r>
          </a:p>
          <a:p>
            <a:pPr>
              <a:spcAft>
                <a:spcPts val="600"/>
              </a:spcAft>
            </a:pPr>
            <a:endParaRPr lang="ru-RU" sz="1200" b="1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1200" b="1" dirty="0" smtClean="0">
                <a:solidFill>
                  <a:schemeClr val="tx1"/>
                </a:solidFill>
              </a:rPr>
              <a:t>Подготовка концентратов МПГ к аффинажу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091" y="684594"/>
            <a:ext cx="7046113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 algn="just">
              <a:spcAft>
                <a:spcPts val="600"/>
              </a:spcAft>
            </a:pPr>
            <a:r>
              <a:rPr lang="ru-RU" sz="1200" dirty="0" smtClean="0">
                <a:solidFill>
                  <a:schemeClr val="tx1"/>
                </a:solidFill>
              </a:rPr>
              <a:t>На сегодняшний день накоплен значительный объем теоретической и прикладной информации о поведении металлов платиновой группы при переработке рудного сырья:</a:t>
            </a:r>
          </a:p>
          <a:p>
            <a:pPr marL="54292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выполнен поиск и разведка и классификация месторождений платиносодержащих руд;</a:t>
            </a:r>
          </a:p>
          <a:p>
            <a:pPr marL="54292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выделены и охарактеризованы основные минералы платиновых металлов;</a:t>
            </a:r>
          </a:p>
          <a:p>
            <a:pPr marL="54292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сформированы подходы к технологическим схемам обогащения рудного сырья, обеспечивающие наиболее полное их извлечение в зависимости от минерализации</a:t>
            </a:r>
          </a:p>
          <a:p>
            <a:pPr marL="54292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показано, что наиболее полное извлечение МПГ в товарную продукцию обеспечивается при использовании в качестве головной технологической операции штейновой плавки и последующим конвертированием штейна</a:t>
            </a:r>
          </a:p>
          <a:p>
            <a:pPr marL="54292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промышленное применение гидрометаллургических процессов для переработки рудного платиносодержащего сырья ограничено, однако имеет потенциал за счет разработки новых технологических процессов</a:t>
            </a:r>
            <a:endParaRPr lang="en-US" sz="1100" dirty="0" smtClean="0">
              <a:solidFill>
                <a:schemeClr val="tx1"/>
              </a:solidFill>
            </a:endParaRPr>
          </a:p>
          <a:p>
            <a:pPr marL="54292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схемы переработки медно-никелевых файнштейнов с получением товарной продукции цветных и драгоценных металлов разнообразны и основаны на применении процессов обогащения, пиро- и гидрометаллургии; здесь наиболее актуальной является проблема минимизации потерь драгоценных металлов с растворами выщелачивания</a:t>
            </a:r>
          </a:p>
          <a:p>
            <a:pPr marL="542925" lvl="1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tx1"/>
                </a:solidFill>
              </a:rPr>
              <a:t>развитие  и  внедрение схема подготовки промпродуктов медно-никелевого производства  к аффинажу ограничивается высокой экономической эффективностью действующих производств за счет высокой стоимости товарной продукции, низких потерь и небольших объемов производства.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2734" y="4705506"/>
            <a:ext cx="712947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 algn="just">
              <a:spcAft>
                <a:spcPts val="600"/>
              </a:spcAft>
            </a:pPr>
            <a:r>
              <a:rPr lang="ru-RU" sz="1200" dirty="0" smtClean="0">
                <a:solidFill>
                  <a:schemeClr val="tx1"/>
                </a:solidFill>
              </a:rPr>
              <a:t>Повышению эффективности действующих и вновь создаваемых производств способствует разработка и подбор новых высокоэффективных реагентов для флотации рудного сырья, способов извлечения микроколичеств платиновых металлов из растворов производства цветных металлов, изучение процессов </a:t>
            </a:r>
            <a:r>
              <a:rPr lang="ru-RU" sz="1200" dirty="0">
                <a:solidFill>
                  <a:schemeClr val="tx1"/>
                </a:solidFill>
              </a:rPr>
              <a:t>сорбции </a:t>
            </a:r>
            <a:r>
              <a:rPr lang="ru-RU" sz="1200" dirty="0" smtClean="0">
                <a:solidFill>
                  <a:schemeClr val="tx1"/>
                </a:solidFill>
              </a:rPr>
              <a:t>платиновых металлов твердыми компонентами пульп, соосаждения в процессах гидролиза, расширение </a:t>
            </a:r>
            <a:r>
              <a:rPr lang="ru-RU" sz="1200" dirty="0">
                <a:solidFill>
                  <a:schemeClr val="tx1"/>
                </a:solidFill>
              </a:rPr>
              <a:t>возможностей термодинамического моделирования пирометаллургических процессов платиносодержащего </a:t>
            </a:r>
            <a:r>
              <a:rPr lang="ru-RU" sz="1200" dirty="0" smtClean="0">
                <a:solidFill>
                  <a:schemeClr val="tx1"/>
                </a:solidFill>
              </a:rPr>
              <a:t>сырья и многое другое.</a:t>
            </a:r>
          </a:p>
          <a:p>
            <a:pPr lvl="1" indent="0" algn="just">
              <a:spcAft>
                <a:spcPts val="600"/>
              </a:spcAft>
            </a:pPr>
            <a:r>
              <a:rPr lang="ru-RU" sz="1200" dirty="0" smtClean="0">
                <a:solidFill>
                  <a:schemeClr val="tx1"/>
                </a:solidFill>
              </a:rPr>
              <a:t>Все это немыслимо без глубоких исследований свойств соединений платиновых металлов, их поведения в сложных многокомпонентных технологических системах.</a:t>
            </a:r>
          </a:p>
        </p:txBody>
      </p:sp>
    </p:spTree>
    <p:extLst>
      <p:ext uri="{BB962C8B-B14F-4D97-AF65-F5344CB8AC3E}">
        <p14:creationId xmlns:p14="http://schemas.microsoft.com/office/powerpoint/2010/main" val="158125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vestor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accent1">
                    <a:gamma/>
                    <a:shade val="60000"/>
                    <a:invGamma/>
                  </a:schemeClr>
                </a:outerShdw>
              </a:effectLst>
            </a14:hiddenEffects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u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accent1">
                    <a:gamma/>
                    <a:shade val="60000"/>
                    <a:invGamma/>
                  </a:schemeClr>
                </a:outerShdw>
              </a:effectLst>
            </a14:hiddenEffects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Investor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>
        <a:solidFill>
          <a:schemeClr val="accent1"/>
        </a:solidFill>
        <a:ln w="19050" cap="flat" cmpd="sng" algn="ctr">
          <a:solidFill>
            <a:schemeClr val="tx2"/>
          </a:solidFill>
          <a:prstDash val="solid"/>
          <a:round/>
          <a:headEnd type="triangl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17961" dir="2700000" algn="ctr" rotWithShape="0">
                  <a:schemeClr val="accent1">
                    <a:gamma/>
                    <a:shade val="60000"/>
                    <a:invGamma/>
                  </a:schemeClr>
                </a:outerShdw>
              </a:effectLst>
            </a14:hiddenEffects>
          </a:ext>
        </a:extLst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4C97"/>
      </a:accent1>
      <a:accent2>
        <a:srgbClr val="4D82B6"/>
      </a:accent2>
      <a:accent3>
        <a:srgbClr val="99B7D5"/>
      </a:accent3>
      <a:accent4>
        <a:srgbClr val="CCDBEA"/>
      </a:accent4>
      <a:accent5>
        <a:srgbClr val="0077C8"/>
      </a:accent5>
      <a:accent6>
        <a:srgbClr val="002B55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1F1B1A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1F1B1A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98268</TotalTime>
  <Words>2307</Words>
  <Application>Microsoft Office PowerPoint</Application>
  <PresentationFormat>Произвольный</PresentationFormat>
  <Paragraphs>538</Paragraphs>
  <Slides>10</Slides>
  <Notes>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Calibri</vt:lpstr>
      <vt:lpstr>Symbol</vt:lpstr>
      <vt:lpstr>Tahoma</vt:lpstr>
      <vt:lpstr>Times New Roman</vt:lpstr>
      <vt:lpstr>Investors</vt:lpstr>
      <vt:lpstr>Titul</vt:lpstr>
      <vt:lpstr>1_Investors</vt:lpstr>
      <vt:lpstr>think-cell Slide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Ермилов Александр</dc:creator>
  <cp:lastModifiedBy>Подоханова Светлана Владимировна</cp:lastModifiedBy>
  <cp:revision>3604</cp:revision>
  <cp:lastPrinted>2023-03-10T08:04:18Z</cp:lastPrinted>
  <dcterms:modified xsi:type="dcterms:W3CDTF">2024-05-28T06:58:50Z</dcterms:modified>
</cp:coreProperties>
</file>